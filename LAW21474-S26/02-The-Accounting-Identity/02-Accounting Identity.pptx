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58" r:id="rId5"/>
    <p:sldId id="259" r:id="rId6"/>
    <p:sldId id="270" r:id="rId7"/>
    <p:sldId id="271" r:id="rId8"/>
    <p:sldId id="266" r:id="rId9"/>
    <p:sldId id="272" r:id="rId10"/>
    <p:sldId id="267" r:id="rId11"/>
    <p:sldId id="265" r:id="rId12"/>
  </p:sldIdLst>
  <p:sldSz cx="9144000" cy="5143500" type="screen16x9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384"/>
  </p:normalViewPr>
  <p:slideViewPr>
    <p:cSldViewPr>
      <p:cViewPr varScale="1">
        <p:scale>
          <a:sx n="141" d="100"/>
          <a:sy n="141" d="100"/>
        </p:scale>
        <p:origin x="1344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60463"/>
            <a:ext cx="5572125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2859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979710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LAW 21474</a:t>
            </a:r>
            <a:br>
              <a:rPr lang="en-US" dirty="0"/>
            </a:br>
            <a:r>
              <a:rPr lang="en-US" dirty="0"/>
              <a:t>Financial Accounting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Accounting Identity</a:t>
            </a:r>
          </a:p>
          <a:p>
            <a:r>
              <a:rPr lang="en-US" dirty="0"/>
              <a:t>Debits and Credits: What, Why and How</a:t>
            </a:r>
          </a:p>
          <a:p>
            <a:r>
              <a:rPr lang="en-US" dirty="0"/>
              <a:t>But first, some preliminaries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8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Three parts to accounting:</a:t>
            </a:r>
          </a:p>
          <a:p>
            <a:pPr lvl="1"/>
            <a:r>
              <a:rPr lang="en-US" b="1" dirty="0"/>
              <a:t>Aspirations</a:t>
            </a:r>
            <a:r>
              <a:rPr lang="en-US" dirty="0"/>
              <a:t>: Show value and how it changes. Noble. Lofty purpose. Big help in creating/maintaining a civilized society.</a:t>
            </a:r>
          </a:p>
          <a:p>
            <a:pPr lvl="1"/>
            <a:r>
              <a:rPr lang="en-US" dirty="0"/>
              <a:t>Accounting </a:t>
            </a:r>
            <a:r>
              <a:rPr lang="en-US" b="1" dirty="0"/>
              <a:t>Conventions</a:t>
            </a:r>
            <a:r>
              <a:rPr lang="en-US" dirty="0"/>
              <a:t>: Aspirations meet real world, need conventions. Don’t get your hopes up too high!</a:t>
            </a:r>
          </a:p>
          <a:p>
            <a:pPr lvl="1"/>
            <a:r>
              <a:rPr lang="en-US" dirty="0"/>
              <a:t>Institutional </a:t>
            </a:r>
            <a:r>
              <a:rPr lang="en-US" b="1" dirty="0"/>
              <a:t>Context</a:t>
            </a:r>
            <a:r>
              <a:rPr lang="en-US" dirty="0"/>
              <a:t>: Aspirations meet real world, accounting is done by people in a social/economic/political context. Watch out!</a:t>
            </a:r>
          </a:p>
          <a:p>
            <a:r>
              <a:rPr lang="en-US" dirty="0"/>
              <a:t>Three </a:t>
            </a:r>
            <a:r>
              <a:rPr lang="en-US" b="1" dirty="0"/>
              <a:t>steps</a:t>
            </a:r>
            <a:r>
              <a:rPr lang="en-US" dirty="0"/>
              <a:t> in doing accounting:</a:t>
            </a:r>
          </a:p>
          <a:p>
            <a:pPr lvl="1"/>
            <a:r>
              <a:rPr lang="en-US" b="1" dirty="0"/>
              <a:t>Recognition</a:t>
            </a:r>
            <a:r>
              <a:rPr lang="en-US" dirty="0"/>
              <a:t> (do we record anything?)</a:t>
            </a:r>
          </a:p>
          <a:p>
            <a:pPr lvl="1"/>
            <a:r>
              <a:rPr lang="en-US" b="1" dirty="0"/>
              <a:t>Classification</a:t>
            </a:r>
            <a:r>
              <a:rPr lang="en-US" dirty="0"/>
              <a:t> (if so, what accounts are affected?)</a:t>
            </a:r>
          </a:p>
          <a:p>
            <a:pPr lvl="1"/>
            <a:r>
              <a:rPr lang="en-US" b="1" dirty="0"/>
              <a:t>Valuation</a:t>
            </a:r>
            <a:r>
              <a:rPr lang="en-US" dirty="0"/>
              <a:t> (what numbers do we use?)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2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 Quantitative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Impose a Quantitative Structure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For any particular </a:t>
            </a:r>
            <a:r>
              <a:rPr lang="en-US" i="1" dirty="0"/>
              <a:t>entity</a:t>
            </a:r>
            <a:r>
              <a:rPr lang="en-US" dirty="0"/>
              <a:t>, record all numbers so that this </a:t>
            </a:r>
            <a:r>
              <a:rPr lang="en-US" i="1" dirty="0"/>
              <a:t>identity</a:t>
            </a:r>
            <a:r>
              <a:rPr lang="en-US" dirty="0"/>
              <a:t> is preserved </a:t>
            </a:r>
            <a:r>
              <a:rPr lang="en-US" i="1" dirty="0"/>
              <a:t>at every point in time</a:t>
            </a:r>
            <a:r>
              <a:rPr lang="en-US" dirty="0"/>
              <a:t>: </a:t>
            </a:r>
            <a:endParaRPr lang="en-US" b="1" dirty="0"/>
          </a:p>
          <a:p>
            <a:pPr marL="457200" lvl="1" indent="0" algn="ctr">
              <a:buNone/>
            </a:pPr>
            <a:r>
              <a:rPr lang="en-US" sz="3900" b="1" dirty="0"/>
              <a:t>Assets - Liabilities ≡ Equities</a:t>
            </a:r>
          </a:p>
          <a:p>
            <a:pPr marL="457200" lvl="1" indent="0" algn="ctr">
              <a:buNone/>
            </a:pPr>
            <a:r>
              <a:rPr lang="en-US" sz="2900" dirty="0"/>
              <a:t>(Usually written as Assets = Liabilities + Equities)</a:t>
            </a:r>
            <a:br>
              <a:rPr lang="en-US" sz="2900" dirty="0"/>
            </a:br>
            <a:endParaRPr lang="en-US" sz="2900" dirty="0"/>
          </a:p>
          <a:p>
            <a:r>
              <a:rPr lang="en-US" b="1" dirty="0"/>
              <a:t>Steps</a:t>
            </a:r>
            <a:r>
              <a:rPr lang="en-US" dirty="0"/>
              <a:t> in application (driven by conventions and context):</a:t>
            </a:r>
          </a:p>
          <a:p>
            <a:pPr lvl="1"/>
            <a:r>
              <a:rPr lang="en-US" b="1" dirty="0"/>
              <a:t>Recognition</a:t>
            </a:r>
          </a:p>
          <a:p>
            <a:pPr lvl="1"/>
            <a:r>
              <a:rPr lang="en-US" b="1" dirty="0"/>
              <a:t>Classification</a:t>
            </a:r>
          </a:p>
          <a:p>
            <a:pPr lvl="2"/>
            <a:r>
              <a:rPr lang="en-US" dirty="0"/>
              <a:t>Starts with definitions of assets, liabilities, equities, revenues, expenses, gains and losses</a:t>
            </a:r>
          </a:p>
          <a:p>
            <a:pPr lvl="1"/>
            <a:r>
              <a:rPr lang="en-US" b="1" dirty="0"/>
              <a:t>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Asset</a:t>
            </a:r>
          </a:p>
          <a:p>
            <a:pPr lvl="1"/>
            <a:r>
              <a:rPr lang="en-US" dirty="0"/>
              <a:t>Probable future economic benefit</a:t>
            </a:r>
          </a:p>
          <a:p>
            <a:pPr lvl="1"/>
            <a:r>
              <a:rPr lang="en-US" dirty="0"/>
              <a:t>Owned or controlled by entity</a:t>
            </a:r>
          </a:p>
          <a:p>
            <a:pPr lvl="1"/>
            <a:r>
              <a:rPr lang="en-US" dirty="0"/>
              <a:t>Arising from a past transaction or event</a:t>
            </a:r>
          </a:p>
          <a:p>
            <a:r>
              <a:rPr lang="en-US" b="1" dirty="0"/>
              <a:t>Liability</a:t>
            </a:r>
          </a:p>
          <a:p>
            <a:pPr lvl="1"/>
            <a:r>
              <a:rPr lang="en-US" dirty="0"/>
              <a:t>Probable future sacrifice</a:t>
            </a:r>
          </a:p>
          <a:p>
            <a:pPr lvl="1"/>
            <a:r>
              <a:rPr lang="en-US" dirty="0"/>
              <a:t>Obligation of the entity</a:t>
            </a:r>
          </a:p>
          <a:p>
            <a:pPr lvl="1"/>
            <a:r>
              <a:rPr lang="en-US" dirty="0"/>
              <a:t>Arising from a past transaction or event</a:t>
            </a:r>
          </a:p>
          <a:p>
            <a:r>
              <a:rPr lang="en-US" b="1" dirty="0"/>
              <a:t>Equity</a:t>
            </a:r>
          </a:p>
          <a:p>
            <a:pPr lvl="1"/>
            <a:r>
              <a:rPr lang="en-US" dirty="0"/>
              <a:t>Difference between assets and liabilities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5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6</a:t>
            </a:fld>
            <a:endParaRPr lang="en-US" sz="1400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0" y="3024187"/>
            <a:ext cx="8008991" cy="461963"/>
            <a:chOff x="624" y="1500"/>
            <a:chExt cx="5044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010" y="1500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0" y="2066028"/>
            <a:ext cx="1890713" cy="1013222"/>
            <a:chOff x="2304" y="583"/>
            <a:chExt cx="1191" cy="851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583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00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5979"/>
            <a:ext cx="9144000" cy="857250"/>
          </a:xfrm>
        </p:spPr>
        <p:txBody>
          <a:bodyPr>
            <a:noAutofit/>
          </a:bodyPr>
          <a:lstStyle/>
          <a:p>
            <a:r>
              <a:rPr lang="en-US" sz="3600" dirty="0"/>
              <a:t>Accounting Involves </a:t>
            </a:r>
            <a:r>
              <a:rPr lang="en-US" sz="3600" i="1" dirty="0"/>
              <a:t>Evidence</a:t>
            </a:r>
            <a:r>
              <a:rPr lang="en-US" sz="3600" dirty="0"/>
              <a:t> and </a:t>
            </a:r>
            <a:r>
              <a:rPr lang="en-US" sz="3600" i="1" dirty="0"/>
              <a:t>Predictions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C3941C-5F79-42A0-9FA6-479620DC674C}"/>
              </a:ext>
            </a:extLst>
          </p:cNvPr>
          <p:cNvCxnSpPr/>
          <p:nvPr/>
        </p:nvCxnSpPr>
        <p:spPr>
          <a:xfrm>
            <a:off x="4648200" y="971550"/>
            <a:ext cx="0" cy="388620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B9BDD80-CEA4-4BCB-9CD7-75F1DB0EB470}"/>
              </a:ext>
            </a:extLst>
          </p:cNvPr>
          <p:cNvSpPr txBox="1"/>
          <p:nvPr/>
        </p:nvSpPr>
        <p:spPr>
          <a:xfrm>
            <a:off x="2298700" y="1211818"/>
            <a:ext cx="586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8D387E-BE3A-4703-86EB-8462BB56B68B}"/>
              </a:ext>
            </a:extLst>
          </p:cNvPr>
          <p:cNvSpPr txBox="1"/>
          <p:nvPr/>
        </p:nvSpPr>
        <p:spPr>
          <a:xfrm>
            <a:off x="6585668" y="1200150"/>
            <a:ext cx="812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CC0A9-0E5E-41A8-9BB0-ABD0FE13CEDC}"/>
              </a:ext>
            </a:extLst>
          </p:cNvPr>
          <p:cNvSpPr txBox="1"/>
          <p:nvPr/>
        </p:nvSpPr>
        <p:spPr>
          <a:xfrm>
            <a:off x="1208548" y="1516618"/>
            <a:ext cx="279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Factual basis for predictions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EFA58-4A2D-49AE-8A65-217BA1020509}"/>
              </a:ext>
            </a:extLst>
          </p:cNvPr>
          <p:cNvSpPr txBox="1"/>
          <p:nvPr/>
        </p:nvSpPr>
        <p:spPr>
          <a:xfrm>
            <a:off x="5511593" y="1504950"/>
            <a:ext cx="2967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Financial Benefits &amp; Sacrifices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553428-31F1-4A14-9B9E-9C0BE3DC461D}"/>
              </a:ext>
            </a:extLst>
          </p:cNvPr>
          <p:cNvSpPr txBox="1"/>
          <p:nvPr/>
        </p:nvSpPr>
        <p:spPr>
          <a:xfrm>
            <a:off x="5943600" y="1809750"/>
            <a:ext cx="2070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Requires predictions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D65F34-18C2-4B0E-9FAC-6E5AD94A852A}"/>
              </a:ext>
            </a:extLst>
          </p:cNvPr>
          <p:cNvSpPr txBox="1"/>
          <p:nvPr/>
        </p:nvSpPr>
        <p:spPr>
          <a:xfrm>
            <a:off x="2117236" y="1809750"/>
            <a:ext cx="1000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338409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9" grpId="0"/>
      <p:bldP spid="23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7</a:t>
            </a:fld>
            <a:endParaRPr lang="en-US" sz="1400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0" y="3024187"/>
            <a:ext cx="8008991" cy="461963"/>
            <a:chOff x="624" y="1500"/>
            <a:chExt cx="5044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010" y="1500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267200" y="2190750"/>
            <a:ext cx="770147" cy="4616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Trial</a:t>
            </a:r>
          </a:p>
        </p:txBody>
      </p:sp>
      <p:sp>
        <p:nvSpPr>
          <p:cNvPr id="7186" name="Line 41"/>
          <p:cNvSpPr>
            <a:spLocks noChangeShapeType="1"/>
          </p:cNvSpPr>
          <p:nvPr/>
        </p:nvSpPr>
        <p:spPr bwMode="auto">
          <a:xfrm>
            <a:off x="4648200" y="2647950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Times New Roman" charset="0"/>
              </a:rPr>
              <a:t>Damage Calculation vs. Establishing </a:t>
            </a:r>
            <a:br>
              <a:rPr lang="en-US" sz="3600" dirty="0">
                <a:latin typeface="Times New Roman" charset="0"/>
              </a:rPr>
            </a:br>
            <a:r>
              <a:rPr lang="en-US" sz="3600" dirty="0">
                <a:latin typeface="Times New Roman" charset="0"/>
              </a:rPr>
              <a:t>Facts of case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C3941C-5F79-42A0-9FA6-479620DC674C}"/>
              </a:ext>
            </a:extLst>
          </p:cNvPr>
          <p:cNvCxnSpPr/>
          <p:nvPr/>
        </p:nvCxnSpPr>
        <p:spPr>
          <a:xfrm>
            <a:off x="4648200" y="971550"/>
            <a:ext cx="0" cy="388620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B9BDD80-CEA4-4BCB-9CD7-75F1DB0EB470}"/>
              </a:ext>
            </a:extLst>
          </p:cNvPr>
          <p:cNvSpPr txBox="1"/>
          <p:nvPr/>
        </p:nvSpPr>
        <p:spPr>
          <a:xfrm>
            <a:off x="2298700" y="1211818"/>
            <a:ext cx="586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8D387E-BE3A-4703-86EB-8462BB56B68B}"/>
              </a:ext>
            </a:extLst>
          </p:cNvPr>
          <p:cNvSpPr txBox="1"/>
          <p:nvPr/>
        </p:nvSpPr>
        <p:spPr>
          <a:xfrm>
            <a:off x="6383962" y="1216959"/>
            <a:ext cx="812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CC0A9-0E5E-41A8-9BB0-ABD0FE13CEDC}"/>
              </a:ext>
            </a:extLst>
          </p:cNvPr>
          <p:cNvSpPr txBox="1"/>
          <p:nvPr/>
        </p:nvSpPr>
        <p:spPr>
          <a:xfrm>
            <a:off x="609600" y="1773019"/>
            <a:ext cx="4008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Establish facts of case and applicable law</a:t>
            </a:r>
          </a:p>
          <a:p>
            <a:pPr algn="ctr"/>
            <a:r>
              <a:rPr lang="en-US" dirty="0"/>
              <a:t>Some components of damages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EFA58-4A2D-49AE-8A65-217BA1020509}"/>
              </a:ext>
            </a:extLst>
          </p:cNvPr>
          <p:cNvSpPr txBox="1"/>
          <p:nvPr/>
        </p:nvSpPr>
        <p:spPr>
          <a:xfrm>
            <a:off x="4692220" y="1771561"/>
            <a:ext cx="4347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Estimate damages such as lost opportunities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553428-31F1-4A14-9B9E-9C0BE3DC461D}"/>
              </a:ext>
            </a:extLst>
          </p:cNvPr>
          <p:cNvSpPr txBox="1"/>
          <p:nvPr/>
        </p:nvSpPr>
        <p:spPr>
          <a:xfrm>
            <a:off x="6180732" y="1467684"/>
            <a:ext cx="121700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i="1" dirty="0"/>
              <a:t>Predictions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D65F34-18C2-4B0E-9FAC-6E5AD94A852A}"/>
              </a:ext>
            </a:extLst>
          </p:cNvPr>
          <p:cNvSpPr txBox="1"/>
          <p:nvPr/>
        </p:nvSpPr>
        <p:spPr>
          <a:xfrm>
            <a:off x="2114550" y="1468219"/>
            <a:ext cx="1000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49290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E3C-4222-497F-897B-9F54A96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identity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C536-BD4F-4718-9A98-470DB970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90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16EDA-5E81-79D1-5D8B-2B7B90FE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57150"/>
            <a:ext cx="3662744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1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E3C-4222-497F-897B-9F54A96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Debits and credits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C536-BD4F-4718-9A98-470DB970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92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 into accounting</a:t>
            </a:r>
          </a:p>
          <a:p>
            <a:r>
              <a:rPr lang="en-US" dirty="0"/>
              <a:t>Rick and Stan’s Business</a:t>
            </a:r>
          </a:p>
          <a:p>
            <a:pPr lvl="1"/>
            <a:r>
              <a:rPr lang="en-US" dirty="0"/>
              <a:t>We will work through it together in class</a:t>
            </a:r>
          </a:p>
        </p:txBody>
      </p:sp>
    </p:spTree>
    <p:extLst>
      <p:ext uri="{BB962C8B-B14F-4D97-AF65-F5344CB8AC3E}">
        <p14:creationId xmlns:p14="http://schemas.microsoft.com/office/powerpoint/2010/main" val="3192996875"/>
      </p:ext>
    </p:extLst>
  </p:cSld>
  <p:clrMapOvr>
    <a:masterClrMapping/>
  </p:clrMapOvr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S-Class-White-Wide" id="{FC389A1B-E968-D746-B776-04763A1C274E}" vid="{838FC14C-AF7B-BA46-B771-EC34DF01D7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9567</TotalTime>
  <Words>333</Words>
  <Application>Microsoft Macintosh PowerPoint</Application>
  <PresentationFormat>On-screen Show (16:9)</PresentationFormat>
  <Paragraphs>70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YLS-Class-White-Wide</vt:lpstr>
      <vt:lpstr>LAW 21474 Financial Accounting</vt:lpstr>
      <vt:lpstr>Today</vt:lpstr>
      <vt:lpstr>Recall</vt:lpstr>
      <vt:lpstr>Use a Quantitative Structure</vt:lpstr>
      <vt:lpstr>Definitions</vt:lpstr>
      <vt:lpstr>Accounting Involves Evidence and Predictions</vt:lpstr>
      <vt:lpstr>Damage Calculation vs. Establishing  Facts of case</vt:lpstr>
      <vt:lpstr>Accounting identity</vt:lpstr>
      <vt:lpstr>PowerPoint Presentation</vt:lpstr>
      <vt:lpstr>Debits and credits</vt:lpstr>
      <vt:lpstr>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</dc:title>
  <dc:creator>rantle</dc:creator>
  <cp:lastModifiedBy>Antle, Rick</cp:lastModifiedBy>
  <cp:revision>17</cp:revision>
  <cp:lastPrinted>2019-01-22T20:43:59Z</cp:lastPrinted>
  <dcterms:created xsi:type="dcterms:W3CDTF">2018-01-16T22:21:00Z</dcterms:created>
  <dcterms:modified xsi:type="dcterms:W3CDTF">2026-02-16T00:00:34Z</dcterms:modified>
</cp:coreProperties>
</file>