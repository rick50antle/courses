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339" r:id="rId2"/>
    <p:sldId id="259" r:id="rId3"/>
    <p:sldId id="300" r:id="rId4"/>
    <p:sldId id="301" r:id="rId5"/>
    <p:sldId id="302" r:id="rId6"/>
    <p:sldId id="303" r:id="rId7"/>
    <p:sldId id="315" r:id="rId8"/>
    <p:sldId id="316" r:id="rId9"/>
    <p:sldId id="318" r:id="rId10"/>
    <p:sldId id="319" r:id="rId11"/>
    <p:sldId id="320" r:id="rId12"/>
    <p:sldId id="263" r:id="rId13"/>
    <p:sldId id="317" r:id="rId14"/>
    <p:sldId id="309" r:id="rId15"/>
    <p:sldId id="265" r:id="rId16"/>
    <p:sldId id="305" r:id="rId17"/>
    <p:sldId id="308" r:id="rId18"/>
    <p:sldId id="266" r:id="rId19"/>
    <p:sldId id="267" r:id="rId20"/>
    <p:sldId id="268" r:id="rId21"/>
    <p:sldId id="270" r:id="rId22"/>
    <p:sldId id="271" r:id="rId23"/>
    <p:sldId id="272" r:id="rId24"/>
    <p:sldId id="310" r:id="rId25"/>
    <p:sldId id="313" r:id="rId26"/>
    <p:sldId id="321" r:id="rId27"/>
    <p:sldId id="322" r:id="rId28"/>
    <p:sldId id="323" r:id="rId29"/>
    <p:sldId id="311" r:id="rId30"/>
    <p:sldId id="324" r:id="rId31"/>
    <p:sldId id="325" r:id="rId32"/>
    <p:sldId id="326" r:id="rId33"/>
    <p:sldId id="327" r:id="rId34"/>
    <p:sldId id="328" r:id="rId35"/>
    <p:sldId id="283" r:id="rId36"/>
    <p:sldId id="284" r:id="rId37"/>
    <p:sldId id="312" r:id="rId38"/>
    <p:sldId id="314" r:id="rId39"/>
    <p:sldId id="285" r:id="rId40"/>
    <p:sldId id="286" r:id="rId41"/>
    <p:sldId id="329" r:id="rId42"/>
    <p:sldId id="330" r:id="rId43"/>
    <p:sldId id="331" r:id="rId44"/>
    <p:sldId id="332" r:id="rId45"/>
    <p:sldId id="333" r:id="rId46"/>
    <p:sldId id="334" r:id="rId47"/>
    <p:sldId id="335" r:id="rId48"/>
    <p:sldId id="336" r:id="rId49"/>
    <p:sldId id="337" r:id="rId50"/>
    <p:sldId id="340" r:id="rId51"/>
    <p:sldId id="341" r:id="rId52"/>
    <p:sldId id="342" r:id="rId53"/>
    <p:sldId id="275" r:id="rId5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F48F5-963E-704C-A853-42FB79C44402}" v="35" dt="2026-02-11T20:17:39.3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58" autoAdjust="0"/>
    <p:restoredTop sz="94389"/>
  </p:normalViewPr>
  <p:slideViewPr>
    <p:cSldViewPr snapToGrid="0" snapToObjects="1">
      <p:cViewPr varScale="1">
        <p:scale>
          <a:sx n="157" d="100"/>
          <a:sy n="157" d="100"/>
        </p:scale>
        <p:origin x="168" y="480"/>
      </p:cViewPr>
      <p:guideLst>
        <p:guide orient="horz" pos="1620"/>
        <p:guide pos="2880"/>
      </p:guideLst>
    </p:cSldViewPr>
  </p:slideViewPr>
  <p:notesTextViewPr>
    <p:cViewPr>
      <p:scale>
        <a:sx n="100" d="100"/>
        <a:sy n="100" d="100"/>
      </p:scale>
      <p:origin x="0" y="0"/>
    </p:cViewPr>
  </p:notesTextViewPr>
  <p:notesViewPr>
    <p:cSldViewPr snapToGrid="0" snapToObjects="1">
      <p:cViewPr varScale="1">
        <p:scale>
          <a:sx n="72" d="100"/>
          <a:sy n="72" d="100"/>
        </p:scale>
        <p:origin x="2371"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5616D0A9-E2ED-5B19-8AB5-4DDADDD39AE1}"/>
    <pc:docChg chg="custSel modSld">
      <pc:chgData name="Antle, Rick" userId="c2afbbd2-30e4-4c8e-8af5-81913178ace3" providerId="ADAL" clId="{5616D0A9-E2ED-5B19-8AB5-4DDADDD39AE1}" dt="2026-02-11T20:17:53.674" v="44" actId="1076"/>
      <pc:docMkLst>
        <pc:docMk/>
      </pc:docMkLst>
      <pc:sldChg chg="modSp mod">
        <pc:chgData name="Antle, Rick" userId="c2afbbd2-30e4-4c8e-8af5-81913178ace3" providerId="ADAL" clId="{5616D0A9-E2ED-5B19-8AB5-4DDADDD39AE1}" dt="2026-02-11T20:17:53.674" v="44" actId="1076"/>
        <pc:sldMkLst>
          <pc:docMk/>
          <pc:sldMk cId="1578293038" sldId="259"/>
        </pc:sldMkLst>
        <pc:spChg chg="mod">
          <ac:chgData name="Antle, Rick" userId="c2afbbd2-30e4-4c8e-8af5-81913178ace3" providerId="ADAL" clId="{5616D0A9-E2ED-5B19-8AB5-4DDADDD39AE1}" dt="2026-02-11T20:17:53.674" v="44" actId="1076"/>
          <ac:spMkLst>
            <pc:docMk/>
            <pc:sldMk cId="1578293038" sldId="259"/>
            <ac:spMk id="70659" creationId="{00000000-0000-0000-0000-000000000000}"/>
          </ac:spMkLst>
        </pc:spChg>
      </pc:sldChg>
      <pc:sldChg chg="modSp mod">
        <pc:chgData name="Antle, Rick" userId="c2afbbd2-30e4-4c8e-8af5-81913178ace3" providerId="ADAL" clId="{5616D0A9-E2ED-5B19-8AB5-4DDADDD39AE1}" dt="2026-02-11T19:14:12.553" v="2" actId="20577"/>
        <pc:sldMkLst>
          <pc:docMk/>
          <pc:sldMk cId="3752684525" sldId="339"/>
        </pc:sldMkLst>
        <pc:spChg chg="mod">
          <ac:chgData name="Antle, Rick" userId="c2afbbd2-30e4-4c8e-8af5-81913178ace3" providerId="ADAL" clId="{5616D0A9-E2ED-5B19-8AB5-4DDADDD39AE1}" dt="2026-02-11T19:14:12.553" v="2" actId="20577"/>
          <ac:spMkLst>
            <pc:docMk/>
            <pc:sldMk cId="3752684525" sldId="33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3CD1F-57F6-1042-9EAE-F5D37285AAA3}" type="datetimeFigureOut">
              <a:rPr lang="en-US" smtClean="0"/>
              <a:t>2/11/26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915126-5B0C-F34C-854D-49A93C2360E5}" type="slidenum">
              <a:rPr lang="en-US" smtClean="0"/>
              <a:t>‹#›</a:t>
            </a:fld>
            <a:endParaRPr lang="en-US"/>
          </a:p>
        </p:txBody>
      </p:sp>
    </p:spTree>
    <p:extLst>
      <p:ext uri="{BB962C8B-B14F-4D97-AF65-F5344CB8AC3E}">
        <p14:creationId xmlns:p14="http://schemas.microsoft.com/office/powerpoint/2010/main" val="4185340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915126-5B0C-F34C-854D-49A93C2360E5}" type="slidenum">
              <a:rPr lang="en-US" smtClean="0"/>
              <a:t>1</a:t>
            </a:fld>
            <a:endParaRPr lang="en-US"/>
          </a:p>
        </p:txBody>
      </p:sp>
    </p:spTree>
    <p:extLst>
      <p:ext uri="{BB962C8B-B14F-4D97-AF65-F5344CB8AC3E}">
        <p14:creationId xmlns:p14="http://schemas.microsoft.com/office/powerpoint/2010/main" val="2710134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4FA058-509A-4F4E-886E-40946C647100}" type="slidenum">
              <a:rPr lang="en-US" smtClean="0"/>
              <a:pPr/>
              <a:t>2</a:t>
            </a:fld>
            <a:endParaRPr lang="en-US"/>
          </a:p>
        </p:txBody>
      </p:sp>
    </p:spTree>
    <p:extLst>
      <p:ext uri="{BB962C8B-B14F-4D97-AF65-F5344CB8AC3E}">
        <p14:creationId xmlns:p14="http://schemas.microsoft.com/office/powerpoint/2010/main" val="653081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53C36F-EA87-4FDE-A767-456819994F82}" type="slidenum">
              <a:rPr lang="en-US" smtClean="0"/>
              <a:t>5</a:t>
            </a:fld>
            <a:endParaRPr lang="en-US"/>
          </a:p>
        </p:txBody>
      </p:sp>
      <p:sp>
        <p:nvSpPr>
          <p:cNvPr id="5" name="Footer Placeholder 4"/>
          <p:cNvSpPr>
            <a:spLocks noGrp="1"/>
          </p:cNvSpPr>
          <p:nvPr>
            <p:ph type="ftr" sz="quarter" idx="11"/>
          </p:nvPr>
        </p:nvSpPr>
        <p:spPr/>
        <p:txBody>
          <a:bodyPr/>
          <a:lstStyle/>
          <a:p>
            <a:r>
              <a:rPr lang="en-US"/>
              <a:t>MGT402E Summer 2019</a:t>
            </a:r>
          </a:p>
        </p:txBody>
      </p:sp>
    </p:spTree>
    <p:extLst>
      <p:ext uri="{BB962C8B-B14F-4D97-AF65-F5344CB8AC3E}">
        <p14:creationId xmlns:p14="http://schemas.microsoft.com/office/powerpoint/2010/main" val="4093939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53C36F-EA87-4FDE-A767-456819994F82}" type="slidenum">
              <a:rPr lang="en-US" smtClean="0"/>
              <a:t>6</a:t>
            </a:fld>
            <a:endParaRPr lang="en-US"/>
          </a:p>
        </p:txBody>
      </p:sp>
      <p:sp>
        <p:nvSpPr>
          <p:cNvPr id="5" name="Footer Placeholder 4"/>
          <p:cNvSpPr>
            <a:spLocks noGrp="1"/>
          </p:cNvSpPr>
          <p:nvPr>
            <p:ph type="ftr" sz="quarter" idx="11"/>
          </p:nvPr>
        </p:nvSpPr>
        <p:spPr/>
        <p:txBody>
          <a:bodyPr/>
          <a:lstStyle/>
          <a:p>
            <a:r>
              <a:rPr lang="en-US"/>
              <a:t>MGT402E Summer 2019</a:t>
            </a:r>
          </a:p>
        </p:txBody>
      </p:sp>
    </p:spTree>
    <p:extLst>
      <p:ext uri="{BB962C8B-B14F-4D97-AF65-F5344CB8AC3E}">
        <p14:creationId xmlns:p14="http://schemas.microsoft.com/office/powerpoint/2010/main" val="1281339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53C36F-EA87-4FDE-A767-456819994F82}" type="slidenum">
              <a:rPr lang="en-US" smtClean="0"/>
              <a:t>7</a:t>
            </a:fld>
            <a:endParaRPr lang="en-US"/>
          </a:p>
        </p:txBody>
      </p:sp>
      <p:sp>
        <p:nvSpPr>
          <p:cNvPr id="5" name="Footer Placeholder 4"/>
          <p:cNvSpPr>
            <a:spLocks noGrp="1"/>
          </p:cNvSpPr>
          <p:nvPr>
            <p:ph type="ftr" sz="quarter" idx="11"/>
          </p:nvPr>
        </p:nvSpPr>
        <p:spPr/>
        <p:txBody>
          <a:bodyPr/>
          <a:lstStyle/>
          <a:p>
            <a:r>
              <a:rPr lang="en-US"/>
              <a:t>MGT402E Summer 2019</a:t>
            </a:r>
          </a:p>
        </p:txBody>
      </p:sp>
    </p:spTree>
    <p:extLst>
      <p:ext uri="{BB962C8B-B14F-4D97-AF65-F5344CB8AC3E}">
        <p14:creationId xmlns:p14="http://schemas.microsoft.com/office/powerpoint/2010/main" val="1920859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53C36F-EA87-4FDE-A767-456819994F82}" type="slidenum">
              <a:rPr lang="en-US" smtClean="0"/>
              <a:t>11</a:t>
            </a:fld>
            <a:endParaRPr lang="en-US"/>
          </a:p>
        </p:txBody>
      </p:sp>
      <p:sp>
        <p:nvSpPr>
          <p:cNvPr id="5" name="Footer Placeholder 4"/>
          <p:cNvSpPr>
            <a:spLocks noGrp="1"/>
          </p:cNvSpPr>
          <p:nvPr>
            <p:ph type="ftr" sz="quarter" idx="11"/>
          </p:nvPr>
        </p:nvSpPr>
        <p:spPr/>
        <p:txBody>
          <a:bodyPr/>
          <a:lstStyle/>
          <a:p>
            <a:r>
              <a:rPr lang="en-US"/>
              <a:t>MGT402E Summer 2019</a:t>
            </a:r>
          </a:p>
        </p:txBody>
      </p:sp>
    </p:spTree>
    <p:extLst>
      <p:ext uri="{BB962C8B-B14F-4D97-AF65-F5344CB8AC3E}">
        <p14:creationId xmlns:p14="http://schemas.microsoft.com/office/powerpoint/2010/main" val="3872119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E62AE4-F908-4804-BE35-0FA1638C2B08}" type="slidenum">
              <a:rPr lang="en-US" smtClean="0"/>
              <a:pPr/>
              <a:t>45</a:t>
            </a:fld>
            <a:endParaRPr lang="en-US"/>
          </a:p>
        </p:txBody>
      </p:sp>
    </p:spTree>
    <p:extLst>
      <p:ext uri="{BB962C8B-B14F-4D97-AF65-F5344CB8AC3E}">
        <p14:creationId xmlns:p14="http://schemas.microsoft.com/office/powerpoint/2010/main" val="1152876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915126-5B0C-F34C-854D-49A93C2360E5}" type="slidenum">
              <a:rPr lang="en-US" smtClean="0"/>
              <a:t>53</a:t>
            </a:fld>
            <a:endParaRPr lang="en-US"/>
          </a:p>
        </p:txBody>
      </p:sp>
    </p:spTree>
    <p:extLst>
      <p:ext uri="{BB962C8B-B14F-4D97-AF65-F5344CB8AC3E}">
        <p14:creationId xmlns:p14="http://schemas.microsoft.com/office/powerpoint/2010/main" val="2468040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6603DFB-57EE-1441-A120-C0F52985D79B}"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4147980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603DFB-57EE-1441-A120-C0F52985D79B}"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377400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603DFB-57EE-1441-A120-C0F52985D79B}"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289799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603DFB-57EE-1441-A120-C0F52985D79B}"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1074366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603DFB-57EE-1441-A120-C0F52985D79B}" type="datetimeFigureOut">
              <a:rPr lang="en-US" smtClean="0"/>
              <a:t>2/11/26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2060903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603DFB-57EE-1441-A120-C0F52985D79B}" type="datetimeFigureOut">
              <a:rPr lang="en-US" smtClean="0"/>
              <a:t>2/11/26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1427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603DFB-57EE-1441-A120-C0F52985D79B}" type="datetimeFigureOut">
              <a:rPr lang="en-US" smtClean="0"/>
              <a:t>2/11/26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2189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603DFB-57EE-1441-A120-C0F52985D79B}"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32080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603DFB-57EE-1441-A120-C0F52985D79B}"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2810856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603DFB-57EE-1441-A120-C0F52985D79B}"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402719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603DFB-57EE-1441-A120-C0F52985D79B}"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t>‹#›</a:t>
            </a:fld>
            <a:endParaRPr lang="en-US"/>
          </a:p>
        </p:txBody>
      </p:sp>
    </p:spTree>
    <p:extLst>
      <p:ext uri="{BB962C8B-B14F-4D97-AF65-F5344CB8AC3E}">
        <p14:creationId xmlns:p14="http://schemas.microsoft.com/office/powerpoint/2010/main" val="2825308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6603DFB-57EE-1441-A120-C0F52985D79B}" type="datetimeFigureOut">
              <a:rPr lang="en-US" smtClean="0"/>
              <a:t>2/11/26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1230489"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9C41DDB-7C3B-0249-847C-AD2960C917FC}" type="slidenum">
              <a:rPr lang="en-US" smtClean="0"/>
              <a:t>‹#›</a:t>
            </a:fld>
            <a:endParaRPr lang="en-US"/>
          </a:p>
        </p:txBody>
      </p:sp>
      <p:pic>
        <p:nvPicPr>
          <p:cNvPr id="7" name="Picture 2">
            <a:extLst>
              <a:ext uri="{FF2B5EF4-FFF2-40B4-BE49-F238E27FC236}">
                <a16:creationId xmlns:a16="http://schemas.microsoft.com/office/drawing/2014/main" id="{B2597FBC-0C91-50CC-102C-D8BBAD7FEBDE}"/>
              </a:ext>
            </a:extLst>
          </p:cNvPr>
          <p:cNvPicPr>
            <a:picLocks noChangeAspect="1" noChangeArrowheads="1"/>
          </p:cNvPicPr>
          <p:nvPr userDrawn="1"/>
        </p:nvPicPr>
        <p:blipFill rotWithShape="1">
          <a:blip r:embed="rId13">
            <a:extLst>
              <a:ext uri="{28A0092B-C50C-407E-A947-70E740481C1C}">
                <a14:useLocalDpi xmlns:a14="http://schemas.microsoft.com/office/drawing/2010/main" val="0"/>
              </a:ext>
            </a:extLst>
          </a:blip>
          <a:srcRect l="8747" t="25001" r="72540" b="21604"/>
          <a:stretch/>
        </p:blipFill>
        <p:spPr bwMode="auto">
          <a:xfrm>
            <a:off x="86008" y="4430808"/>
            <a:ext cx="570369" cy="610299"/>
          </a:xfrm>
          <a:prstGeom prst="rect">
            <a:avLst/>
          </a:prstGeom>
          <a:solidFill>
            <a:schemeClr val="bg2">
              <a:lumMod val="75000"/>
            </a:schemeClr>
          </a:solidFill>
          <a:ln>
            <a:noFill/>
          </a:ln>
          <a:effectLst/>
        </p:spPr>
      </p:pic>
    </p:spTree>
    <p:extLst>
      <p:ext uri="{BB962C8B-B14F-4D97-AF65-F5344CB8AC3E}">
        <p14:creationId xmlns:p14="http://schemas.microsoft.com/office/powerpoint/2010/main" val="1716889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8.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2.emf"/><Relationship Id="rId7" Type="http://schemas.openxmlformats.org/officeDocument/2006/relationships/image" Target="../media/image14.e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13.emf"/><Relationship Id="rId4" Type="http://schemas.openxmlformats.org/officeDocument/2006/relationships/oleObject" Target="../embeddings/oleObject7.bin"/><Relationship Id="rId9" Type="http://schemas.openxmlformats.org/officeDocument/2006/relationships/image" Target="../media/image1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6.emf"/><Relationship Id="rId7" Type="http://schemas.openxmlformats.org/officeDocument/2006/relationships/image" Target="../media/image9.e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7.emf"/><Relationship Id="rId4" Type="http://schemas.openxmlformats.org/officeDocument/2006/relationships/oleObject" Target="../embeddings/oleObject11.bin"/><Relationship Id="rId9" Type="http://schemas.openxmlformats.org/officeDocument/2006/relationships/image" Target="../media/image18.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18.emf"/><Relationship Id="rId7" Type="http://schemas.openxmlformats.org/officeDocument/2006/relationships/image" Target="../media/image20.e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22.emf"/><Relationship Id="rId5" Type="http://schemas.openxmlformats.org/officeDocument/2006/relationships/image" Target="../media/image19.e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1.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5.emf"/><Relationship Id="rId3" Type="http://schemas.openxmlformats.org/officeDocument/2006/relationships/image" Target="../media/image23.emf"/><Relationship Id="rId7" Type="http://schemas.openxmlformats.org/officeDocument/2006/relationships/image" Target="../media/image9.e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13.emf"/><Relationship Id="rId5" Type="http://schemas.openxmlformats.org/officeDocument/2006/relationships/image" Target="../media/image24.e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2.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oleObject" Target="../embeddings/oleObject29.bin"/><Relationship Id="rId3" Type="http://schemas.openxmlformats.org/officeDocument/2006/relationships/image" Target="../media/image26.emf"/><Relationship Id="rId7" Type="http://schemas.openxmlformats.org/officeDocument/2006/relationships/image" Target="../media/image9.emf"/><Relationship Id="rId12" Type="http://schemas.openxmlformats.org/officeDocument/2006/relationships/oleObject" Target="../embeddings/oleObject28.bin"/><Relationship Id="rId17" Type="http://schemas.openxmlformats.org/officeDocument/2006/relationships/image" Target="../media/image31.emf"/><Relationship Id="rId2" Type="http://schemas.openxmlformats.org/officeDocument/2006/relationships/oleObject" Target="../embeddings/oleObject24.bin"/><Relationship Id="rId16" Type="http://schemas.openxmlformats.org/officeDocument/2006/relationships/oleObject" Target="../embeddings/oleObject31.bin"/><Relationship Id="rId1" Type="http://schemas.openxmlformats.org/officeDocument/2006/relationships/slideLayout" Target="../slideLayouts/slideLayout6.xml"/><Relationship Id="rId6" Type="http://schemas.openxmlformats.org/officeDocument/2006/relationships/oleObject" Target="../embeddings/oleObject20.bin"/><Relationship Id="rId11" Type="http://schemas.openxmlformats.org/officeDocument/2006/relationships/image" Target="../media/image29.emf"/><Relationship Id="rId5" Type="http://schemas.openxmlformats.org/officeDocument/2006/relationships/image" Target="../media/image27.emf"/><Relationship Id="rId15" Type="http://schemas.openxmlformats.org/officeDocument/2006/relationships/image" Target="../media/image30.emf"/><Relationship Id="rId10" Type="http://schemas.openxmlformats.org/officeDocument/2006/relationships/oleObject" Target="../embeddings/oleObject27.bin"/><Relationship Id="rId4" Type="http://schemas.openxmlformats.org/officeDocument/2006/relationships/oleObject" Target="../embeddings/oleObject25.bin"/><Relationship Id="rId9" Type="http://schemas.openxmlformats.org/officeDocument/2006/relationships/image" Target="../media/image28.emf"/><Relationship Id="rId14" Type="http://schemas.openxmlformats.org/officeDocument/2006/relationships/oleObject" Target="../embeddings/oleObject30.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32.bin"/><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34.bin"/><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6.bin"/><Relationship Id="rId1" Type="http://schemas.openxmlformats.org/officeDocument/2006/relationships/slideLayout" Target="../slideLayouts/slideLayout2.xml"/><Relationship Id="rId5" Type="http://schemas.openxmlformats.org/officeDocument/2006/relationships/image" Target="../media/image37.emf"/><Relationship Id="rId4" Type="http://schemas.openxmlformats.org/officeDocument/2006/relationships/oleObject" Target="../embeddings/oleObject37.bin"/></Relationships>
</file>

<file path=ppt/slides/_rels/slide2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38.bin"/><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oleObject" Target="../embeddings/oleObject39.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40.bin"/><Relationship Id="rId1" Type="http://schemas.openxmlformats.org/officeDocument/2006/relationships/slideLayout" Target="../slideLayouts/slideLayout2.xml"/><Relationship Id="rId5" Type="http://schemas.openxmlformats.org/officeDocument/2006/relationships/image" Target="../media/image41.emf"/><Relationship Id="rId4" Type="http://schemas.openxmlformats.org/officeDocument/2006/relationships/oleObject" Target="../embeddings/oleObject41.bin"/></Relationships>
</file>

<file path=ppt/slides/_rels/slide2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42.bin"/><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oleObject" Target="../embeddings/oleObject43.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embeddings/oleObject44.bin"/><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oleObject" Target="../embeddings/oleObject45.bin"/></Relationships>
</file>

<file path=ppt/slides/_rels/slide3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46.bin"/><Relationship Id="rId1" Type="http://schemas.openxmlformats.org/officeDocument/2006/relationships/slideLayout" Target="../slideLayouts/slideLayout2.xml"/><Relationship Id="rId5" Type="http://schemas.openxmlformats.org/officeDocument/2006/relationships/image" Target="../media/image47.emf"/><Relationship Id="rId4" Type="http://schemas.openxmlformats.org/officeDocument/2006/relationships/oleObject" Target="../embeddings/oleObject47.bin"/></Relationships>
</file>

<file path=ppt/slides/_rels/slide32.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48.bin"/><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oleObject" Target="../embeddings/oleObject49.bin"/></Relationships>
</file>

<file path=ppt/slides/_rels/slide3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50.bin"/><Relationship Id="rId1" Type="http://schemas.openxmlformats.org/officeDocument/2006/relationships/slideLayout" Target="../slideLayouts/slideLayout2.xml"/><Relationship Id="rId5" Type="http://schemas.openxmlformats.org/officeDocument/2006/relationships/image" Target="../media/image51.emf"/><Relationship Id="rId4" Type="http://schemas.openxmlformats.org/officeDocument/2006/relationships/oleObject" Target="../embeddings/oleObject51.bin"/></Relationships>
</file>

<file path=ppt/slides/_rels/slide34.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oleObject" Target="../embeddings/oleObject52.bin"/><Relationship Id="rId1" Type="http://schemas.openxmlformats.org/officeDocument/2006/relationships/slideLayout" Target="../slideLayouts/slideLayout2.xml"/><Relationship Id="rId5" Type="http://schemas.openxmlformats.org/officeDocument/2006/relationships/image" Target="../media/image53.emf"/><Relationship Id="rId4" Type="http://schemas.openxmlformats.org/officeDocument/2006/relationships/oleObject" Target="../embeddings/oleObject53.bin"/></Relationships>
</file>

<file path=ppt/slides/_rels/slide35.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oleObject" Target="../embeddings/oleObject54.bin"/><Relationship Id="rId1" Type="http://schemas.openxmlformats.org/officeDocument/2006/relationships/slideLayout" Target="../slideLayouts/slideLayout2.xml"/><Relationship Id="rId5" Type="http://schemas.openxmlformats.org/officeDocument/2006/relationships/image" Target="../media/image55.emf"/><Relationship Id="rId4" Type="http://schemas.openxmlformats.org/officeDocument/2006/relationships/oleObject" Target="../embeddings/oleObject55.bin"/></Relationships>
</file>

<file path=ppt/slides/_rels/slide36.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56.bin"/><Relationship Id="rId1" Type="http://schemas.openxmlformats.org/officeDocument/2006/relationships/slideLayout" Target="../slideLayouts/slideLayout2.xml"/><Relationship Id="rId5" Type="http://schemas.openxmlformats.org/officeDocument/2006/relationships/image" Target="../media/image57.emf"/><Relationship Id="rId4" Type="http://schemas.openxmlformats.org/officeDocument/2006/relationships/oleObject" Target="../embeddings/oleObject5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oleObject" Target="../embeddings/oleObject58.bin"/><Relationship Id="rId1" Type="http://schemas.openxmlformats.org/officeDocument/2006/relationships/slideLayout" Target="../slideLayouts/slideLayout2.xml"/><Relationship Id="rId5" Type="http://schemas.openxmlformats.org/officeDocument/2006/relationships/image" Target="../media/image59.emf"/><Relationship Id="rId4" Type="http://schemas.openxmlformats.org/officeDocument/2006/relationships/oleObject" Target="../embeddings/oleObject59.bin"/></Relationships>
</file>

<file path=ppt/slides/_rels/slide41.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oleObject" Target="../embeddings/oleObject60.bin"/><Relationship Id="rId1" Type="http://schemas.openxmlformats.org/officeDocument/2006/relationships/slideLayout" Target="../slideLayouts/slideLayout2.xml"/><Relationship Id="rId5" Type="http://schemas.openxmlformats.org/officeDocument/2006/relationships/image" Target="../media/image61.emf"/><Relationship Id="rId4" Type="http://schemas.openxmlformats.org/officeDocument/2006/relationships/oleObject" Target="../embeddings/oleObject61.bin"/></Relationships>
</file>

<file path=ppt/slides/_rels/slide42.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oleObject" Target="../embeddings/oleObject62.bin"/><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oleObject" Target="../embeddings/oleObject63.bin"/><Relationship Id="rId1" Type="http://schemas.openxmlformats.org/officeDocument/2006/relationships/slideLayout" Target="../slideLayouts/slideLayout2.xml"/><Relationship Id="rId5" Type="http://schemas.openxmlformats.org/officeDocument/2006/relationships/image" Target="../media/image64.emf"/><Relationship Id="rId4" Type="http://schemas.openxmlformats.org/officeDocument/2006/relationships/oleObject" Target="../embeddings/oleObject64.bin"/></Relationships>
</file>

<file path=ppt/slides/_rels/slide4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65.bin"/><Relationship Id="rId1" Type="http://schemas.openxmlformats.org/officeDocument/2006/relationships/slideLayout" Target="../slideLayouts/slideLayout2.xml"/><Relationship Id="rId5" Type="http://schemas.openxmlformats.org/officeDocument/2006/relationships/image" Target="../media/image66.emf"/><Relationship Id="rId4" Type="http://schemas.openxmlformats.org/officeDocument/2006/relationships/oleObject" Target="../embeddings/oleObject66.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7.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8.bin"/><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5073" y="1597819"/>
            <a:ext cx="8550689" cy="1102519"/>
          </a:xfrm>
        </p:spPr>
        <p:txBody>
          <a:bodyPr>
            <a:normAutofit fontScale="90000"/>
          </a:bodyPr>
          <a:lstStyle/>
          <a:p>
            <a:r>
              <a:rPr lang="en-US" dirty="0"/>
              <a:t>LAW 21474</a:t>
            </a:r>
            <a:br>
              <a:rPr lang="en-US" dirty="0"/>
            </a:br>
            <a:r>
              <a:rPr lang="en-US" dirty="0"/>
              <a:t>Financial Accounting</a:t>
            </a:r>
            <a:br>
              <a:rPr lang="en-US" dirty="0"/>
            </a:br>
            <a:endParaRPr lang="en-US" dirty="0"/>
          </a:p>
        </p:txBody>
      </p:sp>
      <p:sp>
        <p:nvSpPr>
          <p:cNvPr id="3" name="Subtitle 2"/>
          <p:cNvSpPr>
            <a:spLocks noGrp="1"/>
          </p:cNvSpPr>
          <p:nvPr>
            <p:ph type="subTitle" idx="1"/>
          </p:nvPr>
        </p:nvSpPr>
        <p:spPr>
          <a:xfrm>
            <a:off x="878114" y="2914650"/>
            <a:ext cx="7249886" cy="1314450"/>
          </a:xfrm>
        </p:spPr>
        <p:txBody>
          <a:bodyPr/>
          <a:lstStyle/>
          <a:p>
            <a:r>
              <a:rPr lang="en-US" dirty="0"/>
              <a:t>Session 9: Coldwater Creek</a:t>
            </a:r>
          </a:p>
        </p:txBody>
      </p:sp>
    </p:spTree>
    <p:extLst>
      <p:ext uri="{BB962C8B-B14F-4D97-AF65-F5344CB8AC3E}">
        <p14:creationId xmlns:p14="http://schemas.microsoft.com/office/powerpoint/2010/main" val="3752684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B7E446ED-9289-4ED6-9BB9-700FDA40A093}" type="slidenum">
              <a:rPr lang="en-US" sz="1050"/>
              <a:pPr/>
              <a:t>2</a:t>
            </a:fld>
            <a:endParaRPr lang="en-US" sz="1050"/>
          </a:p>
        </p:txBody>
      </p:sp>
      <p:sp>
        <p:nvSpPr>
          <p:cNvPr id="4101" name="Rectangle 2"/>
          <p:cNvSpPr>
            <a:spLocks noGrp="1" noChangeArrowheads="1"/>
          </p:cNvSpPr>
          <p:nvPr>
            <p:ph type="title"/>
          </p:nvPr>
        </p:nvSpPr>
        <p:spPr/>
        <p:txBody>
          <a:bodyPr/>
          <a:lstStyle/>
          <a:p>
            <a:r>
              <a:rPr lang="en-US" dirty="0"/>
              <a:t>Working “backwards”</a:t>
            </a:r>
          </a:p>
        </p:txBody>
      </p:sp>
      <p:sp>
        <p:nvSpPr>
          <p:cNvPr id="70659" name="Rectangle 3"/>
          <p:cNvSpPr>
            <a:spLocks noGrp="1" noChangeArrowheads="1"/>
          </p:cNvSpPr>
          <p:nvPr>
            <p:ph type="body" idx="1"/>
          </p:nvPr>
        </p:nvSpPr>
        <p:spPr>
          <a:xfrm>
            <a:off x="457200" y="1163023"/>
            <a:ext cx="8229599" cy="3504446"/>
          </a:xfrm>
        </p:spPr>
        <p:txBody>
          <a:bodyPr>
            <a:normAutofit lnSpcReduction="10000"/>
          </a:bodyPr>
          <a:lstStyle/>
          <a:p>
            <a:r>
              <a:rPr lang="en-US" dirty="0"/>
              <a:t>A fundamental problem for users of financial statements: what happened? </a:t>
            </a:r>
          </a:p>
          <a:p>
            <a:r>
              <a:rPr lang="en-US" dirty="0"/>
              <a:t>Coldwater Creek problem asks us to find out what caused statements to be what they are at the end of the period (i.e. What transactions were done and what recorded events occurred?)</a:t>
            </a:r>
          </a:p>
        </p:txBody>
      </p:sp>
    </p:spTree>
    <p:extLst>
      <p:ext uri="{BB962C8B-B14F-4D97-AF65-F5344CB8AC3E}">
        <p14:creationId xmlns:p14="http://schemas.microsoft.com/office/powerpoint/2010/main" val="1578293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324C0A-BF08-4EEB-9548-32166F160EA9}"/>
              </a:ext>
            </a:extLst>
          </p:cNvPr>
          <p:cNvPicPr>
            <a:picLocks noChangeAspect="1"/>
          </p:cNvPicPr>
          <p:nvPr/>
        </p:nvPicPr>
        <p:blipFill>
          <a:blip r:embed="rId2"/>
          <a:stretch>
            <a:fillRect/>
          </a:stretch>
        </p:blipFill>
        <p:spPr>
          <a:xfrm>
            <a:off x="2305442" y="0"/>
            <a:ext cx="4533116" cy="5143500"/>
          </a:xfrm>
          <a:prstGeom prst="rect">
            <a:avLst/>
          </a:prstGeom>
          <a:solidFill>
            <a:schemeClr val="bg1">
              <a:lumMod val="85000"/>
            </a:schemeClr>
          </a:solidFill>
        </p:spPr>
      </p:pic>
    </p:spTree>
    <p:extLst>
      <p:ext uri="{BB962C8B-B14F-4D97-AF65-F5344CB8AC3E}">
        <p14:creationId xmlns:p14="http://schemas.microsoft.com/office/powerpoint/2010/main" val="1074293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756E6B-C90F-4243-99C4-1CEBEBA88D49}"/>
              </a:ext>
            </a:extLst>
          </p:cNvPr>
          <p:cNvPicPr>
            <a:picLocks noChangeAspect="1"/>
          </p:cNvPicPr>
          <p:nvPr/>
        </p:nvPicPr>
        <p:blipFill>
          <a:blip r:embed="rId2"/>
          <a:stretch>
            <a:fillRect/>
          </a:stretch>
        </p:blipFill>
        <p:spPr>
          <a:xfrm>
            <a:off x="1600962" y="767334"/>
            <a:ext cx="5942076" cy="3608832"/>
          </a:xfrm>
          <a:prstGeom prst="rect">
            <a:avLst/>
          </a:prstGeom>
        </p:spPr>
      </p:pic>
    </p:spTree>
    <p:extLst>
      <p:ext uri="{BB962C8B-B14F-4D97-AF65-F5344CB8AC3E}">
        <p14:creationId xmlns:p14="http://schemas.microsoft.com/office/powerpoint/2010/main" val="1118942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ＭＳ Ｐゴシック" charset="0"/>
              </a:defRPr>
            </a:lvl1pPr>
            <a:lvl2pPr marL="742931" indent="-285743">
              <a:defRPr sz="2400">
                <a:solidFill>
                  <a:schemeClr val="tx1"/>
                </a:solidFill>
                <a:latin typeface="Times New Roman" charset="0"/>
                <a:ea typeface="ＭＳ Ｐゴシック" charset="0"/>
              </a:defRPr>
            </a:lvl2pPr>
            <a:lvl3pPr marL="1142972" indent="-228594">
              <a:defRPr sz="2400">
                <a:solidFill>
                  <a:schemeClr val="tx1"/>
                </a:solidFill>
                <a:latin typeface="Times New Roman" charset="0"/>
                <a:ea typeface="ＭＳ Ｐゴシック" charset="0"/>
              </a:defRPr>
            </a:lvl3pPr>
            <a:lvl4pPr marL="1600160" indent="-228594">
              <a:defRPr sz="2400">
                <a:solidFill>
                  <a:schemeClr val="tx1"/>
                </a:solidFill>
                <a:latin typeface="Times New Roman" charset="0"/>
                <a:ea typeface="ＭＳ Ｐゴシック" charset="0"/>
              </a:defRPr>
            </a:lvl4pPr>
            <a:lvl5pPr marL="2057348" indent="-228594">
              <a:defRPr sz="2400">
                <a:solidFill>
                  <a:schemeClr val="tx1"/>
                </a:solidFill>
                <a:latin typeface="Times New Roman" charset="0"/>
                <a:ea typeface="ＭＳ Ｐゴシック" charset="0"/>
              </a:defRPr>
            </a:lvl5pPr>
            <a:lvl6pPr marL="2514537" indent="-228594" eaLnBrk="0" fontAlgn="base" hangingPunct="0">
              <a:spcBef>
                <a:spcPct val="0"/>
              </a:spcBef>
              <a:spcAft>
                <a:spcPct val="0"/>
              </a:spcAft>
              <a:defRPr sz="2400">
                <a:solidFill>
                  <a:schemeClr val="tx1"/>
                </a:solidFill>
                <a:latin typeface="Times New Roman" charset="0"/>
                <a:ea typeface="ＭＳ Ｐゴシック" charset="0"/>
              </a:defRPr>
            </a:lvl6pPr>
            <a:lvl7pPr marL="2971726" indent="-228594" eaLnBrk="0" fontAlgn="base" hangingPunct="0">
              <a:spcBef>
                <a:spcPct val="0"/>
              </a:spcBef>
              <a:spcAft>
                <a:spcPct val="0"/>
              </a:spcAft>
              <a:defRPr sz="2400">
                <a:solidFill>
                  <a:schemeClr val="tx1"/>
                </a:solidFill>
                <a:latin typeface="Times New Roman" charset="0"/>
                <a:ea typeface="ＭＳ Ｐゴシック" charset="0"/>
              </a:defRPr>
            </a:lvl7pPr>
            <a:lvl8pPr marL="3428915" indent="-228594" eaLnBrk="0" fontAlgn="base" hangingPunct="0">
              <a:spcBef>
                <a:spcPct val="0"/>
              </a:spcBef>
              <a:spcAft>
                <a:spcPct val="0"/>
              </a:spcAft>
              <a:defRPr sz="2400">
                <a:solidFill>
                  <a:schemeClr val="tx1"/>
                </a:solidFill>
                <a:latin typeface="Times New Roman" charset="0"/>
                <a:ea typeface="ＭＳ Ｐゴシック" charset="0"/>
              </a:defRPr>
            </a:lvl8pPr>
            <a:lvl9pPr marL="3886103" indent="-228594" eaLnBrk="0" fontAlgn="base" hangingPunct="0">
              <a:spcBef>
                <a:spcPct val="0"/>
              </a:spcBef>
              <a:spcAft>
                <a:spcPct val="0"/>
              </a:spcAft>
              <a:defRPr sz="2400">
                <a:solidFill>
                  <a:schemeClr val="tx1"/>
                </a:solidFill>
                <a:latin typeface="Times New Roman" charset="0"/>
                <a:ea typeface="ＭＳ Ｐゴシック" charset="0"/>
              </a:defRPr>
            </a:lvl9pPr>
          </a:lstStyle>
          <a:p>
            <a:fld id="{B537C232-F718-F647-B93E-28AB2D213240}" type="slidenum">
              <a:rPr lang="en-US" sz="1400">
                <a:latin typeface="Avenir Next LT Pro" panose="020B0504020202020204" pitchFamily="34" charset="0"/>
              </a:rPr>
              <a:pPr/>
              <a:t>5</a:t>
            </a:fld>
            <a:endParaRPr lang="en-US" sz="1400" dirty="0">
              <a:latin typeface="Avenir Next LT Pro" panose="020B0504020202020204" pitchFamily="34" charset="0"/>
            </a:endParaRPr>
          </a:p>
        </p:txBody>
      </p:sp>
      <p:sp>
        <p:nvSpPr>
          <p:cNvPr id="7178" name="Rectangle 54"/>
          <p:cNvSpPr>
            <a:spLocks noGrp="1" noChangeArrowheads="1"/>
          </p:cNvSpPr>
          <p:nvPr>
            <p:ph type="title" idx="4294967295"/>
          </p:nvPr>
        </p:nvSpPr>
        <p:spPr/>
        <p:txBody>
          <a:bodyPr/>
          <a:lstStyle/>
          <a:p>
            <a:r>
              <a:rPr lang="en-US" dirty="0">
                <a:latin typeface="Avenir Next LT Pro" panose="020B0504020202020204" pitchFamily="34" charset="0"/>
              </a:rPr>
              <a:t>Data: Financial Statements</a:t>
            </a:r>
          </a:p>
        </p:txBody>
      </p:sp>
      <p:sp>
        <p:nvSpPr>
          <p:cNvPr id="7182" name="Text Box 45"/>
          <p:cNvSpPr txBox="1">
            <a:spLocks noChangeArrowheads="1"/>
          </p:cNvSpPr>
          <p:nvPr/>
        </p:nvSpPr>
        <p:spPr bwMode="auto">
          <a:xfrm>
            <a:off x="2584563" y="3883493"/>
            <a:ext cx="3970698" cy="584775"/>
          </a:xfrm>
          <a:prstGeom prst="rect">
            <a:avLst/>
          </a:prstGeom>
          <a:noFill/>
          <a:ln w="25400">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3200" dirty="0">
                <a:solidFill>
                  <a:srgbClr val="006BA6"/>
                </a:solidFill>
                <a:latin typeface="Avenir Next LT Pro" panose="020B0504020202020204" pitchFamily="34" charset="0"/>
                <a:ea typeface="+mn-ea"/>
              </a:rPr>
              <a:t>Income Statement</a:t>
            </a:r>
          </a:p>
        </p:txBody>
      </p:sp>
      <p:grpSp>
        <p:nvGrpSpPr>
          <p:cNvPr id="38" name="Group 53">
            <a:extLst>
              <a:ext uri="{FF2B5EF4-FFF2-40B4-BE49-F238E27FC236}">
                <a16:creationId xmlns:a16="http://schemas.microsoft.com/office/drawing/2014/main" id="{2A545BB3-8178-43E5-8A32-0662D07D7A0E}"/>
              </a:ext>
            </a:extLst>
          </p:cNvPr>
          <p:cNvGrpSpPr>
            <a:grpSpLocks/>
          </p:cNvGrpSpPr>
          <p:nvPr/>
        </p:nvGrpSpPr>
        <p:grpSpPr bwMode="auto">
          <a:xfrm>
            <a:off x="68966" y="2920229"/>
            <a:ext cx="8102033" cy="415528"/>
            <a:chOff x="203" y="1558"/>
            <a:chExt cx="4803" cy="349"/>
          </a:xfrm>
        </p:grpSpPr>
        <p:sp>
          <p:nvSpPr>
            <p:cNvPr id="41" name="Text Box 32">
              <a:extLst>
                <a:ext uri="{FF2B5EF4-FFF2-40B4-BE49-F238E27FC236}">
                  <a16:creationId xmlns:a16="http://schemas.microsoft.com/office/drawing/2014/main" id="{30DEFB9B-1427-4573-9B87-39773BCE237C}"/>
                </a:ext>
              </a:extLst>
            </p:cNvPr>
            <p:cNvSpPr txBox="1">
              <a:spLocks noChangeArrowheads="1"/>
            </p:cNvSpPr>
            <p:nvPr/>
          </p:nvSpPr>
          <p:spPr bwMode="auto">
            <a:xfrm>
              <a:off x="203" y="1558"/>
              <a:ext cx="617" cy="349"/>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2100" dirty="0">
                  <a:solidFill>
                    <a:srgbClr val="006BA6"/>
                  </a:solidFill>
                  <a:latin typeface="Avenir Next LT Pro"/>
                  <a:ea typeface="ＭＳ Ｐゴシック"/>
                </a:rPr>
                <a:t>time</a:t>
              </a:r>
            </a:p>
          </p:txBody>
        </p:sp>
        <p:grpSp>
          <p:nvGrpSpPr>
            <p:cNvPr id="42" name="Group 47">
              <a:extLst>
                <a:ext uri="{FF2B5EF4-FFF2-40B4-BE49-F238E27FC236}">
                  <a16:creationId xmlns:a16="http://schemas.microsoft.com/office/drawing/2014/main" id="{3E1BAD66-F6DA-495D-BC53-A0C45462FBC0}"/>
                </a:ext>
              </a:extLst>
            </p:cNvPr>
            <p:cNvGrpSpPr>
              <a:grpSpLocks/>
            </p:cNvGrpSpPr>
            <p:nvPr/>
          </p:nvGrpSpPr>
          <p:grpSpPr bwMode="auto">
            <a:xfrm>
              <a:off x="638" y="1645"/>
              <a:ext cx="4368" cy="217"/>
              <a:chOff x="638" y="1645"/>
              <a:chExt cx="4368" cy="217"/>
            </a:xfrm>
          </p:grpSpPr>
          <p:sp>
            <p:nvSpPr>
              <p:cNvPr id="43" name="Line 31">
                <a:extLst>
                  <a:ext uri="{FF2B5EF4-FFF2-40B4-BE49-F238E27FC236}">
                    <a16:creationId xmlns:a16="http://schemas.microsoft.com/office/drawing/2014/main" id="{BD2538B3-176E-45B0-BF03-D8928F1F29C2}"/>
                  </a:ext>
                </a:extLst>
              </p:cNvPr>
              <p:cNvSpPr>
                <a:spLocks noChangeShapeType="1"/>
              </p:cNvSpPr>
              <p:nvPr/>
            </p:nvSpPr>
            <p:spPr bwMode="auto">
              <a:xfrm>
                <a:off x="638" y="1731"/>
                <a:ext cx="4368" cy="0"/>
              </a:xfrm>
              <a:prstGeom prst="line">
                <a:avLst/>
              </a:prstGeom>
              <a:noFill/>
              <a:ln w="57150">
                <a:solidFill>
                  <a:srgbClr val="006BA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5" name="Line 33">
                <a:extLst>
                  <a:ext uri="{FF2B5EF4-FFF2-40B4-BE49-F238E27FC236}">
                    <a16:creationId xmlns:a16="http://schemas.microsoft.com/office/drawing/2014/main" id="{0A14B59F-7AE1-4A75-93B6-74BB8B8BAB9C}"/>
                  </a:ext>
                </a:extLst>
              </p:cNvPr>
              <p:cNvSpPr>
                <a:spLocks noChangeShapeType="1"/>
              </p:cNvSpPr>
              <p:nvPr/>
            </p:nvSpPr>
            <p:spPr bwMode="auto">
              <a:xfrm>
                <a:off x="1169" y="1670"/>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7" name="Line 35">
                <a:extLst>
                  <a:ext uri="{FF2B5EF4-FFF2-40B4-BE49-F238E27FC236}">
                    <a16:creationId xmlns:a16="http://schemas.microsoft.com/office/drawing/2014/main" id="{9B5D280C-EDCA-4ED4-9DEF-803E6666432B}"/>
                  </a:ext>
                </a:extLst>
              </p:cNvPr>
              <p:cNvSpPr>
                <a:spLocks noChangeShapeType="1"/>
              </p:cNvSpPr>
              <p:nvPr/>
            </p:nvSpPr>
            <p:spPr bwMode="auto">
              <a:xfrm>
                <a:off x="4609" y="1645"/>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grpSp>
      </p:grpSp>
      <p:sp>
        <p:nvSpPr>
          <p:cNvPr id="48" name="Arrow: Right 47">
            <a:extLst>
              <a:ext uri="{FF2B5EF4-FFF2-40B4-BE49-F238E27FC236}">
                <a16:creationId xmlns:a16="http://schemas.microsoft.com/office/drawing/2014/main" id="{F063706D-0A7C-437E-A7D9-CE3A0C307B64}"/>
              </a:ext>
            </a:extLst>
          </p:cNvPr>
          <p:cNvSpPr/>
          <p:nvPr/>
        </p:nvSpPr>
        <p:spPr>
          <a:xfrm>
            <a:off x="1698480" y="3297642"/>
            <a:ext cx="5846296" cy="2285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Text Box 37">
            <a:extLst>
              <a:ext uri="{FF2B5EF4-FFF2-40B4-BE49-F238E27FC236}">
                <a16:creationId xmlns:a16="http://schemas.microsoft.com/office/drawing/2014/main" id="{563EF4F2-66B6-42E7-B241-2313E4287FBC}"/>
              </a:ext>
            </a:extLst>
          </p:cNvPr>
          <p:cNvSpPr txBox="1">
            <a:spLocks noChangeArrowheads="1"/>
          </p:cNvSpPr>
          <p:nvPr/>
        </p:nvSpPr>
        <p:spPr bwMode="auto">
          <a:xfrm>
            <a:off x="6126609" y="1378304"/>
            <a:ext cx="2789767" cy="584200"/>
          </a:xfrm>
          <a:prstGeom prst="rect">
            <a:avLst/>
          </a:prstGeom>
          <a:noFill/>
          <a:ln w="25400">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non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3200" dirty="0">
                <a:solidFill>
                  <a:srgbClr val="006BA6"/>
                </a:solidFill>
                <a:latin typeface="Avenir Next LT Pro"/>
                <a:ea typeface="ＭＳ Ｐゴシック"/>
              </a:rPr>
              <a:t>Balance sheet</a:t>
            </a:r>
          </a:p>
        </p:txBody>
      </p:sp>
      <p:sp>
        <p:nvSpPr>
          <p:cNvPr id="19" name="Arrow: Down 18">
            <a:extLst>
              <a:ext uri="{FF2B5EF4-FFF2-40B4-BE49-F238E27FC236}">
                <a16:creationId xmlns:a16="http://schemas.microsoft.com/office/drawing/2014/main" id="{1D74FB33-AFCB-429B-AC08-0EA3ECD64826}"/>
              </a:ext>
            </a:extLst>
          </p:cNvPr>
          <p:cNvSpPr/>
          <p:nvPr/>
        </p:nvSpPr>
        <p:spPr>
          <a:xfrm>
            <a:off x="7454530" y="2090522"/>
            <a:ext cx="111760" cy="843280"/>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7">
            <a:extLst>
              <a:ext uri="{FF2B5EF4-FFF2-40B4-BE49-F238E27FC236}">
                <a16:creationId xmlns:a16="http://schemas.microsoft.com/office/drawing/2014/main" id="{0643E71A-7F73-4E30-B5C9-254E612040DF}"/>
              </a:ext>
            </a:extLst>
          </p:cNvPr>
          <p:cNvSpPr txBox="1">
            <a:spLocks noChangeArrowheads="1"/>
          </p:cNvSpPr>
          <p:nvPr/>
        </p:nvSpPr>
        <p:spPr bwMode="auto">
          <a:xfrm>
            <a:off x="316865" y="1376250"/>
            <a:ext cx="2789767" cy="584200"/>
          </a:xfrm>
          <a:prstGeom prst="rect">
            <a:avLst/>
          </a:prstGeom>
          <a:noFill/>
          <a:ln w="25400">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non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3200" dirty="0">
                <a:solidFill>
                  <a:srgbClr val="006BA6"/>
                </a:solidFill>
                <a:latin typeface="Avenir Next LT Pro"/>
                <a:ea typeface="ＭＳ Ｐゴシック"/>
              </a:rPr>
              <a:t>Balance sheet</a:t>
            </a:r>
          </a:p>
        </p:txBody>
      </p:sp>
      <p:sp>
        <p:nvSpPr>
          <p:cNvPr id="21" name="Arrow: Down 20">
            <a:extLst>
              <a:ext uri="{FF2B5EF4-FFF2-40B4-BE49-F238E27FC236}">
                <a16:creationId xmlns:a16="http://schemas.microsoft.com/office/drawing/2014/main" id="{80BA7653-5D60-48CD-99EC-62FF9101B094}"/>
              </a:ext>
            </a:extLst>
          </p:cNvPr>
          <p:cNvSpPr/>
          <p:nvPr/>
        </p:nvSpPr>
        <p:spPr>
          <a:xfrm>
            <a:off x="1644786" y="2088468"/>
            <a:ext cx="111760" cy="843280"/>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2295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ＭＳ Ｐゴシック" charset="0"/>
              </a:defRPr>
            </a:lvl1pPr>
            <a:lvl2pPr marL="742931" indent="-285743">
              <a:defRPr sz="2400">
                <a:solidFill>
                  <a:schemeClr val="tx1"/>
                </a:solidFill>
                <a:latin typeface="Times New Roman" charset="0"/>
                <a:ea typeface="ＭＳ Ｐゴシック" charset="0"/>
              </a:defRPr>
            </a:lvl2pPr>
            <a:lvl3pPr marL="1142972" indent="-228594">
              <a:defRPr sz="2400">
                <a:solidFill>
                  <a:schemeClr val="tx1"/>
                </a:solidFill>
                <a:latin typeface="Times New Roman" charset="0"/>
                <a:ea typeface="ＭＳ Ｐゴシック" charset="0"/>
              </a:defRPr>
            </a:lvl3pPr>
            <a:lvl4pPr marL="1600160" indent="-228594">
              <a:defRPr sz="2400">
                <a:solidFill>
                  <a:schemeClr val="tx1"/>
                </a:solidFill>
                <a:latin typeface="Times New Roman" charset="0"/>
                <a:ea typeface="ＭＳ Ｐゴシック" charset="0"/>
              </a:defRPr>
            </a:lvl4pPr>
            <a:lvl5pPr marL="2057348" indent="-228594">
              <a:defRPr sz="2400">
                <a:solidFill>
                  <a:schemeClr val="tx1"/>
                </a:solidFill>
                <a:latin typeface="Times New Roman" charset="0"/>
                <a:ea typeface="ＭＳ Ｐゴシック" charset="0"/>
              </a:defRPr>
            </a:lvl5pPr>
            <a:lvl6pPr marL="2514537" indent="-228594" eaLnBrk="0" fontAlgn="base" hangingPunct="0">
              <a:spcBef>
                <a:spcPct val="0"/>
              </a:spcBef>
              <a:spcAft>
                <a:spcPct val="0"/>
              </a:spcAft>
              <a:defRPr sz="2400">
                <a:solidFill>
                  <a:schemeClr val="tx1"/>
                </a:solidFill>
                <a:latin typeface="Times New Roman" charset="0"/>
                <a:ea typeface="ＭＳ Ｐゴシック" charset="0"/>
              </a:defRPr>
            </a:lvl6pPr>
            <a:lvl7pPr marL="2971726" indent="-228594" eaLnBrk="0" fontAlgn="base" hangingPunct="0">
              <a:spcBef>
                <a:spcPct val="0"/>
              </a:spcBef>
              <a:spcAft>
                <a:spcPct val="0"/>
              </a:spcAft>
              <a:defRPr sz="2400">
                <a:solidFill>
                  <a:schemeClr val="tx1"/>
                </a:solidFill>
                <a:latin typeface="Times New Roman" charset="0"/>
                <a:ea typeface="ＭＳ Ｐゴシック" charset="0"/>
              </a:defRPr>
            </a:lvl7pPr>
            <a:lvl8pPr marL="3428915" indent="-228594" eaLnBrk="0" fontAlgn="base" hangingPunct="0">
              <a:spcBef>
                <a:spcPct val="0"/>
              </a:spcBef>
              <a:spcAft>
                <a:spcPct val="0"/>
              </a:spcAft>
              <a:defRPr sz="2400">
                <a:solidFill>
                  <a:schemeClr val="tx1"/>
                </a:solidFill>
                <a:latin typeface="Times New Roman" charset="0"/>
                <a:ea typeface="ＭＳ Ｐゴシック" charset="0"/>
              </a:defRPr>
            </a:lvl8pPr>
            <a:lvl9pPr marL="3886103" indent="-228594" eaLnBrk="0" fontAlgn="base" hangingPunct="0">
              <a:spcBef>
                <a:spcPct val="0"/>
              </a:spcBef>
              <a:spcAft>
                <a:spcPct val="0"/>
              </a:spcAft>
              <a:defRPr sz="2400">
                <a:solidFill>
                  <a:schemeClr val="tx1"/>
                </a:solidFill>
                <a:latin typeface="Times New Roman" charset="0"/>
                <a:ea typeface="ＭＳ Ｐゴシック" charset="0"/>
              </a:defRPr>
            </a:lvl9pPr>
          </a:lstStyle>
          <a:p>
            <a:fld id="{B537C232-F718-F647-B93E-28AB2D213240}" type="slidenum">
              <a:rPr lang="en-US" sz="1400">
                <a:latin typeface="Avenir Next LT Pro" panose="020B0504020202020204" pitchFamily="34" charset="0"/>
              </a:rPr>
              <a:pPr/>
              <a:t>6</a:t>
            </a:fld>
            <a:endParaRPr lang="en-US" sz="1400" dirty="0">
              <a:latin typeface="Avenir Next LT Pro" panose="020B0504020202020204" pitchFamily="34" charset="0"/>
            </a:endParaRPr>
          </a:p>
        </p:txBody>
      </p:sp>
      <p:sp>
        <p:nvSpPr>
          <p:cNvPr id="7178" name="Rectangle 54"/>
          <p:cNvSpPr>
            <a:spLocks noGrp="1" noChangeArrowheads="1"/>
          </p:cNvSpPr>
          <p:nvPr>
            <p:ph type="title" idx="4294967295"/>
          </p:nvPr>
        </p:nvSpPr>
        <p:spPr/>
        <p:txBody>
          <a:bodyPr/>
          <a:lstStyle/>
          <a:p>
            <a:r>
              <a:rPr lang="en-US" dirty="0">
                <a:latin typeface="Avenir Next LT Pro" panose="020B0504020202020204" pitchFamily="34" charset="0"/>
              </a:rPr>
              <a:t>Data: Financial Statements</a:t>
            </a:r>
          </a:p>
        </p:txBody>
      </p:sp>
      <p:sp>
        <p:nvSpPr>
          <p:cNvPr id="41" name="Text Box 32">
            <a:extLst>
              <a:ext uri="{FF2B5EF4-FFF2-40B4-BE49-F238E27FC236}">
                <a16:creationId xmlns:a16="http://schemas.microsoft.com/office/drawing/2014/main" id="{30DEFB9B-1427-4573-9B87-39773BCE237C}"/>
              </a:ext>
            </a:extLst>
          </p:cNvPr>
          <p:cNvSpPr txBox="1">
            <a:spLocks noChangeArrowheads="1"/>
          </p:cNvSpPr>
          <p:nvPr/>
        </p:nvSpPr>
        <p:spPr bwMode="auto">
          <a:xfrm>
            <a:off x="280930" y="1246382"/>
            <a:ext cx="1040798" cy="41552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2100" dirty="0">
                <a:solidFill>
                  <a:srgbClr val="006BA6"/>
                </a:solidFill>
                <a:latin typeface="Avenir Next LT Pro"/>
                <a:ea typeface="ＭＳ Ｐゴシック"/>
              </a:rPr>
              <a:t>time</a:t>
            </a:r>
          </a:p>
        </p:txBody>
      </p:sp>
      <p:grpSp>
        <p:nvGrpSpPr>
          <p:cNvPr id="42" name="Group 47">
            <a:extLst>
              <a:ext uri="{FF2B5EF4-FFF2-40B4-BE49-F238E27FC236}">
                <a16:creationId xmlns:a16="http://schemas.microsoft.com/office/drawing/2014/main" id="{3E1BAD66-F6DA-495D-BC53-A0C45462FBC0}"/>
              </a:ext>
            </a:extLst>
          </p:cNvPr>
          <p:cNvGrpSpPr>
            <a:grpSpLocks/>
          </p:cNvGrpSpPr>
          <p:nvPr/>
        </p:nvGrpSpPr>
        <p:grpSpPr bwMode="auto">
          <a:xfrm>
            <a:off x="1014718" y="1349966"/>
            <a:ext cx="7368245" cy="258366"/>
            <a:chOff x="638" y="1645"/>
            <a:chExt cx="4368" cy="217"/>
          </a:xfrm>
        </p:grpSpPr>
        <p:sp>
          <p:nvSpPr>
            <p:cNvPr id="43" name="Line 31">
              <a:extLst>
                <a:ext uri="{FF2B5EF4-FFF2-40B4-BE49-F238E27FC236}">
                  <a16:creationId xmlns:a16="http://schemas.microsoft.com/office/drawing/2014/main" id="{BD2538B3-176E-45B0-BF03-D8928F1F29C2}"/>
                </a:ext>
              </a:extLst>
            </p:cNvPr>
            <p:cNvSpPr>
              <a:spLocks noChangeShapeType="1"/>
            </p:cNvSpPr>
            <p:nvPr/>
          </p:nvSpPr>
          <p:spPr bwMode="auto">
            <a:xfrm>
              <a:off x="638" y="1731"/>
              <a:ext cx="4368" cy="0"/>
            </a:xfrm>
            <a:prstGeom prst="line">
              <a:avLst/>
            </a:prstGeom>
            <a:noFill/>
            <a:ln w="57150">
              <a:solidFill>
                <a:srgbClr val="006BA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5" name="Line 33">
              <a:extLst>
                <a:ext uri="{FF2B5EF4-FFF2-40B4-BE49-F238E27FC236}">
                  <a16:creationId xmlns:a16="http://schemas.microsoft.com/office/drawing/2014/main" id="{0A14B59F-7AE1-4A75-93B6-74BB8B8BAB9C}"/>
                </a:ext>
              </a:extLst>
            </p:cNvPr>
            <p:cNvSpPr>
              <a:spLocks noChangeShapeType="1"/>
            </p:cNvSpPr>
            <p:nvPr/>
          </p:nvSpPr>
          <p:spPr bwMode="auto">
            <a:xfrm>
              <a:off x="1169" y="1670"/>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7" name="Line 35">
              <a:extLst>
                <a:ext uri="{FF2B5EF4-FFF2-40B4-BE49-F238E27FC236}">
                  <a16:creationId xmlns:a16="http://schemas.microsoft.com/office/drawing/2014/main" id="{9B5D280C-EDCA-4ED4-9DEF-803E6666432B}"/>
                </a:ext>
              </a:extLst>
            </p:cNvPr>
            <p:cNvSpPr>
              <a:spLocks noChangeShapeType="1"/>
            </p:cNvSpPr>
            <p:nvPr/>
          </p:nvSpPr>
          <p:spPr bwMode="auto">
            <a:xfrm>
              <a:off x="4609" y="1645"/>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grpSp>
      <p:sp>
        <p:nvSpPr>
          <p:cNvPr id="17" name="Text Box 32">
            <a:extLst>
              <a:ext uri="{FF2B5EF4-FFF2-40B4-BE49-F238E27FC236}">
                <a16:creationId xmlns:a16="http://schemas.microsoft.com/office/drawing/2014/main" id="{7C0298B7-A90D-41DC-BC22-729A7F73DC48}"/>
              </a:ext>
            </a:extLst>
          </p:cNvPr>
          <p:cNvSpPr txBox="1">
            <a:spLocks noChangeArrowheads="1"/>
          </p:cNvSpPr>
          <p:nvPr/>
        </p:nvSpPr>
        <p:spPr bwMode="auto">
          <a:xfrm>
            <a:off x="1383750" y="935163"/>
            <a:ext cx="1040798" cy="41552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sz="2100" dirty="0">
                <a:solidFill>
                  <a:srgbClr val="006BA6"/>
                </a:solidFill>
                <a:latin typeface="Avenir Next LT Pro"/>
                <a:ea typeface="ＭＳ Ｐゴシック"/>
              </a:rPr>
              <a:t>3/1/97</a:t>
            </a:r>
          </a:p>
        </p:txBody>
      </p:sp>
      <p:sp>
        <p:nvSpPr>
          <p:cNvPr id="22" name="Text Box 32">
            <a:extLst>
              <a:ext uri="{FF2B5EF4-FFF2-40B4-BE49-F238E27FC236}">
                <a16:creationId xmlns:a16="http://schemas.microsoft.com/office/drawing/2014/main" id="{A83AC5FD-46CF-4C14-9CB1-DA8046486721}"/>
              </a:ext>
            </a:extLst>
          </p:cNvPr>
          <p:cNvSpPr txBox="1">
            <a:spLocks noChangeArrowheads="1"/>
          </p:cNvSpPr>
          <p:nvPr/>
        </p:nvSpPr>
        <p:spPr bwMode="auto">
          <a:xfrm>
            <a:off x="7116523" y="932668"/>
            <a:ext cx="1193505" cy="41549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sz="2100" dirty="0">
                <a:solidFill>
                  <a:srgbClr val="006BA6"/>
                </a:solidFill>
                <a:latin typeface="Avenir Next LT Pro"/>
                <a:ea typeface="ＭＳ Ｐゴシック"/>
              </a:rPr>
              <a:t>2/28/98</a:t>
            </a:r>
          </a:p>
        </p:txBody>
      </p:sp>
      <p:sp>
        <p:nvSpPr>
          <p:cNvPr id="25" name="Arrow: Right 24">
            <a:extLst>
              <a:ext uri="{FF2B5EF4-FFF2-40B4-BE49-F238E27FC236}">
                <a16:creationId xmlns:a16="http://schemas.microsoft.com/office/drawing/2014/main" id="{51EC9E62-7B60-4599-B8B0-11350955BF92}"/>
              </a:ext>
            </a:extLst>
          </p:cNvPr>
          <p:cNvSpPr/>
          <p:nvPr/>
        </p:nvSpPr>
        <p:spPr>
          <a:xfrm>
            <a:off x="2854777" y="2805108"/>
            <a:ext cx="3572435" cy="2285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3" name="Group 2">
            <a:extLst>
              <a:ext uri="{FF2B5EF4-FFF2-40B4-BE49-F238E27FC236}">
                <a16:creationId xmlns:a16="http://schemas.microsoft.com/office/drawing/2014/main" id="{CA85DC63-2EBC-4DB1-BAD2-81ABBE2F5D4A}"/>
              </a:ext>
            </a:extLst>
          </p:cNvPr>
          <p:cNvGrpSpPr/>
          <p:nvPr/>
        </p:nvGrpSpPr>
        <p:grpSpPr>
          <a:xfrm>
            <a:off x="6513604" y="1619014"/>
            <a:ext cx="2339697" cy="2982480"/>
            <a:chOff x="6513604" y="1691932"/>
            <a:chExt cx="2339697" cy="2982480"/>
          </a:xfrm>
        </p:grpSpPr>
        <p:sp>
          <p:nvSpPr>
            <p:cNvPr id="19" name="Arrow: Down 18">
              <a:extLst>
                <a:ext uri="{FF2B5EF4-FFF2-40B4-BE49-F238E27FC236}">
                  <a16:creationId xmlns:a16="http://schemas.microsoft.com/office/drawing/2014/main" id="{1D74FB33-AFCB-429B-AC08-0EA3ECD64826}"/>
                </a:ext>
              </a:extLst>
            </p:cNvPr>
            <p:cNvSpPr/>
            <p:nvPr/>
          </p:nvSpPr>
          <p:spPr>
            <a:xfrm rot="10800000">
              <a:off x="7683453" y="1691932"/>
              <a:ext cx="66159" cy="183843"/>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1779BC6-0191-448F-BBC3-D95FBA14A50B}"/>
                </a:ext>
              </a:extLst>
            </p:cNvPr>
            <p:cNvPicPr>
              <a:picLocks noChangeAspect="1"/>
            </p:cNvPicPr>
            <p:nvPr/>
          </p:nvPicPr>
          <p:blipFill rotWithShape="1">
            <a:blip r:embed="rId3"/>
            <a:srcRect r="54633"/>
            <a:stretch/>
          </p:blipFill>
          <p:spPr>
            <a:xfrm>
              <a:off x="6513604" y="1804136"/>
              <a:ext cx="2339697" cy="2870276"/>
            </a:xfrm>
            <a:prstGeom prst="rect">
              <a:avLst/>
            </a:prstGeom>
          </p:spPr>
        </p:pic>
      </p:grpSp>
      <p:grpSp>
        <p:nvGrpSpPr>
          <p:cNvPr id="2" name="Group 1">
            <a:extLst>
              <a:ext uri="{FF2B5EF4-FFF2-40B4-BE49-F238E27FC236}">
                <a16:creationId xmlns:a16="http://schemas.microsoft.com/office/drawing/2014/main" id="{01306B47-A9CF-4111-BF24-3510D4C3F413}"/>
              </a:ext>
            </a:extLst>
          </p:cNvPr>
          <p:cNvGrpSpPr/>
          <p:nvPr/>
        </p:nvGrpSpPr>
        <p:grpSpPr>
          <a:xfrm>
            <a:off x="510506" y="1680827"/>
            <a:ext cx="2344271" cy="2932391"/>
            <a:chOff x="510506" y="1680827"/>
            <a:chExt cx="2344271" cy="2932391"/>
          </a:xfrm>
        </p:grpSpPr>
        <p:sp>
          <p:nvSpPr>
            <p:cNvPr id="16" name="Arrow: Down 15">
              <a:extLst>
                <a:ext uri="{FF2B5EF4-FFF2-40B4-BE49-F238E27FC236}">
                  <a16:creationId xmlns:a16="http://schemas.microsoft.com/office/drawing/2014/main" id="{62F32841-E02D-4C96-B291-AAEE478E3DB7}"/>
                </a:ext>
              </a:extLst>
            </p:cNvPr>
            <p:cNvSpPr/>
            <p:nvPr/>
          </p:nvSpPr>
          <p:spPr>
            <a:xfrm rot="10800000">
              <a:off x="1871070" y="1680827"/>
              <a:ext cx="66159" cy="183843"/>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FE5D8E0-5A0B-4965-8867-643DA5F6EC3D}"/>
                </a:ext>
              </a:extLst>
            </p:cNvPr>
            <p:cNvPicPr>
              <a:picLocks noChangeAspect="1"/>
            </p:cNvPicPr>
            <p:nvPr/>
          </p:nvPicPr>
          <p:blipFill rotWithShape="1">
            <a:blip r:embed="rId4"/>
            <a:srcRect r="54439"/>
            <a:stretch/>
          </p:blipFill>
          <p:spPr>
            <a:xfrm>
              <a:off x="510506" y="1749570"/>
              <a:ext cx="2344271" cy="2863648"/>
            </a:xfrm>
            <a:prstGeom prst="rect">
              <a:avLst/>
            </a:prstGeom>
          </p:spPr>
        </p:pic>
      </p:grpSp>
      <p:sp>
        <p:nvSpPr>
          <p:cNvPr id="5" name="Rectangle: Rounded Corners 4">
            <a:extLst>
              <a:ext uri="{FF2B5EF4-FFF2-40B4-BE49-F238E27FC236}">
                <a16:creationId xmlns:a16="http://schemas.microsoft.com/office/drawing/2014/main" id="{B1AA01AF-D887-4460-BEAB-5967BCE4D658}"/>
              </a:ext>
            </a:extLst>
          </p:cNvPr>
          <p:cNvSpPr/>
          <p:nvPr/>
        </p:nvSpPr>
        <p:spPr>
          <a:xfrm>
            <a:off x="510506" y="3772968"/>
            <a:ext cx="2258331" cy="329013"/>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73D9CA2-B2E3-41CA-AE70-0976017E596A}"/>
              </a:ext>
            </a:extLst>
          </p:cNvPr>
          <p:cNvSpPr/>
          <p:nvPr/>
        </p:nvSpPr>
        <p:spPr>
          <a:xfrm>
            <a:off x="6513604" y="3767270"/>
            <a:ext cx="2258331" cy="329013"/>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B510B98-F800-4F12-88AB-F1D6D9E89093}"/>
              </a:ext>
            </a:extLst>
          </p:cNvPr>
          <p:cNvCxnSpPr>
            <a:stCxn id="5" idx="3"/>
            <a:endCxn id="6" idx="1"/>
          </p:cNvCxnSpPr>
          <p:nvPr/>
        </p:nvCxnSpPr>
        <p:spPr>
          <a:xfrm flipV="1">
            <a:off x="2768837" y="3931777"/>
            <a:ext cx="3744767" cy="56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D184387F-56FA-4511-BD6E-8C98BE798924}"/>
              </a:ext>
            </a:extLst>
          </p:cNvPr>
          <p:cNvSpPr/>
          <p:nvPr/>
        </p:nvSpPr>
        <p:spPr>
          <a:xfrm>
            <a:off x="510506" y="3117790"/>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23E69E1D-9FBB-4E19-BC59-D71706FA2F88}"/>
              </a:ext>
            </a:extLst>
          </p:cNvPr>
          <p:cNvSpPr/>
          <p:nvPr/>
        </p:nvSpPr>
        <p:spPr>
          <a:xfrm>
            <a:off x="6513604" y="3112092"/>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00A3C7D9-859A-49D1-97C1-208642E50628}"/>
              </a:ext>
            </a:extLst>
          </p:cNvPr>
          <p:cNvCxnSpPr>
            <a:stCxn id="26" idx="3"/>
            <a:endCxn id="27" idx="1"/>
          </p:cNvCxnSpPr>
          <p:nvPr/>
        </p:nvCxnSpPr>
        <p:spPr>
          <a:xfrm flipV="1">
            <a:off x="2768837" y="3191497"/>
            <a:ext cx="3744767" cy="56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C0BE62FC-A646-499D-B3C9-02A51186D6BF}"/>
              </a:ext>
            </a:extLst>
          </p:cNvPr>
          <p:cNvSpPr/>
          <p:nvPr/>
        </p:nvSpPr>
        <p:spPr>
          <a:xfrm>
            <a:off x="510506" y="2731401"/>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713531FC-189A-426D-A354-48D75F873743}"/>
              </a:ext>
            </a:extLst>
          </p:cNvPr>
          <p:cNvSpPr/>
          <p:nvPr/>
        </p:nvSpPr>
        <p:spPr>
          <a:xfrm>
            <a:off x="6513604" y="2725703"/>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3B615AA4-B0BD-41AD-99E1-E93275AC4DED}"/>
              </a:ext>
            </a:extLst>
          </p:cNvPr>
          <p:cNvCxnSpPr>
            <a:stCxn id="29" idx="3"/>
            <a:endCxn id="30" idx="1"/>
          </p:cNvCxnSpPr>
          <p:nvPr/>
        </p:nvCxnSpPr>
        <p:spPr>
          <a:xfrm flipV="1">
            <a:off x="2768837" y="2805108"/>
            <a:ext cx="3744767" cy="56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1858A3E2-3B80-40E5-839E-9AE9D1E5DC6D}"/>
              </a:ext>
            </a:extLst>
          </p:cNvPr>
          <p:cNvSpPr/>
          <p:nvPr/>
        </p:nvSpPr>
        <p:spPr>
          <a:xfrm>
            <a:off x="510506" y="2567557"/>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6F3B9410-F325-4A7F-B9CB-F5CCD41CDDC7}"/>
              </a:ext>
            </a:extLst>
          </p:cNvPr>
          <p:cNvSpPr/>
          <p:nvPr/>
        </p:nvSpPr>
        <p:spPr>
          <a:xfrm>
            <a:off x="6513604" y="2561859"/>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A7EE7372-6081-4993-A589-C1E5EAB03D35}"/>
              </a:ext>
            </a:extLst>
          </p:cNvPr>
          <p:cNvCxnSpPr>
            <a:stCxn id="32" idx="3"/>
            <a:endCxn id="33" idx="1"/>
          </p:cNvCxnSpPr>
          <p:nvPr/>
        </p:nvCxnSpPr>
        <p:spPr>
          <a:xfrm flipV="1">
            <a:off x="2768837" y="2641264"/>
            <a:ext cx="3744767" cy="56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C1F72BA7-9860-44C7-9AC9-7B09C7A99FFE}"/>
              </a:ext>
            </a:extLst>
          </p:cNvPr>
          <p:cNvSpPr/>
          <p:nvPr/>
        </p:nvSpPr>
        <p:spPr>
          <a:xfrm>
            <a:off x="510506" y="1916652"/>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0372A522-6D49-45A8-BD59-59F613C464C1}"/>
              </a:ext>
            </a:extLst>
          </p:cNvPr>
          <p:cNvSpPr/>
          <p:nvPr/>
        </p:nvSpPr>
        <p:spPr>
          <a:xfrm>
            <a:off x="6513604" y="1910954"/>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B667A95B-C819-4F09-817F-14E9E63C197F}"/>
              </a:ext>
            </a:extLst>
          </p:cNvPr>
          <p:cNvCxnSpPr>
            <a:stCxn id="35" idx="3"/>
            <a:endCxn id="36" idx="1"/>
          </p:cNvCxnSpPr>
          <p:nvPr/>
        </p:nvCxnSpPr>
        <p:spPr>
          <a:xfrm flipV="1">
            <a:off x="2768837" y="1990359"/>
            <a:ext cx="3744767" cy="56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23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2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5"/>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wipe(left)">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1" nodeType="clickEffect">
                                  <p:stCondLst>
                                    <p:cond delay="0"/>
                                  </p:stCondLst>
                                  <p:childTnLst>
                                    <p:set>
                                      <p:cBhvr>
                                        <p:cTn id="61" dur="1" fill="hold">
                                          <p:stCondLst>
                                            <p:cond delay="0"/>
                                          </p:stCondLst>
                                        </p:cTn>
                                        <p:tgtEl>
                                          <p:spTgt spid="26"/>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28"/>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27"/>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left)">
                                      <p:cBhvr>
                                        <p:cTn id="74" dur="500"/>
                                        <p:tgtEl>
                                          <p:spTgt spid="31"/>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9"/>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31"/>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30"/>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wipe(left)">
                                      <p:cBhvr>
                                        <p:cTn id="95" dur="500"/>
                                        <p:tgtEl>
                                          <p:spTgt spid="34"/>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1" nodeType="clickEffect">
                                  <p:stCondLst>
                                    <p:cond delay="0"/>
                                  </p:stCondLst>
                                  <p:childTnLst>
                                    <p:set>
                                      <p:cBhvr>
                                        <p:cTn id="103" dur="1" fill="hold">
                                          <p:stCondLst>
                                            <p:cond delay="0"/>
                                          </p:stCondLst>
                                        </p:cTn>
                                        <p:tgtEl>
                                          <p:spTgt spid="32"/>
                                        </p:tgtEl>
                                        <p:attrNameLst>
                                          <p:attrName>style.visibility</p:attrName>
                                        </p:attrNameLst>
                                      </p:cBhvr>
                                      <p:to>
                                        <p:strVal val="hidden"/>
                                      </p:to>
                                    </p:set>
                                  </p:childTnLst>
                                </p:cTn>
                              </p:par>
                              <p:par>
                                <p:cTn id="104" presetID="1" presetClass="exit" presetSubtype="0" fill="hold" nodeType="withEffect">
                                  <p:stCondLst>
                                    <p:cond delay="0"/>
                                  </p:stCondLst>
                                  <p:childTnLst>
                                    <p:set>
                                      <p:cBhvr>
                                        <p:cTn id="105" dur="1" fill="hold">
                                          <p:stCondLst>
                                            <p:cond delay="0"/>
                                          </p:stCondLst>
                                        </p:cTn>
                                        <p:tgtEl>
                                          <p:spTgt spid="34"/>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33"/>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35"/>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wipe(left)">
                                      <p:cBhvr>
                                        <p:cTn id="116" dur="500"/>
                                        <p:tgtEl>
                                          <p:spTgt spid="37"/>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grpId="1" nodeType="clickEffect">
                                  <p:stCondLst>
                                    <p:cond delay="0"/>
                                  </p:stCondLst>
                                  <p:childTnLst>
                                    <p:set>
                                      <p:cBhvr>
                                        <p:cTn id="124" dur="1" fill="hold">
                                          <p:stCondLst>
                                            <p:cond delay="0"/>
                                          </p:stCondLst>
                                        </p:cTn>
                                        <p:tgtEl>
                                          <p:spTgt spid="35"/>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37"/>
                                        </p:tgtEl>
                                        <p:attrNameLst>
                                          <p:attrName>style.visibility</p:attrName>
                                        </p:attrNameLst>
                                      </p:cBhvr>
                                      <p:to>
                                        <p:strVal val="hidden"/>
                                      </p:to>
                                    </p:set>
                                  </p:childTnLst>
                                </p:cTn>
                              </p:par>
                              <p:par>
                                <p:cTn id="127" presetID="1" presetClass="exit" presetSubtype="0" fill="hold" grpId="1" nodeType="withEffect">
                                  <p:stCondLst>
                                    <p:cond delay="0"/>
                                  </p:stCondLst>
                                  <p:childTnLst>
                                    <p:set>
                                      <p:cBhvr>
                                        <p:cTn id="128"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5" grpId="0" animBg="1"/>
      <p:bldP spid="5" grpId="1" animBg="1"/>
      <p:bldP spid="6" grpId="0" animBg="1"/>
      <p:bldP spid="6" grpId="1" animBg="1"/>
      <p:bldP spid="26" grpId="0" animBg="1"/>
      <p:bldP spid="26" grpId="1" animBg="1"/>
      <p:bldP spid="27" grpId="0" animBg="1"/>
      <p:bldP spid="27" grpId="1" animBg="1"/>
      <p:bldP spid="29" grpId="0" animBg="1"/>
      <p:bldP spid="29" grpId="1" animBg="1"/>
      <p:bldP spid="30" grpId="0" animBg="1"/>
      <p:bldP spid="30" grpId="1" animBg="1"/>
      <p:bldP spid="32" grpId="0" animBg="1"/>
      <p:bldP spid="32" grpId="1" animBg="1"/>
      <p:bldP spid="33" grpId="0" animBg="1"/>
      <p:bldP spid="33" grpId="1" animBg="1"/>
      <p:bldP spid="35" grpId="0" animBg="1"/>
      <p:bldP spid="35" grpId="1" animBg="1"/>
      <p:bldP spid="36" grpId="0" animBg="1"/>
      <p:bldP spid="3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ＭＳ Ｐゴシック" charset="0"/>
              </a:defRPr>
            </a:lvl1pPr>
            <a:lvl2pPr marL="742931" indent="-285743">
              <a:defRPr sz="2400">
                <a:solidFill>
                  <a:schemeClr val="tx1"/>
                </a:solidFill>
                <a:latin typeface="Times New Roman" charset="0"/>
                <a:ea typeface="ＭＳ Ｐゴシック" charset="0"/>
              </a:defRPr>
            </a:lvl2pPr>
            <a:lvl3pPr marL="1142972" indent="-228594">
              <a:defRPr sz="2400">
                <a:solidFill>
                  <a:schemeClr val="tx1"/>
                </a:solidFill>
                <a:latin typeface="Times New Roman" charset="0"/>
                <a:ea typeface="ＭＳ Ｐゴシック" charset="0"/>
              </a:defRPr>
            </a:lvl3pPr>
            <a:lvl4pPr marL="1600160" indent="-228594">
              <a:defRPr sz="2400">
                <a:solidFill>
                  <a:schemeClr val="tx1"/>
                </a:solidFill>
                <a:latin typeface="Times New Roman" charset="0"/>
                <a:ea typeface="ＭＳ Ｐゴシック" charset="0"/>
              </a:defRPr>
            </a:lvl4pPr>
            <a:lvl5pPr marL="2057348" indent="-228594">
              <a:defRPr sz="2400">
                <a:solidFill>
                  <a:schemeClr val="tx1"/>
                </a:solidFill>
                <a:latin typeface="Times New Roman" charset="0"/>
                <a:ea typeface="ＭＳ Ｐゴシック" charset="0"/>
              </a:defRPr>
            </a:lvl5pPr>
            <a:lvl6pPr marL="2514537" indent="-228594" eaLnBrk="0" fontAlgn="base" hangingPunct="0">
              <a:spcBef>
                <a:spcPct val="0"/>
              </a:spcBef>
              <a:spcAft>
                <a:spcPct val="0"/>
              </a:spcAft>
              <a:defRPr sz="2400">
                <a:solidFill>
                  <a:schemeClr val="tx1"/>
                </a:solidFill>
                <a:latin typeface="Times New Roman" charset="0"/>
                <a:ea typeface="ＭＳ Ｐゴシック" charset="0"/>
              </a:defRPr>
            </a:lvl6pPr>
            <a:lvl7pPr marL="2971726" indent="-228594" eaLnBrk="0" fontAlgn="base" hangingPunct="0">
              <a:spcBef>
                <a:spcPct val="0"/>
              </a:spcBef>
              <a:spcAft>
                <a:spcPct val="0"/>
              </a:spcAft>
              <a:defRPr sz="2400">
                <a:solidFill>
                  <a:schemeClr val="tx1"/>
                </a:solidFill>
                <a:latin typeface="Times New Roman" charset="0"/>
                <a:ea typeface="ＭＳ Ｐゴシック" charset="0"/>
              </a:defRPr>
            </a:lvl7pPr>
            <a:lvl8pPr marL="3428915" indent="-228594" eaLnBrk="0" fontAlgn="base" hangingPunct="0">
              <a:spcBef>
                <a:spcPct val="0"/>
              </a:spcBef>
              <a:spcAft>
                <a:spcPct val="0"/>
              </a:spcAft>
              <a:defRPr sz="2400">
                <a:solidFill>
                  <a:schemeClr val="tx1"/>
                </a:solidFill>
                <a:latin typeface="Times New Roman" charset="0"/>
                <a:ea typeface="ＭＳ Ｐゴシック" charset="0"/>
              </a:defRPr>
            </a:lvl8pPr>
            <a:lvl9pPr marL="3886103" indent="-228594" eaLnBrk="0" fontAlgn="base" hangingPunct="0">
              <a:spcBef>
                <a:spcPct val="0"/>
              </a:spcBef>
              <a:spcAft>
                <a:spcPct val="0"/>
              </a:spcAft>
              <a:defRPr sz="2400">
                <a:solidFill>
                  <a:schemeClr val="tx1"/>
                </a:solidFill>
                <a:latin typeface="Times New Roman" charset="0"/>
                <a:ea typeface="ＭＳ Ｐゴシック" charset="0"/>
              </a:defRPr>
            </a:lvl9pPr>
          </a:lstStyle>
          <a:p>
            <a:fld id="{B537C232-F718-F647-B93E-28AB2D213240}" type="slidenum">
              <a:rPr lang="en-US" sz="1400">
                <a:latin typeface="Avenir Next LT Pro" panose="020B0504020202020204" pitchFamily="34" charset="0"/>
              </a:rPr>
              <a:pPr/>
              <a:t>7</a:t>
            </a:fld>
            <a:endParaRPr lang="en-US" sz="1400" dirty="0">
              <a:latin typeface="Avenir Next LT Pro" panose="020B0504020202020204" pitchFamily="34" charset="0"/>
            </a:endParaRPr>
          </a:p>
        </p:txBody>
      </p:sp>
      <p:sp>
        <p:nvSpPr>
          <p:cNvPr id="7178" name="Rectangle 54"/>
          <p:cNvSpPr>
            <a:spLocks noGrp="1" noChangeArrowheads="1"/>
          </p:cNvSpPr>
          <p:nvPr>
            <p:ph type="title" idx="4294967295"/>
          </p:nvPr>
        </p:nvSpPr>
        <p:spPr/>
        <p:txBody>
          <a:bodyPr/>
          <a:lstStyle/>
          <a:p>
            <a:r>
              <a:rPr lang="en-US" dirty="0">
                <a:latin typeface="Avenir Next LT Pro" panose="020B0504020202020204" pitchFamily="34" charset="0"/>
              </a:rPr>
              <a:t>Data: Financial Statements</a:t>
            </a:r>
          </a:p>
        </p:txBody>
      </p:sp>
      <p:sp>
        <p:nvSpPr>
          <p:cNvPr id="41" name="Text Box 32">
            <a:extLst>
              <a:ext uri="{FF2B5EF4-FFF2-40B4-BE49-F238E27FC236}">
                <a16:creationId xmlns:a16="http://schemas.microsoft.com/office/drawing/2014/main" id="{30DEFB9B-1427-4573-9B87-39773BCE237C}"/>
              </a:ext>
            </a:extLst>
          </p:cNvPr>
          <p:cNvSpPr txBox="1">
            <a:spLocks noChangeArrowheads="1"/>
          </p:cNvSpPr>
          <p:nvPr/>
        </p:nvSpPr>
        <p:spPr bwMode="auto">
          <a:xfrm>
            <a:off x="280930" y="1246382"/>
            <a:ext cx="1040798" cy="41552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2100" dirty="0">
                <a:solidFill>
                  <a:srgbClr val="006BA6"/>
                </a:solidFill>
                <a:latin typeface="Avenir Next LT Pro"/>
                <a:ea typeface="ＭＳ Ｐゴシック"/>
              </a:rPr>
              <a:t>time</a:t>
            </a:r>
          </a:p>
        </p:txBody>
      </p:sp>
      <p:grpSp>
        <p:nvGrpSpPr>
          <p:cNvPr id="42" name="Group 47">
            <a:extLst>
              <a:ext uri="{FF2B5EF4-FFF2-40B4-BE49-F238E27FC236}">
                <a16:creationId xmlns:a16="http://schemas.microsoft.com/office/drawing/2014/main" id="{3E1BAD66-F6DA-495D-BC53-A0C45462FBC0}"/>
              </a:ext>
            </a:extLst>
          </p:cNvPr>
          <p:cNvGrpSpPr>
            <a:grpSpLocks/>
          </p:cNvGrpSpPr>
          <p:nvPr/>
        </p:nvGrpSpPr>
        <p:grpSpPr bwMode="auto">
          <a:xfrm>
            <a:off x="1014718" y="1349966"/>
            <a:ext cx="7368245" cy="258366"/>
            <a:chOff x="638" y="1645"/>
            <a:chExt cx="4368" cy="217"/>
          </a:xfrm>
        </p:grpSpPr>
        <p:sp>
          <p:nvSpPr>
            <p:cNvPr id="43" name="Line 31">
              <a:extLst>
                <a:ext uri="{FF2B5EF4-FFF2-40B4-BE49-F238E27FC236}">
                  <a16:creationId xmlns:a16="http://schemas.microsoft.com/office/drawing/2014/main" id="{BD2538B3-176E-45B0-BF03-D8928F1F29C2}"/>
                </a:ext>
              </a:extLst>
            </p:cNvPr>
            <p:cNvSpPr>
              <a:spLocks noChangeShapeType="1"/>
            </p:cNvSpPr>
            <p:nvPr/>
          </p:nvSpPr>
          <p:spPr bwMode="auto">
            <a:xfrm>
              <a:off x="638" y="1731"/>
              <a:ext cx="4368" cy="0"/>
            </a:xfrm>
            <a:prstGeom prst="line">
              <a:avLst/>
            </a:prstGeom>
            <a:noFill/>
            <a:ln w="57150">
              <a:solidFill>
                <a:srgbClr val="006BA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5" name="Line 33">
              <a:extLst>
                <a:ext uri="{FF2B5EF4-FFF2-40B4-BE49-F238E27FC236}">
                  <a16:creationId xmlns:a16="http://schemas.microsoft.com/office/drawing/2014/main" id="{0A14B59F-7AE1-4A75-93B6-74BB8B8BAB9C}"/>
                </a:ext>
              </a:extLst>
            </p:cNvPr>
            <p:cNvSpPr>
              <a:spLocks noChangeShapeType="1"/>
            </p:cNvSpPr>
            <p:nvPr/>
          </p:nvSpPr>
          <p:spPr bwMode="auto">
            <a:xfrm>
              <a:off x="1169" y="1670"/>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7" name="Line 35">
              <a:extLst>
                <a:ext uri="{FF2B5EF4-FFF2-40B4-BE49-F238E27FC236}">
                  <a16:creationId xmlns:a16="http://schemas.microsoft.com/office/drawing/2014/main" id="{9B5D280C-EDCA-4ED4-9DEF-803E6666432B}"/>
                </a:ext>
              </a:extLst>
            </p:cNvPr>
            <p:cNvSpPr>
              <a:spLocks noChangeShapeType="1"/>
            </p:cNvSpPr>
            <p:nvPr/>
          </p:nvSpPr>
          <p:spPr bwMode="auto">
            <a:xfrm>
              <a:off x="4609" y="1645"/>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grpSp>
      <p:sp>
        <p:nvSpPr>
          <p:cNvPr id="17" name="Text Box 32">
            <a:extLst>
              <a:ext uri="{FF2B5EF4-FFF2-40B4-BE49-F238E27FC236}">
                <a16:creationId xmlns:a16="http://schemas.microsoft.com/office/drawing/2014/main" id="{7C0298B7-A90D-41DC-BC22-729A7F73DC48}"/>
              </a:ext>
            </a:extLst>
          </p:cNvPr>
          <p:cNvSpPr txBox="1">
            <a:spLocks noChangeArrowheads="1"/>
          </p:cNvSpPr>
          <p:nvPr/>
        </p:nvSpPr>
        <p:spPr bwMode="auto">
          <a:xfrm>
            <a:off x="1383750" y="935163"/>
            <a:ext cx="1040798" cy="41552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sz="2100" dirty="0">
                <a:solidFill>
                  <a:srgbClr val="006BA6"/>
                </a:solidFill>
                <a:latin typeface="Avenir Next LT Pro"/>
                <a:ea typeface="ＭＳ Ｐゴシック"/>
              </a:rPr>
              <a:t>3/1/97</a:t>
            </a:r>
          </a:p>
        </p:txBody>
      </p:sp>
      <p:sp>
        <p:nvSpPr>
          <p:cNvPr id="22" name="Text Box 32">
            <a:extLst>
              <a:ext uri="{FF2B5EF4-FFF2-40B4-BE49-F238E27FC236}">
                <a16:creationId xmlns:a16="http://schemas.microsoft.com/office/drawing/2014/main" id="{A83AC5FD-46CF-4C14-9CB1-DA8046486721}"/>
              </a:ext>
            </a:extLst>
          </p:cNvPr>
          <p:cNvSpPr txBox="1">
            <a:spLocks noChangeArrowheads="1"/>
          </p:cNvSpPr>
          <p:nvPr/>
        </p:nvSpPr>
        <p:spPr bwMode="auto">
          <a:xfrm>
            <a:off x="7116523" y="932668"/>
            <a:ext cx="1193505" cy="41549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sz="2100" dirty="0">
                <a:solidFill>
                  <a:srgbClr val="006BA6"/>
                </a:solidFill>
                <a:latin typeface="Avenir Next LT Pro"/>
                <a:ea typeface="ＭＳ Ｐゴシック"/>
              </a:rPr>
              <a:t>2/28/98</a:t>
            </a:r>
          </a:p>
        </p:txBody>
      </p:sp>
      <p:pic>
        <p:nvPicPr>
          <p:cNvPr id="7" name="Picture 6">
            <a:extLst>
              <a:ext uri="{FF2B5EF4-FFF2-40B4-BE49-F238E27FC236}">
                <a16:creationId xmlns:a16="http://schemas.microsoft.com/office/drawing/2014/main" id="{11064C7A-AE0D-4F27-B377-F4AE71A16C39}"/>
              </a:ext>
            </a:extLst>
          </p:cNvPr>
          <p:cNvPicPr>
            <a:picLocks noChangeAspect="1"/>
          </p:cNvPicPr>
          <p:nvPr/>
        </p:nvPicPr>
        <p:blipFill rotWithShape="1">
          <a:blip r:embed="rId3"/>
          <a:srcRect r="53763"/>
          <a:stretch/>
        </p:blipFill>
        <p:spPr>
          <a:xfrm>
            <a:off x="3249757" y="1938156"/>
            <a:ext cx="2638770" cy="1165129"/>
          </a:xfrm>
          <a:prstGeom prst="rect">
            <a:avLst/>
          </a:prstGeom>
        </p:spPr>
      </p:pic>
      <p:grpSp>
        <p:nvGrpSpPr>
          <p:cNvPr id="3" name="Group 2">
            <a:extLst>
              <a:ext uri="{FF2B5EF4-FFF2-40B4-BE49-F238E27FC236}">
                <a16:creationId xmlns:a16="http://schemas.microsoft.com/office/drawing/2014/main" id="{CA85DC63-2EBC-4DB1-BAD2-81ABBE2F5D4A}"/>
              </a:ext>
            </a:extLst>
          </p:cNvPr>
          <p:cNvGrpSpPr/>
          <p:nvPr/>
        </p:nvGrpSpPr>
        <p:grpSpPr>
          <a:xfrm>
            <a:off x="6513604" y="1630738"/>
            <a:ext cx="2339697" cy="2982480"/>
            <a:chOff x="6513604" y="1691932"/>
            <a:chExt cx="2339697" cy="2982480"/>
          </a:xfrm>
        </p:grpSpPr>
        <p:sp>
          <p:nvSpPr>
            <p:cNvPr id="19" name="Arrow: Down 18">
              <a:extLst>
                <a:ext uri="{FF2B5EF4-FFF2-40B4-BE49-F238E27FC236}">
                  <a16:creationId xmlns:a16="http://schemas.microsoft.com/office/drawing/2014/main" id="{1D74FB33-AFCB-429B-AC08-0EA3ECD64826}"/>
                </a:ext>
              </a:extLst>
            </p:cNvPr>
            <p:cNvSpPr/>
            <p:nvPr/>
          </p:nvSpPr>
          <p:spPr>
            <a:xfrm rot="10800000">
              <a:off x="7683453" y="1691932"/>
              <a:ext cx="66159" cy="183843"/>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1779BC6-0191-448F-BBC3-D95FBA14A50B}"/>
                </a:ext>
              </a:extLst>
            </p:cNvPr>
            <p:cNvPicPr>
              <a:picLocks noChangeAspect="1"/>
            </p:cNvPicPr>
            <p:nvPr/>
          </p:nvPicPr>
          <p:blipFill rotWithShape="1">
            <a:blip r:embed="rId4"/>
            <a:srcRect r="54633"/>
            <a:stretch/>
          </p:blipFill>
          <p:spPr>
            <a:xfrm>
              <a:off x="6513604" y="1804136"/>
              <a:ext cx="2339697" cy="2870276"/>
            </a:xfrm>
            <a:prstGeom prst="rect">
              <a:avLst/>
            </a:prstGeom>
          </p:spPr>
        </p:pic>
      </p:grpSp>
      <p:grpSp>
        <p:nvGrpSpPr>
          <p:cNvPr id="2" name="Group 1">
            <a:extLst>
              <a:ext uri="{FF2B5EF4-FFF2-40B4-BE49-F238E27FC236}">
                <a16:creationId xmlns:a16="http://schemas.microsoft.com/office/drawing/2014/main" id="{01306B47-A9CF-4111-BF24-3510D4C3F413}"/>
              </a:ext>
            </a:extLst>
          </p:cNvPr>
          <p:cNvGrpSpPr/>
          <p:nvPr/>
        </p:nvGrpSpPr>
        <p:grpSpPr>
          <a:xfrm>
            <a:off x="510506" y="1680827"/>
            <a:ext cx="2344271" cy="2932391"/>
            <a:chOff x="510506" y="1680827"/>
            <a:chExt cx="2344271" cy="2932391"/>
          </a:xfrm>
        </p:grpSpPr>
        <p:sp>
          <p:nvSpPr>
            <p:cNvPr id="16" name="Arrow: Down 15">
              <a:extLst>
                <a:ext uri="{FF2B5EF4-FFF2-40B4-BE49-F238E27FC236}">
                  <a16:creationId xmlns:a16="http://schemas.microsoft.com/office/drawing/2014/main" id="{62F32841-E02D-4C96-B291-AAEE478E3DB7}"/>
                </a:ext>
              </a:extLst>
            </p:cNvPr>
            <p:cNvSpPr/>
            <p:nvPr/>
          </p:nvSpPr>
          <p:spPr>
            <a:xfrm rot="10800000">
              <a:off x="1871070" y="1680827"/>
              <a:ext cx="66159" cy="183843"/>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FE5D8E0-5A0B-4965-8867-643DA5F6EC3D}"/>
                </a:ext>
              </a:extLst>
            </p:cNvPr>
            <p:cNvPicPr>
              <a:picLocks noChangeAspect="1"/>
            </p:cNvPicPr>
            <p:nvPr/>
          </p:nvPicPr>
          <p:blipFill rotWithShape="1">
            <a:blip r:embed="rId5"/>
            <a:srcRect r="54439"/>
            <a:stretch/>
          </p:blipFill>
          <p:spPr>
            <a:xfrm>
              <a:off x="510506" y="1749570"/>
              <a:ext cx="2344271" cy="2863648"/>
            </a:xfrm>
            <a:prstGeom prst="rect">
              <a:avLst/>
            </a:prstGeom>
          </p:spPr>
        </p:pic>
      </p:grpSp>
      <p:sp>
        <p:nvSpPr>
          <p:cNvPr id="20" name="Rectangle: Rounded Corners 19">
            <a:extLst>
              <a:ext uri="{FF2B5EF4-FFF2-40B4-BE49-F238E27FC236}">
                <a16:creationId xmlns:a16="http://schemas.microsoft.com/office/drawing/2014/main" id="{DC9B0895-A671-4B34-B0CB-09B83E78E0F9}"/>
              </a:ext>
            </a:extLst>
          </p:cNvPr>
          <p:cNvSpPr/>
          <p:nvPr/>
        </p:nvSpPr>
        <p:spPr>
          <a:xfrm>
            <a:off x="510506" y="1916652"/>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8364E26-4AFD-4FD7-9446-4A2DEA601508}"/>
              </a:ext>
            </a:extLst>
          </p:cNvPr>
          <p:cNvSpPr/>
          <p:nvPr/>
        </p:nvSpPr>
        <p:spPr>
          <a:xfrm>
            <a:off x="3358497" y="1938156"/>
            <a:ext cx="2431279"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BA22C758-6737-4409-8791-FCCFBFF1D65B}"/>
              </a:ext>
            </a:extLst>
          </p:cNvPr>
          <p:cNvSpPr/>
          <p:nvPr/>
        </p:nvSpPr>
        <p:spPr>
          <a:xfrm>
            <a:off x="6404930" y="1916652"/>
            <a:ext cx="2431279"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CC66E00B-54A0-42F6-8B98-6D07F7B7F3DA}"/>
              </a:ext>
            </a:extLst>
          </p:cNvPr>
          <p:cNvCxnSpPr>
            <a:cxnSpLocks/>
            <a:stCxn id="20" idx="3"/>
          </p:cNvCxnSpPr>
          <p:nvPr/>
        </p:nvCxnSpPr>
        <p:spPr>
          <a:xfrm>
            <a:off x="2768837" y="1996057"/>
            <a:ext cx="589660" cy="16478"/>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88F14FA8-5291-451E-9339-E9EFAC73E2EA}"/>
              </a:ext>
            </a:extLst>
          </p:cNvPr>
          <p:cNvCxnSpPr>
            <a:cxnSpLocks/>
            <a:endCxn id="26" idx="1"/>
          </p:cNvCxnSpPr>
          <p:nvPr/>
        </p:nvCxnSpPr>
        <p:spPr>
          <a:xfrm flipV="1">
            <a:off x="5789776" y="1996057"/>
            <a:ext cx="615154" cy="16478"/>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1097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22" presetClass="entr" presetSubtype="8"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par>
                                <p:cTn id="22" presetID="22" presetClass="entr" presetSubtype="2"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 Links: T-account Notation</a:t>
            </a:r>
          </a:p>
        </p:txBody>
      </p:sp>
      <p:sp>
        <p:nvSpPr>
          <p:cNvPr id="4" name="Slide Number Placeholder 3"/>
          <p:cNvSpPr>
            <a:spLocks noGrp="1"/>
          </p:cNvSpPr>
          <p:nvPr>
            <p:ph type="sldNum" sz="quarter" idx="12"/>
          </p:nvPr>
        </p:nvSpPr>
        <p:spPr/>
        <p:txBody>
          <a:bodyPr/>
          <a:lstStyle/>
          <a:p>
            <a:fld id="{2D93DAFC-4A23-43B0-B9A0-D9D5C35F8F3B}" type="slidenum">
              <a:rPr lang="en-US" smtClean="0"/>
              <a:pPr/>
              <a:t>8</a:t>
            </a:fld>
            <a:endParaRPr lang="en-US"/>
          </a:p>
        </p:txBody>
      </p:sp>
      <p:graphicFrame>
        <p:nvGraphicFramePr>
          <p:cNvPr id="50178" name="Object 2"/>
          <p:cNvGraphicFramePr>
            <a:graphicFrameLocks noGrp="1" noChangeAspect="1"/>
          </p:cNvGraphicFramePr>
          <p:nvPr>
            <p:ph idx="1"/>
          </p:nvPr>
        </p:nvGraphicFramePr>
        <p:xfrm>
          <a:off x="3313906" y="2010449"/>
          <a:ext cx="2516188" cy="1476375"/>
        </p:xfrm>
        <a:graphic>
          <a:graphicData uri="http://schemas.openxmlformats.org/presentationml/2006/ole">
            <mc:AlternateContent xmlns:mc="http://schemas.openxmlformats.org/markup-compatibility/2006">
              <mc:Choice xmlns:v="urn:schemas-microsoft-com:vml" Requires="v">
                <p:oleObj name="Worksheet" r:id="rId2" imgW="1704940" imgH="999943" progId="Excel.Sheet.8">
                  <p:embed/>
                </p:oleObj>
              </mc:Choice>
              <mc:Fallback>
                <p:oleObj name="Worksheet" r:id="rId2" imgW="1704940" imgH="999943" progId="Excel.Sheet.8">
                  <p:embed/>
                  <p:pic>
                    <p:nvPicPr>
                      <p:cNvPr id="50178" name="Object 2"/>
                      <p:cNvPicPr>
                        <a:picLocks noChangeAspect="1" noChangeArrowheads="1"/>
                      </p:cNvPicPr>
                      <p:nvPr/>
                    </p:nvPicPr>
                    <p:blipFill>
                      <a:blip r:embed="rId3"/>
                      <a:srcRect/>
                      <a:stretch>
                        <a:fillRect/>
                      </a:stretch>
                    </p:blipFill>
                    <p:spPr bwMode="auto">
                      <a:xfrm>
                        <a:off x="3313906" y="2010449"/>
                        <a:ext cx="2516188"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79" name="Object 3"/>
          <p:cNvGraphicFramePr>
            <a:graphicFrameLocks noChangeAspect="1"/>
          </p:cNvGraphicFramePr>
          <p:nvPr/>
        </p:nvGraphicFramePr>
        <p:xfrm>
          <a:off x="326816" y="2241550"/>
          <a:ext cx="2733675" cy="825500"/>
        </p:xfrm>
        <a:graphic>
          <a:graphicData uri="http://schemas.openxmlformats.org/presentationml/2006/ole">
            <mc:AlternateContent xmlns:mc="http://schemas.openxmlformats.org/markup-compatibility/2006">
              <mc:Choice xmlns:v="urn:schemas-microsoft-com:vml" Requires="v">
                <p:oleObj name="Worksheet" r:id="rId4" imgW="1704940" imgH="514506" progId="Excel.Sheet.8">
                  <p:embed/>
                </p:oleObj>
              </mc:Choice>
              <mc:Fallback>
                <p:oleObj name="Worksheet" r:id="rId4" imgW="1704940" imgH="514506" progId="Excel.Sheet.8">
                  <p:embed/>
                  <p:pic>
                    <p:nvPicPr>
                      <p:cNvPr id="50179" name="Object 3"/>
                      <p:cNvPicPr>
                        <a:picLocks noChangeAspect="1" noChangeArrowheads="1"/>
                      </p:cNvPicPr>
                      <p:nvPr/>
                    </p:nvPicPr>
                    <p:blipFill>
                      <a:blip r:embed="rId5"/>
                      <a:srcRect/>
                      <a:stretch>
                        <a:fillRect/>
                      </a:stretch>
                    </p:blipFill>
                    <p:spPr bwMode="auto">
                      <a:xfrm>
                        <a:off x="326816" y="2241550"/>
                        <a:ext cx="27336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0" name="Object 4"/>
          <p:cNvGraphicFramePr>
            <a:graphicFrameLocks noChangeAspect="1"/>
          </p:cNvGraphicFramePr>
          <p:nvPr/>
        </p:nvGraphicFramePr>
        <p:xfrm>
          <a:off x="6238374" y="1809750"/>
          <a:ext cx="2367463" cy="2083039"/>
        </p:xfrm>
        <a:graphic>
          <a:graphicData uri="http://schemas.openxmlformats.org/presentationml/2006/ole">
            <mc:AlternateContent xmlns:mc="http://schemas.openxmlformats.org/markup-compatibility/2006">
              <mc:Choice xmlns:v="urn:schemas-microsoft-com:vml" Requires="v">
                <p:oleObj name="Worksheet" r:id="rId6" imgW="1704940" imgH="1504898" progId="Excel.Sheet.8">
                  <p:embed/>
                </p:oleObj>
              </mc:Choice>
              <mc:Fallback>
                <p:oleObj name="Worksheet" r:id="rId6" imgW="1704940" imgH="1504898" progId="Excel.Sheet.8">
                  <p:embed/>
                  <p:pic>
                    <p:nvPicPr>
                      <p:cNvPr id="50180" name="Object 4"/>
                      <p:cNvPicPr>
                        <a:picLocks noChangeAspect="1" noChangeArrowheads="1"/>
                      </p:cNvPicPr>
                      <p:nvPr/>
                    </p:nvPicPr>
                    <p:blipFill>
                      <a:blip r:embed="rId7"/>
                      <a:srcRect/>
                      <a:stretch>
                        <a:fillRect/>
                      </a:stretch>
                    </p:blipFill>
                    <p:spPr bwMode="auto">
                      <a:xfrm>
                        <a:off x="6238374" y="1809750"/>
                        <a:ext cx="2367463" cy="2083039"/>
                      </a:xfrm>
                      <a:prstGeom prst="rect">
                        <a:avLst/>
                      </a:prstGeom>
                      <a:noFill/>
                      <a:ln>
                        <a:noFill/>
                      </a:ln>
                      <a:effectLst/>
                    </p:spPr>
                  </p:pic>
                </p:oleObj>
              </mc:Fallback>
            </mc:AlternateContent>
          </a:graphicData>
        </a:graphic>
      </p:graphicFrame>
      <p:cxnSp>
        <p:nvCxnSpPr>
          <p:cNvPr id="9" name="Straight Arrow Connector 8"/>
          <p:cNvCxnSpPr>
            <a:cxnSpLocks/>
          </p:cNvCxnSpPr>
          <p:nvPr/>
        </p:nvCxnSpPr>
        <p:spPr>
          <a:xfrm>
            <a:off x="2413751" y="2664500"/>
            <a:ext cx="1492981"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a:off x="5310188" y="2654300"/>
            <a:ext cx="1789698"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90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418EA212-9330-490F-A676-DD5FB63D6EAA}" type="slidenum">
              <a:rPr lang="en-US" sz="1050"/>
              <a:pPr/>
              <a:t>9</a:t>
            </a:fld>
            <a:endParaRPr lang="en-US" sz="1050"/>
          </a:p>
        </p:txBody>
      </p:sp>
      <p:sp>
        <p:nvSpPr>
          <p:cNvPr id="8197" name="Rectangle 2"/>
          <p:cNvSpPr>
            <a:spLocks noGrp="1" noChangeArrowheads="1"/>
          </p:cNvSpPr>
          <p:nvPr>
            <p:ph type="title"/>
          </p:nvPr>
        </p:nvSpPr>
        <p:spPr>
          <a:xfrm>
            <a:off x="1657350" y="457200"/>
            <a:ext cx="5829300" cy="400050"/>
          </a:xfrm>
        </p:spPr>
        <p:txBody>
          <a:bodyPr>
            <a:noAutofit/>
          </a:bodyPr>
          <a:lstStyle/>
          <a:p>
            <a:r>
              <a:rPr lang="en-US"/>
              <a:t>Coldwater</a:t>
            </a:r>
          </a:p>
        </p:txBody>
      </p:sp>
      <p:sp>
        <p:nvSpPr>
          <p:cNvPr id="78851" name="Rectangle 3"/>
          <p:cNvSpPr>
            <a:spLocks noGrp="1" noChangeArrowheads="1"/>
          </p:cNvSpPr>
          <p:nvPr>
            <p:ph type="body" idx="1"/>
          </p:nvPr>
        </p:nvSpPr>
        <p:spPr>
          <a:xfrm>
            <a:off x="1600200" y="914400"/>
            <a:ext cx="5829300" cy="3600450"/>
          </a:xfrm>
        </p:spPr>
        <p:txBody>
          <a:bodyPr>
            <a:normAutofit/>
          </a:bodyPr>
          <a:lstStyle/>
          <a:p>
            <a:pPr>
              <a:buFontTx/>
              <a:buNone/>
            </a:pPr>
            <a:endParaRPr lang="en-US" sz="1500" dirty="0"/>
          </a:p>
          <a:p>
            <a:pPr>
              <a:buFontTx/>
              <a:buNone/>
            </a:pPr>
            <a:r>
              <a:rPr lang="en-US" sz="1500" dirty="0"/>
              <a:t>(2)  Cash………………………… 245.0            		 (Plug)</a:t>
            </a:r>
          </a:p>
          <a:p>
            <a:pPr>
              <a:buFontTx/>
              <a:buNone/>
            </a:pPr>
            <a:r>
              <a:rPr lang="en-US" sz="1500" dirty="0"/>
              <a:t>			A/R……………….		245.0 </a:t>
            </a:r>
          </a:p>
          <a:p>
            <a:pPr>
              <a:buFontTx/>
              <a:buNone/>
            </a:pPr>
            <a:endParaRPr lang="en-US" sz="1500" dirty="0"/>
          </a:p>
          <a:p>
            <a:pPr>
              <a:buFontTx/>
              <a:buNone/>
            </a:pPr>
            <a:r>
              <a:rPr lang="en-US" sz="1500" dirty="0"/>
              <a:t>	</a:t>
            </a:r>
          </a:p>
        </p:txBody>
      </p:sp>
      <p:graphicFrame>
        <p:nvGraphicFramePr>
          <p:cNvPr id="2" name="Object 1"/>
          <p:cNvGraphicFramePr>
            <a:graphicFrameLocks noChangeAspect="1"/>
          </p:cNvGraphicFramePr>
          <p:nvPr/>
        </p:nvGraphicFramePr>
        <p:xfrm>
          <a:off x="4686300" y="2343150"/>
          <a:ext cx="2286000" cy="2228850"/>
        </p:xfrm>
        <a:graphic>
          <a:graphicData uri="http://schemas.openxmlformats.org/presentationml/2006/ole">
            <mc:AlternateContent xmlns:mc="http://schemas.openxmlformats.org/markup-compatibility/2006">
              <mc:Choice xmlns:v="urn:schemas-microsoft-com:vml" Requires="v">
                <p:oleObj name="Worksheet" r:id="rId2" imgW="1704992" imgH="1666943" progId="Excel.Sheet.8">
                  <p:embed/>
                </p:oleObj>
              </mc:Choice>
              <mc:Fallback>
                <p:oleObj name="Worksheet" r:id="rId2" imgW="1704992" imgH="1666943" progId="Excel.Sheet.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6300" y="2343150"/>
                        <a:ext cx="22860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2"/>
          <p:cNvGraphicFramePr>
            <a:graphicFrameLocks noChangeAspect="1"/>
          </p:cNvGraphicFramePr>
          <p:nvPr/>
        </p:nvGraphicFramePr>
        <p:xfrm>
          <a:off x="1600200" y="2286000"/>
          <a:ext cx="2819400" cy="1921669"/>
        </p:xfrm>
        <a:graphic>
          <a:graphicData uri="http://schemas.openxmlformats.org/presentationml/2006/ole">
            <mc:AlternateContent xmlns:mc="http://schemas.openxmlformats.org/markup-compatibility/2006">
              <mc:Choice xmlns:v="urn:schemas-microsoft-com:vml" Requires="v">
                <p:oleObj name="Worksheet" r:id="rId4" imgW="1704992" imgH="1162056" progId="Excel.Sheet.8">
                  <p:embed/>
                </p:oleObj>
              </mc:Choice>
              <mc:Fallback>
                <p:oleObj name="Worksheet" r:id="rId4" imgW="1704992" imgH="1162056" progId="Excel.Sheet.8">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286000"/>
                        <a:ext cx="2819400" cy="1921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3"/>
          <p:cNvSpPr/>
          <p:nvPr/>
        </p:nvSpPr>
        <p:spPr>
          <a:xfrm>
            <a:off x="3322864" y="3380014"/>
            <a:ext cx="1028700" cy="277586"/>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1461155" y="1838227"/>
            <a:ext cx="3129699" cy="2929036"/>
          </a:xfrm>
          <a:prstGeom prst="ellipse">
            <a:avLst/>
          </a:prstGeom>
          <a:noFill/>
          <a:ln w="508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4419600" y="1741724"/>
            <a:ext cx="3950440" cy="369332"/>
          </a:xfrm>
          <a:prstGeom prst="rect">
            <a:avLst/>
          </a:prstGeom>
          <a:noFill/>
        </p:spPr>
        <p:txBody>
          <a:bodyPr wrap="none" rtlCol="0">
            <a:spAutoFit/>
          </a:bodyPr>
          <a:lstStyle/>
          <a:p>
            <a:r>
              <a:rPr lang="en-US" b="1" dirty="0">
                <a:solidFill>
                  <a:srgbClr val="FF0000"/>
                </a:solidFill>
              </a:rPr>
              <a:t>OPPORTUNITY to GET INFORMATION!!!</a:t>
            </a:r>
          </a:p>
        </p:txBody>
      </p:sp>
      <p:sp>
        <p:nvSpPr>
          <p:cNvPr id="12" name="Oval 11"/>
          <p:cNvSpPr/>
          <p:nvPr/>
        </p:nvSpPr>
        <p:spPr>
          <a:xfrm>
            <a:off x="1487078" y="857249"/>
            <a:ext cx="3688237" cy="1121569"/>
          </a:xfrm>
          <a:prstGeom prst="ellipse">
            <a:avLst/>
          </a:prstGeom>
          <a:noFill/>
          <a:ln w="508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4779390" y="828968"/>
            <a:ext cx="3950440" cy="369332"/>
          </a:xfrm>
          <a:prstGeom prst="rect">
            <a:avLst/>
          </a:prstGeom>
          <a:noFill/>
        </p:spPr>
        <p:txBody>
          <a:bodyPr wrap="none" rtlCol="0">
            <a:spAutoFit/>
          </a:bodyPr>
          <a:lstStyle/>
          <a:p>
            <a:r>
              <a:rPr lang="en-US" b="1" dirty="0">
                <a:solidFill>
                  <a:srgbClr val="FF0000"/>
                </a:solidFill>
              </a:rPr>
              <a:t>OPPORTUNITY to GET INFORMATION!!!</a:t>
            </a:r>
          </a:p>
        </p:txBody>
      </p:sp>
    </p:spTree>
    <p:extLst>
      <p:ext uri="{BB962C8B-B14F-4D97-AF65-F5344CB8AC3E}">
        <p14:creationId xmlns:p14="http://schemas.microsoft.com/office/powerpoint/2010/main" val="3017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grpId="0" nodeType="clickEffect">
                                  <p:stCondLst>
                                    <p:cond delay="0"/>
                                  </p:stCondLst>
                                  <p:childTnLst>
                                    <p:animRot by="21600000">
                                      <p:cBhvr>
                                        <p:cTn id="10" dur="2000" fill="hold"/>
                                        <p:tgtEl>
                                          <p:spTgt spid="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8"/>
                                        </p:tgtEl>
                                      </p:cBhvr>
                                    </p:animEffect>
                                    <p:animScale>
                                      <p:cBhvr>
                                        <p:cTn id="19" dur="250" autoRev="1" fill="hold"/>
                                        <p:tgtEl>
                                          <p:spTgt spid="8"/>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2" nodeType="clickEffect">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78851">
                                            <p:txEl>
                                              <p:pRg st="2" end="2"/>
                                            </p:txEl>
                                          </p:spTgt>
                                        </p:tgtEl>
                                        <p:attrNameLst>
                                          <p:attrName>style.visibility</p:attrName>
                                        </p:attrNameLst>
                                      </p:cBhvr>
                                      <p:to>
                                        <p:strVal val="visible"/>
                                      </p:to>
                                    </p:set>
                                    <p:anim calcmode="lin" valueType="num">
                                      <p:cBhvr additive="base">
                                        <p:cTn id="34" dur="500" fill="hold"/>
                                        <p:tgtEl>
                                          <p:spTgt spid="78851">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788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 nodeType="click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8" presetClass="emph" presetSubtype="0" fill="hold" grpId="0" nodeType="clickEffect">
                                  <p:stCondLst>
                                    <p:cond delay="0"/>
                                  </p:stCondLst>
                                  <p:childTnLst>
                                    <p:animRot by="21600000">
                                      <p:cBhvr>
                                        <p:cTn id="43" dur="2000" fill="hold"/>
                                        <p:tgtEl>
                                          <p:spTgt spid="12"/>
                                        </p:tgtEl>
                                        <p:attrNameLst>
                                          <p:attrName>r</p:attrName>
                                        </p:attrNameLst>
                                      </p:cBhvr>
                                    </p:animRo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2" nodeType="clickEffect">
                                  <p:stCondLst>
                                    <p:cond delay="0"/>
                                  </p:stCondLst>
                                  <p:childTnLst>
                                    <p:set>
                                      <p:cBhvr>
                                        <p:cTn id="51" dur="1" fill="hold">
                                          <p:stCondLst>
                                            <p:cond delay="0"/>
                                          </p:stCondLst>
                                        </p:cTn>
                                        <p:tgtEl>
                                          <p:spTgt spid="12"/>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14"/>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78851">
                                            <p:txEl>
                                              <p:pRg st="1" end="1"/>
                                            </p:txEl>
                                          </p:spTgt>
                                        </p:tgtEl>
                                        <p:attrNameLst>
                                          <p:attrName>style.visibility</p:attrName>
                                        </p:attrNameLst>
                                      </p:cBhvr>
                                      <p:to>
                                        <p:strVal val="visible"/>
                                      </p:to>
                                    </p:set>
                                    <p:anim calcmode="lin" valueType="num">
                                      <p:cBhvr additive="base">
                                        <p:cTn id="58" dur="500" fill="hold"/>
                                        <p:tgtEl>
                                          <p:spTgt spid="78851">
                                            <p:txEl>
                                              <p:pRg st="1" end="1"/>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788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 calcmode="lin" valueType="num">
                                      <p:cBhvr additive="base">
                                        <p:cTn id="64" dur="500" fill="hold"/>
                                        <p:tgtEl>
                                          <p:spTgt spid="2"/>
                                        </p:tgtEl>
                                        <p:attrNameLst>
                                          <p:attrName>ppt_x</p:attrName>
                                        </p:attrNameLst>
                                      </p:cBhvr>
                                      <p:tavLst>
                                        <p:tav tm="0">
                                          <p:val>
                                            <p:strVal val="#ppt_x"/>
                                          </p:val>
                                        </p:tav>
                                        <p:tav tm="100000">
                                          <p:val>
                                            <p:strVal val="#ppt_x"/>
                                          </p:val>
                                        </p:tav>
                                      </p:tavLst>
                                    </p:anim>
                                    <p:anim calcmode="lin" valueType="num">
                                      <p:cBhvr additive="base">
                                        <p:cTn id="6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7" grpId="1" animBg="1"/>
      <p:bldP spid="7" grpId="2" animBg="1"/>
      <p:bldP spid="8" grpId="0"/>
      <p:bldP spid="8" grpId="1"/>
      <p:bldP spid="8" grpId="2"/>
      <p:bldP spid="12" grpId="0" animBg="1"/>
      <p:bldP spid="12" grpId="1" animBg="1"/>
      <p:bldP spid="12" grpId="2" animBg="1"/>
      <p:bldP spid="14" grpId="0"/>
      <p:bldP spid="1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5964-9B37-44F3-9239-1CBE6B70A6BF}"/>
              </a:ext>
            </a:extLst>
          </p:cNvPr>
          <p:cNvSpPr>
            <a:spLocks noGrp="1"/>
          </p:cNvSpPr>
          <p:nvPr>
            <p:ph type="title"/>
          </p:nvPr>
        </p:nvSpPr>
        <p:spPr/>
        <p:txBody>
          <a:bodyPr/>
          <a:lstStyle/>
          <a:p>
            <a:r>
              <a:rPr lang="en-US" dirty="0"/>
              <a:t>Go to </a:t>
            </a:r>
            <a:r>
              <a:rPr lang="en-US" dirty="0" err="1"/>
              <a:t>yaleIE</a:t>
            </a:r>
            <a:endParaRPr lang="en-US" dirty="0"/>
          </a:p>
        </p:txBody>
      </p:sp>
    </p:spTree>
    <p:extLst>
      <p:ext uri="{BB962C8B-B14F-4D97-AF65-F5344CB8AC3E}">
        <p14:creationId xmlns:p14="http://schemas.microsoft.com/office/powerpoint/2010/main" val="2845200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ＭＳ Ｐゴシック" charset="0"/>
              </a:defRPr>
            </a:lvl1pPr>
            <a:lvl2pPr marL="742931" indent="-285743">
              <a:defRPr sz="2400">
                <a:solidFill>
                  <a:schemeClr val="tx1"/>
                </a:solidFill>
                <a:latin typeface="Times New Roman" charset="0"/>
                <a:ea typeface="ＭＳ Ｐゴシック" charset="0"/>
              </a:defRPr>
            </a:lvl2pPr>
            <a:lvl3pPr marL="1142972" indent="-228594">
              <a:defRPr sz="2400">
                <a:solidFill>
                  <a:schemeClr val="tx1"/>
                </a:solidFill>
                <a:latin typeface="Times New Roman" charset="0"/>
                <a:ea typeface="ＭＳ Ｐゴシック" charset="0"/>
              </a:defRPr>
            </a:lvl3pPr>
            <a:lvl4pPr marL="1600160" indent="-228594">
              <a:defRPr sz="2400">
                <a:solidFill>
                  <a:schemeClr val="tx1"/>
                </a:solidFill>
                <a:latin typeface="Times New Roman" charset="0"/>
                <a:ea typeface="ＭＳ Ｐゴシック" charset="0"/>
              </a:defRPr>
            </a:lvl4pPr>
            <a:lvl5pPr marL="2057348" indent="-228594">
              <a:defRPr sz="2400">
                <a:solidFill>
                  <a:schemeClr val="tx1"/>
                </a:solidFill>
                <a:latin typeface="Times New Roman" charset="0"/>
                <a:ea typeface="ＭＳ Ｐゴシック" charset="0"/>
              </a:defRPr>
            </a:lvl5pPr>
            <a:lvl6pPr marL="2514537" indent="-228594" eaLnBrk="0" fontAlgn="base" hangingPunct="0">
              <a:spcBef>
                <a:spcPct val="0"/>
              </a:spcBef>
              <a:spcAft>
                <a:spcPct val="0"/>
              </a:spcAft>
              <a:defRPr sz="2400">
                <a:solidFill>
                  <a:schemeClr val="tx1"/>
                </a:solidFill>
                <a:latin typeface="Times New Roman" charset="0"/>
                <a:ea typeface="ＭＳ Ｐゴシック" charset="0"/>
              </a:defRPr>
            </a:lvl6pPr>
            <a:lvl7pPr marL="2971726" indent="-228594" eaLnBrk="0" fontAlgn="base" hangingPunct="0">
              <a:spcBef>
                <a:spcPct val="0"/>
              </a:spcBef>
              <a:spcAft>
                <a:spcPct val="0"/>
              </a:spcAft>
              <a:defRPr sz="2400">
                <a:solidFill>
                  <a:schemeClr val="tx1"/>
                </a:solidFill>
                <a:latin typeface="Times New Roman" charset="0"/>
                <a:ea typeface="ＭＳ Ｐゴシック" charset="0"/>
              </a:defRPr>
            </a:lvl7pPr>
            <a:lvl8pPr marL="3428915" indent="-228594" eaLnBrk="0" fontAlgn="base" hangingPunct="0">
              <a:spcBef>
                <a:spcPct val="0"/>
              </a:spcBef>
              <a:spcAft>
                <a:spcPct val="0"/>
              </a:spcAft>
              <a:defRPr sz="2400">
                <a:solidFill>
                  <a:schemeClr val="tx1"/>
                </a:solidFill>
                <a:latin typeface="Times New Roman" charset="0"/>
                <a:ea typeface="ＭＳ Ｐゴシック" charset="0"/>
              </a:defRPr>
            </a:lvl8pPr>
            <a:lvl9pPr marL="3886103" indent="-228594" eaLnBrk="0" fontAlgn="base" hangingPunct="0">
              <a:spcBef>
                <a:spcPct val="0"/>
              </a:spcBef>
              <a:spcAft>
                <a:spcPct val="0"/>
              </a:spcAft>
              <a:defRPr sz="2400">
                <a:solidFill>
                  <a:schemeClr val="tx1"/>
                </a:solidFill>
                <a:latin typeface="Times New Roman" charset="0"/>
                <a:ea typeface="ＭＳ Ｐゴシック" charset="0"/>
              </a:defRPr>
            </a:lvl9pPr>
          </a:lstStyle>
          <a:p>
            <a:fld id="{B537C232-F718-F647-B93E-28AB2D213240}" type="slidenum">
              <a:rPr lang="en-US" sz="1400">
                <a:latin typeface="Avenir Next LT Pro" panose="020B0504020202020204" pitchFamily="34" charset="0"/>
              </a:rPr>
              <a:pPr/>
              <a:t>11</a:t>
            </a:fld>
            <a:endParaRPr lang="en-US" sz="1400" dirty="0">
              <a:latin typeface="Avenir Next LT Pro" panose="020B0504020202020204" pitchFamily="34" charset="0"/>
            </a:endParaRPr>
          </a:p>
        </p:txBody>
      </p:sp>
      <p:sp>
        <p:nvSpPr>
          <p:cNvPr id="7178" name="Rectangle 54"/>
          <p:cNvSpPr>
            <a:spLocks noGrp="1" noChangeArrowheads="1"/>
          </p:cNvSpPr>
          <p:nvPr>
            <p:ph type="title" idx="4294967295"/>
          </p:nvPr>
        </p:nvSpPr>
        <p:spPr/>
        <p:txBody>
          <a:bodyPr/>
          <a:lstStyle/>
          <a:p>
            <a:r>
              <a:rPr lang="en-US" dirty="0">
                <a:latin typeface="Avenir Next LT Pro" panose="020B0504020202020204" pitchFamily="34" charset="0"/>
              </a:rPr>
              <a:t>Data: Financial Statements</a:t>
            </a:r>
          </a:p>
        </p:txBody>
      </p:sp>
      <p:sp>
        <p:nvSpPr>
          <p:cNvPr id="41" name="Text Box 32">
            <a:extLst>
              <a:ext uri="{FF2B5EF4-FFF2-40B4-BE49-F238E27FC236}">
                <a16:creationId xmlns:a16="http://schemas.microsoft.com/office/drawing/2014/main" id="{30DEFB9B-1427-4573-9B87-39773BCE237C}"/>
              </a:ext>
            </a:extLst>
          </p:cNvPr>
          <p:cNvSpPr txBox="1">
            <a:spLocks noChangeArrowheads="1"/>
          </p:cNvSpPr>
          <p:nvPr/>
        </p:nvSpPr>
        <p:spPr bwMode="auto">
          <a:xfrm>
            <a:off x="280930" y="1246382"/>
            <a:ext cx="1040798" cy="41552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2100" dirty="0">
                <a:solidFill>
                  <a:srgbClr val="006BA6"/>
                </a:solidFill>
                <a:latin typeface="Avenir Next LT Pro"/>
                <a:ea typeface="ＭＳ Ｐゴシック"/>
              </a:rPr>
              <a:t>time</a:t>
            </a:r>
          </a:p>
        </p:txBody>
      </p:sp>
      <p:grpSp>
        <p:nvGrpSpPr>
          <p:cNvPr id="42" name="Group 47">
            <a:extLst>
              <a:ext uri="{FF2B5EF4-FFF2-40B4-BE49-F238E27FC236}">
                <a16:creationId xmlns:a16="http://schemas.microsoft.com/office/drawing/2014/main" id="{3E1BAD66-F6DA-495D-BC53-A0C45462FBC0}"/>
              </a:ext>
            </a:extLst>
          </p:cNvPr>
          <p:cNvGrpSpPr>
            <a:grpSpLocks/>
          </p:cNvGrpSpPr>
          <p:nvPr/>
        </p:nvGrpSpPr>
        <p:grpSpPr bwMode="auto">
          <a:xfrm>
            <a:off x="1014718" y="1349966"/>
            <a:ext cx="7368245" cy="258366"/>
            <a:chOff x="638" y="1645"/>
            <a:chExt cx="4368" cy="217"/>
          </a:xfrm>
        </p:grpSpPr>
        <p:sp>
          <p:nvSpPr>
            <p:cNvPr id="43" name="Line 31">
              <a:extLst>
                <a:ext uri="{FF2B5EF4-FFF2-40B4-BE49-F238E27FC236}">
                  <a16:creationId xmlns:a16="http://schemas.microsoft.com/office/drawing/2014/main" id="{BD2538B3-176E-45B0-BF03-D8928F1F29C2}"/>
                </a:ext>
              </a:extLst>
            </p:cNvPr>
            <p:cNvSpPr>
              <a:spLocks noChangeShapeType="1"/>
            </p:cNvSpPr>
            <p:nvPr/>
          </p:nvSpPr>
          <p:spPr bwMode="auto">
            <a:xfrm>
              <a:off x="638" y="1731"/>
              <a:ext cx="4368" cy="0"/>
            </a:xfrm>
            <a:prstGeom prst="line">
              <a:avLst/>
            </a:prstGeom>
            <a:noFill/>
            <a:ln w="57150">
              <a:solidFill>
                <a:srgbClr val="006BA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5" name="Line 33">
              <a:extLst>
                <a:ext uri="{FF2B5EF4-FFF2-40B4-BE49-F238E27FC236}">
                  <a16:creationId xmlns:a16="http://schemas.microsoft.com/office/drawing/2014/main" id="{0A14B59F-7AE1-4A75-93B6-74BB8B8BAB9C}"/>
                </a:ext>
              </a:extLst>
            </p:cNvPr>
            <p:cNvSpPr>
              <a:spLocks noChangeShapeType="1"/>
            </p:cNvSpPr>
            <p:nvPr/>
          </p:nvSpPr>
          <p:spPr bwMode="auto">
            <a:xfrm>
              <a:off x="1169" y="1670"/>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sp>
          <p:nvSpPr>
            <p:cNvPr id="47" name="Line 35">
              <a:extLst>
                <a:ext uri="{FF2B5EF4-FFF2-40B4-BE49-F238E27FC236}">
                  <a16:creationId xmlns:a16="http://schemas.microsoft.com/office/drawing/2014/main" id="{9B5D280C-EDCA-4ED4-9DEF-803E6666432B}"/>
                </a:ext>
              </a:extLst>
            </p:cNvPr>
            <p:cNvSpPr>
              <a:spLocks noChangeShapeType="1"/>
            </p:cNvSpPr>
            <p:nvPr/>
          </p:nvSpPr>
          <p:spPr bwMode="auto">
            <a:xfrm>
              <a:off x="4609" y="1645"/>
              <a:ext cx="0" cy="192"/>
            </a:xfrm>
            <a:prstGeom prst="line">
              <a:avLst/>
            </a:prstGeom>
            <a:noFill/>
            <a:ln w="9525">
              <a:solidFill>
                <a:srgbClr val="006BA6"/>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6BA6"/>
                </a:solidFill>
                <a:latin typeface="Avenir Next LT Pro"/>
              </a:endParaRPr>
            </a:p>
          </p:txBody>
        </p:sp>
      </p:grpSp>
      <p:sp>
        <p:nvSpPr>
          <p:cNvPr id="19" name="Arrow: Down 18">
            <a:extLst>
              <a:ext uri="{FF2B5EF4-FFF2-40B4-BE49-F238E27FC236}">
                <a16:creationId xmlns:a16="http://schemas.microsoft.com/office/drawing/2014/main" id="{1D74FB33-AFCB-429B-AC08-0EA3ECD64826}"/>
              </a:ext>
            </a:extLst>
          </p:cNvPr>
          <p:cNvSpPr/>
          <p:nvPr/>
        </p:nvSpPr>
        <p:spPr>
          <a:xfrm rot="10800000">
            <a:off x="7683453" y="1691932"/>
            <a:ext cx="66159" cy="183843"/>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62F32841-E02D-4C96-B291-AAEE478E3DB7}"/>
              </a:ext>
            </a:extLst>
          </p:cNvPr>
          <p:cNvSpPr/>
          <p:nvPr/>
        </p:nvSpPr>
        <p:spPr>
          <a:xfrm rot="10800000">
            <a:off x="1871070" y="1680827"/>
            <a:ext cx="66159" cy="183843"/>
          </a:xfrm>
          <a:prstGeom prst="downArrow">
            <a:avLst/>
          </a:prstGeom>
          <a:solidFill>
            <a:srgbClr val="483C46"/>
          </a:solidFill>
          <a:ln>
            <a:solidFill>
              <a:srgbClr val="483C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32">
            <a:extLst>
              <a:ext uri="{FF2B5EF4-FFF2-40B4-BE49-F238E27FC236}">
                <a16:creationId xmlns:a16="http://schemas.microsoft.com/office/drawing/2014/main" id="{7C0298B7-A90D-41DC-BC22-729A7F73DC48}"/>
              </a:ext>
            </a:extLst>
          </p:cNvPr>
          <p:cNvSpPr txBox="1">
            <a:spLocks noChangeArrowheads="1"/>
          </p:cNvSpPr>
          <p:nvPr/>
        </p:nvSpPr>
        <p:spPr bwMode="auto">
          <a:xfrm>
            <a:off x="1383750" y="935163"/>
            <a:ext cx="1040798" cy="41552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sz="2100" dirty="0">
                <a:solidFill>
                  <a:srgbClr val="006BA6"/>
                </a:solidFill>
                <a:latin typeface="Avenir Next LT Pro"/>
                <a:ea typeface="ＭＳ Ｐゴシック"/>
              </a:rPr>
              <a:t>3/1/97</a:t>
            </a:r>
          </a:p>
        </p:txBody>
      </p:sp>
      <p:sp>
        <p:nvSpPr>
          <p:cNvPr id="22" name="Text Box 32">
            <a:extLst>
              <a:ext uri="{FF2B5EF4-FFF2-40B4-BE49-F238E27FC236}">
                <a16:creationId xmlns:a16="http://schemas.microsoft.com/office/drawing/2014/main" id="{A83AC5FD-46CF-4C14-9CB1-DA8046486721}"/>
              </a:ext>
            </a:extLst>
          </p:cNvPr>
          <p:cNvSpPr txBox="1">
            <a:spLocks noChangeArrowheads="1"/>
          </p:cNvSpPr>
          <p:nvPr/>
        </p:nvSpPr>
        <p:spPr bwMode="auto">
          <a:xfrm>
            <a:off x="7116523" y="932668"/>
            <a:ext cx="1193505" cy="415498"/>
          </a:xfrm>
          <a:prstGeom prst="rect">
            <a:avLst/>
          </a:prstGeom>
          <a:noFill/>
          <a:ln w="9525">
            <a:solidFill>
              <a:srgbClr val="006BA6"/>
            </a:solidFill>
            <a:miter lim="800000"/>
            <a:headEnd/>
            <a:tailEnd/>
          </a:ln>
          <a:extLst>
            <a:ext uri="{909E8E84-426E-40DD-AFC4-6F175D3DCCD1}">
              <a14:hiddenFill xmlns:a14="http://schemas.microsoft.com/office/drawing/2010/main">
                <a:solidFill>
                  <a:srgbClr val="FFFFFF"/>
                </a:solidFill>
              </a14:hiddenFill>
            </a:ext>
          </a:extLst>
        </p:spPr>
        <p:txBody>
          <a:bodyPr wrap="square" anchor="t">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sz="2100" dirty="0">
                <a:solidFill>
                  <a:srgbClr val="006BA6"/>
                </a:solidFill>
                <a:latin typeface="Avenir Next LT Pro"/>
                <a:ea typeface="ＭＳ Ｐゴシック"/>
              </a:rPr>
              <a:t>2/28/98</a:t>
            </a:r>
          </a:p>
        </p:txBody>
      </p:sp>
      <p:pic>
        <p:nvPicPr>
          <p:cNvPr id="7" name="Picture 6">
            <a:extLst>
              <a:ext uri="{FF2B5EF4-FFF2-40B4-BE49-F238E27FC236}">
                <a16:creationId xmlns:a16="http://schemas.microsoft.com/office/drawing/2014/main" id="{11064C7A-AE0D-4F27-B377-F4AE71A16C39}"/>
              </a:ext>
            </a:extLst>
          </p:cNvPr>
          <p:cNvPicPr>
            <a:picLocks noChangeAspect="1"/>
          </p:cNvPicPr>
          <p:nvPr/>
        </p:nvPicPr>
        <p:blipFill rotWithShape="1">
          <a:blip r:embed="rId3"/>
          <a:srcRect r="53961"/>
          <a:stretch/>
        </p:blipFill>
        <p:spPr>
          <a:xfrm>
            <a:off x="3162295" y="2477518"/>
            <a:ext cx="2627481" cy="1165129"/>
          </a:xfrm>
          <a:prstGeom prst="rect">
            <a:avLst/>
          </a:prstGeom>
        </p:spPr>
      </p:pic>
      <p:pic>
        <p:nvPicPr>
          <p:cNvPr id="11" name="Picture 10">
            <a:extLst>
              <a:ext uri="{FF2B5EF4-FFF2-40B4-BE49-F238E27FC236}">
                <a16:creationId xmlns:a16="http://schemas.microsoft.com/office/drawing/2014/main" id="{E1779BC6-0191-448F-BBC3-D95FBA14A50B}"/>
              </a:ext>
            </a:extLst>
          </p:cNvPr>
          <p:cNvPicPr>
            <a:picLocks noChangeAspect="1"/>
          </p:cNvPicPr>
          <p:nvPr/>
        </p:nvPicPr>
        <p:blipFill rotWithShape="1">
          <a:blip r:embed="rId4"/>
          <a:srcRect r="53848"/>
          <a:stretch/>
        </p:blipFill>
        <p:spPr>
          <a:xfrm>
            <a:off x="6366933" y="1849141"/>
            <a:ext cx="2380171" cy="2870276"/>
          </a:xfrm>
          <a:prstGeom prst="rect">
            <a:avLst/>
          </a:prstGeom>
        </p:spPr>
      </p:pic>
      <p:pic>
        <p:nvPicPr>
          <p:cNvPr id="13" name="Picture 12">
            <a:extLst>
              <a:ext uri="{FF2B5EF4-FFF2-40B4-BE49-F238E27FC236}">
                <a16:creationId xmlns:a16="http://schemas.microsoft.com/office/drawing/2014/main" id="{DFE5D8E0-5A0B-4965-8867-643DA5F6EC3D}"/>
              </a:ext>
            </a:extLst>
          </p:cNvPr>
          <p:cNvPicPr>
            <a:picLocks noChangeAspect="1"/>
          </p:cNvPicPr>
          <p:nvPr/>
        </p:nvPicPr>
        <p:blipFill rotWithShape="1">
          <a:blip r:embed="rId5"/>
          <a:srcRect r="52878"/>
          <a:stretch/>
        </p:blipFill>
        <p:spPr>
          <a:xfrm>
            <a:off x="510506" y="1875775"/>
            <a:ext cx="2424605" cy="2863648"/>
          </a:xfrm>
          <a:prstGeom prst="rect">
            <a:avLst/>
          </a:prstGeom>
        </p:spPr>
      </p:pic>
      <p:sp>
        <p:nvSpPr>
          <p:cNvPr id="18" name="Rectangle: Rounded Corners 17">
            <a:extLst>
              <a:ext uri="{FF2B5EF4-FFF2-40B4-BE49-F238E27FC236}">
                <a16:creationId xmlns:a16="http://schemas.microsoft.com/office/drawing/2014/main" id="{83E369C7-180D-4CAA-AE17-D97D5BF729E4}"/>
              </a:ext>
            </a:extLst>
          </p:cNvPr>
          <p:cNvSpPr/>
          <p:nvPr/>
        </p:nvSpPr>
        <p:spPr>
          <a:xfrm>
            <a:off x="510506" y="2207209"/>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ECA792F3-7B6A-4488-8329-F13313760D4F}"/>
              </a:ext>
            </a:extLst>
          </p:cNvPr>
          <p:cNvSpPr/>
          <p:nvPr/>
        </p:nvSpPr>
        <p:spPr>
          <a:xfrm>
            <a:off x="3285858" y="2638911"/>
            <a:ext cx="2431279"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A10F843-E288-483B-B20D-0D588D702A68}"/>
              </a:ext>
            </a:extLst>
          </p:cNvPr>
          <p:cNvSpPr/>
          <p:nvPr/>
        </p:nvSpPr>
        <p:spPr>
          <a:xfrm>
            <a:off x="6379436" y="2183906"/>
            <a:ext cx="2431279"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801999F7-37C3-41AE-BB1C-9B72637AECD6}"/>
              </a:ext>
            </a:extLst>
          </p:cNvPr>
          <p:cNvCxnSpPr>
            <a:cxnSpLocks/>
            <a:stCxn id="18" idx="3"/>
          </p:cNvCxnSpPr>
          <p:nvPr/>
        </p:nvCxnSpPr>
        <p:spPr>
          <a:xfrm>
            <a:off x="2768837" y="2286614"/>
            <a:ext cx="517021" cy="456586"/>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CC516D46-D69A-4DA1-90E4-D15E8C2EE587}"/>
              </a:ext>
            </a:extLst>
          </p:cNvPr>
          <p:cNvCxnSpPr>
            <a:cxnSpLocks/>
          </p:cNvCxnSpPr>
          <p:nvPr/>
        </p:nvCxnSpPr>
        <p:spPr>
          <a:xfrm flipV="1">
            <a:off x="5717137" y="2293784"/>
            <a:ext cx="662299" cy="436588"/>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Rectangle: Rounded Corners 24">
            <a:extLst>
              <a:ext uri="{FF2B5EF4-FFF2-40B4-BE49-F238E27FC236}">
                <a16:creationId xmlns:a16="http://schemas.microsoft.com/office/drawing/2014/main" id="{3CFE7B57-FA8D-40DC-9A5A-BB9444293723}"/>
              </a:ext>
            </a:extLst>
          </p:cNvPr>
          <p:cNvSpPr/>
          <p:nvPr/>
        </p:nvSpPr>
        <p:spPr>
          <a:xfrm>
            <a:off x="510506" y="3395479"/>
            <a:ext cx="2258331"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2B8AAC97-4A63-4985-AD9F-01D4432FE0C9}"/>
              </a:ext>
            </a:extLst>
          </p:cNvPr>
          <p:cNvSpPr/>
          <p:nvPr/>
        </p:nvSpPr>
        <p:spPr>
          <a:xfrm>
            <a:off x="6379436" y="3372176"/>
            <a:ext cx="2431279" cy="158809"/>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D02FAAFB-0385-4D81-9022-13C1E164AA02}"/>
              </a:ext>
            </a:extLst>
          </p:cNvPr>
          <p:cNvCxnSpPr>
            <a:cxnSpLocks/>
          </p:cNvCxnSpPr>
          <p:nvPr/>
        </p:nvCxnSpPr>
        <p:spPr>
          <a:xfrm flipV="1">
            <a:off x="2768837" y="2797720"/>
            <a:ext cx="452927" cy="662517"/>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499D5BBF-C2CD-4DB4-A217-93E5299F59BE}"/>
              </a:ext>
            </a:extLst>
          </p:cNvPr>
          <p:cNvCxnSpPr>
            <a:cxnSpLocks/>
            <a:endCxn id="26" idx="1"/>
          </p:cNvCxnSpPr>
          <p:nvPr/>
        </p:nvCxnSpPr>
        <p:spPr>
          <a:xfrm>
            <a:off x="5717137" y="2797720"/>
            <a:ext cx="662299" cy="653861"/>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22710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22" presetClass="entr" presetSubtype="8"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par>
                                <p:cTn id="30" presetID="22" presetClass="entr" presetSubtype="8"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par>
                                <p:cTn id="33" presetID="22" presetClass="entr" presetSubtype="2"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right)">
                                      <p:cBhvr>
                                        <p:cTn id="35" dur="500"/>
                                        <p:tgtEl>
                                          <p:spTgt spid="24"/>
                                        </p:tgtEl>
                                      </p:cBhvr>
                                    </p:animEffect>
                                  </p:childTnLst>
                                </p:cTn>
                              </p:par>
                              <p:par>
                                <p:cTn id="36" presetID="22" presetClass="entr" presetSubtype="2"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right)">
                                      <p:cBhvr>
                                        <p:cTn id="3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8"/>
            <a:ext cx="6172200" cy="422672"/>
          </a:xfrm>
        </p:spPr>
        <p:txBody>
          <a:bodyPr>
            <a:noAutofit/>
          </a:bodyPr>
          <a:lstStyle/>
          <a:p>
            <a:r>
              <a:rPr lang="en-US" dirty="0"/>
              <a:t>Account Links</a:t>
            </a:r>
          </a:p>
        </p:txBody>
      </p:sp>
      <p:sp>
        <p:nvSpPr>
          <p:cNvPr id="4" name="Slide Number Placeholder 3"/>
          <p:cNvSpPr>
            <a:spLocks noGrp="1"/>
          </p:cNvSpPr>
          <p:nvPr>
            <p:ph type="sldNum" sz="quarter" idx="12"/>
          </p:nvPr>
        </p:nvSpPr>
        <p:spPr/>
        <p:txBody>
          <a:bodyPr/>
          <a:lstStyle/>
          <a:p>
            <a:fld id="{2D93DAFC-4A23-43B0-B9A0-D9D5C35F8F3B}" type="slidenum">
              <a:rPr lang="en-US" smtClean="0"/>
              <a:pPr/>
              <a:t>12</a:t>
            </a:fld>
            <a:endParaRPr lang="en-US"/>
          </a:p>
        </p:txBody>
      </p:sp>
      <p:graphicFrame>
        <p:nvGraphicFramePr>
          <p:cNvPr id="51202" name="Object 2"/>
          <p:cNvGraphicFramePr>
            <a:graphicFrameLocks noGrp="1" noChangeAspect="1"/>
          </p:cNvGraphicFramePr>
          <p:nvPr>
            <p:ph idx="1"/>
          </p:nvPr>
        </p:nvGraphicFramePr>
        <p:xfrm>
          <a:off x="6861175" y="2189163"/>
          <a:ext cx="2208213" cy="666750"/>
        </p:xfrm>
        <a:graphic>
          <a:graphicData uri="http://schemas.openxmlformats.org/presentationml/2006/ole">
            <mc:AlternateContent xmlns:mc="http://schemas.openxmlformats.org/markup-compatibility/2006">
              <mc:Choice xmlns:v="urn:schemas-microsoft-com:vml" Requires="v">
                <p:oleObj name="Worksheet" r:id="rId2" imgW="1704940" imgH="514506" progId="Excel.Sheet.8">
                  <p:embed/>
                </p:oleObj>
              </mc:Choice>
              <mc:Fallback>
                <p:oleObj name="Worksheet" r:id="rId2" imgW="1704940" imgH="514506" progId="Excel.Sheet.8">
                  <p:embed/>
                  <p:pic>
                    <p:nvPicPr>
                      <p:cNvPr id="51202" name="Object 2"/>
                      <p:cNvPicPr>
                        <a:picLocks noChangeAspect="1" noChangeArrowheads="1"/>
                      </p:cNvPicPr>
                      <p:nvPr/>
                    </p:nvPicPr>
                    <p:blipFill>
                      <a:blip r:embed="rId3"/>
                      <a:srcRect/>
                      <a:stretch>
                        <a:fillRect/>
                      </a:stretch>
                    </p:blipFill>
                    <p:spPr bwMode="auto">
                      <a:xfrm>
                        <a:off x="6861175" y="2189163"/>
                        <a:ext cx="2208213"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3" name="Object 3"/>
          <p:cNvGraphicFramePr>
            <a:graphicFrameLocks noChangeAspect="1"/>
          </p:cNvGraphicFramePr>
          <p:nvPr/>
        </p:nvGraphicFramePr>
        <p:xfrm>
          <a:off x="2231002" y="1907381"/>
          <a:ext cx="2247900" cy="1328737"/>
        </p:xfrm>
        <a:graphic>
          <a:graphicData uri="http://schemas.openxmlformats.org/presentationml/2006/ole">
            <mc:AlternateContent xmlns:mc="http://schemas.openxmlformats.org/markup-compatibility/2006">
              <mc:Choice xmlns:v="urn:schemas-microsoft-com:vml" Requires="v">
                <p:oleObj name="Worksheet" r:id="rId4" imgW="1695381" imgH="999943" progId="Excel.Sheet.8">
                  <p:embed/>
                </p:oleObj>
              </mc:Choice>
              <mc:Fallback>
                <p:oleObj name="Worksheet" r:id="rId4" imgW="1695381" imgH="999943" progId="Excel.Sheet.8">
                  <p:embed/>
                  <p:pic>
                    <p:nvPicPr>
                      <p:cNvPr id="51203" name="Object 3"/>
                      <p:cNvPicPr>
                        <a:picLocks noChangeAspect="1" noChangeArrowheads="1"/>
                      </p:cNvPicPr>
                      <p:nvPr/>
                    </p:nvPicPr>
                    <p:blipFill>
                      <a:blip r:embed="rId5"/>
                      <a:srcRect/>
                      <a:stretch>
                        <a:fillRect/>
                      </a:stretch>
                    </p:blipFill>
                    <p:spPr bwMode="auto">
                      <a:xfrm>
                        <a:off x="2231002" y="1907381"/>
                        <a:ext cx="2247900" cy="1328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4" name="Object 4"/>
          <p:cNvGraphicFramePr>
            <a:graphicFrameLocks noChangeAspect="1"/>
          </p:cNvGraphicFramePr>
          <p:nvPr/>
        </p:nvGraphicFramePr>
        <p:xfrm>
          <a:off x="173038" y="1716087"/>
          <a:ext cx="1975978" cy="1740281"/>
        </p:xfrm>
        <a:graphic>
          <a:graphicData uri="http://schemas.openxmlformats.org/presentationml/2006/ole">
            <mc:AlternateContent xmlns:mc="http://schemas.openxmlformats.org/markup-compatibility/2006">
              <mc:Choice xmlns:v="urn:schemas-microsoft-com:vml" Requires="v">
                <p:oleObj name="Worksheet" r:id="rId6" imgW="1704940" imgH="1504898" progId="Excel.Sheet.8">
                  <p:embed/>
                </p:oleObj>
              </mc:Choice>
              <mc:Fallback>
                <p:oleObj name="Worksheet" r:id="rId6" imgW="1704940" imgH="1504898" progId="Excel.Sheet.8">
                  <p:embed/>
                  <p:pic>
                    <p:nvPicPr>
                      <p:cNvPr id="51204" name="Object 4"/>
                      <p:cNvPicPr>
                        <a:picLocks noChangeAspect="1" noChangeArrowheads="1"/>
                      </p:cNvPicPr>
                      <p:nvPr/>
                    </p:nvPicPr>
                    <p:blipFill>
                      <a:blip r:embed="rId7"/>
                      <a:srcRect/>
                      <a:stretch>
                        <a:fillRect/>
                      </a:stretch>
                    </p:blipFill>
                    <p:spPr bwMode="auto">
                      <a:xfrm>
                        <a:off x="173038" y="1716087"/>
                        <a:ext cx="1975978" cy="1740281"/>
                      </a:xfrm>
                      <a:prstGeom prst="rect">
                        <a:avLst/>
                      </a:prstGeom>
                      <a:noFill/>
                      <a:ln>
                        <a:noFill/>
                      </a:ln>
                      <a:effectLst/>
                    </p:spPr>
                  </p:pic>
                </p:oleObj>
              </mc:Fallback>
            </mc:AlternateContent>
          </a:graphicData>
        </a:graphic>
      </p:graphicFrame>
      <p:graphicFrame>
        <p:nvGraphicFramePr>
          <p:cNvPr id="51205" name="Object 5"/>
          <p:cNvGraphicFramePr>
            <a:graphicFrameLocks noChangeAspect="1"/>
          </p:cNvGraphicFramePr>
          <p:nvPr/>
        </p:nvGraphicFramePr>
        <p:xfrm>
          <a:off x="4560888" y="1939743"/>
          <a:ext cx="2257425" cy="1328737"/>
        </p:xfrm>
        <a:graphic>
          <a:graphicData uri="http://schemas.openxmlformats.org/presentationml/2006/ole">
            <mc:AlternateContent xmlns:mc="http://schemas.openxmlformats.org/markup-compatibility/2006">
              <mc:Choice xmlns:v="urn:schemas-microsoft-com:vml" Requires="v">
                <p:oleObj name="Worksheet" r:id="rId8" imgW="1704940" imgH="999943" progId="Excel.Sheet.8">
                  <p:embed/>
                </p:oleObj>
              </mc:Choice>
              <mc:Fallback>
                <p:oleObj name="Worksheet" r:id="rId8" imgW="1704940" imgH="999943" progId="Excel.Sheet.8">
                  <p:embed/>
                  <p:pic>
                    <p:nvPicPr>
                      <p:cNvPr id="51205" name="Object 5"/>
                      <p:cNvPicPr>
                        <a:picLocks noChangeAspect="1" noChangeArrowheads="1"/>
                      </p:cNvPicPr>
                      <p:nvPr/>
                    </p:nvPicPr>
                    <p:blipFill>
                      <a:blip r:embed="rId9"/>
                      <a:srcRect/>
                      <a:stretch>
                        <a:fillRect/>
                      </a:stretch>
                    </p:blipFill>
                    <p:spPr bwMode="auto">
                      <a:xfrm>
                        <a:off x="4560888" y="1939743"/>
                        <a:ext cx="2257425" cy="1328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 name="Straight Arrow Connector 8"/>
          <p:cNvCxnSpPr>
            <a:cxnSpLocks/>
          </p:cNvCxnSpPr>
          <p:nvPr/>
        </p:nvCxnSpPr>
        <p:spPr>
          <a:xfrm flipV="1">
            <a:off x="3881832" y="2646148"/>
            <a:ext cx="1483187"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a:off x="6056853" y="2686556"/>
            <a:ext cx="143458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flipV="1">
            <a:off x="1497346" y="2646148"/>
            <a:ext cx="1374634" cy="912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84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5964-9B37-44F3-9239-1CBE6B70A6BF}"/>
              </a:ext>
            </a:extLst>
          </p:cNvPr>
          <p:cNvSpPr>
            <a:spLocks noGrp="1"/>
          </p:cNvSpPr>
          <p:nvPr>
            <p:ph type="title"/>
          </p:nvPr>
        </p:nvSpPr>
        <p:spPr/>
        <p:txBody>
          <a:bodyPr/>
          <a:lstStyle/>
          <a:p>
            <a:r>
              <a:rPr lang="en-US" dirty="0"/>
              <a:t>Go to </a:t>
            </a:r>
            <a:r>
              <a:rPr lang="en-US" dirty="0" err="1"/>
              <a:t>yaleIE</a:t>
            </a:r>
            <a:endParaRPr lang="en-US" dirty="0"/>
          </a:p>
        </p:txBody>
      </p:sp>
    </p:spTree>
    <p:extLst>
      <p:ext uri="{BB962C8B-B14F-4D97-AF65-F5344CB8AC3E}">
        <p14:creationId xmlns:p14="http://schemas.microsoft.com/office/powerpoint/2010/main" val="204919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8"/>
            <a:ext cx="6172200" cy="651272"/>
          </a:xfrm>
        </p:spPr>
        <p:txBody>
          <a:bodyPr>
            <a:normAutofit fontScale="90000"/>
          </a:bodyPr>
          <a:lstStyle/>
          <a:p>
            <a:r>
              <a:rPr lang="en-US" dirty="0"/>
              <a:t>Account Links</a:t>
            </a:r>
          </a:p>
        </p:txBody>
      </p:sp>
      <p:sp>
        <p:nvSpPr>
          <p:cNvPr id="4" name="Slide Number Placeholder 3"/>
          <p:cNvSpPr>
            <a:spLocks noGrp="1"/>
          </p:cNvSpPr>
          <p:nvPr>
            <p:ph type="sldNum" sz="quarter" idx="12"/>
          </p:nvPr>
        </p:nvSpPr>
        <p:spPr/>
        <p:txBody>
          <a:bodyPr/>
          <a:lstStyle/>
          <a:p>
            <a:fld id="{2D93DAFC-4A23-43B0-B9A0-D9D5C35F8F3B}" type="slidenum">
              <a:rPr lang="en-US" smtClean="0"/>
              <a:pPr/>
              <a:t>14</a:t>
            </a:fld>
            <a:endParaRPr lang="en-US"/>
          </a:p>
        </p:txBody>
      </p:sp>
      <p:graphicFrame>
        <p:nvGraphicFramePr>
          <p:cNvPr id="52227" name="Object 3"/>
          <p:cNvGraphicFramePr>
            <a:graphicFrameLocks noChangeAspect="1"/>
          </p:cNvGraphicFramePr>
          <p:nvPr/>
        </p:nvGraphicFramePr>
        <p:xfrm>
          <a:off x="4446588" y="1752600"/>
          <a:ext cx="2343150" cy="1401763"/>
        </p:xfrm>
        <a:graphic>
          <a:graphicData uri="http://schemas.openxmlformats.org/presentationml/2006/ole">
            <mc:AlternateContent xmlns:mc="http://schemas.openxmlformats.org/markup-compatibility/2006">
              <mc:Choice xmlns:v="urn:schemas-microsoft-com:vml" Requires="v">
                <p:oleObj name="Worksheet" r:id="rId2" imgW="1704940" imgH="1019045" progId="Excel.Sheet.8">
                  <p:embed/>
                </p:oleObj>
              </mc:Choice>
              <mc:Fallback>
                <p:oleObj name="Worksheet" r:id="rId2" imgW="1704940" imgH="1019045" progId="Excel.Sheet.8">
                  <p:embed/>
                  <p:pic>
                    <p:nvPicPr>
                      <p:cNvPr id="52227" name="Object 3"/>
                      <p:cNvPicPr>
                        <a:picLocks noChangeAspect="1" noChangeArrowheads="1"/>
                      </p:cNvPicPr>
                      <p:nvPr/>
                    </p:nvPicPr>
                    <p:blipFill>
                      <a:blip r:embed="rId3"/>
                      <a:srcRect/>
                      <a:stretch>
                        <a:fillRect/>
                      </a:stretch>
                    </p:blipFill>
                    <p:spPr bwMode="auto">
                      <a:xfrm>
                        <a:off x="4446588" y="1752600"/>
                        <a:ext cx="2343150" cy="1401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8" name="Object 4"/>
          <p:cNvGraphicFramePr>
            <a:graphicFrameLocks noChangeAspect="1"/>
          </p:cNvGraphicFramePr>
          <p:nvPr/>
        </p:nvGraphicFramePr>
        <p:xfrm>
          <a:off x="2132013" y="1668463"/>
          <a:ext cx="2114550" cy="1265237"/>
        </p:xfrm>
        <a:graphic>
          <a:graphicData uri="http://schemas.openxmlformats.org/presentationml/2006/ole">
            <mc:AlternateContent xmlns:mc="http://schemas.openxmlformats.org/markup-compatibility/2006">
              <mc:Choice xmlns:v="urn:schemas-microsoft-com:vml" Requires="v">
                <p:oleObj name="Worksheet" r:id="rId4" imgW="1704940" imgH="1019045" progId="Excel.Sheet.8">
                  <p:embed/>
                </p:oleObj>
              </mc:Choice>
              <mc:Fallback>
                <p:oleObj name="Worksheet" r:id="rId4" imgW="1704940" imgH="1019045" progId="Excel.Sheet.8">
                  <p:embed/>
                  <p:pic>
                    <p:nvPicPr>
                      <p:cNvPr id="52228" name="Object 4"/>
                      <p:cNvPicPr>
                        <a:picLocks noChangeAspect="1" noChangeArrowheads="1"/>
                      </p:cNvPicPr>
                      <p:nvPr/>
                    </p:nvPicPr>
                    <p:blipFill>
                      <a:blip r:embed="rId5"/>
                      <a:srcRect/>
                      <a:stretch>
                        <a:fillRect/>
                      </a:stretch>
                    </p:blipFill>
                    <p:spPr bwMode="auto">
                      <a:xfrm>
                        <a:off x="2132013" y="1668463"/>
                        <a:ext cx="2114550" cy="1265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 name="Straight Arrow Connector 8"/>
          <p:cNvCxnSpPr>
            <a:cxnSpLocks/>
          </p:cNvCxnSpPr>
          <p:nvPr/>
        </p:nvCxnSpPr>
        <p:spPr>
          <a:xfrm>
            <a:off x="6161831" y="2429859"/>
            <a:ext cx="120571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836633" y="1112995"/>
            <a:ext cx="3562013" cy="300082"/>
          </a:xfrm>
          <a:prstGeom prst="rect">
            <a:avLst/>
          </a:prstGeom>
        </p:spPr>
        <p:txBody>
          <a:bodyPr wrap="square">
            <a:spAutoFit/>
          </a:bodyPr>
          <a:lstStyle/>
          <a:p>
            <a:r>
              <a:rPr lang="en-US" sz="1350" dirty="0"/>
              <a:t>Deferred + Prepaid Catalog Costs: 3.3 + 1.4 = 4.7</a:t>
            </a:r>
          </a:p>
        </p:txBody>
      </p:sp>
      <p:cxnSp>
        <p:nvCxnSpPr>
          <p:cNvPr id="13" name="Straight Arrow Connector 12"/>
          <p:cNvCxnSpPr>
            <a:cxnSpLocks/>
          </p:cNvCxnSpPr>
          <p:nvPr/>
        </p:nvCxnSpPr>
        <p:spPr>
          <a:xfrm>
            <a:off x="3885280" y="2426318"/>
            <a:ext cx="1536177"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5" name="Object 4">
            <a:extLst>
              <a:ext uri="{FF2B5EF4-FFF2-40B4-BE49-F238E27FC236}">
                <a16:creationId xmlns:a16="http://schemas.microsoft.com/office/drawing/2014/main" id="{0240C0FD-F62F-44B7-8D7B-41C63F932D58}"/>
              </a:ext>
            </a:extLst>
          </p:cNvPr>
          <p:cNvGraphicFramePr>
            <a:graphicFrameLocks noChangeAspect="1"/>
          </p:cNvGraphicFramePr>
          <p:nvPr/>
        </p:nvGraphicFramePr>
        <p:xfrm>
          <a:off x="173038" y="1555750"/>
          <a:ext cx="1943100" cy="1711325"/>
        </p:xfrm>
        <a:graphic>
          <a:graphicData uri="http://schemas.openxmlformats.org/presentationml/2006/ole">
            <mc:AlternateContent xmlns:mc="http://schemas.openxmlformats.org/markup-compatibility/2006">
              <mc:Choice xmlns:v="urn:schemas-microsoft-com:vml" Requires="v">
                <p:oleObj name="Worksheet" r:id="rId6" imgW="1704940" imgH="1504898" progId="Excel.Sheet.8">
                  <p:embed/>
                </p:oleObj>
              </mc:Choice>
              <mc:Fallback>
                <p:oleObj name="Worksheet" r:id="rId6" imgW="1704940" imgH="1504898" progId="Excel.Sheet.8">
                  <p:embed/>
                  <p:pic>
                    <p:nvPicPr>
                      <p:cNvPr id="15" name="Object 4">
                        <a:extLst>
                          <a:ext uri="{FF2B5EF4-FFF2-40B4-BE49-F238E27FC236}">
                            <a16:creationId xmlns:a16="http://schemas.microsoft.com/office/drawing/2014/main" id="{0240C0FD-F62F-44B7-8D7B-41C63F932D58}"/>
                          </a:ext>
                        </a:extLst>
                      </p:cNvPr>
                      <p:cNvPicPr>
                        <a:picLocks noChangeAspect="1" noChangeArrowheads="1"/>
                      </p:cNvPicPr>
                      <p:nvPr/>
                    </p:nvPicPr>
                    <p:blipFill>
                      <a:blip r:embed="rId7"/>
                      <a:srcRect/>
                      <a:stretch>
                        <a:fillRect/>
                      </a:stretch>
                    </p:blipFill>
                    <p:spPr bwMode="auto">
                      <a:xfrm>
                        <a:off x="173038" y="1555750"/>
                        <a:ext cx="1943100"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6" name="Straight Arrow Connector 15">
            <a:extLst>
              <a:ext uri="{FF2B5EF4-FFF2-40B4-BE49-F238E27FC236}">
                <a16:creationId xmlns:a16="http://schemas.microsoft.com/office/drawing/2014/main" id="{1F30739F-1117-4554-9A92-AE6B7792826B}"/>
              </a:ext>
            </a:extLst>
          </p:cNvPr>
          <p:cNvCxnSpPr>
            <a:cxnSpLocks/>
          </p:cNvCxnSpPr>
          <p:nvPr/>
        </p:nvCxnSpPr>
        <p:spPr>
          <a:xfrm flipV="1">
            <a:off x="1491746" y="2417196"/>
            <a:ext cx="1374634" cy="912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9" name="Object 2">
            <a:extLst>
              <a:ext uri="{FF2B5EF4-FFF2-40B4-BE49-F238E27FC236}">
                <a16:creationId xmlns:a16="http://schemas.microsoft.com/office/drawing/2014/main" id="{FAA8AF20-A37D-4E68-A8D1-102E3661E797}"/>
              </a:ext>
            </a:extLst>
          </p:cNvPr>
          <p:cNvGraphicFramePr>
            <a:graphicFrameLocks noGrp="1" noChangeAspect="1"/>
          </p:cNvGraphicFramePr>
          <p:nvPr>
            <p:ph idx="1"/>
          </p:nvPr>
        </p:nvGraphicFramePr>
        <p:xfrm>
          <a:off x="6952926" y="1752004"/>
          <a:ext cx="2088250" cy="1419512"/>
        </p:xfrm>
        <a:graphic>
          <a:graphicData uri="http://schemas.openxmlformats.org/presentationml/2006/ole">
            <mc:AlternateContent xmlns:mc="http://schemas.openxmlformats.org/markup-compatibility/2006">
              <mc:Choice xmlns:v="urn:schemas-microsoft-com:vml" Requires="v">
                <p:oleObj name="Worksheet" r:id="rId8" imgW="1724060" imgH="1171445" progId="Excel.Sheet.8">
                  <p:embed/>
                </p:oleObj>
              </mc:Choice>
              <mc:Fallback>
                <p:oleObj name="Worksheet" r:id="rId8" imgW="1724060" imgH="1171445" progId="Excel.Sheet.8">
                  <p:embed/>
                  <p:pic>
                    <p:nvPicPr>
                      <p:cNvPr id="19" name="Object 2">
                        <a:extLst>
                          <a:ext uri="{FF2B5EF4-FFF2-40B4-BE49-F238E27FC236}">
                            <a16:creationId xmlns:a16="http://schemas.microsoft.com/office/drawing/2014/main" id="{FAA8AF20-A37D-4E68-A8D1-102E3661E797}"/>
                          </a:ext>
                        </a:extLst>
                      </p:cNvPr>
                      <p:cNvPicPr>
                        <a:picLocks noChangeAspect="1" noChangeArrowheads="1"/>
                      </p:cNvPicPr>
                      <p:nvPr/>
                    </p:nvPicPr>
                    <p:blipFill>
                      <a:blip r:embed="rId9"/>
                      <a:srcRect/>
                      <a:stretch>
                        <a:fillRect/>
                      </a:stretch>
                    </p:blipFill>
                    <p:spPr bwMode="auto">
                      <a:xfrm>
                        <a:off x="6952926" y="1752004"/>
                        <a:ext cx="2088250" cy="1419512"/>
                      </a:xfrm>
                      <a:prstGeom prst="rect">
                        <a:avLst/>
                      </a:prstGeom>
                      <a:noFill/>
                    </p:spPr>
                  </p:pic>
                </p:oleObj>
              </mc:Fallback>
            </mc:AlternateContent>
          </a:graphicData>
        </a:graphic>
      </p:graphicFrame>
    </p:spTree>
    <p:extLst>
      <p:ext uri="{BB962C8B-B14F-4D97-AF65-F5344CB8AC3E}">
        <p14:creationId xmlns:p14="http://schemas.microsoft.com/office/powerpoint/2010/main" val="16018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8"/>
            <a:ext cx="6172200" cy="651272"/>
          </a:xfrm>
        </p:spPr>
        <p:txBody>
          <a:bodyPr>
            <a:normAutofit fontScale="90000"/>
          </a:bodyPr>
          <a:lstStyle/>
          <a:p>
            <a:r>
              <a:rPr lang="en-US" dirty="0"/>
              <a:t>Account Links</a:t>
            </a:r>
          </a:p>
        </p:txBody>
      </p:sp>
      <p:sp>
        <p:nvSpPr>
          <p:cNvPr id="4" name="Slide Number Placeholder 3"/>
          <p:cNvSpPr>
            <a:spLocks noGrp="1"/>
          </p:cNvSpPr>
          <p:nvPr>
            <p:ph type="sldNum" sz="quarter" idx="12"/>
          </p:nvPr>
        </p:nvSpPr>
        <p:spPr/>
        <p:txBody>
          <a:bodyPr/>
          <a:lstStyle/>
          <a:p>
            <a:fld id="{2D93DAFC-4A23-43B0-B9A0-D9D5C35F8F3B}" type="slidenum">
              <a:rPr lang="en-US" smtClean="0"/>
              <a:pPr/>
              <a:t>15</a:t>
            </a:fld>
            <a:endParaRPr lang="en-US"/>
          </a:p>
        </p:txBody>
      </p:sp>
      <p:graphicFrame>
        <p:nvGraphicFramePr>
          <p:cNvPr id="53250" name="Object 2"/>
          <p:cNvGraphicFramePr>
            <a:graphicFrameLocks noGrp="1" noChangeAspect="1"/>
          </p:cNvGraphicFramePr>
          <p:nvPr>
            <p:ph idx="1"/>
          </p:nvPr>
        </p:nvGraphicFramePr>
        <p:xfrm>
          <a:off x="6717676" y="2109872"/>
          <a:ext cx="2088250" cy="1419512"/>
        </p:xfrm>
        <a:graphic>
          <a:graphicData uri="http://schemas.openxmlformats.org/presentationml/2006/ole">
            <mc:AlternateContent xmlns:mc="http://schemas.openxmlformats.org/markup-compatibility/2006">
              <mc:Choice xmlns:v="urn:schemas-microsoft-com:vml" Requires="v">
                <p:oleObj name="Worksheet" r:id="rId2" imgW="1724060" imgH="1171445" progId="Excel.Sheet.8">
                  <p:embed/>
                </p:oleObj>
              </mc:Choice>
              <mc:Fallback>
                <p:oleObj name="Worksheet" r:id="rId2" imgW="1724060" imgH="1171445" progId="Excel.Sheet.8">
                  <p:embed/>
                  <p:pic>
                    <p:nvPicPr>
                      <p:cNvPr id="53250" name="Object 2"/>
                      <p:cNvPicPr>
                        <a:picLocks noChangeAspect="1" noChangeArrowheads="1"/>
                      </p:cNvPicPr>
                      <p:nvPr/>
                    </p:nvPicPr>
                    <p:blipFill>
                      <a:blip r:embed="rId3"/>
                      <a:srcRect/>
                      <a:stretch>
                        <a:fillRect/>
                      </a:stretch>
                    </p:blipFill>
                    <p:spPr bwMode="auto">
                      <a:xfrm>
                        <a:off x="6717676" y="2109872"/>
                        <a:ext cx="2088250" cy="1419512"/>
                      </a:xfrm>
                      <a:prstGeom prst="rect">
                        <a:avLst/>
                      </a:prstGeom>
                      <a:noFill/>
                    </p:spPr>
                  </p:pic>
                </p:oleObj>
              </mc:Fallback>
            </mc:AlternateContent>
          </a:graphicData>
        </a:graphic>
      </p:graphicFrame>
      <p:graphicFrame>
        <p:nvGraphicFramePr>
          <p:cNvPr id="53251" name="Object 3"/>
          <p:cNvGraphicFramePr>
            <a:graphicFrameLocks noChangeAspect="1"/>
          </p:cNvGraphicFramePr>
          <p:nvPr/>
        </p:nvGraphicFramePr>
        <p:xfrm>
          <a:off x="1337967" y="1205641"/>
          <a:ext cx="1921353" cy="1344362"/>
        </p:xfrm>
        <a:graphic>
          <a:graphicData uri="http://schemas.openxmlformats.org/presentationml/2006/ole">
            <mc:AlternateContent xmlns:mc="http://schemas.openxmlformats.org/markup-compatibility/2006">
              <mc:Choice xmlns:v="urn:schemas-microsoft-com:vml" Requires="v">
                <p:oleObj name="Worksheet" r:id="rId4" imgW="1704940" imgH="1190547" progId="Excel.Sheet.8">
                  <p:embed/>
                </p:oleObj>
              </mc:Choice>
              <mc:Fallback>
                <p:oleObj name="Worksheet" r:id="rId4" imgW="1704940" imgH="1190547" progId="Excel.Sheet.8">
                  <p:embed/>
                  <p:pic>
                    <p:nvPicPr>
                      <p:cNvPr id="53251" name="Object 3"/>
                      <p:cNvPicPr>
                        <a:picLocks noChangeAspect="1" noChangeArrowheads="1"/>
                      </p:cNvPicPr>
                      <p:nvPr/>
                    </p:nvPicPr>
                    <p:blipFill>
                      <a:blip r:embed="rId5"/>
                      <a:srcRect/>
                      <a:stretch>
                        <a:fillRect/>
                      </a:stretch>
                    </p:blipFill>
                    <p:spPr bwMode="auto">
                      <a:xfrm>
                        <a:off x="1337967" y="1205641"/>
                        <a:ext cx="1921353" cy="1344362"/>
                      </a:xfrm>
                      <a:prstGeom prst="rect">
                        <a:avLst/>
                      </a:prstGeom>
                      <a:noFill/>
                    </p:spPr>
                  </p:pic>
                </p:oleObj>
              </mc:Fallback>
            </mc:AlternateContent>
          </a:graphicData>
        </a:graphic>
      </p:graphicFrame>
      <p:graphicFrame>
        <p:nvGraphicFramePr>
          <p:cNvPr id="53252" name="Object 4"/>
          <p:cNvGraphicFramePr>
            <a:graphicFrameLocks noChangeAspect="1"/>
          </p:cNvGraphicFramePr>
          <p:nvPr/>
        </p:nvGraphicFramePr>
        <p:xfrm>
          <a:off x="1337967" y="2898394"/>
          <a:ext cx="1830388" cy="1095375"/>
        </p:xfrm>
        <a:graphic>
          <a:graphicData uri="http://schemas.openxmlformats.org/presentationml/2006/ole">
            <mc:AlternateContent xmlns:mc="http://schemas.openxmlformats.org/markup-compatibility/2006">
              <mc:Choice xmlns:v="urn:schemas-microsoft-com:vml" Requires="v">
                <p:oleObj name="Worksheet" r:id="rId6" imgW="1704940" imgH="1019045" progId="Excel.Sheet.8">
                  <p:embed/>
                </p:oleObj>
              </mc:Choice>
              <mc:Fallback>
                <p:oleObj name="Worksheet" r:id="rId6" imgW="1704940" imgH="1019045" progId="Excel.Sheet.8">
                  <p:embed/>
                  <p:pic>
                    <p:nvPicPr>
                      <p:cNvPr id="53252" name="Object 4"/>
                      <p:cNvPicPr>
                        <a:picLocks noChangeAspect="1" noChangeArrowheads="1"/>
                      </p:cNvPicPr>
                      <p:nvPr/>
                    </p:nvPicPr>
                    <p:blipFill>
                      <a:blip r:embed="rId7"/>
                      <a:srcRect/>
                      <a:stretch>
                        <a:fillRect/>
                      </a:stretch>
                    </p:blipFill>
                    <p:spPr bwMode="auto">
                      <a:xfrm>
                        <a:off x="1337967" y="2898394"/>
                        <a:ext cx="1830388" cy="1095375"/>
                      </a:xfrm>
                      <a:prstGeom prst="rect">
                        <a:avLst/>
                      </a:prstGeom>
                      <a:noFill/>
                    </p:spPr>
                  </p:pic>
                </p:oleObj>
              </mc:Fallback>
            </mc:AlternateContent>
          </a:graphicData>
        </a:graphic>
      </p:graphicFrame>
      <p:graphicFrame>
        <p:nvGraphicFramePr>
          <p:cNvPr id="53253" name="Object 5"/>
          <p:cNvGraphicFramePr>
            <a:graphicFrameLocks noChangeAspect="1"/>
          </p:cNvGraphicFramePr>
          <p:nvPr/>
        </p:nvGraphicFramePr>
        <p:xfrm>
          <a:off x="3887464" y="3552538"/>
          <a:ext cx="2045768" cy="1419512"/>
        </p:xfrm>
        <a:graphic>
          <a:graphicData uri="http://schemas.openxmlformats.org/presentationml/2006/ole">
            <mc:AlternateContent xmlns:mc="http://schemas.openxmlformats.org/markup-compatibility/2006">
              <mc:Choice xmlns:v="urn:schemas-microsoft-com:vml" Requires="v">
                <p:oleObj name="Worksheet" r:id="rId8" imgW="1704992" imgH="1181100" progId="Excel.Sheet.8">
                  <p:embed/>
                </p:oleObj>
              </mc:Choice>
              <mc:Fallback>
                <p:oleObj name="Worksheet" r:id="rId8" imgW="1704992" imgH="1181100" progId="Excel.Sheet.8">
                  <p:embed/>
                  <p:pic>
                    <p:nvPicPr>
                      <p:cNvPr id="5325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7464" y="3552538"/>
                        <a:ext cx="2045768" cy="1419512"/>
                      </a:xfrm>
                      <a:prstGeom prst="rect">
                        <a:avLst/>
                      </a:prstGeom>
                      <a:noFill/>
                    </p:spPr>
                  </p:pic>
                </p:oleObj>
              </mc:Fallback>
            </mc:AlternateContent>
          </a:graphicData>
        </a:graphic>
      </p:graphicFrame>
      <p:graphicFrame>
        <p:nvGraphicFramePr>
          <p:cNvPr id="53254" name="Object 6"/>
          <p:cNvGraphicFramePr>
            <a:graphicFrameLocks noChangeAspect="1"/>
          </p:cNvGraphicFramePr>
          <p:nvPr/>
        </p:nvGraphicFramePr>
        <p:xfrm>
          <a:off x="3943350" y="815975"/>
          <a:ext cx="1817688" cy="1068388"/>
        </p:xfrm>
        <a:graphic>
          <a:graphicData uri="http://schemas.openxmlformats.org/presentationml/2006/ole">
            <mc:AlternateContent xmlns:mc="http://schemas.openxmlformats.org/markup-compatibility/2006">
              <mc:Choice xmlns:v="urn:schemas-microsoft-com:vml" Requires="v">
                <p:oleObj name="Worksheet" r:id="rId10" imgW="1704940" imgH="999943" progId="Excel.Sheet.8">
                  <p:embed/>
                </p:oleObj>
              </mc:Choice>
              <mc:Fallback>
                <p:oleObj name="Worksheet" r:id="rId10" imgW="1704940" imgH="999943" progId="Excel.Sheet.8">
                  <p:embed/>
                  <p:pic>
                    <p:nvPicPr>
                      <p:cNvPr id="53254" name="Object 6"/>
                      <p:cNvPicPr>
                        <a:picLocks noChangeAspect="1" noChangeArrowheads="1"/>
                      </p:cNvPicPr>
                      <p:nvPr/>
                    </p:nvPicPr>
                    <p:blipFill>
                      <a:blip r:embed="rId11"/>
                      <a:srcRect/>
                      <a:stretch>
                        <a:fillRect/>
                      </a:stretch>
                    </p:blipFill>
                    <p:spPr bwMode="auto">
                      <a:xfrm>
                        <a:off x="3943350" y="815975"/>
                        <a:ext cx="1817688" cy="1068388"/>
                      </a:xfrm>
                      <a:prstGeom prst="rect">
                        <a:avLst/>
                      </a:prstGeom>
                      <a:noFill/>
                    </p:spPr>
                  </p:pic>
                </p:oleObj>
              </mc:Fallback>
            </mc:AlternateContent>
          </a:graphicData>
        </a:graphic>
      </p:graphicFrame>
      <p:cxnSp>
        <p:nvCxnSpPr>
          <p:cNvPr id="10" name="Straight Arrow Connector 9"/>
          <p:cNvCxnSpPr>
            <a:cxnSpLocks/>
          </p:cNvCxnSpPr>
          <p:nvPr/>
        </p:nvCxnSpPr>
        <p:spPr>
          <a:xfrm flipV="1">
            <a:off x="2562792" y="2790993"/>
            <a:ext cx="4744632" cy="71526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5385966" y="2848262"/>
            <a:ext cx="1921458" cy="14945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a:off x="2926660" y="1861079"/>
            <a:ext cx="4380764" cy="92991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5214938" y="1276350"/>
            <a:ext cx="2128584" cy="14576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5A0C893-594B-45F7-963F-DDD4AC1AB00F}"/>
              </a:ext>
            </a:extLst>
          </p:cNvPr>
          <p:cNvSpPr/>
          <p:nvPr/>
        </p:nvSpPr>
        <p:spPr>
          <a:xfrm>
            <a:off x="274620" y="818996"/>
            <a:ext cx="3562013" cy="300082"/>
          </a:xfrm>
          <a:prstGeom prst="rect">
            <a:avLst/>
          </a:prstGeom>
        </p:spPr>
        <p:txBody>
          <a:bodyPr wrap="square">
            <a:spAutoFit/>
          </a:bodyPr>
          <a:lstStyle/>
          <a:p>
            <a:r>
              <a:rPr lang="en-US" sz="1350" dirty="0"/>
              <a:t>Deferred + Prepaid Catalog Costs: 3.3 + 1.4 = 4.7</a:t>
            </a:r>
          </a:p>
        </p:txBody>
      </p:sp>
    </p:spTree>
    <p:extLst>
      <p:ext uri="{BB962C8B-B14F-4D97-AF65-F5344CB8AC3E}">
        <p14:creationId xmlns:p14="http://schemas.microsoft.com/office/powerpoint/2010/main" val="52979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371" y="426329"/>
            <a:ext cx="6172200" cy="651272"/>
          </a:xfrm>
        </p:spPr>
        <p:txBody>
          <a:bodyPr>
            <a:normAutofit fontScale="90000"/>
          </a:bodyPr>
          <a:lstStyle/>
          <a:p>
            <a:r>
              <a:rPr lang="en-US" dirty="0"/>
              <a:t>Accounts with One-Way Links to Cash</a:t>
            </a:r>
          </a:p>
        </p:txBody>
      </p:sp>
      <p:sp>
        <p:nvSpPr>
          <p:cNvPr id="4" name="Slide Number Placeholder 3"/>
          <p:cNvSpPr>
            <a:spLocks noGrp="1"/>
          </p:cNvSpPr>
          <p:nvPr>
            <p:ph type="sldNum" sz="quarter" idx="12"/>
          </p:nvPr>
        </p:nvSpPr>
        <p:spPr/>
        <p:txBody>
          <a:bodyPr/>
          <a:lstStyle/>
          <a:p>
            <a:fld id="{2D93DAFC-4A23-43B0-B9A0-D9D5C35F8F3B}" type="slidenum">
              <a:rPr lang="en-US" smtClean="0"/>
              <a:pPr/>
              <a:t>16</a:t>
            </a:fld>
            <a:endParaRPr lang="en-US"/>
          </a:p>
        </p:txBody>
      </p:sp>
      <p:graphicFrame>
        <p:nvGraphicFramePr>
          <p:cNvPr id="52227" name="Object 3"/>
          <p:cNvGraphicFramePr>
            <a:graphicFrameLocks noChangeAspect="1"/>
          </p:cNvGraphicFramePr>
          <p:nvPr/>
        </p:nvGraphicFramePr>
        <p:xfrm>
          <a:off x="6890099" y="3777835"/>
          <a:ext cx="1779559" cy="875515"/>
        </p:xfrm>
        <a:graphic>
          <a:graphicData uri="http://schemas.openxmlformats.org/presentationml/2006/ole">
            <mc:AlternateContent xmlns:mc="http://schemas.openxmlformats.org/markup-compatibility/2006">
              <mc:Choice xmlns:v="urn:schemas-microsoft-com:vml" Requires="v">
                <p:oleObj name="Worksheet" r:id="rId2" imgW="1704940" imgH="838408" progId="Excel.Sheet.8">
                  <p:embed/>
                </p:oleObj>
              </mc:Choice>
              <mc:Fallback>
                <p:oleObj name="Worksheet" r:id="rId2" imgW="1704940" imgH="838408" progId="Excel.Sheet.8">
                  <p:embed/>
                  <p:pic>
                    <p:nvPicPr>
                      <p:cNvPr id="52227" name="Object 3"/>
                      <p:cNvPicPr>
                        <a:picLocks noChangeAspect="1" noChangeArrowheads="1"/>
                      </p:cNvPicPr>
                      <p:nvPr/>
                    </p:nvPicPr>
                    <p:blipFill>
                      <a:blip r:embed="rId3"/>
                      <a:srcRect/>
                      <a:stretch>
                        <a:fillRect/>
                      </a:stretch>
                    </p:blipFill>
                    <p:spPr bwMode="auto">
                      <a:xfrm>
                        <a:off x="6890099" y="3777835"/>
                        <a:ext cx="1779559" cy="875515"/>
                      </a:xfrm>
                      <a:prstGeom prst="rect">
                        <a:avLst/>
                      </a:prstGeom>
                      <a:noFill/>
                    </p:spPr>
                  </p:pic>
                </p:oleObj>
              </mc:Fallback>
            </mc:AlternateContent>
          </a:graphicData>
        </a:graphic>
      </p:graphicFrame>
      <p:graphicFrame>
        <p:nvGraphicFramePr>
          <p:cNvPr id="52228" name="Object 4"/>
          <p:cNvGraphicFramePr>
            <a:graphicFrameLocks noChangeAspect="1"/>
          </p:cNvGraphicFramePr>
          <p:nvPr/>
        </p:nvGraphicFramePr>
        <p:xfrm>
          <a:off x="6884987" y="2585735"/>
          <a:ext cx="1687777" cy="996676"/>
        </p:xfrm>
        <a:graphic>
          <a:graphicData uri="http://schemas.openxmlformats.org/presentationml/2006/ole">
            <mc:AlternateContent xmlns:mc="http://schemas.openxmlformats.org/markup-compatibility/2006">
              <mc:Choice xmlns:v="urn:schemas-microsoft-com:vml" Requires="v">
                <p:oleObj name="Worksheet" r:id="rId4" imgW="1704940" imgH="1019045" progId="Excel.Sheet.8">
                  <p:embed/>
                </p:oleObj>
              </mc:Choice>
              <mc:Fallback>
                <p:oleObj name="Worksheet" r:id="rId4" imgW="1704940" imgH="1019045" progId="Excel.Sheet.8">
                  <p:embed/>
                  <p:pic>
                    <p:nvPicPr>
                      <p:cNvPr id="52228" name="Object 4"/>
                      <p:cNvPicPr>
                        <a:picLocks noChangeAspect="1" noChangeArrowheads="1"/>
                      </p:cNvPicPr>
                      <p:nvPr/>
                    </p:nvPicPr>
                    <p:blipFill>
                      <a:blip r:embed="rId5"/>
                      <a:srcRect/>
                      <a:stretch>
                        <a:fillRect/>
                      </a:stretch>
                    </p:blipFill>
                    <p:spPr bwMode="auto">
                      <a:xfrm>
                        <a:off x="6884987" y="2585735"/>
                        <a:ext cx="1687777" cy="996676"/>
                      </a:xfrm>
                      <a:prstGeom prst="rect">
                        <a:avLst/>
                      </a:prstGeom>
                      <a:noFill/>
                    </p:spPr>
                  </p:pic>
                </p:oleObj>
              </mc:Fallback>
            </mc:AlternateContent>
          </a:graphicData>
        </a:graphic>
      </p:graphicFrame>
      <p:cxnSp>
        <p:nvCxnSpPr>
          <p:cNvPr id="9" name="Straight Arrow Connector 8"/>
          <p:cNvCxnSpPr>
            <a:cxnSpLocks/>
          </p:cNvCxnSpPr>
          <p:nvPr/>
        </p:nvCxnSpPr>
        <p:spPr>
          <a:xfrm>
            <a:off x="4954951" y="2633291"/>
            <a:ext cx="2137718" cy="40015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4954951" y="1856316"/>
            <a:ext cx="2137718" cy="57000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5" name="Object 4">
            <a:extLst>
              <a:ext uri="{FF2B5EF4-FFF2-40B4-BE49-F238E27FC236}">
                <a16:creationId xmlns:a16="http://schemas.microsoft.com/office/drawing/2014/main" id="{0240C0FD-F62F-44B7-8D7B-41C63F932D58}"/>
              </a:ext>
            </a:extLst>
          </p:cNvPr>
          <p:cNvGraphicFramePr>
            <a:graphicFrameLocks noChangeAspect="1"/>
          </p:cNvGraphicFramePr>
          <p:nvPr/>
        </p:nvGraphicFramePr>
        <p:xfrm>
          <a:off x="3600450" y="1624013"/>
          <a:ext cx="1943100" cy="1711325"/>
        </p:xfrm>
        <a:graphic>
          <a:graphicData uri="http://schemas.openxmlformats.org/presentationml/2006/ole">
            <mc:AlternateContent xmlns:mc="http://schemas.openxmlformats.org/markup-compatibility/2006">
              <mc:Choice xmlns:v="urn:schemas-microsoft-com:vml" Requires="v">
                <p:oleObj name="Worksheet" r:id="rId6" imgW="1704940" imgH="1504898" progId="Excel.Sheet.8">
                  <p:embed/>
                </p:oleObj>
              </mc:Choice>
              <mc:Fallback>
                <p:oleObj name="Worksheet" r:id="rId6" imgW="1704940" imgH="1504898" progId="Excel.Sheet.8">
                  <p:embed/>
                  <p:pic>
                    <p:nvPicPr>
                      <p:cNvPr id="15" name="Object 4">
                        <a:extLst>
                          <a:ext uri="{FF2B5EF4-FFF2-40B4-BE49-F238E27FC236}">
                            <a16:creationId xmlns:a16="http://schemas.microsoft.com/office/drawing/2014/main" id="{0240C0FD-F62F-44B7-8D7B-41C63F932D58}"/>
                          </a:ext>
                        </a:extLst>
                      </p:cNvPr>
                      <p:cNvPicPr>
                        <a:picLocks noChangeAspect="1" noChangeArrowheads="1"/>
                      </p:cNvPicPr>
                      <p:nvPr/>
                    </p:nvPicPr>
                    <p:blipFill>
                      <a:blip r:embed="rId7"/>
                      <a:srcRect/>
                      <a:stretch>
                        <a:fillRect/>
                      </a:stretch>
                    </p:blipFill>
                    <p:spPr bwMode="auto">
                      <a:xfrm>
                        <a:off x="3600450" y="1624013"/>
                        <a:ext cx="1943100"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6" name="Straight Arrow Connector 15">
            <a:extLst>
              <a:ext uri="{FF2B5EF4-FFF2-40B4-BE49-F238E27FC236}">
                <a16:creationId xmlns:a16="http://schemas.microsoft.com/office/drawing/2014/main" id="{1F30739F-1117-4554-9A92-AE6B7792826B}"/>
              </a:ext>
            </a:extLst>
          </p:cNvPr>
          <p:cNvCxnSpPr>
            <a:cxnSpLocks/>
          </p:cNvCxnSpPr>
          <p:nvPr/>
        </p:nvCxnSpPr>
        <p:spPr>
          <a:xfrm flipV="1">
            <a:off x="4954951" y="655524"/>
            <a:ext cx="2182224" cy="15881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4" name="Object 6">
            <a:extLst>
              <a:ext uri="{FF2B5EF4-FFF2-40B4-BE49-F238E27FC236}">
                <a16:creationId xmlns:a16="http://schemas.microsoft.com/office/drawing/2014/main" id="{491DDB2C-BD31-4E13-9814-10407CC1C4C7}"/>
              </a:ext>
            </a:extLst>
          </p:cNvPr>
          <p:cNvGraphicFramePr>
            <a:graphicFrameLocks noChangeAspect="1"/>
          </p:cNvGraphicFramePr>
          <p:nvPr/>
        </p:nvGraphicFramePr>
        <p:xfrm>
          <a:off x="6945817" y="1360025"/>
          <a:ext cx="1638184" cy="962389"/>
        </p:xfrm>
        <a:graphic>
          <a:graphicData uri="http://schemas.openxmlformats.org/presentationml/2006/ole">
            <mc:AlternateContent xmlns:mc="http://schemas.openxmlformats.org/markup-compatibility/2006">
              <mc:Choice xmlns:v="urn:schemas-microsoft-com:vml" Requires="v">
                <p:oleObj name="Worksheet" r:id="rId8" imgW="1704940" imgH="999943" progId="Excel.Sheet.8">
                  <p:embed/>
                </p:oleObj>
              </mc:Choice>
              <mc:Fallback>
                <p:oleObj name="Worksheet" r:id="rId8" imgW="1704940" imgH="999943" progId="Excel.Sheet.8">
                  <p:embed/>
                  <p:pic>
                    <p:nvPicPr>
                      <p:cNvPr id="14" name="Object 6">
                        <a:extLst>
                          <a:ext uri="{FF2B5EF4-FFF2-40B4-BE49-F238E27FC236}">
                            <a16:creationId xmlns:a16="http://schemas.microsoft.com/office/drawing/2014/main" id="{491DDB2C-BD31-4E13-9814-10407CC1C4C7}"/>
                          </a:ext>
                        </a:extLst>
                      </p:cNvPr>
                      <p:cNvPicPr>
                        <a:picLocks noChangeAspect="1" noChangeArrowheads="1"/>
                      </p:cNvPicPr>
                      <p:nvPr/>
                    </p:nvPicPr>
                    <p:blipFill>
                      <a:blip r:embed="rId9"/>
                      <a:srcRect/>
                      <a:stretch>
                        <a:fillRect/>
                      </a:stretch>
                    </p:blipFill>
                    <p:spPr bwMode="auto">
                      <a:xfrm>
                        <a:off x="6945817" y="1360025"/>
                        <a:ext cx="1638184" cy="962389"/>
                      </a:xfrm>
                      <a:prstGeom prst="rect">
                        <a:avLst/>
                      </a:prstGeom>
                      <a:noFill/>
                    </p:spPr>
                  </p:pic>
                </p:oleObj>
              </mc:Fallback>
            </mc:AlternateContent>
          </a:graphicData>
        </a:graphic>
      </p:graphicFrame>
      <p:graphicFrame>
        <p:nvGraphicFramePr>
          <p:cNvPr id="17" name="Object 3">
            <a:extLst>
              <a:ext uri="{FF2B5EF4-FFF2-40B4-BE49-F238E27FC236}">
                <a16:creationId xmlns:a16="http://schemas.microsoft.com/office/drawing/2014/main" id="{6806C230-6BD3-458A-B189-623B7FEE6B19}"/>
              </a:ext>
            </a:extLst>
          </p:cNvPr>
          <p:cNvGraphicFramePr>
            <a:graphicFrameLocks noChangeAspect="1"/>
          </p:cNvGraphicFramePr>
          <p:nvPr/>
        </p:nvGraphicFramePr>
        <p:xfrm>
          <a:off x="6890099" y="129157"/>
          <a:ext cx="1690797" cy="999449"/>
        </p:xfrm>
        <a:graphic>
          <a:graphicData uri="http://schemas.openxmlformats.org/presentationml/2006/ole">
            <mc:AlternateContent xmlns:mc="http://schemas.openxmlformats.org/markup-compatibility/2006">
              <mc:Choice xmlns:v="urn:schemas-microsoft-com:vml" Requires="v">
                <p:oleObj name="Worksheet" r:id="rId10" imgW="1695381" imgH="999943" progId="Excel.Sheet.8">
                  <p:embed/>
                </p:oleObj>
              </mc:Choice>
              <mc:Fallback>
                <p:oleObj name="Worksheet" r:id="rId10" imgW="1695381" imgH="999943" progId="Excel.Sheet.8">
                  <p:embed/>
                  <p:pic>
                    <p:nvPicPr>
                      <p:cNvPr id="17" name="Object 3">
                        <a:extLst>
                          <a:ext uri="{FF2B5EF4-FFF2-40B4-BE49-F238E27FC236}">
                            <a16:creationId xmlns:a16="http://schemas.microsoft.com/office/drawing/2014/main" id="{6806C230-6BD3-458A-B189-623B7FEE6B19}"/>
                          </a:ext>
                        </a:extLst>
                      </p:cNvPr>
                      <p:cNvPicPr>
                        <a:picLocks noChangeAspect="1" noChangeArrowheads="1"/>
                      </p:cNvPicPr>
                      <p:nvPr/>
                    </p:nvPicPr>
                    <p:blipFill>
                      <a:blip r:embed="rId11"/>
                      <a:srcRect/>
                      <a:stretch>
                        <a:fillRect/>
                      </a:stretch>
                    </p:blipFill>
                    <p:spPr bwMode="auto">
                      <a:xfrm>
                        <a:off x="6890099" y="129157"/>
                        <a:ext cx="1690797" cy="999449"/>
                      </a:xfrm>
                      <a:prstGeom prst="rect">
                        <a:avLst/>
                      </a:prstGeom>
                      <a:noFill/>
                    </p:spPr>
                  </p:pic>
                </p:oleObj>
              </mc:Fallback>
            </mc:AlternateContent>
          </a:graphicData>
        </a:graphic>
      </p:graphicFrame>
      <p:cxnSp>
        <p:nvCxnSpPr>
          <p:cNvPr id="19" name="Straight Arrow Connector 18">
            <a:extLst>
              <a:ext uri="{FF2B5EF4-FFF2-40B4-BE49-F238E27FC236}">
                <a16:creationId xmlns:a16="http://schemas.microsoft.com/office/drawing/2014/main" id="{60F60A01-77B1-4955-BBD1-4BB87A9626F3}"/>
              </a:ext>
            </a:extLst>
          </p:cNvPr>
          <p:cNvCxnSpPr>
            <a:cxnSpLocks/>
          </p:cNvCxnSpPr>
          <p:nvPr/>
        </p:nvCxnSpPr>
        <p:spPr>
          <a:xfrm>
            <a:off x="4954951" y="2864812"/>
            <a:ext cx="2137718" cy="13507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0" name="Object 2">
            <a:extLst>
              <a:ext uri="{FF2B5EF4-FFF2-40B4-BE49-F238E27FC236}">
                <a16:creationId xmlns:a16="http://schemas.microsoft.com/office/drawing/2014/main" id="{8BE9AED4-36F6-49EE-87DB-027FF27F4CF9}"/>
              </a:ext>
            </a:extLst>
          </p:cNvPr>
          <p:cNvGraphicFramePr>
            <a:graphicFrameLocks noGrp="1" noChangeAspect="1"/>
          </p:cNvGraphicFramePr>
          <p:nvPr>
            <p:ph idx="1"/>
          </p:nvPr>
        </p:nvGraphicFramePr>
        <p:xfrm>
          <a:off x="559999" y="1856316"/>
          <a:ext cx="2149399" cy="1261000"/>
        </p:xfrm>
        <a:graphic>
          <a:graphicData uri="http://schemas.openxmlformats.org/presentationml/2006/ole">
            <mc:AlternateContent xmlns:mc="http://schemas.openxmlformats.org/markup-compatibility/2006">
              <mc:Choice xmlns:v="urn:schemas-microsoft-com:vml" Requires="v">
                <p:oleObj name="Worksheet" r:id="rId12" imgW="1704940" imgH="999943" progId="Excel.Sheet.8">
                  <p:embed/>
                </p:oleObj>
              </mc:Choice>
              <mc:Fallback>
                <p:oleObj name="Worksheet" r:id="rId12" imgW="1704940" imgH="999943" progId="Excel.Sheet.8">
                  <p:embed/>
                  <p:pic>
                    <p:nvPicPr>
                      <p:cNvPr id="30" name="Object 2">
                        <a:extLst>
                          <a:ext uri="{FF2B5EF4-FFF2-40B4-BE49-F238E27FC236}">
                            <a16:creationId xmlns:a16="http://schemas.microsoft.com/office/drawing/2014/main" id="{8BE9AED4-36F6-49EE-87DB-027FF27F4CF9}"/>
                          </a:ext>
                        </a:extLst>
                      </p:cNvPr>
                      <p:cNvPicPr>
                        <a:picLocks noChangeAspect="1" noChangeArrowheads="1"/>
                      </p:cNvPicPr>
                      <p:nvPr/>
                    </p:nvPicPr>
                    <p:blipFill>
                      <a:blip r:embed="rId13"/>
                      <a:srcRect/>
                      <a:stretch>
                        <a:fillRect/>
                      </a:stretch>
                    </p:blipFill>
                    <p:spPr bwMode="auto">
                      <a:xfrm>
                        <a:off x="559999" y="1856316"/>
                        <a:ext cx="2149399" cy="1261000"/>
                      </a:xfrm>
                      <a:prstGeom prst="rect">
                        <a:avLst/>
                      </a:prstGeom>
                      <a:noFill/>
                      <a:ln>
                        <a:noFill/>
                      </a:ln>
                      <a:effectLst/>
                    </p:spPr>
                  </p:pic>
                </p:oleObj>
              </mc:Fallback>
            </mc:AlternateContent>
          </a:graphicData>
        </a:graphic>
      </p:graphicFrame>
      <p:cxnSp>
        <p:nvCxnSpPr>
          <p:cNvPr id="31" name="Straight Arrow Connector 30">
            <a:extLst>
              <a:ext uri="{FF2B5EF4-FFF2-40B4-BE49-F238E27FC236}">
                <a16:creationId xmlns:a16="http://schemas.microsoft.com/office/drawing/2014/main" id="{A9C3E9AB-604A-4A20-8366-7825A461B8F9}"/>
              </a:ext>
            </a:extLst>
          </p:cNvPr>
          <p:cNvCxnSpPr>
            <a:cxnSpLocks/>
          </p:cNvCxnSpPr>
          <p:nvPr/>
        </p:nvCxnSpPr>
        <p:spPr>
          <a:xfrm>
            <a:off x="2139983" y="2358054"/>
            <a:ext cx="191085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71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5340350" cy="857250"/>
          </a:xfrm>
        </p:spPr>
        <p:txBody>
          <a:bodyPr>
            <a:normAutofit fontScale="90000"/>
          </a:bodyPr>
          <a:lstStyle/>
          <a:p>
            <a:r>
              <a:rPr lang="en-US" dirty="0"/>
              <a:t>Accounts with Two-Way Links to Cash</a:t>
            </a:r>
          </a:p>
        </p:txBody>
      </p:sp>
      <p:sp>
        <p:nvSpPr>
          <p:cNvPr id="4" name="Slide Number Placeholder 3"/>
          <p:cNvSpPr>
            <a:spLocks noGrp="1"/>
          </p:cNvSpPr>
          <p:nvPr>
            <p:ph type="sldNum" sz="quarter" idx="12"/>
          </p:nvPr>
        </p:nvSpPr>
        <p:spPr/>
        <p:txBody>
          <a:bodyPr/>
          <a:lstStyle/>
          <a:p>
            <a:fld id="{2D93DAFC-4A23-43B0-B9A0-D9D5C35F8F3B}" type="slidenum">
              <a:rPr lang="en-US" smtClean="0"/>
              <a:pPr/>
              <a:t>17</a:t>
            </a:fld>
            <a:endParaRPr lang="en-US"/>
          </a:p>
        </p:txBody>
      </p:sp>
      <p:graphicFrame>
        <p:nvGraphicFramePr>
          <p:cNvPr id="52227" name="Object 3"/>
          <p:cNvGraphicFramePr>
            <a:graphicFrameLocks noChangeAspect="1"/>
          </p:cNvGraphicFramePr>
          <p:nvPr/>
        </p:nvGraphicFramePr>
        <p:xfrm>
          <a:off x="6825341" y="2230340"/>
          <a:ext cx="1779559" cy="875515"/>
        </p:xfrm>
        <a:graphic>
          <a:graphicData uri="http://schemas.openxmlformats.org/presentationml/2006/ole">
            <mc:AlternateContent xmlns:mc="http://schemas.openxmlformats.org/markup-compatibility/2006">
              <mc:Choice xmlns:v="urn:schemas-microsoft-com:vml" Requires="v">
                <p:oleObj name="Worksheet" r:id="rId2" imgW="1704940" imgH="838408" progId="Excel.Sheet.8">
                  <p:embed/>
                </p:oleObj>
              </mc:Choice>
              <mc:Fallback>
                <p:oleObj name="Worksheet" r:id="rId2" imgW="1704940" imgH="838408" progId="Excel.Sheet.8">
                  <p:embed/>
                  <p:pic>
                    <p:nvPicPr>
                      <p:cNvPr id="52227" name="Object 3"/>
                      <p:cNvPicPr>
                        <a:picLocks noChangeAspect="1" noChangeArrowheads="1"/>
                      </p:cNvPicPr>
                      <p:nvPr/>
                    </p:nvPicPr>
                    <p:blipFill>
                      <a:blip r:embed="rId3"/>
                      <a:srcRect/>
                      <a:stretch>
                        <a:fillRect/>
                      </a:stretch>
                    </p:blipFill>
                    <p:spPr bwMode="auto">
                      <a:xfrm>
                        <a:off x="6825341" y="2230340"/>
                        <a:ext cx="1779559" cy="875515"/>
                      </a:xfrm>
                      <a:prstGeom prst="rect">
                        <a:avLst/>
                      </a:prstGeom>
                      <a:noFill/>
                    </p:spPr>
                  </p:pic>
                </p:oleObj>
              </mc:Fallback>
            </mc:AlternateContent>
          </a:graphicData>
        </a:graphic>
      </p:graphicFrame>
      <p:graphicFrame>
        <p:nvGraphicFramePr>
          <p:cNvPr id="52228" name="Object 4"/>
          <p:cNvGraphicFramePr>
            <a:graphicFrameLocks noChangeAspect="1"/>
          </p:cNvGraphicFramePr>
          <p:nvPr/>
        </p:nvGraphicFramePr>
        <p:xfrm>
          <a:off x="6763155" y="3326452"/>
          <a:ext cx="1856170" cy="902766"/>
        </p:xfrm>
        <a:graphic>
          <a:graphicData uri="http://schemas.openxmlformats.org/presentationml/2006/ole">
            <mc:AlternateContent xmlns:mc="http://schemas.openxmlformats.org/markup-compatibility/2006">
              <mc:Choice xmlns:v="urn:schemas-microsoft-com:vml" Requires="v">
                <p:oleObj name="Worksheet" r:id="rId4" imgW="1704940" imgH="838408" progId="Excel.Sheet.8">
                  <p:embed/>
                </p:oleObj>
              </mc:Choice>
              <mc:Fallback>
                <p:oleObj name="Worksheet" r:id="rId4" imgW="1704940" imgH="838408" progId="Excel.Sheet.8">
                  <p:embed/>
                  <p:pic>
                    <p:nvPicPr>
                      <p:cNvPr id="52228" name="Object 4"/>
                      <p:cNvPicPr>
                        <a:picLocks noChangeAspect="1" noChangeArrowheads="1"/>
                      </p:cNvPicPr>
                      <p:nvPr/>
                    </p:nvPicPr>
                    <p:blipFill>
                      <a:blip r:embed="rId5"/>
                      <a:srcRect/>
                      <a:stretch>
                        <a:fillRect/>
                      </a:stretch>
                    </p:blipFill>
                    <p:spPr bwMode="auto">
                      <a:xfrm>
                        <a:off x="6763155" y="3326452"/>
                        <a:ext cx="1856170" cy="902766"/>
                      </a:xfrm>
                      <a:prstGeom prst="rect">
                        <a:avLst/>
                      </a:prstGeom>
                      <a:noFill/>
                    </p:spPr>
                  </p:pic>
                </p:oleObj>
              </mc:Fallback>
            </mc:AlternateContent>
          </a:graphicData>
        </a:graphic>
      </p:graphicFrame>
      <p:cxnSp>
        <p:nvCxnSpPr>
          <p:cNvPr id="9" name="Straight Arrow Connector 8"/>
          <p:cNvCxnSpPr>
            <a:cxnSpLocks/>
          </p:cNvCxnSpPr>
          <p:nvPr/>
        </p:nvCxnSpPr>
        <p:spPr>
          <a:xfrm flipV="1">
            <a:off x="4954951" y="2633291"/>
            <a:ext cx="2352473"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4954951" y="1753037"/>
            <a:ext cx="2251725" cy="67328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5" name="Object 4">
            <a:extLst>
              <a:ext uri="{FF2B5EF4-FFF2-40B4-BE49-F238E27FC236}">
                <a16:creationId xmlns:a16="http://schemas.microsoft.com/office/drawing/2014/main" id="{0240C0FD-F62F-44B7-8D7B-41C63F932D58}"/>
              </a:ext>
            </a:extLst>
          </p:cNvPr>
          <p:cNvGraphicFramePr>
            <a:graphicFrameLocks noChangeAspect="1"/>
          </p:cNvGraphicFramePr>
          <p:nvPr/>
        </p:nvGraphicFramePr>
        <p:xfrm>
          <a:off x="3600450" y="1624013"/>
          <a:ext cx="1943100" cy="1711325"/>
        </p:xfrm>
        <a:graphic>
          <a:graphicData uri="http://schemas.openxmlformats.org/presentationml/2006/ole">
            <mc:AlternateContent xmlns:mc="http://schemas.openxmlformats.org/markup-compatibility/2006">
              <mc:Choice xmlns:v="urn:schemas-microsoft-com:vml" Requires="v">
                <p:oleObj name="Worksheet" r:id="rId6" imgW="1704940" imgH="1504898" progId="Excel.Sheet.8">
                  <p:embed/>
                </p:oleObj>
              </mc:Choice>
              <mc:Fallback>
                <p:oleObj name="Worksheet" r:id="rId6" imgW="1704940" imgH="1504898" progId="Excel.Sheet.8">
                  <p:embed/>
                  <p:pic>
                    <p:nvPicPr>
                      <p:cNvPr id="15" name="Object 4">
                        <a:extLst>
                          <a:ext uri="{FF2B5EF4-FFF2-40B4-BE49-F238E27FC236}">
                            <a16:creationId xmlns:a16="http://schemas.microsoft.com/office/drawing/2014/main" id="{0240C0FD-F62F-44B7-8D7B-41C63F932D58}"/>
                          </a:ext>
                        </a:extLst>
                      </p:cNvPr>
                      <p:cNvPicPr>
                        <a:picLocks noChangeAspect="1" noChangeArrowheads="1"/>
                      </p:cNvPicPr>
                      <p:nvPr/>
                    </p:nvPicPr>
                    <p:blipFill>
                      <a:blip r:embed="rId7"/>
                      <a:srcRect/>
                      <a:stretch>
                        <a:fillRect/>
                      </a:stretch>
                    </p:blipFill>
                    <p:spPr bwMode="auto">
                      <a:xfrm>
                        <a:off x="3600450" y="1624013"/>
                        <a:ext cx="1943100"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6" name="Straight Arrow Connector 15">
            <a:extLst>
              <a:ext uri="{FF2B5EF4-FFF2-40B4-BE49-F238E27FC236}">
                <a16:creationId xmlns:a16="http://schemas.microsoft.com/office/drawing/2014/main" id="{1F30739F-1117-4554-9A92-AE6B7792826B}"/>
              </a:ext>
            </a:extLst>
          </p:cNvPr>
          <p:cNvCxnSpPr>
            <a:cxnSpLocks/>
          </p:cNvCxnSpPr>
          <p:nvPr/>
        </p:nvCxnSpPr>
        <p:spPr>
          <a:xfrm flipV="1">
            <a:off x="4954951" y="655524"/>
            <a:ext cx="2182224" cy="15881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0F60A01-77B1-4955-BBD1-4BB87A9626F3}"/>
              </a:ext>
            </a:extLst>
          </p:cNvPr>
          <p:cNvCxnSpPr>
            <a:cxnSpLocks/>
          </p:cNvCxnSpPr>
          <p:nvPr/>
        </p:nvCxnSpPr>
        <p:spPr>
          <a:xfrm>
            <a:off x="4977204" y="2864812"/>
            <a:ext cx="2229472" cy="93104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9C3E9AB-604A-4A20-8366-7825A461B8F9}"/>
              </a:ext>
            </a:extLst>
          </p:cNvPr>
          <p:cNvCxnSpPr>
            <a:cxnSpLocks/>
          </p:cNvCxnSpPr>
          <p:nvPr/>
        </p:nvCxnSpPr>
        <p:spPr>
          <a:xfrm>
            <a:off x="1452760" y="1423153"/>
            <a:ext cx="2557265" cy="73109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8" name="Object 2">
            <a:extLst>
              <a:ext uri="{FF2B5EF4-FFF2-40B4-BE49-F238E27FC236}">
                <a16:creationId xmlns:a16="http://schemas.microsoft.com/office/drawing/2014/main" id="{81EA86AC-1D90-4708-9BC9-21FD5E16ACCB}"/>
              </a:ext>
            </a:extLst>
          </p:cNvPr>
          <p:cNvGraphicFramePr>
            <a:graphicFrameLocks noChangeAspect="1"/>
          </p:cNvGraphicFramePr>
          <p:nvPr/>
        </p:nvGraphicFramePr>
        <p:xfrm>
          <a:off x="6878509" y="279416"/>
          <a:ext cx="1673225" cy="841375"/>
        </p:xfrm>
        <a:graphic>
          <a:graphicData uri="http://schemas.openxmlformats.org/presentationml/2006/ole">
            <mc:AlternateContent xmlns:mc="http://schemas.openxmlformats.org/markup-compatibility/2006">
              <mc:Choice xmlns:v="urn:schemas-microsoft-com:vml" Requires="v">
                <p:oleObj name="Worksheet" r:id="rId8" imgW="1704940" imgH="857094" progId="Excel.Sheet.8">
                  <p:embed/>
                </p:oleObj>
              </mc:Choice>
              <mc:Fallback>
                <p:oleObj name="Worksheet" r:id="rId8" imgW="1704940" imgH="857094" progId="Excel.Sheet.8">
                  <p:embed/>
                  <p:pic>
                    <p:nvPicPr>
                      <p:cNvPr id="18" name="Object 2">
                        <a:extLst>
                          <a:ext uri="{FF2B5EF4-FFF2-40B4-BE49-F238E27FC236}">
                            <a16:creationId xmlns:a16="http://schemas.microsoft.com/office/drawing/2014/main" id="{81EA86AC-1D90-4708-9BC9-21FD5E16ACCB}"/>
                          </a:ext>
                        </a:extLst>
                      </p:cNvPr>
                      <p:cNvPicPr>
                        <a:picLocks noChangeAspect="1" noChangeArrowheads="1"/>
                      </p:cNvPicPr>
                      <p:nvPr/>
                    </p:nvPicPr>
                    <p:blipFill>
                      <a:blip r:embed="rId9"/>
                      <a:srcRect/>
                      <a:stretch>
                        <a:fillRect/>
                      </a:stretch>
                    </p:blipFill>
                    <p:spPr bwMode="auto">
                      <a:xfrm>
                        <a:off x="6878509" y="279416"/>
                        <a:ext cx="1673225" cy="841375"/>
                      </a:xfrm>
                      <a:prstGeom prst="rect">
                        <a:avLst/>
                      </a:prstGeom>
                      <a:noFill/>
                      <a:ln>
                        <a:noFill/>
                      </a:ln>
                      <a:effectLst/>
                    </p:spPr>
                  </p:pic>
                </p:oleObj>
              </mc:Fallback>
            </mc:AlternateContent>
          </a:graphicData>
        </a:graphic>
      </p:graphicFrame>
      <p:graphicFrame>
        <p:nvGraphicFramePr>
          <p:cNvPr id="20" name="Object 2">
            <a:extLst>
              <a:ext uri="{FF2B5EF4-FFF2-40B4-BE49-F238E27FC236}">
                <a16:creationId xmlns:a16="http://schemas.microsoft.com/office/drawing/2014/main" id="{6C3C7B5E-EF80-4A3F-9EAD-980EBD5E2E50}"/>
              </a:ext>
            </a:extLst>
          </p:cNvPr>
          <p:cNvGraphicFramePr>
            <a:graphicFrameLocks noChangeAspect="1"/>
          </p:cNvGraphicFramePr>
          <p:nvPr/>
        </p:nvGraphicFramePr>
        <p:xfrm>
          <a:off x="264099" y="1897063"/>
          <a:ext cx="1673225" cy="823912"/>
        </p:xfrm>
        <a:graphic>
          <a:graphicData uri="http://schemas.openxmlformats.org/presentationml/2006/ole">
            <mc:AlternateContent xmlns:mc="http://schemas.openxmlformats.org/markup-compatibility/2006">
              <mc:Choice xmlns:v="urn:schemas-microsoft-com:vml" Requires="v">
                <p:oleObj name="Worksheet" r:id="rId10" imgW="1704940" imgH="838408" progId="Excel.Sheet.8">
                  <p:embed/>
                </p:oleObj>
              </mc:Choice>
              <mc:Fallback>
                <p:oleObj name="Worksheet" r:id="rId10" imgW="1704940" imgH="838408" progId="Excel.Sheet.8">
                  <p:embed/>
                  <p:pic>
                    <p:nvPicPr>
                      <p:cNvPr id="20" name="Object 2">
                        <a:extLst>
                          <a:ext uri="{FF2B5EF4-FFF2-40B4-BE49-F238E27FC236}">
                            <a16:creationId xmlns:a16="http://schemas.microsoft.com/office/drawing/2014/main" id="{6C3C7B5E-EF80-4A3F-9EAD-980EBD5E2E50}"/>
                          </a:ext>
                        </a:extLst>
                      </p:cNvPr>
                      <p:cNvPicPr>
                        <a:picLocks noChangeAspect="1" noChangeArrowheads="1"/>
                      </p:cNvPicPr>
                      <p:nvPr/>
                    </p:nvPicPr>
                    <p:blipFill>
                      <a:blip r:embed="rId11"/>
                      <a:srcRect/>
                      <a:stretch>
                        <a:fillRect/>
                      </a:stretch>
                    </p:blipFill>
                    <p:spPr bwMode="auto">
                      <a:xfrm>
                        <a:off x="264099" y="1897063"/>
                        <a:ext cx="1673225" cy="823912"/>
                      </a:xfrm>
                      <a:prstGeom prst="rect">
                        <a:avLst/>
                      </a:prstGeom>
                      <a:noFill/>
                      <a:ln>
                        <a:noFill/>
                      </a:ln>
                      <a:effectLst/>
                    </p:spPr>
                  </p:pic>
                </p:oleObj>
              </mc:Fallback>
            </mc:AlternateContent>
          </a:graphicData>
        </a:graphic>
      </p:graphicFrame>
      <p:graphicFrame>
        <p:nvGraphicFramePr>
          <p:cNvPr id="22" name="Object 2">
            <a:extLst>
              <a:ext uri="{FF2B5EF4-FFF2-40B4-BE49-F238E27FC236}">
                <a16:creationId xmlns:a16="http://schemas.microsoft.com/office/drawing/2014/main" id="{476ABE89-D473-4EB5-8E55-ADE56CB405D8}"/>
              </a:ext>
            </a:extLst>
          </p:cNvPr>
          <p:cNvGraphicFramePr>
            <a:graphicFrameLocks noChangeAspect="1"/>
          </p:cNvGraphicFramePr>
          <p:nvPr/>
        </p:nvGraphicFramePr>
        <p:xfrm>
          <a:off x="6898051" y="1292515"/>
          <a:ext cx="1673225" cy="823912"/>
        </p:xfrm>
        <a:graphic>
          <a:graphicData uri="http://schemas.openxmlformats.org/presentationml/2006/ole">
            <mc:AlternateContent xmlns:mc="http://schemas.openxmlformats.org/markup-compatibility/2006">
              <mc:Choice xmlns:v="urn:schemas-microsoft-com:vml" Requires="v">
                <p:oleObj name="Worksheet" r:id="rId12" imgW="1704940" imgH="838408" progId="Excel.Sheet.8">
                  <p:embed/>
                </p:oleObj>
              </mc:Choice>
              <mc:Fallback>
                <p:oleObj name="Worksheet" r:id="rId12" imgW="1704940" imgH="838408" progId="Excel.Sheet.8">
                  <p:embed/>
                  <p:pic>
                    <p:nvPicPr>
                      <p:cNvPr id="22" name="Object 2">
                        <a:extLst>
                          <a:ext uri="{FF2B5EF4-FFF2-40B4-BE49-F238E27FC236}">
                            <a16:creationId xmlns:a16="http://schemas.microsoft.com/office/drawing/2014/main" id="{476ABE89-D473-4EB5-8E55-ADE56CB405D8}"/>
                          </a:ext>
                        </a:extLst>
                      </p:cNvPr>
                      <p:cNvPicPr>
                        <a:picLocks noChangeAspect="1" noChangeArrowheads="1"/>
                      </p:cNvPicPr>
                      <p:nvPr/>
                    </p:nvPicPr>
                    <p:blipFill>
                      <a:blip r:embed="rId11"/>
                      <a:srcRect/>
                      <a:stretch>
                        <a:fillRect/>
                      </a:stretch>
                    </p:blipFill>
                    <p:spPr bwMode="auto">
                      <a:xfrm>
                        <a:off x="6898051" y="1292515"/>
                        <a:ext cx="1673225" cy="823912"/>
                      </a:xfrm>
                      <a:prstGeom prst="rect">
                        <a:avLst/>
                      </a:prstGeom>
                      <a:noFill/>
                      <a:ln>
                        <a:noFill/>
                      </a:ln>
                      <a:effectLst/>
                    </p:spPr>
                  </p:pic>
                </p:oleObj>
              </mc:Fallback>
            </mc:AlternateContent>
          </a:graphicData>
        </a:graphic>
      </p:graphicFrame>
      <p:cxnSp>
        <p:nvCxnSpPr>
          <p:cNvPr id="23" name="Straight Arrow Connector 22">
            <a:extLst>
              <a:ext uri="{FF2B5EF4-FFF2-40B4-BE49-F238E27FC236}">
                <a16:creationId xmlns:a16="http://schemas.microsoft.com/office/drawing/2014/main" id="{080CD062-BE87-4799-A643-6CCB51FCF557}"/>
              </a:ext>
            </a:extLst>
          </p:cNvPr>
          <p:cNvCxnSpPr>
            <a:cxnSpLocks/>
          </p:cNvCxnSpPr>
          <p:nvPr/>
        </p:nvCxnSpPr>
        <p:spPr>
          <a:xfrm>
            <a:off x="1474249" y="2309019"/>
            <a:ext cx="2535776"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9" name="Object 2">
            <a:extLst>
              <a:ext uri="{FF2B5EF4-FFF2-40B4-BE49-F238E27FC236}">
                <a16:creationId xmlns:a16="http://schemas.microsoft.com/office/drawing/2014/main" id="{65CBB895-3EFD-446C-9227-DC680C624A0C}"/>
              </a:ext>
            </a:extLst>
          </p:cNvPr>
          <p:cNvGraphicFramePr>
            <a:graphicFrameLocks noChangeAspect="1"/>
          </p:cNvGraphicFramePr>
          <p:nvPr/>
        </p:nvGraphicFramePr>
        <p:xfrm>
          <a:off x="264099" y="922934"/>
          <a:ext cx="1673225" cy="841375"/>
        </p:xfrm>
        <a:graphic>
          <a:graphicData uri="http://schemas.openxmlformats.org/presentationml/2006/ole">
            <mc:AlternateContent xmlns:mc="http://schemas.openxmlformats.org/markup-compatibility/2006">
              <mc:Choice xmlns:v="urn:schemas-microsoft-com:vml" Requires="v">
                <p:oleObj name="Worksheet" r:id="rId13" imgW="1704940" imgH="857094" progId="Excel.Sheet.8">
                  <p:embed/>
                </p:oleObj>
              </mc:Choice>
              <mc:Fallback>
                <p:oleObj name="Worksheet" r:id="rId13" imgW="1704940" imgH="857094" progId="Excel.Sheet.8">
                  <p:embed/>
                  <p:pic>
                    <p:nvPicPr>
                      <p:cNvPr id="29" name="Object 2">
                        <a:extLst>
                          <a:ext uri="{FF2B5EF4-FFF2-40B4-BE49-F238E27FC236}">
                            <a16:creationId xmlns:a16="http://schemas.microsoft.com/office/drawing/2014/main" id="{65CBB895-3EFD-446C-9227-DC680C624A0C}"/>
                          </a:ext>
                        </a:extLst>
                      </p:cNvPr>
                      <p:cNvPicPr>
                        <a:picLocks noChangeAspect="1" noChangeArrowheads="1"/>
                      </p:cNvPicPr>
                      <p:nvPr/>
                    </p:nvPicPr>
                    <p:blipFill>
                      <a:blip r:embed="rId9"/>
                      <a:srcRect/>
                      <a:stretch>
                        <a:fillRect/>
                      </a:stretch>
                    </p:blipFill>
                    <p:spPr bwMode="auto">
                      <a:xfrm>
                        <a:off x="264099" y="922934"/>
                        <a:ext cx="1673225" cy="841375"/>
                      </a:xfrm>
                      <a:prstGeom prst="rect">
                        <a:avLst/>
                      </a:prstGeom>
                      <a:noFill/>
                      <a:ln>
                        <a:noFill/>
                      </a:ln>
                      <a:effectLst/>
                    </p:spPr>
                  </p:pic>
                </p:oleObj>
              </mc:Fallback>
            </mc:AlternateContent>
          </a:graphicData>
        </a:graphic>
      </p:graphicFrame>
      <p:graphicFrame>
        <p:nvGraphicFramePr>
          <p:cNvPr id="33" name="Object 4">
            <a:extLst>
              <a:ext uri="{FF2B5EF4-FFF2-40B4-BE49-F238E27FC236}">
                <a16:creationId xmlns:a16="http://schemas.microsoft.com/office/drawing/2014/main" id="{DDF5B390-0D0A-4929-9788-79F117049798}"/>
              </a:ext>
            </a:extLst>
          </p:cNvPr>
          <p:cNvGraphicFramePr>
            <a:graphicFrameLocks noChangeAspect="1"/>
          </p:cNvGraphicFramePr>
          <p:nvPr/>
        </p:nvGraphicFramePr>
        <p:xfrm>
          <a:off x="210187" y="3730221"/>
          <a:ext cx="1687513" cy="820738"/>
        </p:xfrm>
        <a:graphic>
          <a:graphicData uri="http://schemas.openxmlformats.org/presentationml/2006/ole">
            <mc:AlternateContent xmlns:mc="http://schemas.openxmlformats.org/markup-compatibility/2006">
              <mc:Choice xmlns:v="urn:schemas-microsoft-com:vml" Requires="v">
                <p:oleObj name="Worksheet" r:id="rId14" imgW="1704940" imgH="838408" progId="Excel.Sheet.8">
                  <p:embed/>
                </p:oleObj>
              </mc:Choice>
              <mc:Fallback>
                <p:oleObj name="Worksheet" r:id="rId14" imgW="1704940" imgH="838408" progId="Excel.Sheet.8">
                  <p:embed/>
                  <p:pic>
                    <p:nvPicPr>
                      <p:cNvPr id="33" name="Object 4">
                        <a:extLst>
                          <a:ext uri="{FF2B5EF4-FFF2-40B4-BE49-F238E27FC236}">
                            <a16:creationId xmlns:a16="http://schemas.microsoft.com/office/drawing/2014/main" id="{DDF5B390-0D0A-4929-9788-79F117049798}"/>
                          </a:ext>
                        </a:extLst>
                      </p:cNvPr>
                      <p:cNvPicPr>
                        <a:picLocks noChangeAspect="1" noChangeArrowheads="1"/>
                      </p:cNvPicPr>
                      <p:nvPr/>
                    </p:nvPicPr>
                    <p:blipFill>
                      <a:blip r:embed="rId15"/>
                      <a:srcRect/>
                      <a:stretch>
                        <a:fillRect/>
                      </a:stretch>
                    </p:blipFill>
                    <p:spPr bwMode="auto">
                      <a:xfrm>
                        <a:off x="210187" y="3730221"/>
                        <a:ext cx="1687513" cy="820738"/>
                      </a:xfrm>
                      <a:prstGeom prst="rect">
                        <a:avLst/>
                      </a:prstGeom>
                      <a:noFill/>
                    </p:spPr>
                  </p:pic>
                </p:oleObj>
              </mc:Fallback>
            </mc:AlternateContent>
          </a:graphicData>
        </a:graphic>
      </p:graphicFrame>
      <p:cxnSp>
        <p:nvCxnSpPr>
          <p:cNvPr id="34" name="Straight Arrow Connector 33">
            <a:extLst>
              <a:ext uri="{FF2B5EF4-FFF2-40B4-BE49-F238E27FC236}">
                <a16:creationId xmlns:a16="http://schemas.microsoft.com/office/drawing/2014/main" id="{1282F381-9F94-46A3-9FD4-197A275AA7DC}"/>
              </a:ext>
            </a:extLst>
          </p:cNvPr>
          <p:cNvCxnSpPr>
            <a:cxnSpLocks/>
          </p:cNvCxnSpPr>
          <p:nvPr/>
        </p:nvCxnSpPr>
        <p:spPr>
          <a:xfrm flipV="1">
            <a:off x="1452760" y="2882816"/>
            <a:ext cx="2477890" cy="125777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0" name="Object 3">
            <a:extLst>
              <a:ext uri="{FF2B5EF4-FFF2-40B4-BE49-F238E27FC236}">
                <a16:creationId xmlns:a16="http://schemas.microsoft.com/office/drawing/2014/main" id="{1A56DCF2-935F-4056-83FA-69AFD7D8C3E4}"/>
              </a:ext>
            </a:extLst>
          </p:cNvPr>
          <p:cNvGraphicFramePr>
            <a:graphicFrameLocks noChangeAspect="1"/>
          </p:cNvGraphicFramePr>
          <p:nvPr/>
        </p:nvGraphicFramePr>
        <p:xfrm>
          <a:off x="231398" y="2816615"/>
          <a:ext cx="1779559" cy="875515"/>
        </p:xfrm>
        <a:graphic>
          <a:graphicData uri="http://schemas.openxmlformats.org/presentationml/2006/ole">
            <mc:AlternateContent xmlns:mc="http://schemas.openxmlformats.org/markup-compatibility/2006">
              <mc:Choice xmlns:v="urn:schemas-microsoft-com:vml" Requires="v">
                <p:oleObj name="Worksheet" r:id="rId16" imgW="1704940" imgH="838408" progId="Excel.Sheet.8">
                  <p:embed/>
                </p:oleObj>
              </mc:Choice>
              <mc:Fallback>
                <p:oleObj name="Worksheet" r:id="rId16" imgW="1704940" imgH="838408" progId="Excel.Sheet.8">
                  <p:embed/>
                  <p:pic>
                    <p:nvPicPr>
                      <p:cNvPr id="40" name="Object 3">
                        <a:extLst>
                          <a:ext uri="{FF2B5EF4-FFF2-40B4-BE49-F238E27FC236}">
                            <a16:creationId xmlns:a16="http://schemas.microsoft.com/office/drawing/2014/main" id="{1A56DCF2-935F-4056-83FA-69AFD7D8C3E4}"/>
                          </a:ext>
                        </a:extLst>
                      </p:cNvPr>
                      <p:cNvPicPr>
                        <a:picLocks noChangeAspect="1" noChangeArrowheads="1"/>
                      </p:cNvPicPr>
                      <p:nvPr/>
                    </p:nvPicPr>
                    <p:blipFill>
                      <a:blip r:embed="rId17"/>
                      <a:srcRect/>
                      <a:stretch>
                        <a:fillRect/>
                      </a:stretch>
                    </p:blipFill>
                    <p:spPr bwMode="auto">
                      <a:xfrm>
                        <a:off x="231398" y="2816615"/>
                        <a:ext cx="1779559" cy="875515"/>
                      </a:xfrm>
                      <a:prstGeom prst="rect">
                        <a:avLst/>
                      </a:prstGeom>
                      <a:noFill/>
                    </p:spPr>
                  </p:pic>
                </p:oleObj>
              </mc:Fallback>
            </mc:AlternateContent>
          </a:graphicData>
        </a:graphic>
      </p:graphicFrame>
      <p:cxnSp>
        <p:nvCxnSpPr>
          <p:cNvPr id="43" name="Straight Arrow Connector 42">
            <a:extLst>
              <a:ext uri="{FF2B5EF4-FFF2-40B4-BE49-F238E27FC236}">
                <a16:creationId xmlns:a16="http://schemas.microsoft.com/office/drawing/2014/main" id="{D02D0C31-3B99-49FB-ABF5-217C9D9FA524}"/>
              </a:ext>
            </a:extLst>
          </p:cNvPr>
          <p:cNvCxnSpPr>
            <a:cxnSpLocks/>
          </p:cNvCxnSpPr>
          <p:nvPr/>
        </p:nvCxnSpPr>
        <p:spPr>
          <a:xfrm flipV="1">
            <a:off x="1478863" y="2571750"/>
            <a:ext cx="2531162" cy="71897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58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07A6E727-24D0-4CB6-8C2B-5D700CBDE487}" type="slidenum">
              <a:rPr lang="en-US" sz="1050"/>
              <a:pPr/>
              <a:t>18</a:t>
            </a:fld>
            <a:endParaRPr lang="en-US" sz="1050"/>
          </a:p>
        </p:txBody>
      </p:sp>
      <p:sp>
        <p:nvSpPr>
          <p:cNvPr id="7173" name="Rectangle 2"/>
          <p:cNvSpPr>
            <a:spLocks noGrp="1" noChangeArrowheads="1"/>
          </p:cNvSpPr>
          <p:nvPr>
            <p:ph type="title"/>
          </p:nvPr>
        </p:nvSpPr>
        <p:spPr/>
        <p:txBody>
          <a:bodyPr/>
          <a:lstStyle/>
          <a:p>
            <a:r>
              <a:rPr lang="en-US" dirty="0"/>
              <a:t>Coldwater</a:t>
            </a:r>
          </a:p>
        </p:txBody>
      </p:sp>
      <p:sp>
        <p:nvSpPr>
          <p:cNvPr id="7174" name="Rectangle 3"/>
          <p:cNvSpPr>
            <a:spLocks noGrp="1" noChangeArrowheads="1"/>
          </p:cNvSpPr>
          <p:nvPr>
            <p:ph type="body" idx="1"/>
          </p:nvPr>
        </p:nvSpPr>
        <p:spPr/>
        <p:txBody>
          <a:bodyPr/>
          <a:lstStyle/>
          <a:p>
            <a:r>
              <a:rPr lang="en-US"/>
              <a:t>Rule of thumb:  Start by entering information on the income statement</a:t>
            </a:r>
          </a:p>
        </p:txBody>
      </p:sp>
    </p:spTree>
    <p:extLst>
      <p:ext uri="{BB962C8B-B14F-4D97-AF65-F5344CB8AC3E}">
        <p14:creationId xmlns:p14="http://schemas.microsoft.com/office/powerpoint/2010/main" val="809835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418EA212-9330-490F-A676-DD5FB63D6EAA}" type="slidenum">
              <a:rPr lang="en-US" sz="1050"/>
              <a:pPr/>
              <a:t>19</a:t>
            </a:fld>
            <a:endParaRPr lang="en-US" sz="1050"/>
          </a:p>
        </p:txBody>
      </p:sp>
      <p:sp>
        <p:nvSpPr>
          <p:cNvPr id="8197" name="Rectangle 2"/>
          <p:cNvSpPr>
            <a:spLocks noGrp="1" noChangeArrowheads="1"/>
          </p:cNvSpPr>
          <p:nvPr>
            <p:ph type="title"/>
          </p:nvPr>
        </p:nvSpPr>
        <p:spPr>
          <a:xfrm>
            <a:off x="1600201" y="514350"/>
            <a:ext cx="5829300" cy="400050"/>
          </a:xfrm>
        </p:spPr>
        <p:txBody>
          <a:bodyPr>
            <a:noAutofit/>
          </a:bodyPr>
          <a:lstStyle/>
          <a:p>
            <a:r>
              <a:rPr lang="en-US" dirty="0"/>
              <a:t>Coldwater</a:t>
            </a:r>
          </a:p>
        </p:txBody>
      </p:sp>
      <p:sp>
        <p:nvSpPr>
          <p:cNvPr id="78851" name="Rectangle 3"/>
          <p:cNvSpPr>
            <a:spLocks noGrp="1" noChangeArrowheads="1"/>
          </p:cNvSpPr>
          <p:nvPr>
            <p:ph type="body" idx="1"/>
          </p:nvPr>
        </p:nvSpPr>
        <p:spPr>
          <a:xfrm>
            <a:off x="1600200" y="914400"/>
            <a:ext cx="5829300" cy="3600450"/>
          </a:xfrm>
        </p:spPr>
        <p:txBody>
          <a:bodyPr>
            <a:normAutofit/>
          </a:bodyPr>
          <a:lstStyle/>
          <a:p>
            <a:pPr>
              <a:buNone/>
            </a:pPr>
            <a:endParaRPr lang="en-US" sz="1500" dirty="0"/>
          </a:p>
          <a:p>
            <a:pPr>
              <a:buNone/>
            </a:pPr>
            <a:endParaRPr lang="en-US" sz="1500" dirty="0"/>
          </a:p>
          <a:p>
            <a:pPr>
              <a:buNone/>
            </a:pPr>
            <a:r>
              <a:rPr lang="en-US" sz="1500" dirty="0"/>
              <a:t>(1)  A/R………………………… 246.7</a:t>
            </a:r>
          </a:p>
          <a:p>
            <a:pPr>
              <a:buFontTx/>
              <a:buNone/>
            </a:pPr>
            <a:r>
              <a:rPr lang="en-US" sz="1500" dirty="0"/>
              <a:t>        		Sales revenue……	246.7 (From Inc. Statement)</a:t>
            </a:r>
          </a:p>
          <a:p>
            <a:pPr>
              <a:buFontTx/>
              <a:buNone/>
            </a:pPr>
            <a:endParaRPr lang="en-US" sz="1500" dirty="0"/>
          </a:p>
          <a:p>
            <a:pPr>
              <a:buFontTx/>
              <a:buNone/>
            </a:pPr>
            <a:endParaRPr lang="en-US" sz="1500" dirty="0"/>
          </a:p>
          <a:p>
            <a:pPr>
              <a:buFontTx/>
              <a:buNone/>
            </a:pPr>
            <a:r>
              <a:rPr lang="en-US" sz="1500" dirty="0"/>
              <a:t>	</a:t>
            </a:r>
          </a:p>
        </p:txBody>
      </p:sp>
      <p:graphicFrame>
        <p:nvGraphicFramePr>
          <p:cNvPr id="3" name="Object 2"/>
          <p:cNvGraphicFramePr>
            <a:graphicFrameLocks noChangeAspect="1"/>
          </p:cNvGraphicFramePr>
          <p:nvPr/>
        </p:nvGraphicFramePr>
        <p:xfrm>
          <a:off x="1485900" y="2571750"/>
          <a:ext cx="2819400" cy="1921669"/>
        </p:xfrm>
        <a:graphic>
          <a:graphicData uri="http://schemas.openxmlformats.org/presentationml/2006/ole">
            <mc:AlternateContent xmlns:mc="http://schemas.openxmlformats.org/markup-compatibility/2006">
              <mc:Choice xmlns:v="urn:schemas-microsoft-com:vml" Requires="v">
                <p:oleObj name="Worksheet" r:id="rId2" imgW="1704992" imgH="1162056" progId="Excel.Sheet.8">
                  <p:embed/>
                </p:oleObj>
              </mc:Choice>
              <mc:Fallback>
                <p:oleObj name="Worksheet" r:id="rId2" imgW="1704992" imgH="1162056" progId="Excel.Sheet.8">
                  <p:embed/>
                  <p:pic>
                    <p:nvPicPr>
                      <p:cNvPr id="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0" y="2571750"/>
                        <a:ext cx="2819400" cy="1921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3"/>
          <p:cNvGraphicFramePr>
            <a:graphicFrameLocks noChangeAspect="1"/>
          </p:cNvGraphicFramePr>
          <p:nvPr/>
        </p:nvGraphicFramePr>
        <p:xfrm>
          <a:off x="4514851" y="2628900"/>
          <a:ext cx="2737247" cy="1085850"/>
        </p:xfrm>
        <a:graphic>
          <a:graphicData uri="http://schemas.openxmlformats.org/presentationml/2006/ole">
            <mc:AlternateContent xmlns:mc="http://schemas.openxmlformats.org/markup-compatibility/2006">
              <mc:Choice xmlns:v="urn:schemas-microsoft-com:vml" Requires="v">
                <p:oleObj name="Worksheet" r:id="rId4" imgW="1704992" imgH="676268" progId="Excel.Sheet.8">
                  <p:embed/>
                </p:oleObj>
              </mc:Choice>
              <mc:Fallback>
                <p:oleObj name="Worksheet" r:id="rId4" imgW="1704992" imgH="676268" progId="Excel.Sheet.8">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1" y="2628900"/>
                        <a:ext cx="2737247"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1070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418EA212-9330-490F-A676-DD5FB63D6EAA}" type="slidenum">
              <a:rPr lang="en-US" sz="1050"/>
              <a:pPr/>
              <a:t>20</a:t>
            </a:fld>
            <a:endParaRPr lang="en-US" sz="1050"/>
          </a:p>
        </p:txBody>
      </p:sp>
      <p:sp>
        <p:nvSpPr>
          <p:cNvPr id="8197" name="Rectangle 2"/>
          <p:cNvSpPr>
            <a:spLocks noGrp="1" noChangeArrowheads="1"/>
          </p:cNvSpPr>
          <p:nvPr>
            <p:ph type="title"/>
          </p:nvPr>
        </p:nvSpPr>
        <p:spPr>
          <a:xfrm>
            <a:off x="1657350" y="457200"/>
            <a:ext cx="5829300" cy="400050"/>
          </a:xfrm>
        </p:spPr>
        <p:txBody>
          <a:bodyPr>
            <a:noAutofit/>
          </a:bodyPr>
          <a:lstStyle/>
          <a:p>
            <a:r>
              <a:rPr lang="en-US"/>
              <a:t>Coldwater</a:t>
            </a:r>
          </a:p>
        </p:txBody>
      </p:sp>
      <p:sp>
        <p:nvSpPr>
          <p:cNvPr id="78851" name="Rectangle 3"/>
          <p:cNvSpPr>
            <a:spLocks noGrp="1" noChangeArrowheads="1"/>
          </p:cNvSpPr>
          <p:nvPr>
            <p:ph type="body" idx="1"/>
          </p:nvPr>
        </p:nvSpPr>
        <p:spPr>
          <a:xfrm>
            <a:off x="1600200" y="914400"/>
            <a:ext cx="5829300" cy="3600450"/>
          </a:xfrm>
        </p:spPr>
        <p:txBody>
          <a:bodyPr>
            <a:normAutofit/>
          </a:bodyPr>
          <a:lstStyle/>
          <a:p>
            <a:pPr>
              <a:buFontTx/>
              <a:buNone/>
            </a:pPr>
            <a:endParaRPr lang="en-US" sz="1500" dirty="0"/>
          </a:p>
          <a:p>
            <a:pPr>
              <a:buFontTx/>
              <a:buNone/>
            </a:pPr>
            <a:r>
              <a:rPr lang="en-US" sz="1500" dirty="0"/>
              <a:t>(2)  Cash………………………… 245.0            		</a:t>
            </a:r>
          </a:p>
          <a:p>
            <a:pPr>
              <a:buFontTx/>
              <a:buNone/>
            </a:pPr>
            <a:r>
              <a:rPr lang="en-US" sz="1500" dirty="0"/>
              <a:t>			A/R……………….		245.0 </a:t>
            </a:r>
          </a:p>
          <a:p>
            <a:pPr>
              <a:buFontTx/>
              <a:buNone/>
            </a:pPr>
            <a:endParaRPr lang="en-US" sz="1500" dirty="0"/>
          </a:p>
          <a:p>
            <a:pPr>
              <a:buFontTx/>
              <a:buNone/>
            </a:pPr>
            <a:r>
              <a:rPr lang="en-US" sz="1500" dirty="0"/>
              <a:t>	</a:t>
            </a:r>
          </a:p>
        </p:txBody>
      </p:sp>
      <p:graphicFrame>
        <p:nvGraphicFramePr>
          <p:cNvPr id="2" name="Object 1"/>
          <p:cNvGraphicFramePr>
            <a:graphicFrameLocks noChangeAspect="1"/>
          </p:cNvGraphicFramePr>
          <p:nvPr/>
        </p:nvGraphicFramePr>
        <p:xfrm>
          <a:off x="4686300" y="2343150"/>
          <a:ext cx="2286000" cy="2228850"/>
        </p:xfrm>
        <a:graphic>
          <a:graphicData uri="http://schemas.openxmlformats.org/presentationml/2006/ole">
            <mc:AlternateContent xmlns:mc="http://schemas.openxmlformats.org/markup-compatibility/2006">
              <mc:Choice xmlns:v="urn:schemas-microsoft-com:vml" Requires="v">
                <p:oleObj name="Worksheet" r:id="rId2" imgW="1704992" imgH="1666943" progId="Excel.Sheet.8">
                  <p:embed/>
                </p:oleObj>
              </mc:Choice>
              <mc:Fallback>
                <p:oleObj name="Worksheet" r:id="rId2" imgW="1704992" imgH="1666943" progId="Excel.Sheet.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6300" y="2343150"/>
                        <a:ext cx="22860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2"/>
          <p:cNvGraphicFramePr>
            <a:graphicFrameLocks noChangeAspect="1"/>
          </p:cNvGraphicFramePr>
          <p:nvPr/>
        </p:nvGraphicFramePr>
        <p:xfrm>
          <a:off x="1600200" y="2286000"/>
          <a:ext cx="2819400" cy="1921669"/>
        </p:xfrm>
        <a:graphic>
          <a:graphicData uri="http://schemas.openxmlformats.org/presentationml/2006/ole">
            <mc:AlternateContent xmlns:mc="http://schemas.openxmlformats.org/markup-compatibility/2006">
              <mc:Choice xmlns:v="urn:schemas-microsoft-com:vml" Requires="v">
                <p:oleObj name="Worksheet" r:id="rId4" imgW="1704992" imgH="1162056" progId="Excel.Sheet.8">
                  <p:embed/>
                </p:oleObj>
              </mc:Choice>
              <mc:Fallback>
                <p:oleObj name="Worksheet" r:id="rId4" imgW="1704992" imgH="1162056" progId="Excel.Sheet.8">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286000"/>
                        <a:ext cx="2819400" cy="1921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11819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B0F8F3B0-F114-49B3-AFEB-BABCDE5AC2F3}" type="slidenum">
              <a:rPr lang="en-US" sz="1050"/>
              <a:pPr/>
              <a:t>21</a:t>
            </a:fld>
            <a:endParaRPr lang="en-US" sz="1050"/>
          </a:p>
        </p:txBody>
      </p:sp>
      <p:sp>
        <p:nvSpPr>
          <p:cNvPr id="11269" name="Rectangle 2"/>
          <p:cNvSpPr>
            <a:spLocks noGrp="1" noChangeArrowheads="1"/>
          </p:cNvSpPr>
          <p:nvPr>
            <p:ph type="title"/>
          </p:nvPr>
        </p:nvSpPr>
        <p:spPr>
          <a:xfrm>
            <a:off x="1657350" y="457200"/>
            <a:ext cx="5829300" cy="457200"/>
          </a:xfrm>
        </p:spPr>
        <p:txBody>
          <a:bodyPr>
            <a:noAutofit/>
          </a:bodyPr>
          <a:lstStyle/>
          <a:p>
            <a:r>
              <a:rPr lang="en-US" dirty="0"/>
              <a:t>Coldwater</a:t>
            </a:r>
          </a:p>
        </p:txBody>
      </p:sp>
      <p:sp>
        <p:nvSpPr>
          <p:cNvPr id="11270" name="Rectangle 3"/>
          <p:cNvSpPr>
            <a:spLocks noGrp="1" noChangeArrowheads="1"/>
          </p:cNvSpPr>
          <p:nvPr>
            <p:ph type="body" idx="1"/>
          </p:nvPr>
        </p:nvSpPr>
        <p:spPr>
          <a:xfrm>
            <a:off x="1657350" y="971550"/>
            <a:ext cx="5829300" cy="3600450"/>
          </a:xfrm>
        </p:spPr>
        <p:txBody>
          <a:bodyPr/>
          <a:lstStyle/>
          <a:p>
            <a:pPr>
              <a:buNone/>
            </a:pPr>
            <a:r>
              <a:rPr lang="en-US" sz="1500" dirty="0"/>
              <a:t>      </a:t>
            </a:r>
          </a:p>
          <a:p>
            <a:pPr>
              <a:buNone/>
            </a:pPr>
            <a:endParaRPr lang="en-US" sz="1500" dirty="0"/>
          </a:p>
          <a:p>
            <a:pPr>
              <a:buNone/>
            </a:pPr>
            <a:r>
              <a:rPr lang="en-US" sz="1500" dirty="0"/>
              <a:t>	(3)  CGS………………………… 120.1            (From Inc. Statement)</a:t>
            </a:r>
          </a:p>
          <a:p>
            <a:pPr>
              <a:buFontTx/>
              <a:buNone/>
            </a:pPr>
            <a:r>
              <a:rPr lang="en-US" sz="1500" dirty="0"/>
              <a:t>			Inventory…………		120.1</a:t>
            </a:r>
          </a:p>
          <a:p>
            <a:pPr>
              <a:buFontTx/>
              <a:buNone/>
            </a:pPr>
            <a:r>
              <a:rPr lang="en-US" sz="1500" dirty="0"/>
              <a:t>	</a:t>
            </a:r>
          </a:p>
          <a:p>
            <a:pPr>
              <a:buFontTx/>
              <a:buNone/>
            </a:pPr>
            <a:endParaRPr lang="en-US" sz="1500" dirty="0"/>
          </a:p>
          <a:p>
            <a:pPr>
              <a:buFontTx/>
              <a:buNone/>
            </a:pPr>
            <a:r>
              <a:rPr lang="en-US" sz="1500" dirty="0"/>
              <a:t>	</a:t>
            </a:r>
          </a:p>
        </p:txBody>
      </p:sp>
      <p:graphicFrame>
        <p:nvGraphicFramePr>
          <p:cNvPr id="2" name="Object 1"/>
          <p:cNvGraphicFramePr>
            <a:graphicFrameLocks noChangeAspect="1"/>
          </p:cNvGraphicFramePr>
          <p:nvPr/>
        </p:nvGraphicFramePr>
        <p:xfrm>
          <a:off x="5143500" y="2971800"/>
          <a:ext cx="2264569" cy="1543050"/>
        </p:xfrm>
        <a:graphic>
          <a:graphicData uri="http://schemas.openxmlformats.org/presentationml/2006/ole">
            <mc:AlternateContent xmlns:mc="http://schemas.openxmlformats.org/markup-compatibility/2006">
              <mc:Choice xmlns:v="urn:schemas-microsoft-com:vml" Requires="v">
                <p:oleObj name="Worksheet" r:id="rId2" imgW="1704992" imgH="1162056" progId="Excel.Sheet.8">
                  <p:embed/>
                </p:oleObj>
              </mc:Choice>
              <mc:Fallback>
                <p:oleObj name="Worksheet" r:id="rId2" imgW="1704992" imgH="1162056" progId="Excel.Sheet.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0" y="2971800"/>
                        <a:ext cx="2264569" cy="154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2228850" y="3028951"/>
          <a:ext cx="2143125" cy="850106"/>
        </p:xfrm>
        <a:graphic>
          <a:graphicData uri="http://schemas.openxmlformats.org/presentationml/2006/ole">
            <mc:AlternateContent xmlns:mc="http://schemas.openxmlformats.org/markup-compatibility/2006">
              <mc:Choice xmlns:v="urn:schemas-microsoft-com:vml" Requires="v">
                <p:oleObj name="Worksheet" r:id="rId4" imgW="1704992" imgH="676268" progId="Excel.Sheet.8">
                  <p:embed/>
                </p:oleObj>
              </mc:Choice>
              <mc:Fallback>
                <p:oleObj name="Worksheet" r:id="rId4" imgW="1704992" imgH="676268" progId="Excel.Sheet.8">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850" y="3028951"/>
                        <a:ext cx="2143125" cy="8501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42692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B0F8F3B0-F114-49B3-AFEB-BABCDE5AC2F3}" type="slidenum">
              <a:rPr lang="en-US" sz="1050"/>
              <a:pPr/>
              <a:t>22</a:t>
            </a:fld>
            <a:endParaRPr lang="en-US" sz="1050"/>
          </a:p>
        </p:txBody>
      </p:sp>
      <p:sp>
        <p:nvSpPr>
          <p:cNvPr id="11269" name="Rectangle 2"/>
          <p:cNvSpPr>
            <a:spLocks noGrp="1" noChangeArrowheads="1"/>
          </p:cNvSpPr>
          <p:nvPr>
            <p:ph type="title"/>
          </p:nvPr>
        </p:nvSpPr>
        <p:spPr>
          <a:xfrm>
            <a:off x="1657350" y="457200"/>
            <a:ext cx="5829300" cy="457200"/>
          </a:xfrm>
        </p:spPr>
        <p:txBody>
          <a:bodyPr/>
          <a:lstStyle/>
          <a:p>
            <a:r>
              <a:rPr lang="en-US" sz="2400"/>
              <a:t>Coldwater</a:t>
            </a:r>
          </a:p>
        </p:txBody>
      </p:sp>
      <p:sp>
        <p:nvSpPr>
          <p:cNvPr id="11270" name="Rectangle 3"/>
          <p:cNvSpPr>
            <a:spLocks noGrp="1" noChangeArrowheads="1"/>
          </p:cNvSpPr>
          <p:nvPr>
            <p:ph type="body" idx="1"/>
          </p:nvPr>
        </p:nvSpPr>
        <p:spPr>
          <a:xfrm>
            <a:off x="1657350" y="971550"/>
            <a:ext cx="5829300" cy="3600450"/>
          </a:xfrm>
        </p:spPr>
        <p:txBody>
          <a:bodyPr/>
          <a:lstStyle/>
          <a:p>
            <a:pPr>
              <a:buFontTx/>
              <a:buNone/>
            </a:pPr>
            <a:r>
              <a:rPr lang="en-US" sz="1500" dirty="0"/>
              <a:t>	</a:t>
            </a:r>
          </a:p>
          <a:p>
            <a:pPr>
              <a:buFontTx/>
              <a:buNone/>
            </a:pPr>
            <a:r>
              <a:rPr lang="en-US" sz="1500" dirty="0"/>
              <a:t>	</a:t>
            </a:r>
          </a:p>
          <a:p>
            <a:pPr>
              <a:buFontTx/>
              <a:buNone/>
            </a:pPr>
            <a:r>
              <a:rPr lang="en-US" sz="1500" dirty="0"/>
              <a:t>	(4)  Inventory…………………….147.9          		  (Plug)</a:t>
            </a:r>
          </a:p>
          <a:p>
            <a:pPr>
              <a:buFontTx/>
              <a:buNone/>
            </a:pPr>
            <a:r>
              <a:rPr lang="en-US" sz="1500" dirty="0"/>
              <a:t>			A/P……………….			147.9</a:t>
            </a:r>
          </a:p>
          <a:p>
            <a:pPr>
              <a:buFontTx/>
              <a:buNone/>
            </a:pPr>
            <a:r>
              <a:rPr lang="en-US" sz="1500" dirty="0"/>
              <a:t>		</a:t>
            </a:r>
          </a:p>
        </p:txBody>
      </p:sp>
      <p:graphicFrame>
        <p:nvGraphicFramePr>
          <p:cNvPr id="2" name="Object 1"/>
          <p:cNvGraphicFramePr>
            <a:graphicFrameLocks noChangeAspect="1"/>
          </p:cNvGraphicFramePr>
          <p:nvPr/>
        </p:nvGraphicFramePr>
        <p:xfrm>
          <a:off x="2057400" y="2628900"/>
          <a:ext cx="2265363" cy="1328738"/>
        </p:xfrm>
        <a:graphic>
          <a:graphicData uri="http://schemas.openxmlformats.org/presentationml/2006/ole">
            <mc:AlternateContent xmlns:mc="http://schemas.openxmlformats.org/markup-compatibility/2006">
              <mc:Choice xmlns:v="urn:schemas-microsoft-com:vml" Requires="v">
                <p:oleObj name="Worksheet" r:id="rId2" imgW="1704940" imgH="999943" progId="Excel.Sheet.8">
                  <p:embed/>
                </p:oleObj>
              </mc:Choice>
              <mc:Fallback>
                <p:oleObj name="Worksheet" r:id="rId2" imgW="1704940" imgH="999943" progId="Excel.Sheet.8">
                  <p:embed/>
                  <p:pic>
                    <p:nvPicPr>
                      <p:cNvPr id="2" name="Object 1"/>
                      <p:cNvPicPr>
                        <a:picLocks noChangeAspect="1" noChangeArrowheads="1"/>
                      </p:cNvPicPr>
                      <p:nvPr/>
                    </p:nvPicPr>
                    <p:blipFill>
                      <a:blip r:embed="rId3"/>
                      <a:srcRect/>
                      <a:stretch>
                        <a:fillRect/>
                      </a:stretch>
                    </p:blipFill>
                    <p:spPr bwMode="auto">
                      <a:xfrm>
                        <a:off x="2057400" y="2628900"/>
                        <a:ext cx="2265363" cy="1328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4779169" y="2630488"/>
          <a:ext cx="2251075" cy="1327150"/>
        </p:xfrm>
        <a:graphic>
          <a:graphicData uri="http://schemas.openxmlformats.org/presentationml/2006/ole">
            <mc:AlternateContent xmlns:mc="http://schemas.openxmlformats.org/markup-compatibility/2006">
              <mc:Choice xmlns:v="urn:schemas-microsoft-com:vml" Requires="v">
                <p:oleObj name="Worksheet" r:id="rId4" imgW="1695381" imgH="999943" progId="Excel.Sheet.8">
                  <p:embed/>
                </p:oleObj>
              </mc:Choice>
              <mc:Fallback>
                <p:oleObj name="Worksheet" r:id="rId4" imgW="1695381" imgH="999943" progId="Excel.Sheet.8">
                  <p:embed/>
                  <p:pic>
                    <p:nvPicPr>
                      <p:cNvPr id="5" name="Object 4"/>
                      <p:cNvPicPr>
                        <a:picLocks noChangeAspect="1" noChangeArrowheads="1"/>
                      </p:cNvPicPr>
                      <p:nvPr/>
                    </p:nvPicPr>
                    <p:blipFill>
                      <a:blip r:embed="rId5"/>
                      <a:srcRect/>
                      <a:stretch>
                        <a:fillRect/>
                      </a:stretch>
                    </p:blipFill>
                    <p:spPr bwMode="auto">
                      <a:xfrm>
                        <a:off x="4779169" y="2630488"/>
                        <a:ext cx="2251075" cy="1327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63594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B0F8F3B0-F114-49B3-AFEB-BABCDE5AC2F3}" type="slidenum">
              <a:rPr lang="en-US" sz="1050"/>
              <a:pPr/>
              <a:t>23</a:t>
            </a:fld>
            <a:endParaRPr lang="en-US" sz="1050"/>
          </a:p>
        </p:txBody>
      </p:sp>
      <p:sp>
        <p:nvSpPr>
          <p:cNvPr id="11269" name="Rectangle 2"/>
          <p:cNvSpPr>
            <a:spLocks noGrp="1" noChangeArrowheads="1"/>
          </p:cNvSpPr>
          <p:nvPr>
            <p:ph type="title"/>
          </p:nvPr>
        </p:nvSpPr>
        <p:spPr>
          <a:xfrm>
            <a:off x="1657350" y="457200"/>
            <a:ext cx="5829300" cy="457200"/>
          </a:xfrm>
        </p:spPr>
        <p:txBody>
          <a:bodyPr/>
          <a:lstStyle/>
          <a:p>
            <a:r>
              <a:rPr lang="en-US" sz="2400"/>
              <a:t>Coldwater</a:t>
            </a:r>
          </a:p>
        </p:txBody>
      </p:sp>
      <p:sp>
        <p:nvSpPr>
          <p:cNvPr id="11270" name="Rectangle 3"/>
          <p:cNvSpPr>
            <a:spLocks noGrp="1" noChangeArrowheads="1"/>
          </p:cNvSpPr>
          <p:nvPr>
            <p:ph type="body" idx="1"/>
          </p:nvPr>
        </p:nvSpPr>
        <p:spPr>
          <a:xfrm>
            <a:off x="1657350" y="971550"/>
            <a:ext cx="5829300" cy="3600450"/>
          </a:xfrm>
        </p:spPr>
        <p:txBody>
          <a:bodyPr/>
          <a:lstStyle/>
          <a:p>
            <a:pPr>
              <a:buFontTx/>
              <a:buNone/>
            </a:pPr>
            <a:endParaRPr lang="en-US" sz="1500" dirty="0"/>
          </a:p>
          <a:p>
            <a:pPr>
              <a:buFontTx/>
              <a:buNone/>
            </a:pPr>
            <a:endParaRPr lang="en-US" sz="1500" dirty="0"/>
          </a:p>
          <a:p>
            <a:pPr>
              <a:buFontTx/>
              <a:buNone/>
            </a:pPr>
            <a:r>
              <a:rPr lang="en-US" sz="1500" dirty="0"/>
              <a:t>	(5)  A/P………………………….. 138.7   			(Plug)</a:t>
            </a:r>
          </a:p>
          <a:p>
            <a:pPr>
              <a:buFontTx/>
              <a:buNone/>
            </a:pPr>
            <a:r>
              <a:rPr lang="en-US" sz="1500" dirty="0"/>
              <a:t>			Cash………………			138.7 </a:t>
            </a:r>
          </a:p>
          <a:p>
            <a:pPr>
              <a:buFontTx/>
              <a:buNone/>
            </a:pPr>
            <a:endParaRPr lang="en-US" sz="1500" dirty="0"/>
          </a:p>
          <a:p>
            <a:pPr>
              <a:buFontTx/>
              <a:buNone/>
            </a:pPr>
            <a:r>
              <a:rPr lang="en-US" sz="1500" dirty="0"/>
              <a:t>	</a:t>
            </a:r>
          </a:p>
        </p:txBody>
      </p:sp>
      <p:graphicFrame>
        <p:nvGraphicFramePr>
          <p:cNvPr id="5" name="Object 4"/>
          <p:cNvGraphicFramePr>
            <a:graphicFrameLocks noChangeAspect="1"/>
          </p:cNvGraphicFramePr>
          <p:nvPr/>
        </p:nvGraphicFramePr>
        <p:xfrm>
          <a:off x="2057401" y="2457450"/>
          <a:ext cx="2251472" cy="1543050"/>
        </p:xfrm>
        <a:graphic>
          <a:graphicData uri="http://schemas.openxmlformats.org/presentationml/2006/ole">
            <mc:AlternateContent xmlns:mc="http://schemas.openxmlformats.org/markup-compatibility/2006">
              <mc:Choice xmlns:v="urn:schemas-microsoft-com:vml" Requires="v">
                <p:oleObj name="Worksheet" r:id="rId2" imgW="1695551" imgH="1162056" progId="Excel.Sheet.8">
                  <p:embed/>
                </p:oleObj>
              </mc:Choice>
              <mc:Fallback>
                <p:oleObj name="Worksheet" r:id="rId2" imgW="1695551" imgH="1162056" progId="Excel.Sheet.8">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2457450"/>
                        <a:ext cx="2251472" cy="154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4686300" y="2343150"/>
          <a:ext cx="2286000" cy="2228850"/>
        </p:xfrm>
        <a:graphic>
          <a:graphicData uri="http://schemas.openxmlformats.org/presentationml/2006/ole">
            <mc:AlternateContent xmlns:mc="http://schemas.openxmlformats.org/markup-compatibility/2006">
              <mc:Choice xmlns:v="urn:schemas-microsoft-com:vml" Requires="v">
                <p:oleObj name="Worksheet" r:id="rId4" imgW="1704992" imgH="1666943" progId="Excel.Sheet.8">
                  <p:embed/>
                </p:oleObj>
              </mc:Choice>
              <mc:Fallback>
                <p:oleObj name="Worksheet" r:id="rId4" imgW="1704992" imgH="1666943" progId="Excel.Sheet.8">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6300" y="2343150"/>
                        <a:ext cx="22860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61194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AD75-1C7D-434C-80FA-30AF3ED2B90D}"/>
              </a:ext>
            </a:extLst>
          </p:cNvPr>
          <p:cNvSpPr>
            <a:spLocks noGrp="1"/>
          </p:cNvSpPr>
          <p:nvPr>
            <p:ph type="title"/>
          </p:nvPr>
        </p:nvSpPr>
        <p:spPr/>
        <p:txBody>
          <a:bodyPr/>
          <a:lstStyle/>
          <a:p>
            <a:r>
              <a:rPr lang="en-US" dirty="0"/>
              <a:t>Progress Report – Balance Sheet</a:t>
            </a:r>
          </a:p>
        </p:txBody>
      </p:sp>
      <p:graphicFrame>
        <p:nvGraphicFramePr>
          <p:cNvPr id="3" name="Table 2">
            <a:extLst>
              <a:ext uri="{FF2B5EF4-FFF2-40B4-BE49-F238E27FC236}">
                <a16:creationId xmlns:a16="http://schemas.microsoft.com/office/drawing/2014/main" id="{EC36C8A3-7233-4D8B-83A0-D6B348C781F1}"/>
              </a:ext>
            </a:extLst>
          </p:cNvPr>
          <p:cNvGraphicFramePr>
            <a:graphicFrameLocks noGrp="1"/>
          </p:cNvGraphicFramePr>
          <p:nvPr/>
        </p:nvGraphicFramePr>
        <p:xfrm>
          <a:off x="2197100" y="1143000"/>
          <a:ext cx="4457700" cy="3267075"/>
        </p:xfrm>
        <a:graphic>
          <a:graphicData uri="http://schemas.openxmlformats.org/drawingml/2006/table">
            <a:tbl>
              <a:tblPr firstRow="1" firstCol="1" bandRow="1">
                <a:tableStyleId>{5C22544A-7EE6-4342-B048-85BDC9FD1C3A}</a:tableStyleId>
              </a:tblPr>
              <a:tblGrid>
                <a:gridCol w="1714500">
                  <a:extLst>
                    <a:ext uri="{9D8B030D-6E8A-4147-A177-3AD203B41FA5}">
                      <a16:colId xmlns:a16="http://schemas.microsoft.com/office/drawing/2014/main" val="2966493564"/>
                    </a:ext>
                  </a:extLst>
                </a:gridCol>
                <a:gridCol w="914400">
                  <a:extLst>
                    <a:ext uri="{9D8B030D-6E8A-4147-A177-3AD203B41FA5}">
                      <a16:colId xmlns:a16="http://schemas.microsoft.com/office/drawing/2014/main" val="2386872249"/>
                    </a:ext>
                  </a:extLst>
                </a:gridCol>
                <a:gridCol w="914400">
                  <a:extLst>
                    <a:ext uri="{9D8B030D-6E8A-4147-A177-3AD203B41FA5}">
                      <a16:colId xmlns:a16="http://schemas.microsoft.com/office/drawing/2014/main" val="243581827"/>
                    </a:ext>
                  </a:extLst>
                </a:gridCol>
                <a:gridCol w="914400">
                  <a:extLst>
                    <a:ext uri="{9D8B030D-6E8A-4147-A177-3AD203B41FA5}">
                      <a16:colId xmlns:a16="http://schemas.microsoft.com/office/drawing/2014/main" val="3401315739"/>
                    </a:ext>
                  </a:extLst>
                </a:gridCol>
              </a:tblGrid>
              <a:tr h="190500">
                <a:tc>
                  <a:txBody>
                    <a:bodyPr/>
                    <a:lstStyle/>
                    <a:p>
                      <a:pPr marL="0" marR="0">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Explained?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02833244"/>
                  </a:ext>
                </a:extLst>
              </a:tr>
              <a:tr h="190500">
                <a:tc>
                  <a:txBody>
                    <a:bodyPr/>
                    <a:lstStyle/>
                    <a:p>
                      <a:pPr marL="0" marR="0">
                        <a:lnSpc>
                          <a:spcPct val="107000"/>
                        </a:lnSpc>
                        <a:spcBef>
                          <a:spcPts val="0"/>
                        </a:spcBef>
                        <a:spcAft>
                          <a:spcPts val="0"/>
                        </a:spcAft>
                      </a:pPr>
                      <a:r>
                        <a:rPr lang="en-US" sz="1200">
                          <a:effectLst/>
                        </a:rPr>
                        <a:t>Cash and CE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$331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$9,095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52096508"/>
                  </a:ext>
                </a:extLst>
              </a:tr>
              <a:tr h="190500">
                <a:tc>
                  <a:txBody>
                    <a:bodyPr/>
                    <a:lstStyle/>
                    <a:p>
                      <a:pPr marL="0" marR="0">
                        <a:lnSpc>
                          <a:spcPct val="107000"/>
                        </a:lnSpc>
                        <a:spcBef>
                          <a:spcPts val="0"/>
                        </a:spcBef>
                        <a:spcAft>
                          <a:spcPts val="0"/>
                        </a:spcAft>
                      </a:pPr>
                      <a:r>
                        <a:rPr lang="en-US" sz="1200">
                          <a:effectLst/>
                        </a:rPr>
                        <a:t>Receivables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4,019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2,342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87022920"/>
                  </a:ext>
                </a:extLst>
              </a:tr>
              <a:tr h="190500">
                <a:tc>
                  <a:txBody>
                    <a:bodyPr/>
                    <a:lstStyle/>
                    <a:p>
                      <a:pPr marL="0" marR="0">
                        <a:lnSpc>
                          <a:spcPct val="107000"/>
                        </a:lnSpc>
                        <a:spcBef>
                          <a:spcPts val="0"/>
                        </a:spcBef>
                        <a:spcAft>
                          <a:spcPts val="0"/>
                        </a:spcAft>
                      </a:pPr>
                      <a:r>
                        <a:rPr lang="en-US" sz="1200">
                          <a:effectLst/>
                        </a:rPr>
                        <a:t>Inventories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53,051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25,279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3093515"/>
                  </a:ext>
                </a:extLst>
              </a:tr>
              <a:tr h="190500">
                <a:tc>
                  <a:txBody>
                    <a:bodyPr/>
                    <a:lstStyle/>
                    <a:p>
                      <a:pPr marL="0" marR="0">
                        <a:lnSpc>
                          <a:spcPct val="107000"/>
                        </a:lnSpc>
                        <a:spcBef>
                          <a:spcPts val="0"/>
                        </a:spcBef>
                        <a:spcAft>
                          <a:spcPts val="0"/>
                        </a:spcAft>
                      </a:pPr>
                      <a:r>
                        <a:rPr lang="en-US" sz="1200">
                          <a:effectLst/>
                        </a:rPr>
                        <a:t>Prepaid expenses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2,729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456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95525267"/>
                  </a:ext>
                </a:extLst>
              </a:tr>
              <a:tr h="190500">
                <a:tc>
                  <a:txBody>
                    <a:bodyPr/>
                    <a:lstStyle/>
                    <a:p>
                      <a:pPr marL="0" marR="0">
                        <a:lnSpc>
                          <a:spcPct val="107000"/>
                        </a:lnSpc>
                        <a:spcBef>
                          <a:spcPts val="0"/>
                        </a:spcBef>
                        <a:spcAft>
                          <a:spcPts val="0"/>
                        </a:spcAft>
                      </a:pPr>
                      <a:r>
                        <a:rPr lang="en-US" sz="1200">
                          <a:effectLst/>
                        </a:rPr>
                        <a:t>Catalog costs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9,814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4,722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5104917"/>
                  </a:ext>
                </a:extLst>
              </a:tr>
              <a:tr h="190500">
                <a:tc>
                  <a:txBody>
                    <a:bodyPr/>
                    <a:lstStyle/>
                    <a:p>
                      <a:pPr marL="0" marR="0">
                        <a:lnSpc>
                          <a:spcPct val="107000"/>
                        </a:lnSpc>
                        <a:spcBef>
                          <a:spcPts val="0"/>
                        </a:spcBef>
                        <a:spcAft>
                          <a:spcPts val="0"/>
                        </a:spcAft>
                      </a:pPr>
                      <a:r>
                        <a:rPr lang="en-US" sz="1200">
                          <a:effectLst/>
                        </a:rPr>
                        <a:t>P&amp;E, net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26,661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20,080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72388506"/>
                  </a:ext>
                </a:extLst>
              </a:tr>
              <a:tr h="200025">
                <a:tc>
                  <a:txBody>
                    <a:bodyPr/>
                    <a:lstStyle/>
                    <a:p>
                      <a:pPr marL="0" marR="0">
                        <a:lnSpc>
                          <a:spcPct val="107000"/>
                        </a:lnSpc>
                        <a:spcBef>
                          <a:spcPts val="0"/>
                        </a:spcBef>
                        <a:spcAft>
                          <a:spcPts val="0"/>
                        </a:spcAft>
                      </a:pPr>
                      <a:r>
                        <a:rPr lang="en-US" sz="1200">
                          <a:effectLst/>
                        </a:rPr>
                        <a:t>Executive loans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1,620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200">
                          <a:effectLst/>
                        </a:rPr>
                        <a: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33894403"/>
                  </a:ext>
                </a:extLst>
              </a:tr>
              <a:tr h="200025">
                <a:tc>
                  <a:txBody>
                    <a:bodyPr/>
                    <a:lstStyle/>
                    <a:p>
                      <a:pPr marL="0" marR="0" indent="457200">
                        <a:lnSpc>
                          <a:spcPct val="107000"/>
                        </a:lnSpc>
                        <a:spcBef>
                          <a:spcPts val="0"/>
                        </a:spcBef>
                        <a:spcAft>
                          <a:spcPts val="0"/>
                        </a:spcAft>
                      </a:pPr>
                      <a:r>
                        <a:rPr lang="en-US" sz="1200">
                          <a:effectLst/>
                        </a:rPr>
                        <a:t>Total assets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$98,225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$61,974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87135072"/>
                  </a:ext>
                </a:extLst>
              </a:tr>
              <a:tr h="190500">
                <a:tc>
                  <a:txBody>
                    <a:bodyPr/>
                    <a:lstStyle/>
                    <a:p>
                      <a:pPr marL="0" marR="0">
                        <a:lnSpc>
                          <a:spcPct val="107000"/>
                        </a:lnSpc>
                        <a:spcBef>
                          <a:spcPts val="0"/>
                        </a:spcBef>
                        <a:spcAft>
                          <a:spcPts val="0"/>
                        </a:spcAft>
                      </a:pPr>
                      <a:r>
                        <a:rPr lang="en-US" sz="1200">
                          <a:effectLst/>
                        </a:rPr>
                        <a:t>Revolving line of credit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$10,264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1674742"/>
                  </a:ext>
                </a:extLst>
              </a:tr>
              <a:tr h="190500">
                <a:tc>
                  <a:txBody>
                    <a:bodyPr/>
                    <a:lstStyle/>
                    <a:p>
                      <a:pPr marL="0" marR="0">
                        <a:lnSpc>
                          <a:spcPct val="107000"/>
                        </a:lnSpc>
                        <a:spcBef>
                          <a:spcPts val="0"/>
                        </a:spcBef>
                        <a:spcAft>
                          <a:spcPts val="0"/>
                        </a:spcAft>
                      </a:pPr>
                      <a:r>
                        <a:rPr lang="en-US" sz="1200">
                          <a:effectLst/>
                        </a:rPr>
                        <a:t>Accounts payable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27,275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18,061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85827581"/>
                  </a:ext>
                </a:extLst>
              </a:tr>
              <a:tr h="190500">
                <a:tc>
                  <a:txBody>
                    <a:bodyPr/>
                    <a:lstStyle/>
                    <a:p>
                      <a:pPr marL="0" marR="0">
                        <a:lnSpc>
                          <a:spcPct val="107000"/>
                        </a:lnSpc>
                        <a:spcBef>
                          <a:spcPts val="0"/>
                        </a:spcBef>
                        <a:spcAft>
                          <a:spcPts val="0"/>
                        </a:spcAft>
                      </a:pPr>
                      <a:r>
                        <a:rPr lang="en-US" sz="1200">
                          <a:effectLst/>
                        </a:rPr>
                        <a:t>Accrued liabilities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10,517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5,969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22445788"/>
                  </a:ext>
                </a:extLst>
              </a:tr>
              <a:tr h="190500">
                <a:tc>
                  <a:txBody>
                    <a:bodyPr/>
                    <a:lstStyle/>
                    <a:p>
                      <a:pPr marL="0" marR="0">
                        <a:lnSpc>
                          <a:spcPct val="107000"/>
                        </a:lnSpc>
                        <a:spcBef>
                          <a:spcPts val="0"/>
                        </a:spcBef>
                        <a:spcAft>
                          <a:spcPts val="0"/>
                        </a:spcAft>
                      </a:pPr>
                      <a:r>
                        <a:rPr lang="en-US" sz="1200">
                          <a:effectLst/>
                        </a:rPr>
                        <a:t>Dfrd &amp; Pyble Taxes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1,294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757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8703213"/>
                  </a:ext>
                </a:extLst>
              </a:tr>
              <a:tr h="190500">
                <a:tc>
                  <a:txBody>
                    <a:bodyPr/>
                    <a:lstStyle/>
                    <a:p>
                      <a:pPr marL="0" marR="0">
                        <a:lnSpc>
                          <a:spcPct val="107000"/>
                        </a:lnSpc>
                        <a:spcBef>
                          <a:spcPts val="0"/>
                        </a:spcBef>
                        <a:spcAft>
                          <a:spcPts val="0"/>
                        </a:spcAft>
                      </a:pPr>
                      <a:r>
                        <a:rPr lang="en-US" sz="1200">
                          <a:effectLst/>
                        </a:rPr>
                        <a:t>Common stock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NA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69074784"/>
                  </a:ext>
                </a:extLst>
              </a:tr>
              <a:tr h="190500">
                <a:tc>
                  <a:txBody>
                    <a:bodyPr/>
                    <a:lstStyle/>
                    <a:p>
                      <a:pPr marL="0" marR="0">
                        <a:lnSpc>
                          <a:spcPct val="107000"/>
                        </a:lnSpc>
                        <a:spcBef>
                          <a:spcPts val="0"/>
                        </a:spcBef>
                        <a:spcAft>
                          <a:spcPts val="0"/>
                        </a:spcAft>
                      </a:pPr>
                      <a:r>
                        <a:rPr lang="en-US" sz="1200">
                          <a:effectLst/>
                        </a:rPr>
                        <a:t>APIC</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38,748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38,748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NA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53442702"/>
                  </a:ext>
                </a:extLst>
              </a:tr>
              <a:tr h="190500">
                <a:tc>
                  <a:txBody>
                    <a:bodyPr/>
                    <a:lstStyle/>
                    <a:p>
                      <a:pPr marL="0" marR="0">
                        <a:lnSpc>
                          <a:spcPct val="107000"/>
                        </a:lnSpc>
                        <a:spcBef>
                          <a:spcPts val="0"/>
                        </a:spcBef>
                        <a:spcAft>
                          <a:spcPts val="0"/>
                        </a:spcAft>
                      </a:pPr>
                      <a:r>
                        <a:rPr lang="en-US" sz="1200">
                          <a:effectLst/>
                        </a:rPr>
                        <a:t>Retained earnings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10,026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(1,662)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2176945"/>
                  </a:ext>
                </a:extLst>
              </a:tr>
              <a:tr h="200025">
                <a:tc>
                  <a:txBody>
                    <a:bodyPr/>
                    <a:lstStyle/>
                    <a:p>
                      <a:pPr marL="0" marR="0" indent="457200">
                        <a:lnSpc>
                          <a:spcPct val="107000"/>
                        </a:lnSpc>
                        <a:spcBef>
                          <a:spcPts val="0"/>
                        </a:spcBef>
                        <a:spcAft>
                          <a:spcPts val="0"/>
                        </a:spcAft>
                      </a:pPr>
                      <a:r>
                        <a:rPr lang="en-US" sz="1200">
                          <a:effectLst/>
                        </a:rPr>
                        <a:t>Total liabs + SE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$98,225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$61,974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22601205"/>
                  </a:ext>
                </a:extLst>
              </a:tr>
            </a:tbl>
          </a:graphicData>
        </a:graphic>
      </p:graphicFrame>
      <p:sp>
        <p:nvSpPr>
          <p:cNvPr id="4" name="TextBox 3">
            <a:extLst>
              <a:ext uri="{FF2B5EF4-FFF2-40B4-BE49-F238E27FC236}">
                <a16:creationId xmlns:a16="http://schemas.microsoft.com/office/drawing/2014/main" id="{B542C029-F370-4B42-9F22-580FEF0009FB}"/>
              </a:ext>
            </a:extLst>
          </p:cNvPr>
          <p:cNvSpPr txBox="1"/>
          <p:nvPr/>
        </p:nvSpPr>
        <p:spPr>
          <a:xfrm>
            <a:off x="6822892" y="3620869"/>
            <a:ext cx="1863908" cy="923330"/>
          </a:xfrm>
          <a:prstGeom prst="rect">
            <a:avLst/>
          </a:prstGeom>
          <a:noFill/>
        </p:spPr>
        <p:txBody>
          <a:bodyPr wrap="none" rtlCol="0">
            <a:spAutoFit/>
          </a:bodyPr>
          <a:lstStyle/>
          <a:p>
            <a:r>
              <a:rPr lang="en-US" dirty="0"/>
              <a:t>Check out the</a:t>
            </a:r>
          </a:p>
          <a:p>
            <a:r>
              <a:rPr lang="en-US" dirty="0"/>
              <a:t>Retained Earnings</a:t>
            </a:r>
          </a:p>
          <a:p>
            <a:r>
              <a:rPr lang="en-US" dirty="0"/>
              <a:t>T-account</a:t>
            </a:r>
          </a:p>
        </p:txBody>
      </p:sp>
    </p:spTree>
    <p:extLst>
      <p:ext uri="{BB962C8B-B14F-4D97-AF65-F5344CB8AC3E}">
        <p14:creationId xmlns:p14="http://schemas.microsoft.com/office/powerpoint/2010/main" val="2953711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AD75-1C7D-434C-80FA-30AF3ED2B90D}"/>
              </a:ext>
            </a:extLst>
          </p:cNvPr>
          <p:cNvSpPr>
            <a:spLocks noGrp="1"/>
          </p:cNvSpPr>
          <p:nvPr>
            <p:ph type="title"/>
          </p:nvPr>
        </p:nvSpPr>
        <p:spPr/>
        <p:txBody>
          <a:bodyPr>
            <a:normAutofit fontScale="90000"/>
          </a:bodyPr>
          <a:lstStyle/>
          <a:p>
            <a:r>
              <a:rPr lang="en-US" dirty="0"/>
              <a:t>Progress Report – Income Statement</a:t>
            </a:r>
          </a:p>
        </p:txBody>
      </p:sp>
      <p:graphicFrame>
        <p:nvGraphicFramePr>
          <p:cNvPr id="4" name="Table 3">
            <a:extLst>
              <a:ext uri="{FF2B5EF4-FFF2-40B4-BE49-F238E27FC236}">
                <a16:creationId xmlns:a16="http://schemas.microsoft.com/office/drawing/2014/main" id="{1B0E1158-55BB-43EB-AA40-826B322D8172}"/>
              </a:ext>
            </a:extLst>
          </p:cNvPr>
          <p:cNvGraphicFramePr>
            <a:graphicFrameLocks noGrp="1"/>
          </p:cNvGraphicFramePr>
          <p:nvPr/>
        </p:nvGraphicFramePr>
        <p:xfrm>
          <a:off x="1804987" y="1505076"/>
          <a:ext cx="5351463" cy="2133348"/>
        </p:xfrm>
        <a:graphic>
          <a:graphicData uri="http://schemas.openxmlformats.org/drawingml/2006/table">
            <a:tbl>
              <a:tblPr firstRow="1" firstCol="1" lastRow="1" lastCol="1" bandRow="1" bandCol="1">
                <a:tableStyleId>{5C22544A-7EE6-4342-B048-85BDC9FD1C3A}</a:tableStyleId>
              </a:tblPr>
              <a:tblGrid>
                <a:gridCol w="2811785">
                  <a:extLst>
                    <a:ext uri="{9D8B030D-6E8A-4147-A177-3AD203B41FA5}">
                      <a16:colId xmlns:a16="http://schemas.microsoft.com/office/drawing/2014/main" val="2615200752"/>
                    </a:ext>
                  </a:extLst>
                </a:gridCol>
                <a:gridCol w="1269839">
                  <a:extLst>
                    <a:ext uri="{9D8B030D-6E8A-4147-A177-3AD203B41FA5}">
                      <a16:colId xmlns:a16="http://schemas.microsoft.com/office/drawing/2014/main" val="3225648749"/>
                    </a:ext>
                  </a:extLst>
                </a:gridCol>
                <a:gridCol w="1269839">
                  <a:extLst>
                    <a:ext uri="{9D8B030D-6E8A-4147-A177-3AD203B41FA5}">
                      <a16:colId xmlns:a16="http://schemas.microsoft.com/office/drawing/2014/main" val="3283612128"/>
                    </a:ext>
                  </a:extLst>
                </a:gridCol>
              </a:tblGrid>
              <a:tr h="298198">
                <a:tc>
                  <a:txBody>
                    <a:bodyPr/>
                    <a:lstStyle/>
                    <a:p>
                      <a:pPr marL="57785" marR="0" indent="57150">
                        <a:lnSpc>
                          <a:spcPct val="107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r">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Explained?</a:t>
                      </a:r>
                    </a:p>
                  </a:txBody>
                  <a:tcPr marL="0" marR="0" marT="0" marB="0" anchor="b"/>
                </a:tc>
                <a:extLst>
                  <a:ext uri="{0D108BD9-81ED-4DB2-BD59-A6C34878D82A}">
                    <a16:rowId xmlns:a16="http://schemas.microsoft.com/office/drawing/2014/main" val="3106175714"/>
                  </a:ext>
                </a:extLst>
              </a:tr>
              <a:tr h="298198">
                <a:tc>
                  <a:txBody>
                    <a:bodyPr/>
                    <a:lstStyle/>
                    <a:p>
                      <a:pPr marL="57785" marR="0" indent="57150">
                        <a:lnSpc>
                          <a:spcPct val="107000"/>
                        </a:lnSpc>
                        <a:spcBef>
                          <a:spcPts val="0"/>
                        </a:spcBef>
                        <a:spcAft>
                          <a:spcPts val="0"/>
                        </a:spcAft>
                      </a:pPr>
                      <a:r>
                        <a:rPr lang="en-US" sz="1800" dirty="0">
                          <a:effectLst/>
                        </a:rPr>
                        <a:t>Net sales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dirty="0">
                          <a:effectLst/>
                        </a:rPr>
                        <a:t>$246,697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ctr">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Yes</a:t>
                      </a:r>
                    </a:p>
                  </a:txBody>
                  <a:tcPr marL="0" marR="0" marT="0" marB="0" anchor="b">
                    <a:solidFill>
                      <a:schemeClr val="bg1">
                        <a:lumMod val="85000"/>
                      </a:schemeClr>
                    </a:solidFill>
                  </a:tcPr>
                </a:tc>
                <a:extLst>
                  <a:ext uri="{0D108BD9-81ED-4DB2-BD59-A6C34878D82A}">
                    <a16:rowId xmlns:a16="http://schemas.microsoft.com/office/drawing/2014/main" val="168770934"/>
                  </a:ext>
                </a:extLst>
              </a:tr>
              <a:tr h="298198">
                <a:tc>
                  <a:txBody>
                    <a:bodyPr/>
                    <a:lstStyle/>
                    <a:p>
                      <a:pPr marL="57785" marR="0" indent="57150">
                        <a:lnSpc>
                          <a:spcPct val="107000"/>
                        </a:lnSpc>
                        <a:spcBef>
                          <a:spcPts val="0"/>
                        </a:spcBef>
                        <a:spcAft>
                          <a:spcPts val="0"/>
                        </a:spcAft>
                      </a:pPr>
                      <a:r>
                        <a:rPr lang="en-US" sz="1800">
                          <a:effectLst/>
                        </a:rPr>
                        <a:t>Cost of sales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r">
                        <a:lnSpc>
                          <a:spcPct val="107000"/>
                        </a:lnSpc>
                        <a:spcBef>
                          <a:spcPts val="0"/>
                        </a:spcBef>
                        <a:spcAft>
                          <a:spcPts val="0"/>
                        </a:spcAft>
                      </a:pPr>
                      <a:r>
                        <a:rPr lang="en-US" sz="1800">
                          <a:effectLst/>
                        </a:rPr>
                        <a:t>(120,126)</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0" algn="ctr">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Yes</a:t>
                      </a:r>
                    </a:p>
                  </a:txBody>
                  <a:tcPr marL="0" marR="0" marT="0" marB="0" anchor="b">
                    <a:solidFill>
                      <a:schemeClr val="bg1">
                        <a:lumMod val="85000"/>
                      </a:schemeClr>
                    </a:solidFill>
                  </a:tcPr>
                </a:tc>
                <a:extLst>
                  <a:ext uri="{0D108BD9-81ED-4DB2-BD59-A6C34878D82A}">
                    <a16:rowId xmlns:a16="http://schemas.microsoft.com/office/drawing/2014/main" val="2576550631"/>
                  </a:ext>
                </a:extLst>
              </a:tr>
              <a:tr h="298198">
                <a:tc>
                  <a:txBody>
                    <a:bodyPr/>
                    <a:lstStyle/>
                    <a:p>
                      <a:pPr marL="116840" marR="0">
                        <a:lnSpc>
                          <a:spcPct val="107000"/>
                        </a:lnSpc>
                        <a:spcBef>
                          <a:spcPts val="0"/>
                        </a:spcBef>
                        <a:spcAft>
                          <a:spcPts val="0"/>
                        </a:spcAft>
                      </a:pPr>
                      <a:r>
                        <a:rPr lang="en-US" sz="1800">
                          <a:effectLst/>
                        </a:rPr>
                        <a:t>SG&amp;A expenses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r">
                        <a:lnSpc>
                          <a:spcPct val="107000"/>
                        </a:lnSpc>
                        <a:spcBef>
                          <a:spcPts val="0"/>
                        </a:spcBef>
                        <a:spcAft>
                          <a:spcPts val="0"/>
                        </a:spcAft>
                      </a:pPr>
                      <a:r>
                        <a:rPr lang="en-US" sz="1800">
                          <a:effectLst/>
                        </a:rPr>
                        <a:t>(107,083)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0" algn="ctr">
                        <a:lnSpc>
                          <a:spcPct val="107000"/>
                        </a:lnSpc>
                        <a:spcBef>
                          <a:spcPts val="0"/>
                        </a:spcBef>
                        <a:spcAft>
                          <a:spcPts val="0"/>
                        </a:spcAft>
                      </a:pPr>
                      <a:endParaRPr lang="en-US" sz="18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b">
                    <a:solidFill>
                      <a:schemeClr val="bg1">
                        <a:lumMod val="85000"/>
                      </a:schemeClr>
                    </a:solidFill>
                  </a:tcPr>
                </a:tc>
                <a:extLst>
                  <a:ext uri="{0D108BD9-81ED-4DB2-BD59-A6C34878D82A}">
                    <a16:rowId xmlns:a16="http://schemas.microsoft.com/office/drawing/2014/main" val="1954346223"/>
                  </a:ext>
                </a:extLst>
              </a:tr>
              <a:tr h="344160">
                <a:tc>
                  <a:txBody>
                    <a:bodyPr/>
                    <a:lstStyle/>
                    <a:p>
                      <a:pPr marL="57785" marR="0" indent="57150">
                        <a:lnSpc>
                          <a:spcPct val="107000"/>
                        </a:lnSpc>
                        <a:spcBef>
                          <a:spcPts val="0"/>
                        </a:spcBef>
                        <a:spcAft>
                          <a:spcPts val="0"/>
                        </a:spcAft>
                      </a:pPr>
                      <a:r>
                        <a:rPr lang="en-US" sz="1800">
                          <a:effectLst/>
                        </a:rPr>
                        <a:t>Interest, net, and other</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a:effectLst/>
                        </a:rPr>
                        <a:t>57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ctr">
                        <a:lnSpc>
                          <a:spcPct val="107000"/>
                        </a:lnSpc>
                        <a:spcBef>
                          <a:spcPts val="0"/>
                        </a:spcBef>
                        <a:spcAft>
                          <a:spcPts val="0"/>
                        </a:spcAft>
                      </a:pPr>
                      <a:endParaRPr lang="en-US" sz="18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b">
                    <a:solidFill>
                      <a:schemeClr val="bg1">
                        <a:lumMod val="85000"/>
                      </a:schemeClr>
                    </a:solidFill>
                  </a:tcPr>
                </a:tc>
                <a:extLst>
                  <a:ext uri="{0D108BD9-81ED-4DB2-BD59-A6C34878D82A}">
                    <a16:rowId xmlns:a16="http://schemas.microsoft.com/office/drawing/2014/main" val="2158535478"/>
                  </a:ext>
                </a:extLst>
              </a:tr>
              <a:tr h="298198">
                <a:tc>
                  <a:txBody>
                    <a:bodyPr/>
                    <a:lstStyle/>
                    <a:p>
                      <a:pPr marL="57785" marR="0" indent="57150">
                        <a:lnSpc>
                          <a:spcPct val="107000"/>
                        </a:lnSpc>
                        <a:spcBef>
                          <a:spcPts val="0"/>
                        </a:spcBef>
                        <a:spcAft>
                          <a:spcPts val="0"/>
                        </a:spcAft>
                      </a:pPr>
                      <a:r>
                        <a:rPr lang="en-US" sz="1800">
                          <a:effectLst/>
                        </a:rPr>
                        <a:t>Provision for income taxes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dirty="0">
                          <a:effectLst/>
                        </a:rPr>
                        <a:t>(7,857)</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ctr">
                        <a:lnSpc>
                          <a:spcPct val="107000"/>
                        </a:lnSpc>
                        <a:spcBef>
                          <a:spcPts val="0"/>
                        </a:spcBef>
                        <a:spcAft>
                          <a:spcPts val="0"/>
                        </a:spcAft>
                      </a:pPr>
                      <a:endParaRPr lang="en-US" sz="18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b">
                    <a:solidFill>
                      <a:schemeClr val="bg1">
                        <a:lumMod val="85000"/>
                      </a:schemeClr>
                    </a:solidFill>
                  </a:tcPr>
                </a:tc>
                <a:extLst>
                  <a:ext uri="{0D108BD9-81ED-4DB2-BD59-A6C34878D82A}">
                    <a16:rowId xmlns:a16="http://schemas.microsoft.com/office/drawing/2014/main" val="3321825182"/>
                  </a:ext>
                </a:extLst>
              </a:tr>
              <a:tr h="298198">
                <a:tc>
                  <a:txBody>
                    <a:bodyPr/>
                    <a:lstStyle/>
                    <a:p>
                      <a:pPr marL="57785" marR="0" indent="57150">
                        <a:lnSpc>
                          <a:spcPct val="107000"/>
                        </a:lnSpc>
                        <a:spcBef>
                          <a:spcPts val="0"/>
                        </a:spcBef>
                        <a:spcAft>
                          <a:spcPts val="0"/>
                        </a:spcAft>
                      </a:pPr>
                      <a:r>
                        <a:rPr lang="en-US" sz="1800">
                          <a:effectLst/>
                        </a:rPr>
                        <a:t>Net income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dirty="0">
                          <a:effectLst/>
                        </a:rPr>
                        <a:t>$ 11,688</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r">
                        <a:lnSpc>
                          <a:spcPct val="107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3730650831"/>
                  </a:ext>
                </a:extLst>
              </a:tr>
            </a:tbl>
          </a:graphicData>
        </a:graphic>
      </p:graphicFrame>
    </p:spTree>
    <p:extLst>
      <p:ext uri="{BB962C8B-B14F-4D97-AF65-F5344CB8AC3E}">
        <p14:creationId xmlns:p14="http://schemas.microsoft.com/office/powerpoint/2010/main" val="3915300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5D1A35F2-0665-4C7B-8F2F-B1FE85CFC1C3}" type="slidenum">
              <a:rPr lang="en-US" sz="1050"/>
              <a:pPr/>
              <a:t>26</a:t>
            </a:fld>
            <a:endParaRPr lang="en-US" sz="1050"/>
          </a:p>
        </p:txBody>
      </p:sp>
      <p:sp>
        <p:nvSpPr>
          <p:cNvPr id="14341" name="Rectangle 2"/>
          <p:cNvSpPr>
            <a:spLocks noGrp="1" noChangeArrowheads="1"/>
          </p:cNvSpPr>
          <p:nvPr>
            <p:ph type="title"/>
          </p:nvPr>
        </p:nvSpPr>
        <p:spPr>
          <a:xfrm>
            <a:off x="1657350" y="457200"/>
            <a:ext cx="5829300" cy="400050"/>
          </a:xfrm>
        </p:spPr>
        <p:txBody>
          <a:bodyPr>
            <a:normAutofit fontScale="90000"/>
          </a:bodyPr>
          <a:lstStyle/>
          <a:p>
            <a:r>
              <a:rPr lang="en-US" sz="2400"/>
              <a:t>Coldwater</a:t>
            </a:r>
          </a:p>
        </p:txBody>
      </p:sp>
      <p:sp>
        <p:nvSpPr>
          <p:cNvPr id="93187" name="Rectangle 3"/>
          <p:cNvSpPr>
            <a:spLocks noGrp="1" noChangeArrowheads="1"/>
          </p:cNvSpPr>
          <p:nvPr>
            <p:ph type="body" idx="1"/>
          </p:nvPr>
        </p:nvSpPr>
        <p:spPr>
          <a:xfrm>
            <a:off x="1600200" y="914400"/>
            <a:ext cx="5829300" cy="3600450"/>
          </a:xfrm>
        </p:spPr>
        <p:txBody>
          <a:bodyPr/>
          <a:lstStyle/>
          <a:p>
            <a:pPr marL="0" indent="0">
              <a:lnSpc>
                <a:spcPct val="80000"/>
              </a:lnSpc>
              <a:buNone/>
            </a:pPr>
            <a:r>
              <a:rPr lang="en-US" sz="1800" dirty="0"/>
              <a:t>(6)  Provision for Income Tax………… 7.9 (Income Statement)</a:t>
            </a:r>
          </a:p>
          <a:p>
            <a:pPr>
              <a:lnSpc>
                <a:spcPct val="80000"/>
              </a:lnSpc>
              <a:buFontTx/>
              <a:buNone/>
            </a:pPr>
            <a:r>
              <a:rPr lang="en-US" sz="1800" dirty="0"/>
              <a:t>			Deferred &amp; payable tax….	7.9</a:t>
            </a:r>
          </a:p>
          <a:p>
            <a:pPr>
              <a:lnSpc>
                <a:spcPct val="80000"/>
              </a:lnSpc>
              <a:buFontTx/>
              <a:buNone/>
            </a:pPr>
            <a:r>
              <a:rPr lang="en-US" sz="1800" dirty="0"/>
              <a:t>	</a:t>
            </a:r>
          </a:p>
          <a:p>
            <a:pPr>
              <a:lnSpc>
                <a:spcPct val="80000"/>
              </a:lnSpc>
              <a:buFontTx/>
              <a:buNone/>
            </a:pPr>
            <a:r>
              <a:rPr lang="en-US" sz="1800" dirty="0"/>
              <a:t>			</a:t>
            </a:r>
          </a:p>
          <a:p>
            <a:pPr>
              <a:lnSpc>
                <a:spcPct val="80000"/>
              </a:lnSpc>
              <a:buFontTx/>
              <a:buNone/>
            </a:pPr>
            <a:endParaRPr lang="en-US" sz="1800" dirty="0"/>
          </a:p>
          <a:p>
            <a:pPr>
              <a:lnSpc>
                <a:spcPct val="80000"/>
              </a:lnSpc>
              <a:buFontTx/>
              <a:buNone/>
            </a:pPr>
            <a:endParaRPr lang="en-US" sz="1800" dirty="0"/>
          </a:p>
          <a:p>
            <a:pPr>
              <a:lnSpc>
                <a:spcPct val="80000"/>
              </a:lnSpc>
              <a:buFontTx/>
              <a:buNone/>
            </a:pPr>
            <a:endParaRPr lang="en-US" sz="1800" dirty="0"/>
          </a:p>
        </p:txBody>
      </p:sp>
      <p:graphicFrame>
        <p:nvGraphicFramePr>
          <p:cNvPr id="2" name="Object 1"/>
          <p:cNvGraphicFramePr>
            <a:graphicFrameLocks noChangeAspect="1"/>
          </p:cNvGraphicFramePr>
          <p:nvPr/>
        </p:nvGraphicFramePr>
        <p:xfrm>
          <a:off x="2857500" y="1943100"/>
          <a:ext cx="3725863" cy="1098550"/>
        </p:xfrm>
        <a:graphic>
          <a:graphicData uri="http://schemas.openxmlformats.org/presentationml/2006/ole">
            <mc:AlternateContent xmlns:mc="http://schemas.openxmlformats.org/markup-compatibility/2006">
              <mc:Choice xmlns:v="urn:schemas-microsoft-com:vml" Requires="v">
                <p:oleObj name="Worksheet" r:id="rId2" imgW="2295560" imgH="676457" progId="Excel.Sheet.8">
                  <p:embed/>
                </p:oleObj>
              </mc:Choice>
              <mc:Fallback>
                <p:oleObj name="Worksheet" r:id="rId2" imgW="2295560" imgH="676457" progId="Excel.Sheet.8">
                  <p:embed/>
                  <p:pic>
                    <p:nvPicPr>
                      <p:cNvPr id="2" name="Object 1"/>
                      <p:cNvPicPr>
                        <a:picLocks noChangeAspect="1" noChangeArrowheads="1"/>
                      </p:cNvPicPr>
                      <p:nvPr/>
                    </p:nvPicPr>
                    <p:blipFill>
                      <a:blip r:embed="rId3"/>
                      <a:srcRect/>
                      <a:stretch>
                        <a:fillRect/>
                      </a:stretch>
                    </p:blipFill>
                    <p:spPr bwMode="auto">
                      <a:xfrm>
                        <a:off x="2857500" y="1943100"/>
                        <a:ext cx="3725863" cy="109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2679699" y="3294063"/>
          <a:ext cx="4081463" cy="1098550"/>
        </p:xfrm>
        <a:graphic>
          <a:graphicData uri="http://schemas.openxmlformats.org/presentationml/2006/ole">
            <mc:AlternateContent xmlns:mc="http://schemas.openxmlformats.org/markup-compatibility/2006">
              <mc:Choice xmlns:v="urn:schemas-microsoft-com:vml" Requires="v">
                <p:oleObj name="Worksheet" r:id="rId4" imgW="2514600" imgH="676457" progId="Excel.Sheet.8">
                  <p:embed/>
                </p:oleObj>
              </mc:Choice>
              <mc:Fallback>
                <p:oleObj name="Worksheet" r:id="rId4" imgW="2514600" imgH="676457" progId="Excel.Sheet.8">
                  <p:embed/>
                  <p:pic>
                    <p:nvPicPr>
                      <p:cNvPr id="3" name="Object 2"/>
                      <p:cNvPicPr>
                        <a:picLocks noChangeAspect="1" noChangeArrowheads="1"/>
                      </p:cNvPicPr>
                      <p:nvPr/>
                    </p:nvPicPr>
                    <p:blipFill>
                      <a:blip r:embed="rId5"/>
                      <a:srcRect/>
                      <a:stretch>
                        <a:fillRect/>
                      </a:stretch>
                    </p:blipFill>
                    <p:spPr bwMode="auto">
                      <a:xfrm>
                        <a:off x="2679699" y="3294063"/>
                        <a:ext cx="4081463" cy="109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45390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E2D836C1-02D6-4DC1-B88F-9CC3031E3AE9}" type="slidenum">
              <a:rPr lang="en-US" sz="1050"/>
              <a:pPr/>
              <a:t>27</a:t>
            </a:fld>
            <a:endParaRPr lang="en-US" sz="1050"/>
          </a:p>
        </p:txBody>
      </p:sp>
      <p:sp>
        <p:nvSpPr>
          <p:cNvPr id="15365" name="Rectangle 2"/>
          <p:cNvSpPr>
            <a:spLocks noGrp="1" noChangeArrowheads="1"/>
          </p:cNvSpPr>
          <p:nvPr>
            <p:ph type="title"/>
          </p:nvPr>
        </p:nvSpPr>
        <p:spPr>
          <a:xfrm>
            <a:off x="1657350" y="457200"/>
            <a:ext cx="5829300" cy="400050"/>
          </a:xfrm>
        </p:spPr>
        <p:txBody>
          <a:bodyPr>
            <a:normAutofit fontScale="90000"/>
          </a:bodyPr>
          <a:lstStyle/>
          <a:p>
            <a:r>
              <a:rPr lang="en-US" sz="2400"/>
              <a:t>Coldwater</a:t>
            </a:r>
          </a:p>
        </p:txBody>
      </p:sp>
      <p:sp>
        <p:nvSpPr>
          <p:cNvPr id="104451" name="Rectangle 3"/>
          <p:cNvSpPr>
            <a:spLocks noGrp="1" noChangeArrowheads="1"/>
          </p:cNvSpPr>
          <p:nvPr>
            <p:ph type="body" idx="1"/>
          </p:nvPr>
        </p:nvSpPr>
        <p:spPr>
          <a:xfrm>
            <a:off x="1600200" y="914400"/>
            <a:ext cx="5829300" cy="3600450"/>
          </a:xfrm>
        </p:spPr>
        <p:txBody>
          <a:bodyPr/>
          <a:lstStyle/>
          <a:p>
            <a:endParaRPr lang="en-US" sz="1800" dirty="0"/>
          </a:p>
          <a:p>
            <a:pPr>
              <a:buFontTx/>
              <a:buNone/>
            </a:pPr>
            <a:r>
              <a:rPr lang="en-US" sz="1800" dirty="0"/>
              <a:t>			</a:t>
            </a:r>
          </a:p>
          <a:p>
            <a:pPr>
              <a:buFontTx/>
              <a:buNone/>
            </a:pPr>
            <a:r>
              <a:rPr lang="en-US" sz="1800" dirty="0"/>
              <a:t>	(7) Deferred &amp; payable tax…………………7.4	 (plug)			Cash …………………………………………..	  7.4</a:t>
            </a:r>
          </a:p>
          <a:p>
            <a:pPr>
              <a:buFontTx/>
              <a:buNone/>
            </a:pPr>
            <a:endParaRPr lang="en-US" sz="1800" dirty="0"/>
          </a:p>
        </p:txBody>
      </p:sp>
      <p:graphicFrame>
        <p:nvGraphicFramePr>
          <p:cNvPr id="2" name="Object 1"/>
          <p:cNvGraphicFramePr>
            <a:graphicFrameLocks noChangeAspect="1"/>
          </p:cNvGraphicFramePr>
          <p:nvPr/>
        </p:nvGraphicFramePr>
        <p:xfrm>
          <a:off x="1252538" y="2914650"/>
          <a:ext cx="3205163" cy="1098550"/>
        </p:xfrm>
        <a:graphic>
          <a:graphicData uri="http://schemas.openxmlformats.org/presentationml/2006/ole">
            <mc:AlternateContent xmlns:mc="http://schemas.openxmlformats.org/markup-compatibility/2006">
              <mc:Choice xmlns:v="urn:schemas-microsoft-com:vml" Requires="v">
                <p:oleObj name="Worksheet" r:id="rId2" imgW="2390740" imgH="676457" progId="Excel.Sheet.8">
                  <p:embed/>
                </p:oleObj>
              </mc:Choice>
              <mc:Fallback>
                <p:oleObj name="Worksheet" r:id="rId2" imgW="2390740" imgH="676457" progId="Excel.Sheet.8">
                  <p:embed/>
                  <p:pic>
                    <p:nvPicPr>
                      <p:cNvPr id="2" name="Object 1"/>
                      <p:cNvPicPr>
                        <a:picLocks noChangeAspect="1" noChangeArrowheads="1"/>
                      </p:cNvPicPr>
                      <p:nvPr/>
                    </p:nvPicPr>
                    <p:blipFill>
                      <a:blip r:embed="rId3"/>
                      <a:srcRect/>
                      <a:stretch>
                        <a:fillRect/>
                      </a:stretch>
                    </p:blipFill>
                    <p:spPr bwMode="auto">
                      <a:xfrm>
                        <a:off x="1252538" y="2914650"/>
                        <a:ext cx="3205163" cy="109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4686300" y="2343150"/>
          <a:ext cx="2286000" cy="2228850"/>
        </p:xfrm>
        <a:graphic>
          <a:graphicData uri="http://schemas.openxmlformats.org/presentationml/2006/ole">
            <mc:AlternateContent xmlns:mc="http://schemas.openxmlformats.org/markup-compatibility/2006">
              <mc:Choice xmlns:v="urn:schemas-microsoft-com:vml" Requires="v">
                <p:oleObj name="Worksheet" r:id="rId4" imgW="1704992" imgH="1666943" progId="Excel.Sheet.8">
                  <p:embed/>
                </p:oleObj>
              </mc:Choice>
              <mc:Fallback>
                <p:oleObj name="Worksheet" r:id="rId4" imgW="1704992" imgH="1666943" progId="Excel.Sheet.8">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6300" y="2343150"/>
                        <a:ext cx="22860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081382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normAutofit/>
          </a:bodyPr>
          <a:lstStyle/>
          <a:p>
            <a:r>
              <a:rPr lang="en-US" dirty="0"/>
              <a:t>Coldwater</a:t>
            </a:r>
          </a:p>
        </p:txBody>
      </p:sp>
      <p:sp>
        <p:nvSpPr>
          <p:cNvPr id="174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5372CA0A-77B0-4B55-BE74-EC98A6602432}" type="slidenum">
              <a:rPr lang="en-US" sz="1050"/>
              <a:pPr/>
              <a:t>28</a:t>
            </a:fld>
            <a:endParaRPr lang="en-US" sz="1050"/>
          </a:p>
        </p:txBody>
      </p:sp>
      <p:graphicFrame>
        <p:nvGraphicFramePr>
          <p:cNvPr id="4" name="Table 4">
            <a:extLst>
              <a:ext uri="{FF2B5EF4-FFF2-40B4-BE49-F238E27FC236}">
                <a16:creationId xmlns:a16="http://schemas.microsoft.com/office/drawing/2014/main" id="{89816ABE-5F8F-4CE4-A957-03548B3047AD}"/>
              </a:ext>
            </a:extLst>
          </p:cNvPr>
          <p:cNvGraphicFramePr>
            <a:graphicFrameLocks noGrp="1"/>
          </p:cNvGraphicFramePr>
          <p:nvPr/>
        </p:nvGraphicFramePr>
        <p:xfrm>
          <a:off x="1524000" y="1187450"/>
          <a:ext cx="6096000" cy="29413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696852746"/>
                    </a:ext>
                  </a:extLst>
                </a:gridCol>
                <a:gridCol w="1524000">
                  <a:extLst>
                    <a:ext uri="{9D8B030D-6E8A-4147-A177-3AD203B41FA5}">
                      <a16:colId xmlns:a16="http://schemas.microsoft.com/office/drawing/2014/main" val="718330327"/>
                    </a:ext>
                  </a:extLst>
                </a:gridCol>
                <a:gridCol w="1524000">
                  <a:extLst>
                    <a:ext uri="{9D8B030D-6E8A-4147-A177-3AD203B41FA5}">
                      <a16:colId xmlns:a16="http://schemas.microsoft.com/office/drawing/2014/main" val="858287250"/>
                    </a:ext>
                  </a:extLst>
                </a:gridCol>
                <a:gridCol w="1524000">
                  <a:extLst>
                    <a:ext uri="{9D8B030D-6E8A-4147-A177-3AD203B41FA5}">
                      <a16:colId xmlns:a16="http://schemas.microsoft.com/office/drawing/2014/main" val="4022491052"/>
                    </a:ext>
                  </a:extLst>
                </a:gridCol>
              </a:tblGrid>
              <a:tr h="370840">
                <a:tc>
                  <a:txBody>
                    <a:bodyPr/>
                    <a:lstStyle/>
                    <a:p>
                      <a:endParaRPr lang="en-US" dirty="0"/>
                    </a:p>
                  </a:txBody>
                  <a:tcPr/>
                </a:tc>
                <a:tc gridSpan="2">
                  <a:txBody>
                    <a:bodyPr/>
                    <a:lstStyle/>
                    <a:p>
                      <a:pPr algn="ctr"/>
                      <a:r>
                        <a:rPr lang="en-US" dirty="0"/>
                        <a:t>Accumulated Depreciation</a:t>
                      </a:r>
                    </a:p>
                  </a:txBody>
                  <a:tcPr/>
                </a:tc>
                <a:tc hMerge="1">
                  <a:txBody>
                    <a:bodyPr/>
                    <a:lstStyle/>
                    <a:p>
                      <a:endParaRPr lang="en-US" dirty="0"/>
                    </a:p>
                  </a:txBody>
                  <a:tcPr/>
                </a:tc>
                <a:tc>
                  <a:txBody>
                    <a:bodyPr/>
                    <a:lstStyle/>
                    <a:p>
                      <a:endParaRPr lang="en-US" dirty="0"/>
                    </a:p>
                  </a:txBody>
                  <a:tcPr/>
                </a:tc>
                <a:extLst>
                  <a:ext uri="{0D108BD9-81ED-4DB2-BD59-A6C34878D82A}">
                    <a16:rowId xmlns:a16="http://schemas.microsoft.com/office/drawing/2014/main" val="3659126548"/>
                  </a:ext>
                </a:extLst>
              </a:tr>
              <a:tr h="370840">
                <a:tc>
                  <a:txBody>
                    <a:bodyPr/>
                    <a:lstStyle/>
                    <a:p>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r>
                        <a:rPr lang="en-US" sz="1800" kern="1200" dirty="0">
                          <a:solidFill>
                            <a:schemeClr val="dk1"/>
                          </a:solidFill>
                          <a:latin typeface="+mn-lt"/>
                          <a:ea typeface="+mn-ea"/>
                          <a:cs typeface="+mn-cs"/>
                        </a:rPr>
                        <a:t>4.3</a:t>
                      </a:r>
                    </a:p>
                  </a:txBody>
                  <a:tcPr>
                    <a:solidFill>
                      <a:schemeClr val="accent1">
                        <a:lumMod val="20000"/>
                        <a:lumOff val="80000"/>
                      </a:schemeClr>
                    </a:solidFill>
                  </a:tcPr>
                </a:tc>
                <a:tc>
                  <a:txBody>
                    <a:bodyPr/>
                    <a:lstStyle/>
                    <a:p>
                      <a:r>
                        <a:rPr lang="en-US" sz="1800" kern="1200" dirty="0">
                          <a:solidFill>
                            <a:schemeClr val="dk1"/>
                          </a:solidFill>
                          <a:latin typeface="+mn-lt"/>
                          <a:ea typeface="+mn-ea"/>
                          <a:cs typeface="+mn-cs"/>
                        </a:rPr>
                        <a:t>BB</a:t>
                      </a:r>
                    </a:p>
                  </a:txBody>
                  <a:tcPr>
                    <a:solidFill>
                      <a:schemeClr val="accent1">
                        <a:lumMod val="20000"/>
                        <a:lumOff val="80000"/>
                      </a:schemeClr>
                    </a:solidFill>
                  </a:tcPr>
                </a:tc>
                <a:extLst>
                  <a:ext uri="{0D108BD9-81ED-4DB2-BD59-A6C34878D82A}">
                    <a16:rowId xmlns:a16="http://schemas.microsoft.com/office/drawing/2014/main" val="1075249476"/>
                  </a:ext>
                </a:extLst>
              </a:tr>
              <a:tr h="370840">
                <a:tc>
                  <a:txBody>
                    <a:bodyPr/>
                    <a:lstStyle/>
                    <a:p>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r>
                        <a:rPr lang="en-US" sz="1800" kern="1200" dirty="0">
                          <a:solidFill>
                            <a:schemeClr val="dk1"/>
                          </a:solidFill>
                          <a:latin typeface="+mn-lt"/>
                          <a:ea typeface="+mn-ea"/>
                          <a:cs typeface="+mn-cs"/>
                        </a:rPr>
                        <a:t>Depreciation Expense</a:t>
                      </a:r>
                    </a:p>
                  </a:txBody>
                  <a:tcPr>
                    <a:solidFill>
                      <a:schemeClr val="accent1">
                        <a:lumMod val="20000"/>
                        <a:lumOff val="80000"/>
                      </a:schemeClr>
                    </a:solidFill>
                  </a:tcPr>
                </a:tc>
                <a:extLst>
                  <a:ext uri="{0D108BD9-81ED-4DB2-BD59-A6C34878D82A}">
                    <a16:rowId xmlns:a16="http://schemas.microsoft.com/office/drawing/2014/main" val="359578951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Depreciation on P&amp;E sold or retired</a:t>
                      </a:r>
                    </a:p>
                    <a:p>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endParaRPr lang="en-US" sz="1800" kern="1200" dirty="0">
                        <a:solidFill>
                          <a:schemeClr val="dk1"/>
                        </a:solidFill>
                        <a:latin typeface="+mn-lt"/>
                        <a:ea typeface="+mn-ea"/>
                        <a:cs typeface="+mn-cs"/>
                      </a:endParaRPr>
                    </a:p>
                  </a:txBody>
                  <a:tcPr>
                    <a:solidFill>
                      <a:schemeClr val="accent1">
                        <a:lumMod val="20000"/>
                        <a:lumOff val="80000"/>
                      </a:schemeClr>
                    </a:solidFill>
                  </a:tcPr>
                </a:tc>
                <a:extLst>
                  <a:ext uri="{0D108BD9-81ED-4DB2-BD59-A6C34878D82A}">
                    <a16:rowId xmlns:a16="http://schemas.microsoft.com/office/drawing/2014/main" val="453291459"/>
                  </a:ext>
                </a:extLst>
              </a:tr>
              <a:tr h="370840">
                <a:tc>
                  <a:txBody>
                    <a:bodyPr/>
                    <a:lstStyle/>
                    <a:p>
                      <a:endParaRPr lang="en-US" sz="1800" kern="120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r>
                        <a:rPr lang="en-US" sz="1800" kern="1200" dirty="0">
                          <a:solidFill>
                            <a:schemeClr val="dk1"/>
                          </a:solidFill>
                          <a:latin typeface="+mn-lt"/>
                          <a:ea typeface="+mn-ea"/>
                          <a:cs typeface="+mn-cs"/>
                        </a:rPr>
                        <a:t>8.1</a:t>
                      </a:r>
                    </a:p>
                  </a:txBody>
                  <a:tcPr>
                    <a:solidFill>
                      <a:schemeClr val="accent1">
                        <a:lumMod val="20000"/>
                        <a:lumOff val="80000"/>
                      </a:schemeClr>
                    </a:solidFill>
                  </a:tcPr>
                </a:tc>
                <a:tc>
                  <a:txBody>
                    <a:bodyPr/>
                    <a:lstStyle/>
                    <a:p>
                      <a:r>
                        <a:rPr lang="en-US" sz="1800" kern="1200" dirty="0">
                          <a:solidFill>
                            <a:schemeClr val="dk1"/>
                          </a:solidFill>
                          <a:latin typeface="+mn-lt"/>
                          <a:ea typeface="+mn-ea"/>
                          <a:cs typeface="+mn-cs"/>
                        </a:rPr>
                        <a:t>EB</a:t>
                      </a:r>
                    </a:p>
                  </a:txBody>
                  <a:tcPr>
                    <a:solidFill>
                      <a:schemeClr val="accent1">
                        <a:lumMod val="20000"/>
                        <a:lumOff val="80000"/>
                      </a:schemeClr>
                    </a:solidFill>
                  </a:tcPr>
                </a:tc>
                <a:extLst>
                  <a:ext uri="{0D108BD9-81ED-4DB2-BD59-A6C34878D82A}">
                    <a16:rowId xmlns:a16="http://schemas.microsoft.com/office/drawing/2014/main" val="3203045816"/>
                  </a:ext>
                </a:extLst>
              </a:tr>
            </a:tbl>
          </a:graphicData>
        </a:graphic>
      </p:graphicFrame>
      <p:sp>
        <p:nvSpPr>
          <p:cNvPr id="6" name="TextBox 5">
            <a:extLst>
              <a:ext uri="{FF2B5EF4-FFF2-40B4-BE49-F238E27FC236}">
                <a16:creationId xmlns:a16="http://schemas.microsoft.com/office/drawing/2014/main" id="{40DE0F84-2EF3-4F28-BCE3-353C275F16A9}"/>
              </a:ext>
            </a:extLst>
          </p:cNvPr>
          <p:cNvSpPr txBox="1"/>
          <p:nvPr/>
        </p:nvSpPr>
        <p:spPr>
          <a:xfrm>
            <a:off x="7575550" y="479008"/>
            <a:ext cx="1317540" cy="646331"/>
          </a:xfrm>
          <a:prstGeom prst="rect">
            <a:avLst/>
          </a:prstGeom>
          <a:noFill/>
        </p:spPr>
        <p:txBody>
          <a:bodyPr wrap="none" rtlCol="0">
            <a:spAutoFit/>
          </a:bodyPr>
          <a:lstStyle/>
          <a:p>
            <a:r>
              <a:rPr lang="en-US" dirty="0"/>
              <a:t>What can</a:t>
            </a:r>
          </a:p>
          <a:p>
            <a:r>
              <a:rPr lang="en-US" dirty="0"/>
              <a:t>we deduce?</a:t>
            </a:r>
          </a:p>
        </p:txBody>
      </p:sp>
    </p:spTree>
    <p:extLst>
      <p:ext uri="{BB962C8B-B14F-4D97-AF65-F5344CB8AC3E}">
        <p14:creationId xmlns:p14="http://schemas.microsoft.com/office/powerpoint/2010/main" val="2038826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normAutofit/>
          </a:bodyPr>
          <a:lstStyle/>
          <a:p>
            <a:r>
              <a:rPr lang="en-US" dirty="0"/>
              <a:t>Coldwater</a:t>
            </a:r>
          </a:p>
        </p:txBody>
      </p:sp>
      <p:sp>
        <p:nvSpPr>
          <p:cNvPr id="174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5372CA0A-77B0-4B55-BE74-EC98A6602432}" type="slidenum">
              <a:rPr lang="en-US" sz="1050"/>
              <a:pPr/>
              <a:t>29</a:t>
            </a:fld>
            <a:endParaRPr lang="en-US" sz="1050"/>
          </a:p>
        </p:txBody>
      </p:sp>
      <p:graphicFrame>
        <p:nvGraphicFramePr>
          <p:cNvPr id="4" name="Table 4">
            <a:extLst>
              <a:ext uri="{FF2B5EF4-FFF2-40B4-BE49-F238E27FC236}">
                <a16:creationId xmlns:a16="http://schemas.microsoft.com/office/drawing/2014/main" id="{89816ABE-5F8F-4CE4-A957-03548B3047AD}"/>
              </a:ext>
            </a:extLst>
          </p:cNvPr>
          <p:cNvGraphicFramePr>
            <a:graphicFrameLocks noGrp="1"/>
          </p:cNvGraphicFramePr>
          <p:nvPr/>
        </p:nvGraphicFramePr>
        <p:xfrm>
          <a:off x="1524000" y="1187450"/>
          <a:ext cx="6096000" cy="26720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696852746"/>
                    </a:ext>
                  </a:extLst>
                </a:gridCol>
                <a:gridCol w="1524000">
                  <a:extLst>
                    <a:ext uri="{9D8B030D-6E8A-4147-A177-3AD203B41FA5}">
                      <a16:colId xmlns:a16="http://schemas.microsoft.com/office/drawing/2014/main" val="718330327"/>
                    </a:ext>
                  </a:extLst>
                </a:gridCol>
                <a:gridCol w="1524000">
                  <a:extLst>
                    <a:ext uri="{9D8B030D-6E8A-4147-A177-3AD203B41FA5}">
                      <a16:colId xmlns:a16="http://schemas.microsoft.com/office/drawing/2014/main" val="858287250"/>
                    </a:ext>
                  </a:extLst>
                </a:gridCol>
                <a:gridCol w="1524000">
                  <a:extLst>
                    <a:ext uri="{9D8B030D-6E8A-4147-A177-3AD203B41FA5}">
                      <a16:colId xmlns:a16="http://schemas.microsoft.com/office/drawing/2014/main" val="4022491052"/>
                    </a:ext>
                  </a:extLst>
                </a:gridCol>
              </a:tblGrid>
              <a:tr h="370840">
                <a:tc>
                  <a:txBody>
                    <a:bodyPr/>
                    <a:lstStyle/>
                    <a:p>
                      <a:endParaRPr lang="en-US" dirty="0"/>
                    </a:p>
                  </a:txBody>
                  <a:tcPr/>
                </a:tc>
                <a:tc gridSpan="2">
                  <a:txBody>
                    <a:bodyPr/>
                    <a:lstStyle/>
                    <a:p>
                      <a:pPr algn="ctr"/>
                      <a:r>
                        <a:rPr lang="en-US" dirty="0"/>
                        <a:t>Accumulated Depreciation</a:t>
                      </a:r>
                    </a:p>
                  </a:txBody>
                  <a:tcPr/>
                </a:tc>
                <a:tc hMerge="1">
                  <a:txBody>
                    <a:bodyPr/>
                    <a:lstStyle/>
                    <a:p>
                      <a:endParaRPr lang="en-US" dirty="0"/>
                    </a:p>
                  </a:txBody>
                  <a:tcPr/>
                </a:tc>
                <a:tc>
                  <a:txBody>
                    <a:bodyPr/>
                    <a:lstStyle/>
                    <a:p>
                      <a:endParaRPr lang="en-US" dirty="0"/>
                    </a:p>
                  </a:txBody>
                  <a:tcPr/>
                </a:tc>
                <a:extLst>
                  <a:ext uri="{0D108BD9-81ED-4DB2-BD59-A6C34878D82A}">
                    <a16:rowId xmlns:a16="http://schemas.microsoft.com/office/drawing/2014/main" val="3659126548"/>
                  </a:ext>
                </a:extLst>
              </a:tr>
              <a:tr h="370840">
                <a:tc>
                  <a:txBody>
                    <a:bodyPr/>
                    <a:lstStyle/>
                    <a:p>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r>
                        <a:rPr lang="en-US" sz="1800" kern="1200" dirty="0">
                          <a:solidFill>
                            <a:schemeClr val="dk1"/>
                          </a:solidFill>
                          <a:latin typeface="+mn-lt"/>
                          <a:ea typeface="+mn-ea"/>
                          <a:cs typeface="+mn-cs"/>
                        </a:rPr>
                        <a:t>4.3</a:t>
                      </a:r>
                    </a:p>
                  </a:txBody>
                  <a:tcPr>
                    <a:solidFill>
                      <a:schemeClr val="accent1">
                        <a:lumMod val="20000"/>
                        <a:lumOff val="80000"/>
                      </a:schemeClr>
                    </a:solidFill>
                  </a:tcPr>
                </a:tc>
                <a:tc>
                  <a:txBody>
                    <a:bodyPr/>
                    <a:lstStyle/>
                    <a:p>
                      <a:r>
                        <a:rPr lang="en-US" sz="1800" kern="1200" dirty="0">
                          <a:solidFill>
                            <a:schemeClr val="dk1"/>
                          </a:solidFill>
                          <a:latin typeface="+mn-lt"/>
                          <a:ea typeface="+mn-ea"/>
                          <a:cs typeface="+mn-cs"/>
                        </a:rPr>
                        <a:t>BB</a:t>
                      </a:r>
                    </a:p>
                  </a:txBody>
                  <a:tcPr>
                    <a:solidFill>
                      <a:schemeClr val="accent1">
                        <a:lumMod val="20000"/>
                        <a:lumOff val="80000"/>
                      </a:schemeClr>
                    </a:solidFill>
                  </a:tcPr>
                </a:tc>
                <a:extLst>
                  <a:ext uri="{0D108BD9-81ED-4DB2-BD59-A6C34878D82A}">
                    <a16:rowId xmlns:a16="http://schemas.microsoft.com/office/drawing/2014/main" val="1075249476"/>
                  </a:ext>
                </a:extLst>
              </a:tr>
              <a:tr h="370840">
                <a:tc>
                  <a:txBody>
                    <a:bodyPr/>
                    <a:lstStyle/>
                    <a:p>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endParaRPr lang="en-US" sz="1800" kern="1200" dirty="0">
                        <a:solidFill>
                          <a:schemeClr val="dk1"/>
                        </a:solidFill>
                        <a:latin typeface="+mn-lt"/>
                        <a:ea typeface="+mn-ea"/>
                        <a:cs typeface="+mn-cs"/>
                      </a:endParaRPr>
                    </a:p>
                  </a:txBody>
                  <a:tcPr>
                    <a:solidFill>
                      <a:schemeClr val="accent1">
                        <a:lumMod val="20000"/>
                        <a:lumOff val="80000"/>
                      </a:schemeClr>
                    </a:solidFill>
                  </a:tcPr>
                </a:tc>
                <a:extLst>
                  <a:ext uri="{0D108BD9-81ED-4DB2-BD59-A6C34878D82A}">
                    <a16:rowId xmlns:a16="http://schemas.microsoft.com/office/drawing/2014/main" val="359578951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Depreciation on P&amp;E sold or retired</a:t>
                      </a:r>
                    </a:p>
                    <a:p>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r>
                        <a:rPr lang="en-US" sz="1800" kern="1200" dirty="0">
                          <a:solidFill>
                            <a:schemeClr val="dk1"/>
                          </a:solidFill>
                          <a:latin typeface="+mn-lt"/>
                          <a:ea typeface="+mn-ea"/>
                          <a:cs typeface="+mn-cs"/>
                        </a:rPr>
                        <a:t>0</a:t>
                      </a:r>
                    </a:p>
                  </a:txBody>
                  <a:tcPr>
                    <a:solidFill>
                      <a:schemeClr val="accent1">
                        <a:lumMod val="20000"/>
                        <a:lumOff val="80000"/>
                      </a:schemeClr>
                    </a:solidFill>
                  </a:tcPr>
                </a:tc>
                <a:tc>
                  <a:txBody>
                    <a:bodyPr/>
                    <a:lstStyle/>
                    <a:p>
                      <a:pPr algn="ctr"/>
                      <a:r>
                        <a:rPr lang="en-US" sz="1800" kern="1200" dirty="0">
                          <a:solidFill>
                            <a:schemeClr val="dk1"/>
                          </a:solidFill>
                          <a:latin typeface="+mn-lt"/>
                          <a:ea typeface="+mn-ea"/>
                          <a:cs typeface="+mn-cs"/>
                        </a:rPr>
                        <a:t>3.8</a:t>
                      </a:r>
                    </a:p>
                  </a:txBody>
                  <a:tcPr>
                    <a:solidFill>
                      <a:schemeClr val="accent1">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Depreciation Expense (Plug)</a:t>
                      </a:r>
                    </a:p>
                    <a:p>
                      <a:endParaRPr lang="en-US" sz="1800" kern="1200" dirty="0">
                        <a:solidFill>
                          <a:schemeClr val="dk1"/>
                        </a:solidFill>
                        <a:latin typeface="+mn-lt"/>
                        <a:ea typeface="+mn-ea"/>
                        <a:cs typeface="+mn-cs"/>
                      </a:endParaRPr>
                    </a:p>
                  </a:txBody>
                  <a:tcPr>
                    <a:solidFill>
                      <a:schemeClr val="accent1">
                        <a:lumMod val="20000"/>
                        <a:lumOff val="80000"/>
                      </a:schemeClr>
                    </a:solidFill>
                  </a:tcPr>
                </a:tc>
                <a:extLst>
                  <a:ext uri="{0D108BD9-81ED-4DB2-BD59-A6C34878D82A}">
                    <a16:rowId xmlns:a16="http://schemas.microsoft.com/office/drawing/2014/main" val="453291459"/>
                  </a:ext>
                </a:extLst>
              </a:tr>
              <a:tr h="370840">
                <a:tc>
                  <a:txBody>
                    <a:bodyPr/>
                    <a:lstStyle/>
                    <a:p>
                      <a:endParaRPr lang="en-US" sz="1800" kern="1200">
                        <a:solidFill>
                          <a:schemeClr val="dk1"/>
                        </a:solidFill>
                        <a:latin typeface="+mn-lt"/>
                        <a:ea typeface="+mn-ea"/>
                        <a:cs typeface="+mn-cs"/>
                      </a:endParaRPr>
                    </a:p>
                  </a:txBody>
                  <a:tcPr>
                    <a:solidFill>
                      <a:schemeClr val="accent1">
                        <a:lumMod val="20000"/>
                        <a:lumOff val="80000"/>
                      </a:schemeClr>
                    </a:solidFill>
                  </a:tcPr>
                </a:tc>
                <a:tc>
                  <a:txBody>
                    <a:bodyPr/>
                    <a:lstStyle/>
                    <a:p>
                      <a:pPr algn="ctr"/>
                      <a:endParaRPr lang="en-US" sz="1800" kern="1200" dirty="0">
                        <a:solidFill>
                          <a:schemeClr val="dk1"/>
                        </a:solidFill>
                        <a:latin typeface="+mn-lt"/>
                        <a:ea typeface="+mn-ea"/>
                        <a:cs typeface="+mn-cs"/>
                      </a:endParaRPr>
                    </a:p>
                  </a:txBody>
                  <a:tcPr>
                    <a:solidFill>
                      <a:schemeClr val="accent1">
                        <a:lumMod val="20000"/>
                        <a:lumOff val="80000"/>
                      </a:schemeClr>
                    </a:solidFill>
                  </a:tcPr>
                </a:tc>
                <a:tc>
                  <a:txBody>
                    <a:bodyPr/>
                    <a:lstStyle/>
                    <a:p>
                      <a:pPr algn="ctr"/>
                      <a:r>
                        <a:rPr lang="en-US" sz="1800" kern="1200" dirty="0">
                          <a:solidFill>
                            <a:schemeClr val="dk1"/>
                          </a:solidFill>
                          <a:latin typeface="+mn-lt"/>
                          <a:ea typeface="+mn-ea"/>
                          <a:cs typeface="+mn-cs"/>
                        </a:rPr>
                        <a:t>8.1</a:t>
                      </a:r>
                    </a:p>
                  </a:txBody>
                  <a:tcPr>
                    <a:solidFill>
                      <a:schemeClr val="accent1">
                        <a:lumMod val="20000"/>
                        <a:lumOff val="80000"/>
                      </a:schemeClr>
                    </a:solidFill>
                  </a:tcPr>
                </a:tc>
                <a:tc>
                  <a:txBody>
                    <a:bodyPr/>
                    <a:lstStyle/>
                    <a:p>
                      <a:r>
                        <a:rPr lang="en-US" sz="1800" kern="1200" dirty="0">
                          <a:solidFill>
                            <a:schemeClr val="dk1"/>
                          </a:solidFill>
                          <a:latin typeface="+mn-lt"/>
                          <a:ea typeface="+mn-ea"/>
                          <a:cs typeface="+mn-cs"/>
                        </a:rPr>
                        <a:t>EB</a:t>
                      </a:r>
                    </a:p>
                  </a:txBody>
                  <a:tcPr>
                    <a:solidFill>
                      <a:schemeClr val="accent1">
                        <a:lumMod val="20000"/>
                        <a:lumOff val="80000"/>
                      </a:schemeClr>
                    </a:solidFill>
                  </a:tcPr>
                </a:tc>
                <a:extLst>
                  <a:ext uri="{0D108BD9-81ED-4DB2-BD59-A6C34878D82A}">
                    <a16:rowId xmlns:a16="http://schemas.microsoft.com/office/drawing/2014/main" val="3203045816"/>
                  </a:ext>
                </a:extLst>
              </a:tr>
            </a:tbl>
          </a:graphicData>
        </a:graphic>
      </p:graphicFrame>
      <p:sp>
        <p:nvSpPr>
          <p:cNvPr id="6" name="TextBox 5">
            <a:extLst>
              <a:ext uri="{FF2B5EF4-FFF2-40B4-BE49-F238E27FC236}">
                <a16:creationId xmlns:a16="http://schemas.microsoft.com/office/drawing/2014/main" id="{40DE0F84-2EF3-4F28-BCE3-353C275F16A9}"/>
              </a:ext>
            </a:extLst>
          </p:cNvPr>
          <p:cNvSpPr txBox="1"/>
          <p:nvPr/>
        </p:nvSpPr>
        <p:spPr>
          <a:xfrm>
            <a:off x="209550" y="1437918"/>
            <a:ext cx="1508449" cy="1477328"/>
          </a:xfrm>
          <a:prstGeom prst="rect">
            <a:avLst/>
          </a:prstGeom>
          <a:noFill/>
        </p:spPr>
        <p:txBody>
          <a:bodyPr wrap="square" rtlCol="0">
            <a:spAutoFit/>
          </a:bodyPr>
          <a:lstStyle/>
          <a:p>
            <a:r>
              <a:rPr lang="en-US" dirty="0"/>
              <a:t>No evidence</a:t>
            </a:r>
          </a:p>
          <a:p>
            <a:r>
              <a:rPr lang="en-US" dirty="0"/>
              <a:t>or sold or retired</a:t>
            </a:r>
          </a:p>
          <a:p>
            <a:r>
              <a:rPr lang="en-US" dirty="0"/>
              <a:t>Property &amp; Equipment</a:t>
            </a:r>
          </a:p>
        </p:txBody>
      </p:sp>
    </p:spTree>
    <p:extLst>
      <p:ext uri="{BB962C8B-B14F-4D97-AF65-F5344CB8AC3E}">
        <p14:creationId xmlns:p14="http://schemas.microsoft.com/office/powerpoint/2010/main" val="3490453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9D7DCDE6-5FE1-4F93-8216-AD1E83A83D49}" type="slidenum">
              <a:rPr lang="en-US" sz="1050"/>
              <a:pPr/>
              <a:t>30</a:t>
            </a:fld>
            <a:endParaRPr lang="en-US" sz="1050"/>
          </a:p>
        </p:txBody>
      </p:sp>
      <p:sp>
        <p:nvSpPr>
          <p:cNvPr id="16389" name="Rectangle 2"/>
          <p:cNvSpPr>
            <a:spLocks noGrp="1" noChangeArrowheads="1"/>
          </p:cNvSpPr>
          <p:nvPr>
            <p:ph type="title"/>
          </p:nvPr>
        </p:nvSpPr>
        <p:spPr/>
        <p:txBody>
          <a:bodyPr>
            <a:normAutofit/>
          </a:bodyPr>
          <a:lstStyle/>
          <a:p>
            <a:r>
              <a:rPr lang="en-US"/>
              <a:t>Coldwater</a:t>
            </a:r>
          </a:p>
        </p:txBody>
      </p:sp>
      <p:sp>
        <p:nvSpPr>
          <p:cNvPr id="80899" name="Rectangle 3"/>
          <p:cNvSpPr>
            <a:spLocks noGrp="1" noChangeArrowheads="1"/>
          </p:cNvSpPr>
          <p:nvPr>
            <p:ph type="body" idx="1"/>
          </p:nvPr>
        </p:nvSpPr>
        <p:spPr>
          <a:xfrm>
            <a:off x="1657350" y="1085850"/>
            <a:ext cx="5829300" cy="3657600"/>
          </a:xfrm>
        </p:spPr>
        <p:txBody>
          <a:bodyPr/>
          <a:lstStyle/>
          <a:p>
            <a:pPr>
              <a:buFontTx/>
              <a:buNone/>
            </a:pPr>
            <a:r>
              <a:rPr lang="en-US" sz="1800" dirty="0"/>
              <a:t>And this explains the accumulated depreciation account</a:t>
            </a:r>
          </a:p>
          <a:p>
            <a:pPr>
              <a:buFontTx/>
              <a:buNone/>
            </a:pPr>
            <a:r>
              <a:rPr lang="en-US" sz="1800" dirty="0"/>
              <a:t>	(9)  SG&amp;A (depreciation expense)………  3.8</a:t>
            </a:r>
          </a:p>
          <a:p>
            <a:pPr>
              <a:buFontTx/>
              <a:buNone/>
            </a:pPr>
            <a:r>
              <a:rPr lang="en-US" sz="1800" dirty="0"/>
              <a:t>			</a:t>
            </a:r>
            <a:r>
              <a:rPr lang="en-US" sz="1800" dirty="0" err="1"/>
              <a:t>Accum</a:t>
            </a:r>
            <a:r>
              <a:rPr lang="en-US" sz="1800" dirty="0"/>
              <a:t>. Depreciation…….			3.8</a:t>
            </a:r>
          </a:p>
          <a:p>
            <a:pPr>
              <a:buFontTx/>
              <a:buNone/>
            </a:pPr>
            <a:endParaRPr lang="en-US" sz="1800" dirty="0"/>
          </a:p>
        </p:txBody>
      </p:sp>
      <p:graphicFrame>
        <p:nvGraphicFramePr>
          <p:cNvPr id="2" name="Object 1"/>
          <p:cNvGraphicFramePr>
            <a:graphicFrameLocks noChangeAspect="1"/>
          </p:cNvGraphicFramePr>
          <p:nvPr/>
        </p:nvGraphicFramePr>
        <p:xfrm>
          <a:off x="4857750" y="2400300"/>
          <a:ext cx="2805113" cy="1943100"/>
        </p:xfrm>
        <a:graphic>
          <a:graphicData uri="http://schemas.openxmlformats.org/presentationml/2006/ole">
            <mc:AlternateContent xmlns:mc="http://schemas.openxmlformats.org/markup-compatibility/2006">
              <mc:Choice xmlns:v="urn:schemas-microsoft-com:vml" Requires="v">
                <p:oleObj name="Worksheet" r:id="rId2" imgW="1704992" imgH="1180969" progId="Excel.Sheet.8">
                  <p:embed/>
                </p:oleObj>
              </mc:Choice>
              <mc:Fallback>
                <p:oleObj name="Worksheet" r:id="rId2" imgW="1704992" imgH="1180969" progId="Excel.Sheet.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0" y="2400300"/>
                        <a:ext cx="2805113" cy="194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811213" y="2628900"/>
          <a:ext cx="3536950" cy="1000125"/>
        </p:xfrm>
        <a:graphic>
          <a:graphicData uri="http://schemas.openxmlformats.org/presentationml/2006/ole">
            <mc:AlternateContent xmlns:mc="http://schemas.openxmlformats.org/markup-compatibility/2006">
              <mc:Choice xmlns:v="urn:schemas-microsoft-com:vml" Requires="v">
                <p:oleObj name="Worksheet" r:id="rId4" imgW="1819240" imgH="514506" progId="Excel.Sheet.8">
                  <p:embed/>
                </p:oleObj>
              </mc:Choice>
              <mc:Fallback>
                <p:oleObj name="Worksheet" r:id="rId4" imgW="1819240" imgH="514506" progId="Excel.Sheet.8">
                  <p:embed/>
                  <p:pic>
                    <p:nvPicPr>
                      <p:cNvPr id="3" name="Object 2"/>
                      <p:cNvPicPr>
                        <a:picLocks noChangeAspect="1" noChangeArrowheads="1"/>
                      </p:cNvPicPr>
                      <p:nvPr/>
                    </p:nvPicPr>
                    <p:blipFill>
                      <a:blip r:embed="rId5"/>
                      <a:srcRect/>
                      <a:stretch>
                        <a:fillRect/>
                      </a:stretch>
                    </p:blipFill>
                    <p:spPr bwMode="auto">
                      <a:xfrm>
                        <a:off x="811213" y="2628900"/>
                        <a:ext cx="3536950"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7456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9D7DCDE6-5FE1-4F93-8216-AD1E83A83D49}" type="slidenum">
              <a:rPr lang="en-US" sz="1050"/>
              <a:pPr/>
              <a:t>31</a:t>
            </a:fld>
            <a:endParaRPr lang="en-US" sz="1050"/>
          </a:p>
        </p:txBody>
      </p:sp>
      <p:sp>
        <p:nvSpPr>
          <p:cNvPr id="16389" name="Rectangle 2"/>
          <p:cNvSpPr>
            <a:spLocks noGrp="1" noChangeArrowheads="1"/>
          </p:cNvSpPr>
          <p:nvPr>
            <p:ph type="title"/>
          </p:nvPr>
        </p:nvSpPr>
        <p:spPr>
          <a:xfrm>
            <a:off x="1485900" y="205978"/>
            <a:ext cx="6172200" cy="479822"/>
          </a:xfrm>
        </p:spPr>
        <p:txBody>
          <a:bodyPr>
            <a:noAutofit/>
          </a:bodyPr>
          <a:lstStyle/>
          <a:p>
            <a:r>
              <a:rPr lang="en-US" dirty="0"/>
              <a:t>Coldwater</a:t>
            </a:r>
          </a:p>
        </p:txBody>
      </p:sp>
      <p:sp>
        <p:nvSpPr>
          <p:cNvPr id="80899" name="Rectangle 3"/>
          <p:cNvSpPr>
            <a:spLocks noGrp="1" noChangeArrowheads="1"/>
          </p:cNvSpPr>
          <p:nvPr>
            <p:ph type="body" idx="1"/>
          </p:nvPr>
        </p:nvSpPr>
        <p:spPr>
          <a:xfrm>
            <a:off x="1714500" y="628650"/>
            <a:ext cx="5829300" cy="3657600"/>
          </a:xfrm>
        </p:spPr>
        <p:txBody>
          <a:bodyPr/>
          <a:lstStyle/>
          <a:p>
            <a:pPr>
              <a:buFontTx/>
              <a:buNone/>
            </a:pPr>
            <a:r>
              <a:rPr lang="en-US" sz="1800" dirty="0"/>
              <a:t>Now have explained the change in:</a:t>
            </a:r>
          </a:p>
          <a:p>
            <a:pPr>
              <a:buFontTx/>
              <a:buNone/>
            </a:pPr>
            <a:r>
              <a:rPr lang="en-US" sz="1800" dirty="0"/>
              <a:t>Deferred and Payable Taxes</a:t>
            </a:r>
          </a:p>
          <a:p>
            <a:pPr>
              <a:buFontTx/>
              <a:buNone/>
            </a:pPr>
            <a:r>
              <a:rPr lang="en-US" sz="1800" dirty="0"/>
              <a:t>Provision for Taxes</a:t>
            </a:r>
          </a:p>
          <a:p>
            <a:pPr>
              <a:buFontTx/>
              <a:buNone/>
            </a:pPr>
            <a:r>
              <a:rPr lang="en-US" sz="1800" dirty="0"/>
              <a:t>The following accounts for the interest revenue (.1 is smallest unit)</a:t>
            </a:r>
          </a:p>
          <a:p>
            <a:pPr>
              <a:buFontTx/>
              <a:buNone/>
            </a:pPr>
            <a:r>
              <a:rPr lang="en-US" sz="1800" dirty="0"/>
              <a:t>	(8)  Cash…………………………………   .1</a:t>
            </a:r>
          </a:p>
          <a:p>
            <a:pPr>
              <a:buFontTx/>
              <a:buNone/>
            </a:pPr>
            <a:r>
              <a:rPr lang="en-US" sz="1800" dirty="0"/>
              <a:t>			Interest revenue………….		 .1</a:t>
            </a:r>
          </a:p>
          <a:p>
            <a:pPr>
              <a:buFontTx/>
              <a:buNone/>
            </a:pPr>
            <a:endParaRPr lang="en-US" sz="1800" dirty="0"/>
          </a:p>
        </p:txBody>
      </p:sp>
      <p:graphicFrame>
        <p:nvGraphicFramePr>
          <p:cNvPr id="2" name="Object 1"/>
          <p:cNvGraphicFramePr>
            <a:graphicFrameLocks noChangeAspect="1"/>
          </p:cNvGraphicFramePr>
          <p:nvPr/>
        </p:nvGraphicFramePr>
        <p:xfrm>
          <a:off x="5775649" y="2708275"/>
          <a:ext cx="2286000" cy="2012950"/>
        </p:xfrm>
        <a:graphic>
          <a:graphicData uri="http://schemas.openxmlformats.org/presentationml/2006/ole">
            <mc:AlternateContent xmlns:mc="http://schemas.openxmlformats.org/markup-compatibility/2006">
              <mc:Choice xmlns:v="urn:schemas-microsoft-com:vml" Requires="v">
                <p:oleObj name="Worksheet" r:id="rId2" imgW="1704940" imgH="1504898" progId="Excel.Sheet.8">
                  <p:embed/>
                </p:oleObj>
              </mc:Choice>
              <mc:Fallback>
                <p:oleObj name="Worksheet" r:id="rId2" imgW="1704940" imgH="1504898" progId="Excel.Sheet.8">
                  <p:embed/>
                  <p:pic>
                    <p:nvPicPr>
                      <p:cNvPr id="2" name="Object 1"/>
                      <p:cNvPicPr>
                        <a:picLocks noChangeAspect="1" noChangeArrowheads="1"/>
                      </p:cNvPicPr>
                      <p:nvPr/>
                    </p:nvPicPr>
                    <p:blipFill>
                      <a:blip r:embed="rId3"/>
                      <a:srcRect/>
                      <a:stretch>
                        <a:fillRect/>
                      </a:stretch>
                    </p:blipFill>
                    <p:spPr bwMode="auto">
                      <a:xfrm>
                        <a:off x="5775649" y="2708275"/>
                        <a:ext cx="2286000"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2"/>
          <p:cNvGraphicFramePr>
            <a:graphicFrameLocks noChangeAspect="1"/>
          </p:cNvGraphicFramePr>
          <p:nvPr/>
        </p:nvGraphicFramePr>
        <p:xfrm>
          <a:off x="1371600" y="3200400"/>
          <a:ext cx="2743200" cy="827088"/>
        </p:xfrm>
        <a:graphic>
          <a:graphicData uri="http://schemas.openxmlformats.org/presentationml/2006/ole">
            <mc:AlternateContent xmlns:mc="http://schemas.openxmlformats.org/markup-compatibility/2006">
              <mc:Choice xmlns:v="urn:schemas-microsoft-com:vml" Requires="v">
                <p:oleObj name="Worksheet" r:id="rId4" imgW="1704940" imgH="514506" progId="Excel.Sheet.8">
                  <p:embed/>
                </p:oleObj>
              </mc:Choice>
              <mc:Fallback>
                <p:oleObj name="Worksheet" r:id="rId4" imgW="1704940" imgH="514506" progId="Excel.Sheet.8">
                  <p:embed/>
                  <p:pic>
                    <p:nvPicPr>
                      <p:cNvPr id="3" name="Object 2"/>
                      <p:cNvPicPr>
                        <a:picLocks noChangeAspect="1" noChangeArrowheads="1"/>
                      </p:cNvPicPr>
                      <p:nvPr/>
                    </p:nvPicPr>
                    <p:blipFill>
                      <a:blip r:embed="rId5"/>
                      <a:srcRect/>
                      <a:stretch>
                        <a:fillRect/>
                      </a:stretch>
                    </p:blipFill>
                    <p:spPr bwMode="auto">
                      <a:xfrm>
                        <a:off x="1371600" y="3200400"/>
                        <a:ext cx="2743200" cy="827088"/>
                      </a:xfrm>
                      <a:prstGeom prst="rect">
                        <a:avLst/>
                      </a:prstGeom>
                      <a:noFill/>
                    </p:spPr>
                  </p:pic>
                </p:oleObj>
              </mc:Fallback>
            </mc:AlternateContent>
          </a:graphicData>
        </a:graphic>
      </p:graphicFrame>
    </p:spTree>
    <p:extLst>
      <p:ext uri="{BB962C8B-B14F-4D97-AF65-F5344CB8AC3E}">
        <p14:creationId xmlns:p14="http://schemas.microsoft.com/office/powerpoint/2010/main" val="529762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9BA7242B-DF7E-496E-8A7D-66661BF1C130}" type="slidenum">
              <a:rPr lang="en-US" sz="1050"/>
              <a:pPr/>
              <a:t>32</a:t>
            </a:fld>
            <a:endParaRPr lang="en-US" sz="1050"/>
          </a:p>
        </p:txBody>
      </p:sp>
      <p:sp>
        <p:nvSpPr>
          <p:cNvPr id="18437" name="Rectangle 2"/>
          <p:cNvSpPr>
            <a:spLocks noGrp="1" noChangeArrowheads="1"/>
          </p:cNvSpPr>
          <p:nvPr>
            <p:ph type="title"/>
          </p:nvPr>
        </p:nvSpPr>
        <p:spPr/>
        <p:txBody>
          <a:bodyPr>
            <a:normAutofit/>
          </a:bodyPr>
          <a:lstStyle/>
          <a:p>
            <a:r>
              <a:rPr lang="en-US" dirty="0"/>
              <a:t>Coldwater</a:t>
            </a:r>
          </a:p>
        </p:txBody>
      </p:sp>
      <p:sp>
        <p:nvSpPr>
          <p:cNvPr id="18438" name="Rectangle 3"/>
          <p:cNvSpPr>
            <a:spLocks noGrp="1" noChangeArrowheads="1"/>
          </p:cNvSpPr>
          <p:nvPr>
            <p:ph type="body" idx="1"/>
          </p:nvPr>
        </p:nvSpPr>
        <p:spPr>
          <a:xfrm>
            <a:off x="1657350" y="1085850"/>
            <a:ext cx="6789066" cy="3657600"/>
          </a:xfrm>
        </p:spPr>
        <p:txBody>
          <a:bodyPr/>
          <a:lstStyle/>
          <a:p>
            <a:pPr>
              <a:buFontTx/>
              <a:buNone/>
            </a:pPr>
            <a:r>
              <a:rPr lang="en-US" sz="1800" dirty="0"/>
              <a:t>(10) SG&amp;A (Amortization of Catalog costs)</a:t>
            </a:r>
            <a:r>
              <a:rPr lang="is-IS" sz="1800" dirty="0"/>
              <a:t>…......</a:t>
            </a:r>
            <a:r>
              <a:rPr lang="en-US" sz="1800" dirty="0"/>
              <a:t> 66.6</a:t>
            </a:r>
          </a:p>
          <a:p>
            <a:pPr>
              <a:buFontTx/>
              <a:buNone/>
            </a:pPr>
            <a:r>
              <a:rPr lang="en-US" sz="1800" dirty="0"/>
              <a:t>		 	Catalog costs……………..           				66.6 (Note 1)</a:t>
            </a:r>
          </a:p>
          <a:p>
            <a:pPr>
              <a:buFontTx/>
              <a:buNone/>
            </a:pPr>
            <a:r>
              <a:rPr lang="en-US" sz="1800" dirty="0"/>
              <a:t>    	</a:t>
            </a:r>
          </a:p>
        </p:txBody>
      </p:sp>
      <p:graphicFrame>
        <p:nvGraphicFramePr>
          <p:cNvPr id="2" name="Object 1"/>
          <p:cNvGraphicFramePr>
            <a:graphicFrameLocks noChangeAspect="1"/>
          </p:cNvGraphicFramePr>
          <p:nvPr/>
        </p:nvGraphicFramePr>
        <p:xfrm>
          <a:off x="1257301" y="2628900"/>
          <a:ext cx="3870722" cy="1314450"/>
        </p:xfrm>
        <a:graphic>
          <a:graphicData uri="http://schemas.openxmlformats.org/presentationml/2006/ole">
            <mc:AlternateContent xmlns:mc="http://schemas.openxmlformats.org/markup-compatibility/2006">
              <mc:Choice xmlns:v="urn:schemas-microsoft-com:vml" Requires="v">
                <p:oleObj name="Worksheet" r:id="rId2" imgW="1990641" imgH="676268" progId="Excel.Sheet.8">
                  <p:embed/>
                </p:oleObj>
              </mc:Choice>
              <mc:Fallback>
                <p:oleObj name="Worksheet" r:id="rId2" imgW="1990641" imgH="676268" progId="Excel.Sheet.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1" y="2628900"/>
                        <a:ext cx="3870722" cy="131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4972050" y="2857500"/>
          <a:ext cx="2805113" cy="1943100"/>
        </p:xfrm>
        <a:graphic>
          <a:graphicData uri="http://schemas.openxmlformats.org/presentationml/2006/ole">
            <mc:AlternateContent xmlns:mc="http://schemas.openxmlformats.org/markup-compatibility/2006">
              <mc:Choice xmlns:v="urn:schemas-microsoft-com:vml" Requires="v">
                <p:oleObj name="Worksheet" r:id="rId4" imgW="1704992" imgH="1180969" progId="Excel.Sheet.8">
                  <p:embed/>
                </p:oleObj>
              </mc:Choice>
              <mc:Fallback>
                <p:oleObj name="Worksheet" r:id="rId4" imgW="1704992" imgH="1180969" progId="Excel.Sheet.8">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2050" y="2857500"/>
                        <a:ext cx="2805113" cy="194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03409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9BA7242B-DF7E-496E-8A7D-66661BF1C130}" type="slidenum">
              <a:rPr lang="en-US" sz="1050"/>
              <a:pPr/>
              <a:t>33</a:t>
            </a:fld>
            <a:endParaRPr lang="en-US" sz="1050"/>
          </a:p>
        </p:txBody>
      </p:sp>
      <p:sp>
        <p:nvSpPr>
          <p:cNvPr id="18437" name="Rectangle 2"/>
          <p:cNvSpPr>
            <a:spLocks noGrp="1" noChangeArrowheads="1"/>
          </p:cNvSpPr>
          <p:nvPr>
            <p:ph type="title"/>
          </p:nvPr>
        </p:nvSpPr>
        <p:spPr/>
        <p:txBody>
          <a:bodyPr/>
          <a:lstStyle/>
          <a:p>
            <a:r>
              <a:rPr lang="en-US" sz="2400"/>
              <a:t>Coldwater</a:t>
            </a:r>
          </a:p>
        </p:txBody>
      </p:sp>
      <p:sp>
        <p:nvSpPr>
          <p:cNvPr id="18438" name="Rectangle 3"/>
          <p:cNvSpPr>
            <a:spLocks noGrp="1" noChangeArrowheads="1"/>
          </p:cNvSpPr>
          <p:nvPr>
            <p:ph type="body" idx="1"/>
          </p:nvPr>
        </p:nvSpPr>
        <p:spPr>
          <a:xfrm>
            <a:off x="1657350" y="1085850"/>
            <a:ext cx="6172200" cy="3657600"/>
          </a:xfrm>
        </p:spPr>
        <p:txBody>
          <a:bodyPr/>
          <a:lstStyle/>
          <a:p>
            <a:pPr>
              <a:buFontTx/>
              <a:buNone/>
            </a:pPr>
            <a:r>
              <a:rPr lang="en-US" sz="1800" dirty="0"/>
              <a:t>	    (11) Catalog costs……………………….      71.7 (plug)</a:t>
            </a:r>
          </a:p>
          <a:p>
            <a:pPr>
              <a:buFontTx/>
              <a:buNone/>
            </a:pPr>
            <a:r>
              <a:rPr lang="en-US" sz="1800" dirty="0"/>
              <a:t>				Accrued liabilities……….					71.7</a:t>
            </a:r>
          </a:p>
          <a:p>
            <a:pPr>
              <a:buFontTx/>
              <a:buNone/>
            </a:pPr>
            <a:endParaRPr lang="en-US" sz="1800" dirty="0"/>
          </a:p>
        </p:txBody>
      </p:sp>
      <p:graphicFrame>
        <p:nvGraphicFramePr>
          <p:cNvPr id="2" name="Object 1"/>
          <p:cNvGraphicFramePr>
            <a:graphicFrameLocks noChangeAspect="1"/>
          </p:cNvGraphicFramePr>
          <p:nvPr/>
        </p:nvGraphicFramePr>
        <p:xfrm>
          <a:off x="1766887" y="2438400"/>
          <a:ext cx="2805113" cy="1676400"/>
        </p:xfrm>
        <a:graphic>
          <a:graphicData uri="http://schemas.openxmlformats.org/presentationml/2006/ole">
            <mc:AlternateContent xmlns:mc="http://schemas.openxmlformats.org/markup-compatibility/2006">
              <mc:Choice xmlns:v="urn:schemas-microsoft-com:vml" Requires="v">
                <p:oleObj name="Worksheet" r:id="rId2" imgW="1704940" imgH="1019045" progId="Excel.Sheet.8">
                  <p:embed/>
                </p:oleObj>
              </mc:Choice>
              <mc:Fallback>
                <p:oleObj name="Worksheet" r:id="rId2" imgW="1704940" imgH="1019045" progId="Excel.Sheet.8">
                  <p:embed/>
                  <p:pic>
                    <p:nvPicPr>
                      <p:cNvPr id="2" name="Object 1"/>
                      <p:cNvPicPr>
                        <a:picLocks noChangeAspect="1" noChangeArrowheads="1"/>
                      </p:cNvPicPr>
                      <p:nvPr/>
                    </p:nvPicPr>
                    <p:blipFill>
                      <a:blip r:embed="rId3"/>
                      <a:srcRect/>
                      <a:stretch>
                        <a:fillRect/>
                      </a:stretch>
                    </p:blipFill>
                    <p:spPr bwMode="auto">
                      <a:xfrm>
                        <a:off x="1766887" y="2438400"/>
                        <a:ext cx="28051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5024437" y="2438400"/>
          <a:ext cx="2805113" cy="1676400"/>
        </p:xfrm>
        <a:graphic>
          <a:graphicData uri="http://schemas.openxmlformats.org/presentationml/2006/ole">
            <mc:AlternateContent xmlns:mc="http://schemas.openxmlformats.org/markup-compatibility/2006">
              <mc:Choice xmlns:v="urn:schemas-microsoft-com:vml" Requires="v">
                <p:oleObj name="Worksheet" r:id="rId4" imgW="1704940" imgH="1019045" progId="Excel.Sheet.8">
                  <p:embed/>
                </p:oleObj>
              </mc:Choice>
              <mc:Fallback>
                <p:oleObj name="Worksheet" r:id="rId4" imgW="1704940" imgH="1019045" progId="Excel.Sheet.8">
                  <p:embed/>
                  <p:pic>
                    <p:nvPicPr>
                      <p:cNvPr id="3" name="Object 2"/>
                      <p:cNvPicPr>
                        <a:picLocks noChangeAspect="1" noChangeArrowheads="1"/>
                      </p:cNvPicPr>
                      <p:nvPr/>
                    </p:nvPicPr>
                    <p:blipFill>
                      <a:blip r:embed="rId5"/>
                      <a:srcRect/>
                      <a:stretch>
                        <a:fillRect/>
                      </a:stretch>
                    </p:blipFill>
                    <p:spPr bwMode="auto">
                      <a:xfrm>
                        <a:off x="5024437" y="2438400"/>
                        <a:ext cx="28051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73494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A30ACE0B-E3A8-49CC-9575-E7FB62C62E36}" type="slidenum">
              <a:rPr lang="en-US" sz="1050"/>
              <a:pPr/>
              <a:t>34</a:t>
            </a:fld>
            <a:endParaRPr lang="en-US" sz="1050"/>
          </a:p>
        </p:txBody>
      </p:sp>
      <p:sp>
        <p:nvSpPr>
          <p:cNvPr id="19461" name="Rectangle 2"/>
          <p:cNvSpPr>
            <a:spLocks noGrp="1" noChangeArrowheads="1"/>
          </p:cNvSpPr>
          <p:nvPr>
            <p:ph type="title"/>
          </p:nvPr>
        </p:nvSpPr>
        <p:spPr>
          <a:xfrm>
            <a:off x="1485900" y="114300"/>
            <a:ext cx="6172200" cy="457200"/>
          </a:xfrm>
        </p:spPr>
        <p:txBody>
          <a:bodyPr>
            <a:normAutofit/>
          </a:bodyPr>
          <a:lstStyle/>
          <a:p>
            <a:r>
              <a:rPr lang="en-US" sz="2400" dirty="0"/>
              <a:t>Coldwater</a:t>
            </a:r>
          </a:p>
        </p:txBody>
      </p:sp>
      <p:sp>
        <p:nvSpPr>
          <p:cNvPr id="81923" name="Rectangle 3"/>
          <p:cNvSpPr>
            <a:spLocks noGrp="1" noChangeArrowheads="1"/>
          </p:cNvSpPr>
          <p:nvPr>
            <p:ph type="body" idx="1"/>
          </p:nvPr>
        </p:nvSpPr>
        <p:spPr>
          <a:xfrm>
            <a:off x="1657350" y="571500"/>
            <a:ext cx="5829300" cy="4229100"/>
          </a:xfrm>
        </p:spPr>
        <p:txBody>
          <a:bodyPr/>
          <a:lstStyle/>
          <a:p>
            <a:pPr marL="0" indent="0">
              <a:buNone/>
            </a:pPr>
            <a:endParaRPr lang="en-US" sz="1800" dirty="0"/>
          </a:p>
          <a:p>
            <a:pPr marL="0" indent="0">
              <a:buNone/>
            </a:pPr>
            <a:endParaRPr lang="en-US" sz="1800" dirty="0"/>
          </a:p>
          <a:p>
            <a:pPr marL="0" indent="0">
              <a:buNone/>
            </a:pPr>
            <a:r>
              <a:rPr lang="en-US" sz="1800" dirty="0"/>
              <a:t>(12)  Executive loan…………………..    1.6</a:t>
            </a:r>
          </a:p>
          <a:p>
            <a:pPr>
              <a:buFontTx/>
              <a:buNone/>
            </a:pPr>
            <a:r>
              <a:rPr lang="en-US" sz="1800" dirty="0"/>
              <a:t>			Cash……………………		  		 1.6</a:t>
            </a:r>
          </a:p>
          <a:p>
            <a:pPr>
              <a:buFontTx/>
              <a:buNone/>
            </a:pPr>
            <a:endParaRPr lang="en-US" sz="1800" dirty="0"/>
          </a:p>
          <a:p>
            <a:pPr>
              <a:buFontTx/>
              <a:buNone/>
            </a:pPr>
            <a:endParaRPr lang="en-US" sz="1800" dirty="0"/>
          </a:p>
          <a:p>
            <a:pPr>
              <a:buFontTx/>
              <a:buNone/>
            </a:pPr>
            <a:endParaRPr lang="en-US" sz="1800" dirty="0"/>
          </a:p>
          <a:p>
            <a:pPr>
              <a:buFontTx/>
              <a:buNone/>
            </a:pPr>
            <a:endParaRPr lang="en-US" sz="1800" dirty="0"/>
          </a:p>
          <a:p>
            <a:pPr>
              <a:buFontTx/>
              <a:buNone/>
            </a:pPr>
            <a:endParaRPr lang="en-US" sz="1800" dirty="0"/>
          </a:p>
        </p:txBody>
      </p:sp>
      <p:graphicFrame>
        <p:nvGraphicFramePr>
          <p:cNvPr id="2" name="Object 1"/>
          <p:cNvGraphicFramePr>
            <a:graphicFrameLocks noChangeAspect="1"/>
          </p:cNvGraphicFramePr>
          <p:nvPr/>
        </p:nvGraphicFramePr>
        <p:xfrm>
          <a:off x="1371600" y="2514600"/>
          <a:ext cx="3314700" cy="1314450"/>
        </p:xfrm>
        <a:graphic>
          <a:graphicData uri="http://schemas.openxmlformats.org/presentationml/2006/ole">
            <mc:AlternateContent xmlns:mc="http://schemas.openxmlformats.org/markup-compatibility/2006">
              <mc:Choice xmlns:v="urn:schemas-microsoft-com:vml" Requires="v">
                <p:oleObj name="Worksheet" r:id="rId2" imgW="1704992" imgH="676268" progId="Excel.Sheet.8">
                  <p:embed/>
                </p:oleObj>
              </mc:Choice>
              <mc:Fallback>
                <p:oleObj name="Worksheet" r:id="rId2" imgW="1704992" imgH="676268" progId="Excel.Sheet.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514600"/>
                        <a:ext cx="3314700" cy="131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5286375" y="2393950"/>
          <a:ext cx="2286000" cy="2012950"/>
        </p:xfrm>
        <a:graphic>
          <a:graphicData uri="http://schemas.openxmlformats.org/presentationml/2006/ole">
            <mc:AlternateContent xmlns:mc="http://schemas.openxmlformats.org/markup-compatibility/2006">
              <mc:Choice xmlns:v="urn:schemas-microsoft-com:vml" Requires="v">
                <p:oleObj name="Worksheet" r:id="rId4" imgW="1704940" imgH="1504898" progId="Excel.Sheet.8">
                  <p:embed/>
                </p:oleObj>
              </mc:Choice>
              <mc:Fallback>
                <p:oleObj name="Worksheet" r:id="rId4" imgW="1704940" imgH="1504898" progId="Excel.Sheet.8">
                  <p:embed/>
                  <p:pic>
                    <p:nvPicPr>
                      <p:cNvPr id="3" name="Object 2"/>
                      <p:cNvPicPr>
                        <a:picLocks noChangeAspect="1" noChangeArrowheads="1"/>
                      </p:cNvPicPr>
                      <p:nvPr/>
                    </p:nvPicPr>
                    <p:blipFill>
                      <a:blip r:embed="rId5"/>
                      <a:srcRect/>
                      <a:stretch>
                        <a:fillRect/>
                      </a:stretch>
                    </p:blipFill>
                    <p:spPr bwMode="auto">
                      <a:xfrm>
                        <a:off x="5286375" y="2393950"/>
                        <a:ext cx="2286000"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97257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A30ACE0B-E3A8-49CC-9575-E7FB62C62E36}" type="slidenum">
              <a:rPr lang="en-US" sz="1050"/>
              <a:pPr/>
              <a:t>35</a:t>
            </a:fld>
            <a:endParaRPr lang="en-US" sz="1050"/>
          </a:p>
        </p:txBody>
      </p:sp>
      <p:sp>
        <p:nvSpPr>
          <p:cNvPr id="19461" name="Rectangle 2"/>
          <p:cNvSpPr>
            <a:spLocks noGrp="1" noChangeArrowheads="1"/>
          </p:cNvSpPr>
          <p:nvPr>
            <p:ph type="title"/>
          </p:nvPr>
        </p:nvSpPr>
        <p:spPr>
          <a:xfrm>
            <a:off x="1485900" y="114300"/>
            <a:ext cx="6172200" cy="457200"/>
          </a:xfrm>
        </p:spPr>
        <p:txBody>
          <a:bodyPr>
            <a:normAutofit/>
          </a:bodyPr>
          <a:lstStyle/>
          <a:p>
            <a:r>
              <a:rPr lang="en-US" sz="2400" dirty="0"/>
              <a:t>Coldwater</a:t>
            </a:r>
          </a:p>
        </p:txBody>
      </p:sp>
      <p:sp>
        <p:nvSpPr>
          <p:cNvPr id="81923" name="Rectangle 3"/>
          <p:cNvSpPr>
            <a:spLocks noGrp="1" noChangeArrowheads="1"/>
          </p:cNvSpPr>
          <p:nvPr>
            <p:ph type="body" idx="1"/>
          </p:nvPr>
        </p:nvSpPr>
        <p:spPr>
          <a:xfrm>
            <a:off x="1657350" y="571500"/>
            <a:ext cx="5829300" cy="4229100"/>
          </a:xfrm>
        </p:spPr>
        <p:txBody>
          <a:bodyPr/>
          <a:lstStyle/>
          <a:p>
            <a:pPr>
              <a:buFontTx/>
              <a:buNone/>
            </a:pPr>
            <a:endParaRPr lang="en-US" sz="1800" dirty="0"/>
          </a:p>
          <a:p>
            <a:pPr>
              <a:buFontTx/>
              <a:buNone/>
            </a:pPr>
            <a:endParaRPr lang="en-US" sz="1800" dirty="0"/>
          </a:p>
          <a:p>
            <a:pPr>
              <a:buFontTx/>
              <a:buNone/>
            </a:pPr>
            <a:r>
              <a:rPr lang="en-US" sz="1800" dirty="0"/>
              <a:t>(13)  PP&amp;E……………………………. 10.3</a:t>
            </a:r>
          </a:p>
          <a:p>
            <a:pPr>
              <a:buFontTx/>
              <a:buNone/>
            </a:pPr>
            <a:r>
              <a:rPr lang="en-US" sz="1800" dirty="0"/>
              <a:t>			Cash……………………		 10.3</a:t>
            </a:r>
          </a:p>
          <a:p>
            <a:pPr>
              <a:buFontTx/>
              <a:buNone/>
            </a:pPr>
            <a:r>
              <a:rPr lang="en-US" sz="1800" dirty="0"/>
              <a:t>		</a:t>
            </a:r>
          </a:p>
        </p:txBody>
      </p:sp>
      <p:graphicFrame>
        <p:nvGraphicFramePr>
          <p:cNvPr id="3" name="Object 2"/>
          <p:cNvGraphicFramePr>
            <a:graphicFrameLocks noChangeAspect="1"/>
          </p:cNvGraphicFramePr>
          <p:nvPr/>
        </p:nvGraphicFramePr>
        <p:xfrm>
          <a:off x="5286375" y="2279650"/>
          <a:ext cx="2286000" cy="2011363"/>
        </p:xfrm>
        <a:graphic>
          <a:graphicData uri="http://schemas.openxmlformats.org/presentationml/2006/ole">
            <mc:AlternateContent xmlns:mc="http://schemas.openxmlformats.org/markup-compatibility/2006">
              <mc:Choice xmlns:v="urn:schemas-microsoft-com:vml" Requires="v">
                <p:oleObj name="Worksheet" r:id="rId2" imgW="1704940" imgH="1504898" progId="Excel.Sheet.8">
                  <p:embed/>
                </p:oleObj>
              </mc:Choice>
              <mc:Fallback>
                <p:oleObj name="Worksheet" r:id="rId2" imgW="1704940" imgH="1504898" progId="Excel.Sheet.8">
                  <p:embed/>
                  <p:pic>
                    <p:nvPicPr>
                      <p:cNvPr id="3" name="Object 2"/>
                      <p:cNvPicPr>
                        <a:picLocks noChangeAspect="1" noChangeArrowheads="1"/>
                      </p:cNvPicPr>
                      <p:nvPr/>
                    </p:nvPicPr>
                    <p:blipFill>
                      <a:blip r:embed="rId3"/>
                      <a:srcRect/>
                      <a:stretch>
                        <a:fillRect/>
                      </a:stretch>
                    </p:blipFill>
                    <p:spPr bwMode="auto">
                      <a:xfrm>
                        <a:off x="5286375" y="2279650"/>
                        <a:ext cx="2286000"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3"/>
          <p:cNvGraphicFramePr>
            <a:graphicFrameLocks noChangeAspect="1"/>
          </p:cNvGraphicFramePr>
          <p:nvPr/>
        </p:nvGraphicFramePr>
        <p:xfrm>
          <a:off x="2057400" y="2457450"/>
          <a:ext cx="2265363" cy="1328738"/>
        </p:xfrm>
        <a:graphic>
          <a:graphicData uri="http://schemas.openxmlformats.org/presentationml/2006/ole">
            <mc:AlternateContent xmlns:mc="http://schemas.openxmlformats.org/markup-compatibility/2006">
              <mc:Choice xmlns:v="urn:schemas-microsoft-com:vml" Requires="v">
                <p:oleObj name="Worksheet" r:id="rId4" imgW="1704940" imgH="999943" progId="Excel.Sheet.8">
                  <p:embed/>
                </p:oleObj>
              </mc:Choice>
              <mc:Fallback>
                <p:oleObj name="Worksheet" r:id="rId4" imgW="1704940" imgH="999943" progId="Excel.Sheet.8">
                  <p:embed/>
                  <p:pic>
                    <p:nvPicPr>
                      <p:cNvPr id="4" name="Object 3"/>
                      <p:cNvPicPr>
                        <a:picLocks noChangeAspect="1" noChangeArrowheads="1"/>
                      </p:cNvPicPr>
                      <p:nvPr/>
                    </p:nvPicPr>
                    <p:blipFill>
                      <a:blip r:embed="rId5"/>
                      <a:srcRect/>
                      <a:stretch>
                        <a:fillRect/>
                      </a:stretch>
                    </p:blipFill>
                    <p:spPr bwMode="auto">
                      <a:xfrm>
                        <a:off x="2057400" y="2457450"/>
                        <a:ext cx="2265363" cy="1328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2252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A30ACE0B-E3A8-49CC-9575-E7FB62C62E36}" type="slidenum">
              <a:rPr lang="en-US" sz="1050"/>
              <a:pPr/>
              <a:t>36</a:t>
            </a:fld>
            <a:endParaRPr lang="en-US" sz="1050"/>
          </a:p>
        </p:txBody>
      </p:sp>
      <p:sp>
        <p:nvSpPr>
          <p:cNvPr id="19461" name="Rectangle 2"/>
          <p:cNvSpPr>
            <a:spLocks noGrp="1" noChangeArrowheads="1"/>
          </p:cNvSpPr>
          <p:nvPr>
            <p:ph type="title"/>
          </p:nvPr>
        </p:nvSpPr>
        <p:spPr>
          <a:xfrm>
            <a:off x="1485900" y="114300"/>
            <a:ext cx="6172200" cy="457200"/>
          </a:xfrm>
        </p:spPr>
        <p:txBody>
          <a:bodyPr>
            <a:normAutofit/>
          </a:bodyPr>
          <a:lstStyle/>
          <a:p>
            <a:r>
              <a:rPr lang="en-US" sz="2400" dirty="0"/>
              <a:t>Coldwater</a:t>
            </a:r>
          </a:p>
        </p:txBody>
      </p:sp>
      <p:sp>
        <p:nvSpPr>
          <p:cNvPr id="81923" name="Rectangle 3"/>
          <p:cNvSpPr>
            <a:spLocks noGrp="1" noChangeArrowheads="1"/>
          </p:cNvSpPr>
          <p:nvPr>
            <p:ph type="body" idx="1"/>
          </p:nvPr>
        </p:nvSpPr>
        <p:spPr>
          <a:xfrm>
            <a:off x="1657350" y="571500"/>
            <a:ext cx="5829300" cy="4229100"/>
          </a:xfrm>
        </p:spPr>
        <p:txBody>
          <a:bodyPr/>
          <a:lstStyle/>
          <a:p>
            <a:pPr>
              <a:buFontTx/>
              <a:buNone/>
            </a:pPr>
            <a:endParaRPr lang="en-US" sz="1800" dirty="0"/>
          </a:p>
          <a:p>
            <a:pPr>
              <a:buFontTx/>
              <a:buNone/>
            </a:pPr>
            <a:r>
              <a:rPr lang="en-US" sz="1800" dirty="0"/>
              <a:t>	(14)  Cash…………………………….. 10.3</a:t>
            </a:r>
          </a:p>
          <a:p>
            <a:pPr>
              <a:buFontTx/>
              <a:buNone/>
            </a:pPr>
            <a:r>
              <a:rPr lang="en-US" sz="1800" dirty="0"/>
              <a:t>			Revolver………………..		 10.3</a:t>
            </a:r>
          </a:p>
          <a:p>
            <a:pPr>
              <a:buFontTx/>
              <a:buNone/>
            </a:pPr>
            <a:r>
              <a:rPr lang="en-US" sz="1800" dirty="0"/>
              <a:t>		</a:t>
            </a:r>
          </a:p>
        </p:txBody>
      </p:sp>
      <p:graphicFrame>
        <p:nvGraphicFramePr>
          <p:cNvPr id="3" name="Object 2"/>
          <p:cNvGraphicFramePr>
            <a:graphicFrameLocks noChangeAspect="1"/>
          </p:cNvGraphicFramePr>
          <p:nvPr/>
        </p:nvGraphicFramePr>
        <p:xfrm>
          <a:off x="4800600" y="2057400"/>
          <a:ext cx="2286000" cy="2228850"/>
        </p:xfrm>
        <a:graphic>
          <a:graphicData uri="http://schemas.openxmlformats.org/presentationml/2006/ole">
            <mc:AlternateContent xmlns:mc="http://schemas.openxmlformats.org/markup-compatibility/2006">
              <mc:Choice xmlns:v="urn:schemas-microsoft-com:vml" Requires="v">
                <p:oleObj name="Worksheet" r:id="rId2" imgW="1704992" imgH="1666943" progId="Excel.Sheet.8">
                  <p:embed/>
                </p:oleObj>
              </mc:Choice>
              <mc:Fallback>
                <p:oleObj name="Worksheet" r:id="rId2" imgW="1704992" imgH="1666943" progId="Excel.Sheet.8">
                  <p:embed/>
                  <p:pic>
                    <p:nvPicPr>
                      <p:cNvPr id="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057400"/>
                        <a:ext cx="22860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3"/>
          <p:cNvGraphicFramePr>
            <a:graphicFrameLocks noChangeAspect="1"/>
          </p:cNvGraphicFramePr>
          <p:nvPr/>
        </p:nvGraphicFramePr>
        <p:xfrm>
          <a:off x="2057400" y="2114550"/>
          <a:ext cx="2264569" cy="1543050"/>
        </p:xfrm>
        <a:graphic>
          <a:graphicData uri="http://schemas.openxmlformats.org/presentationml/2006/ole">
            <mc:AlternateContent xmlns:mc="http://schemas.openxmlformats.org/markup-compatibility/2006">
              <mc:Choice xmlns:v="urn:schemas-microsoft-com:vml" Requires="v">
                <p:oleObj name="Worksheet" r:id="rId4" imgW="1704992" imgH="1162056" progId="Excel.Sheet.8">
                  <p:embed/>
                </p:oleObj>
              </mc:Choice>
              <mc:Fallback>
                <p:oleObj name="Worksheet" r:id="rId4" imgW="1704992" imgH="1162056" progId="Excel.Sheet.8">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114550"/>
                        <a:ext cx="2264569" cy="154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96518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AD75-1C7D-434C-80FA-30AF3ED2B90D}"/>
              </a:ext>
            </a:extLst>
          </p:cNvPr>
          <p:cNvSpPr>
            <a:spLocks noGrp="1"/>
          </p:cNvSpPr>
          <p:nvPr>
            <p:ph type="title"/>
          </p:nvPr>
        </p:nvSpPr>
        <p:spPr/>
        <p:txBody>
          <a:bodyPr/>
          <a:lstStyle/>
          <a:p>
            <a:r>
              <a:rPr lang="en-US" dirty="0"/>
              <a:t>Progress Report</a:t>
            </a:r>
          </a:p>
        </p:txBody>
      </p:sp>
      <p:graphicFrame>
        <p:nvGraphicFramePr>
          <p:cNvPr id="3" name="Table 2">
            <a:extLst>
              <a:ext uri="{FF2B5EF4-FFF2-40B4-BE49-F238E27FC236}">
                <a16:creationId xmlns:a16="http://schemas.microsoft.com/office/drawing/2014/main" id="{EC36C8A3-7233-4D8B-83A0-D6B348C781F1}"/>
              </a:ext>
            </a:extLst>
          </p:cNvPr>
          <p:cNvGraphicFramePr>
            <a:graphicFrameLocks noGrp="1"/>
          </p:cNvGraphicFramePr>
          <p:nvPr/>
        </p:nvGraphicFramePr>
        <p:xfrm>
          <a:off x="2197100" y="1143000"/>
          <a:ext cx="4457700" cy="3267075"/>
        </p:xfrm>
        <a:graphic>
          <a:graphicData uri="http://schemas.openxmlformats.org/drawingml/2006/table">
            <a:tbl>
              <a:tblPr firstRow="1" firstCol="1" bandRow="1">
                <a:tableStyleId>{5C22544A-7EE6-4342-B048-85BDC9FD1C3A}</a:tableStyleId>
              </a:tblPr>
              <a:tblGrid>
                <a:gridCol w="1714500">
                  <a:extLst>
                    <a:ext uri="{9D8B030D-6E8A-4147-A177-3AD203B41FA5}">
                      <a16:colId xmlns:a16="http://schemas.microsoft.com/office/drawing/2014/main" val="2966493564"/>
                    </a:ext>
                  </a:extLst>
                </a:gridCol>
                <a:gridCol w="914400">
                  <a:extLst>
                    <a:ext uri="{9D8B030D-6E8A-4147-A177-3AD203B41FA5}">
                      <a16:colId xmlns:a16="http://schemas.microsoft.com/office/drawing/2014/main" val="2386872249"/>
                    </a:ext>
                  </a:extLst>
                </a:gridCol>
                <a:gridCol w="914400">
                  <a:extLst>
                    <a:ext uri="{9D8B030D-6E8A-4147-A177-3AD203B41FA5}">
                      <a16:colId xmlns:a16="http://schemas.microsoft.com/office/drawing/2014/main" val="243581827"/>
                    </a:ext>
                  </a:extLst>
                </a:gridCol>
                <a:gridCol w="914400">
                  <a:extLst>
                    <a:ext uri="{9D8B030D-6E8A-4147-A177-3AD203B41FA5}">
                      <a16:colId xmlns:a16="http://schemas.microsoft.com/office/drawing/2014/main" val="3401315739"/>
                    </a:ext>
                  </a:extLst>
                </a:gridCol>
              </a:tblGrid>
              <a:tr h="190500">
                <a:tc>
                  <a:txBody>
                    <a:bodyPr/>
                    <a:lstStyle/>
                    <a:p>
                      <a:pPr marL="0" marR="0">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Explained?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02833244"/>
                  </a:ext>
                </a:extLst>
              </a:tr>
              <a:tr h="190500">
                <a:tc>
                  <a:txBody>
                    <a:bodyPr/>
                    <a:lstStyle/>
                    <a:p>
                      <a:pPr marL="0" marR="0">
                        <a:lnSpc>
                          <a:spcPct val="107000"/>
                        </a:lnSpc>
                        <a:spcBef>
                          <a:spcPts val="0"/>
                        </a:spcBef>
                        <a:spcAft>
                          <a:spcPts val="0"/>
                        </a:spcAft>
                      </a:pPr>
                      <a:r>
                        <a:rPr lang="en-US" sz="1200">
                          <a:effectLst/>
                        </a:rPr>
                        <a:t>Cash and CE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$331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$9,095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52096508"/>
                  </a:ext>
                </a:extLst>
              </a:tr>
              <a:tr h="190500">
                <a:tc>
                  <a:txBody>
                    <a:bodyPr/>
                    <a:lstStyle/>
                    <a:p>
                      <a:pPr marL="0" marR="0">
                        <a:lnSpc>
                          <a:spcPct val="107000"/>
                        </a:lnSpc>
                        <a:spcBef>
                          <a:spcPts val="0"/>
                        </a:spcBef>
                        <a:spcAft>
                          <a:spcPts val="0"/>
                        </a:spcAft>
                      </a:pPr>
                      <a:r>
                        <a:rPr lang="en-US" sz="1200">
                          <a:effectLst/>
                        </a:rPr>
                        <a:t>Receivables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4,019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2,342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87022920"/>
                  </a:ext>
                </a:extLst>
              </a:tr>
              <a:tr h="190500">
                <a:tc>
                  <a:txBody>
                    <a:bodyPr/>
                    <a:lstStyle/>
                    <a:p>
                      <a:pPr marL="0" marR="0">
                        <a:lnSpc>
                          <a:spcPct val="107000"/>
                        </a:lnSpc>
                        <a:spcBef>
                          <a:spcPts val="0"/>
                        </a:spcBef>
                        <a:spcAft>
                          <a:spcPts val="0"/>
                        </a:spcAft>
                      </a:pPr>
                      <a:r>
                        <a:rPr lang="en-US" sz="1200">
                          <a:effectLst/>
                        </a:rPr>
                        <a:t>Inventories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53,051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25,279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3093515"/>
                  </a:ext>
                </a:extLst>
              </a:tr>
              <a:tr h="190500">
                <a:tc>
                  <a:txBody>
                    <a:bodyPr/>
                    <a:lstStyle/>
                    <a:p>
                      <a:pPr marL="0" marR="0">
                        <a:lnSpc>
                          <a:spcPct val="107000"/>
                        </a:lnSpc>
                        <a:spcBef>
                          <a:spcPts val="0"/>
                        </a:spcBef>
                        <a:spcAft>
                          <a:spcPts val="0"/>
                        </a:spcAft>
                      </a:pPr>
                      <a:r>
                        <a:rPr lang="en-US" sz="1200">
                          <a:effectLst/>
                        </a:rPr>
                        <a:t>Prepaid expenses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2,729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456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95525267"/>
                  </a:ext>
                </a:extLst>
              </a:tr>
              <a:tr h="190500">
                <a:tc>
                  <a:txBody>
                    <a:bodyPr/>
                    <a:lstStyle/>
                    <a:p>
                      <a:pPr marL="0" marR="0">
                        <a:lnSpc>
                          <a:spcPct val="107000"/>
                        </a:lnSpc>
                        <a:spcBef>
                          <a:spcPts val="0"/>
                        </a:spcBef>
                        <a:spcAft>
                          <a:spcPts val="0"/>
                        </a:spcAft>
                      </a:pPr>
                      <a:r>
                        <a:rPr lang="en-US" sz="1200">
                          <a:effectLst/>
                        </a:rPr>
                        <a:t>Catalog costs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9,814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4,722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5104917"/>
                  </a:ext>
                </a:extLst>
              </a:tr>
              <a:tr h="190500">
                <a:tc>
                  <a:txBody>
                    <a:bodyPr/>
                    <a:lstStyle/>
                    <a:p>
                      <a:pPr marL="0" marR="0">
                        <a:lnSpc>
                          <a:spcPct val="107000"/>
                        </a:lnSpc>
                        <a:spcBef>
                          <a:spcPts val="0"/>
                        </a:spcBef>
                        <a:spcAft>
                          <a:spcPts val="0"/>
                        </a:spcAft>
                      </a:pPr>
                      <a:r>
                        <a:rPr lang="en-US" sz="1200">
                          <a:effectLst/>
                        </a:rPr>
                        <a:t>P&amp;E, net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26,661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20,080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72388506"/>
                  </a:ext>
                </a:extLst>
              </a:tr>
              <a:tr h="200025">
                <a:tc>
                  <a:txBody>
                    <a:bodyPr/>
                    <a:lstStyle/>
                    <a:p>
                      <a:pPr marL="0" marR="0">
                        <a:lnSpc>
                          <a:spcPct val="107000"/>
                        </a:lnSpc>
                        <a:spcBef>
                          <a:spcPts val="0"/>
                        </a:spcBef>
                        <a:spcAft>
                          <a:spcPts val="0"/>
                        </a:spcAft>
                      </a:pPr>
                      <a:r>
                        <a:rPr lang="en-US" sz="1200">
                          <a:effectLst/>
                        </a:rPr>
                        <a:t>Executive loans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1,620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200">
                          <a:effectLst/>
                        </a:rPr>
                        <a: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33894403"/>
                  </a:ext>
                </a:extLst>
              </a:tr>
              <a:tr h="200025">
                <a:tc>
                  <a:txBody>
                    <a:bodyPr/>
                    <a:lstStyle/>
                    <a:p>
                      <a:pPr marL="0" marR="0" indent="457200">
                        <a:lnSpc>
                          <a:spcPct val="107000"/>
                        </a:lnSpc>
                        <a:spcBef>
                          <a:spcPts val="0"/>
                        </a:spcBef>
                        <a:spcAft>
                          <a:spcPts val="0"/>
                        </a:spcAft>
                      </a:pPr>
                      <a:r>
                        <a:rPr lang="en-US" sz="1200">
                          <a:effectLst/>
                        </a:rPr>
                        <a:t>Total assets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$98,225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$61,974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87135072"/>
                  </a:ext>
                </a:extLst>
              </a:tr>
              <a:tr h="190500">
                <a:tc>
                  <a:txBody>
                    <a:bodyPr/>
                    <a:lstStyle/>
                    <a:p>
                      <a:pPr marL="0" marR="0">
                        <a:lnSpc>
                          <a:spcPct val="107000"/>
                        </a:lnSpc>
                        <a:spcBef>
                          <a:spcPts val="0"/>
                        </a:spcBef>
                        <a:spcAft>
                          <a:spcPts val="0"/>
                        </a:spcAft>
                      </a:pPr>
                      <a:r>
                        <a:rPr lang="en-US" sz="1200">
                          <a:effectLst/>
                        </a:rPr>
                        <a:t>Revolving line of credit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$10,264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1674742"/>
                  </a:ext>
                </a:extLst>
              </a:tr>
              <a:tr h="190500">
                <a:tc>
                  <a:txBody>
                    <a:bodyPr/>
                    <a:lstStyle/>
                    <a:p>
                      <a:pPr marL="0" marR="0">
                        <a:lnSpc>
                          <a:spcPct val="107000"/>
                        </a:lnSpc>
                        <a:spcBef>
                          <a:spcPts val="0"/>
                        </a:spcBef>
                        <a:spcAft>
                          <a:spcPts val="0"/>
                        </a:spcAft>
                      </a:pPr>
                      <a:r>
                        <a:rPr lang="en-US" sz="1200">
                          <a:effectLst/>
                        </a:rPr>
                        <a:t>Accounts payable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27,275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18,061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85827581"/>
                  </a:ext>
                </a:extLst>
              </a:tr>
              <a:tr h="190500">
                <a:tc>
                  <a:txBody>
                    <a:bodyPr/>
                    <a:lstStyle/>
                    <a:p>
                      <a:pPr marL="0" marR="0">
                        <a:lnSpc>
                          <a:spcPct val="107000"/>
                        </a:lnSpc>
                        <a:spcBef>
                          <a:spcPts val="0"/>
                        </a:spcBef>
                        <a:spcAft>
                          <a:spcPts val="0"/>
                        </a:spcAft>
                      </a:pPr>
                      <a:r>
                        <a:rPr lang="en-US" sz="1200">
                          <a:effectLst/>
                        </a:rPr>
                        <a:t>Accrued liabilities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10,517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5,969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22445788"/>
                  </a:ext>
                </a:extLst>
              </a:tr>
              <a:tr h="190500">
                <a:tc>
                  <a:txBody>
                    <a:bodyPr/>
                    <a:lstStyle/>
                    <a:p>
                      <a:pPr marL="0" marR="0">
                        <a:lnSpc>
                          <a:spcPct val="107000"/>
                        </a:lnSpc>
                        <a:spcBef>
                          <a:spcPts val="0"/>
                        </a:spcBef>
                        <a:spcAft>
                          <a:spcPts val="0"/>
                        </a:spcAft>
                      </a:pPr>
                      <a:r>
                        <a:rPr lang="en-US" sz="1200">
                          <a:effectLst/>
                        </a:rPr>
                        <a:t>Dfrd &amp; Pyble Taxes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1,294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757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8703213"/>
                  </a:ext>
                </a:extLst>
              </a:tr>
              <a:tr h="190500">
                <a:tc>
                  <a:txBody>
                    <a:bodyPr/>
                    <a:lstStyle/>
                    <a:p>
                      <a:pPr marL="0" marR="0">
                        <a:lnSpc>
                          <a:spcPct val="107000"/>
                        </a:lnSpc>
                        <a:spcBef>
                          <a:spcPts val="0"/>
                        </a:spcBef>
                        <a:spcAft>
                          <a:spcPts val="0"/>
                        </a:spcAft>
                      </a:pPr>
                      <a:r>
                        <a:rPr lang="en-US" sz="1200">
                          <a:effectLst/>
                        </a:rPr>
                        <a:t>Common stock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NA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69074784"/>
                  </a:ext>
                </a:extLst>
              </a:tr>
              <a:tr h="190500">
                <a:tc>
                  <a:txBody>
                    <a:bodyPr/>
                    <a:lstStyle/>
                    <a:p>
                      <a:pPr marL="0" marR="0">
                        <a:lnSpc>
                          <a:spcPct val="107000"/>
                        </a:lnSpc>
                        <a:spcBef>
                          <a:spcPts val="0"/>
                        </a:spcBef>
                        <a:spcAft>
                          <a:spcPts val="0"/>
                        </a:spcAft>
                      </a:pPr>
                      <a:r>
                        <a:rPr lang="en-US" sz="1200">
                          <a:effectLst/>
                        </a:rPr>
                        <a:t>APIC</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38,748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38,748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NA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53442702"/>
                  </a:ext>
                </a:extLst>
              </a:tr>
              <a:tr h="190500">
                <a:tc>
                  <a:txBody>
                    <a:bodyPr/>
                    <a:lstStyle/>
                    <a:p>
                      <a:pPr marL="0" marR="0">
                        <a:lnSpc>
                          <a:spcPct val="107000"/>
                        </a:lnSpc>
                        <a:spcBef>
                          <a:spcPts val="0"/>
                        </a:spcBef>
                        <a:spcAft>
                          <a:spcPts val="0"/>
                        </a:spcAft>
                      </a:pPr>
                      <a:r>
                        <a:rPr lang="en-US" sz="1200">
                          <a:effectLst/>
                        </a:rPr>
                        <a:t>Retained earnings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10,026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(1,662)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Yes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2176945"/>
                  </a:ext>
                </a:extLst>
              </a:tr>
              <a:tr h="200025">
                <a:tc>
                  <a:txBody>
                    <a:bodyPr/>
                    <a:lstStyle/>
                    <a:p>
                      <a:pPr marL="0" marR="0" indent="457200">
                        <a:lnSpc>
                          <a:spcPct val="107000"/>
                        </a:lnSpc>
                        <a:spcBef>
                          <a:spcPts val="0"/>
                        </a:spcBef>
                        <a:spcAft>
                          <a:spcPts val="0"/>
                        </a:spcAft>
                      </a:pPr>
                      <a:r>
                        <a:rPr lang="en-US" sz="1200">
                          <a:effectLst/>
                        </a:rPr>
                        <a:t>Total liabs + SE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$98,225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a:effectLst/>
                        </a:rPr>
                        <a:t>$61,974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2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22601205"/>
                  </a:ext>
                </a:extLst>
              </a:tr>
            </a:tbl>
          </a:graphicData>
        </a:graphic>
      </p:graphicFrame>
    </p:spTree>
    <p:extLst>
      <p:ext uri="{BB962C8B-B14F-4D97-AF65-F5344CB8AC3E}">
        <p14:creationId xmlns:p14="http://schemas.microsoft.com/office/powerpoint/2010/main" val="11637530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AD75-1C7D-434C-80FA-30AF3ED2B90D}"/>
              </a:ext>
            </a:extLst>
          </p:cNvPr>
          <p:cNvSpPr>
            <a:spLocks noGrp="1"/>
          </p:cNvSpPr>
          <p:nvPr>
            <p:ph type="title"/>
          </p:nvPr>
        </p:nvSpPr>
        <p:spPr/>
        <p:txBody>
          <a:bodyPr>
            <a:normAutofit fontScale="90000"/>
          </a:bodyPr>
          <a:lstStyle/>
          <a:p>
            <a:r>
              <a:rPr lang="en-US" dirty="0"/>
              <a:t>Progress Report – Income Statement</a:t>
            </a:r>
          </a:p>
        </p:txBody>
      </p:sp>
      <p:graphicFrame>
        <p:nvGraphicFramePr>
          <p:cNvPr id="4" name="Table 3">
            <a:extLst>
              <a:ext uri="{FF2B5EF4-FFF2-40B4-BE49-F238E27FC236}">
                <a16:creationId xmlns:a16="http://schemas.microsoft.com/office/drawing/2014/main" id="{1B0E1158-55BB-43EB-AA40-826B322D8172}"/>
              </a:ext>
            </a:extLst>
          </p:cNvPr>
          <p:cNvGraphicFramePr>
            <a:graphicFrameLocks noGrp="1"/>
          </p:cNvGraphicFramePr>
          <p:nvPr/>
        </p:nvGraphicFramePr>
        <p:xfrm>
          <a:off x="1804987" y="1505076"/>
          <a:ext cx="5351463" cy="2133348"/>
        </p:xfrm>
        <a:graphic>
          <a:graphicData uri="http://schemas.openxmlformats.org/drawingml/2006/table">
            <a:tbl>
              <a:tblPr firstRow="1" firstCol="1" lastRow="1" lastCol="1" bandRow="1" bandCol="1">
                <a:tableStyleId>{5C22544A-7EE6-4342-B048-85BDC9FD1C3A}</a:tableStyleId>
              </a:tblPr>
              <a:tblGrid>
                <a:gridCol w="2811785">
                  <a:extLst>
                    <a:ext uri="{9D8B030D-6E8A-4147-A177-3AD203B41FA5}">
                      <a16:colId xmlns:a16="http://schemas.microsoft.com/office/drawing/2014/main" val="2615200752"/>
                    </a:ext>
                  </a:extLst>
                </a:gridCol>
                <a:gridCol w="1269839">
                  <a:extLst>
                    <a:ext uri="{9D8B030D-6E8A-4147-A177-3AD203B41FA5}">
                      <a16:colId xmlns:a16="http://schemas.microsoft.com/office/drawing/2014/main" val="3225648749"/>
                    </a:ext>
                  </a:extLst>
                </a:gridCol>
                <a:gridCol w="1269839">
                  <a:extLst>
                    <a:ext uri="{9D8B030D-6E8A-4147-A177-3AD203B41FA5}">
                      <a16:colId xmlns:a16="http://schemas.microsoft.com/office/drawing/2014/main" val="3283612128"/>
                    </a:ext>
                  </a:extLst>
                </a:gridCol>
              </a:tblGrid>
              <a:tr h="298198">
                <a:tc>
                  <a:txBody>
                    <a:bodyPr/>
                    <a:lstStyle/>
                    <a:p>
                      <a:pPr marL="57785" marR="0" indent="57150">
                        <a:lnSpc>
                          <a:spcPct val="107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r">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Explained?</a:t>
                      </a:r>
                    </a:p>
                  </a:txBody>
                  <a:tcPr marL="0" marR="0" marT="0" marB="0" anchor="b"/>
                </a:tc>
                <a:extLst>
                  <a:ext uri="{0D108BD9-81ED-4DB2-BD59-A6C34878D82A}">
                    <a16:rowId xmlns:a16="http://schemas.microsoft.com/office/drawing/2014/main" val="3106175714"/>
                  </a:ext>
                </a:extLst>
              </a:tr>
              <a:tr h="298198">
                <a:tc>
                  <a:txBody>
                    <a:bodyPr/>
                    <a:lstStyle/>
                    <a:p>
                      <a:pPr marL="57785" marR="0" indent="57150">
                        <a:lnSpc>
                          <a:spcPct val="107000"/>
                        </a:lnSpc>
                        <a:spcBef>
                          <a:spcPts val="0"/>
                        </a:spcBef>
                        <a:spcAft>
                          <a:spcPts val="0"/>
                        </a:spcAft>
                      </a:pPr>
                      <a:r>
                        <a:rPr lang="en-US" sz="1800" dirty="0">
                          <a:effectLst/>
                        </a:rPr>
                        <a:t>Net sales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dirty="0">
                          <a:effectLst/>
                        </a:rPr>
                        <a:t>$246,697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ctr">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Yes</a:t>
                      </a:r>
                    </a:p>
                  </a:txBody>
                  <a:tcPr marL="0" marR="0" marT="0" marB="0" anchor="b">
                    <a:solidFill>
                      <a:schemeClr val="bg1">
                        <a:lumMod val="85000"/>
                      </a:schemeClr>
                    </a:solidFill>
                  </a:tcPr>
                </a:tc>
                <a:extLst>
                  <a:ext uri="{0D108BD9-81ED-4DB2-BD59-A6C34878D82A}">
                    <a16:rowId xmlns:a16="http://schemas.microsoft.com/office/drawing/2014/main" val="168770934"/>
                  </a:ext>
                </a:extLst>
              </a:tr>
              <a:tr h="298198">
                <a:tc>
                  <a:txBody>
                    <a:bodyPr/>
                    <a:lstStyle/>
                    <a:p>
                      <a:pPr marL="57785" marR="0" indent="57150">
                        <a:lnSpc>
                          <a:spcPct val="107000"/>
                        </a:lnSpc>
                        <a:spcBef>
                          <a:spcPts val="0"/>
                        </a:spcBef>
                        <a:spcAft>
                          <a:spcPts val="0"/>
                        </a:spcAft>
                      </a:pPr>
                      <a:r>
                        <a:rPr lang="en-US" sz="1800">
                          <a:effectLst/>
                        </a:rPr>
                        <a:t>Cost of sales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r">
                        <a:lnSpc>
                          <a:spcPct val="107000"/>
                        </a:lnSpc>
                        <a:spcBef>
                          <a:spcPts val="0"/>
                        </a:spcBef>
                        <a:spcAft>
                          <a:spcPts val="0"/>
                        </a:spcAft>
                      </a:pPr>
                      <a:r>
                        <a:rPr lang="en-US" sz="1800">
                          <a:effectLst/>
                        </a:rPr>
                        <a:t>(120,126)</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0" algn="ctr">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Yes</a:t>
                      </a:r>
                    </a:p>
                  </a:txBody>
                  <a:tcPr marL="0" marR="0" marT="0" marB="0" anchor="b">
                    <a:solidFill>
                      <a:schemeClr val="bg1">
                        <a:lumMod val="85000"/>
                      </a:schemeClr>
                    </a:solidFill>
                  </a:tcPr>
                </a:tc>
                <a:extLst>
                  <a:ext uri="{0D108BD9-81ED-4DB2-BD59-A6C34878D82A}">
                    <a16:rowId xmlns:a16="http://schemas.microsoft.com/office/drawing/2014/main" val="2576550631"/>
                  </a:ext>
                </a:extLst>
              </a:tr>
              <a:tr h="298198">
                <a:tc>
                  <a:txBody>
                    <a:bodyPr/>
                    <a:lstStyle/>
                    <a:p>
                      <a:pPr marL="116840" marR="0">
                        <a:lnSpc>
                          <a:spcPct val="107000"/>
                        </a:lnSpc>
                        <a:spcBef>
                          <a:spcPts val="0"/>
                        </a:spcBef>
                        <a:spcAft>
                          <a:spcPts val="0"/>
                        </a:spcAft>
                      </a:pPr>
                      <a:r>
                        <a:rPr lang="en-US" sz="1800">
                          <a:effectLst/>
                        </a:rPr>
                        <a:t>SG&amp;A expenses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r">
                        <a:lnSpc>
                          <a:spcPct val="107000"/>
                        </a:lnSpc>
                        <a:spcBef>
                          <a:spcPts val="0"/>
                        </a:spcBef>
                        <a:spcAft>
                          <a:spcPts val="0"/>
                        </a:spcAft>
                      </a:pPr>
                      <a:r>
                        <a:rPr lang="en-US" sz="1800">
                          <a:effectLst/>
                        </a:rPr>
                        <a:t>(107,083)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0" algn="ctr">
                        <a:lnSpc>
                          <a:spcPct val="107000"/>
                        </a:lnSpc>
                        <a:spcBef>
                          <a:spcPts val="0"/>
                        </a:spcBef>
                        <a:spcAft>
                          <a:spcPts val="0"/>
                        </a:spcAft>
                      </a:pPr>
                      <a:endParaRPr lang="en-US" sz="18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b">
                    <a:solidFill>
                      <a:schemeClr val="bg1">
                        <a:lumMod val="85000"/>
                      </a:schemeClr>
                    </a:solidFill>
                  </a:tcPr>
                </a:tc>
                <a:extLst>
                  <a:ext uri="{0D108BD9-81ED-4DB2-BD59-A6C34878D82A}">
                    <a16:rowId xmlns:a16="http://schemas.microsoft.com/office/drawing/2014/main" val="1954346223"/>
                  </a:ext>
                </a:extLst>
              </a:tr>
              <a:tr h="344160">
                <a:tc>
                  <a:txBody>
                    <a:bodyPr/>
                    <a:lstStyle/>
                    <a:p>
                      <a:pPr marL="57785" marR="0" indent="57150">
                        <a:lnSpc>
                          <a:spcPct val="107000"/>
                        </a:lnSpc>
                        <a:spcBef>
                          <a:spcPts val="0"/>
                        </a:spcBef>
                        <a:spcAft>
                          <a:spcPts val="0"/>
                        </a:spcAft>
                      </a:pPr>
                      <a:r>
                        <a:rPr lang="en-US" sz="1800">
                          <a:effectLst/>
                        </a:rPr>
                        <a:t>Interest, net, and other</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a:effectLst/>
                        </a:rPr>
                        <a:t>57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ctr">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Yes</a:t>
                      </a:r>
                    </a:p>
                  </a:txBody>
                  <a:tcPr marL="0" marR="0" marT="0" marB="0" anchor="b">
                    <a:solidFill>
                      <a:schemeClr val="bg1">
                        <a:lumMod val="85000"/>
                      </a:schemeClr>
                    </a:solidFill>
                  </a:tcPr>
                </a:tc>
                <a:extLst>
                  <a:ext uri="{0D108BD9-81ED-4DB2-BD59-A6C34878D82A}">
                    <a16:rowId xmlns:a16="http://schemas.microsoft.com/office/drawing/2014/main" val="2158535478"/>
                  </a:ext>
                </a:extLst>
              </a:tr>
              <a:tr h="298198">
                <a:tc>
                  <a:txBody>
                    <a:bodyPr/>
                    <a:lstStyle/>
                    <a:p>
                      <a:pPr marL="57785" marR="0" indent="57150">
                        <a:lnSpc>
                          <a:spcPct val="107000"/>
                        </a:lnSpc>
                        <a:spcBef>
                          <a:spcPts val="0"/>
                        </a:spcBef>
                        <a:spcAft>
                          <a:spcPts val="0"/>
                        </a:spcAft>
                      </a:pPr>
                      <a:r>
                        <a:rPr lang="en-US" sz="1800">
                          <a:effectLst/>
                        </a:rPr>
                        <a:t>Provision for income taxes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dirty="0">
                          <a:effectLst/>
                        </a:rPr>
                        <a:t>(7,857)</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ctr">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Yes</a:t>
                      </a:r>
                    </a:p>
                  </a:txBody>
                  <a:tcPr marL="0" marR="0" marT="0" marB="0" anchor="b">
                    <a:solidFill>
                      <a:schemeClr val="bg1">
                        <a:lumMod val="85000"/>
                      </a:schemeClr>
                    </a:solidFill>
                  </a:tcPr>
                </a:tc>
                <a:extLst>
                  <a:ext uri="{0D108BD9-81ED-4DB2-BD59-A6C34878D82A}">
                    <a16:rowId xmlns:a16="http://schemas.microsoft.com/office/drawing/2014/main" val="3321825182"/>
                  </a:ext>
                </a:extLst>
              </a:tr>
              <a:tr h="298198">
                <a:tc>
                  <a:txBody>
                    <a:bodyPr/>
                    <a:lstStyle/>
                    <a:p>
                      <a:pPr marL="57785" marR="0" indent="57150">
                        <a:lnSpc>
                          <a:spcPct val="107000"/>
                        </a:lnSpc>
                        <a:spcBef>
                          <a:spcPts val="0"/>
                        </a:spcBef>
                        <a:spcAft>
                          <a:spcPts val="0"/>
                        </a:spcAft>
                      </a:pPr>
                      <a:r>
                        <a:rPr lang="en-US" sz="1800">
                          <a:effectLst/>
                        </a:rPr>
                        <a:t>Net income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22225" algn="r">
                        <a:lnSpc>
                          <a:spcPct val="107000"/>
                        </a:lnSpc>
                        <a:spcBef>
                          <a:spcPts val="0"/>
                        </a:spcBef>
                        <a:spcAft>
                          <a:spcPts val="0"/>
                        </a:spcAft>
                      </a:pPr>
                      <a:r>
                        <a:rPr lang="en-US" sz="1800" dirty="0">
                          <a:effectLst/>
                        </a:rPr>
                        <a:t>$ 11,688</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tc>
                  <a:txBody>
                    <a:bodyPr/>
                    <a:lstStyle/>
                    <a:p>
                      <a:pPr marL="0" marR="22225" algn="r">
                        <a:lnSpc>
                          <a:spcPct val="107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b"/>
                </a:tc>
                <a:extLst>
                  <a:ext uri="{0D108BD9-81ED-4DB2-BD59-A6C34878D82A}">
                    <a16:rowId xmlns:a16="http://schemas.microsoft.com/office/drawing/2014/main" val="3730650831"/>
                  </a:ext>
                </a:extLst>
              </a:tr>
            </a:tbl>
          </a:graphicData>
        </a:graphic>
      </p:graphicFrame>
    </p:spTree>
    <p:extLst>
      <p:ext uri="{BB962C8B-B14F-4D97-AF65-F5344CB8AC3E}">
        <p14:creationId xmlns:p14="http://schemas.microsoft.com/office/powerpoint/2010/main" val="2701536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FDB28534-55A9-41BB-A671-9315770A318E}" type="slidenum">
              <a:rPr lang="en-US" sz="1050"/>
              <a:pPr/>
              <a:t>39</a:t>
            </a:fld>
            <a:endParaRPr lang="en-US" sz="1050"/>
          </a:p>
        </p:txBody>
      </p:sp>
      <p:sp>
        <p:nvSpPr>
          <p:cNvPr id="20485" name="Rectangle 2"/>
          <p:cNvSpPr>
            <a:spLocks noGrp="1" noChangeArrowheads="1"/>
          </p:cNvSpPr>
          <p:nvPr>
            <p:ph type="title"/>
          </p:nvPr>
        </p:nvSpPr>
        <p:spPr/>
        <p:txBody>
          <a:bodyPr/>
          <a:lstStyle/>
          <a:p>
            <a:r>
              <a:rPr lang="en-US" sz="2400"/>
              <a:t>Coldwater</a:t>
            </a:r>
          </a:p>
        </p:txBody>
      </p:sp>
      <p:sp>
        <p:nvSpPr>
          <p:cNvPr id="99331" name="Rectangle 3"/>
          <p:cNvSpPr>
            <a:spLocks noGrp="1" noChangeArrowheads="1"/>
          </p:cNvSpPr>
          <p:nvPr>
            <p:ph type="body" idx="1"/>
          </p:nvPr>
        </p:nvSpPr>
        <p:spPr>
          <a:xfrm>
            <a:off x="1657350" y="1085850"/>
            <a:ext cx="5829300" cy="3714750"/>
          </a:xfrm>
        </p:spPr>
        <p:txBody>
          <a:bodyPr/>
          <a:lstStyle/>
          <a:p>
            <a:pPr>
              <a:buFontTx/>
              <a:buNone/>
            </a:pPr>
            <a:r>
              <a:rPr lang="en-US" sz="1800"/>
              <a:t>	Now there are three accounts still not completely explained</a:t>
            </a:r>
          </a:p>
          <a:p>
            <a:pPr>
              <a:buFontTx/>
              <a:buNone/>
            </a:pPr>
            <a:r>
              <a:rPr lang="en-US" sz="1800"/>
              <a:t>		Prepaid Expenses</a:t>
            </a:r>
          </a:p>
          <a:p>
            <a:pPr>
              <a:buFontTx/>
              <a:buNone/>
            </a:pPr>
            <a:r>
              <a:rPr lang="en-US" sz="1800"/>
              <a:t>		SG&amp;A</a:t>
            </a:r>
          </a:p>
          <a:p>
            <a:pPr>
              <a:buFontTx/>
              <a:buNone/>
            </a:pPr>
            <a:r>
              <a:rPr lang="en-US" sz="1800"/>
              <a:t>		Accrued Liabilities</a:t>
            </a:r>
          </a:p>
          <a:p>
            <a:pPr>
              <a:buFontTx/>
              <a:buNone/>
            </a:pPr>
            <a:endParaRPr lang="en-US" sz="1800"/>
          </a:p>
          <a:p>
            <a:pPr>
              <a:buFontTx/>
              <a:buNone/>
            </a:pPr>
            <a:r>
              <a:rPr lang="en-US" sz="1800"/>
              <a:t>     Now, we have to make some reasonable assumptions.  Note that the beginning balance in Prepaid expenses is 0.5.  Since it is a current asset it is reasonable to assume that it was used up during the year. </a:t>
            </a:r>
          </a:p>
          <a:p>
            <a:pPr>
              <a:buFontTx/>
              <a:buNone/>
            </a:pPr>
            <a:r>
              <a:rPr lang="en-US" sz="1800"/>
              <a:t>	</a:t>
            </a:r>
          </a:p>
        </p:txBody>
      </p:sp>
    </p:spTree>
    <p:extLst>
      <p:ext uri="{BB962C8B-B14F-4D97-AF65-F5344CB8AC3E}">
        <p14:creationId xmlns:p14="http://schemas.microsoft.com/office/powerpoint/2010/main" val="1767564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AD7D955E-5302-42AD-A49B-E549157944E9}" type="slidenum">
              <a:rPr lang="en-US" sz="1050"/>
              <a:pPr/>
              <a:t>40</a:t>
            </a:fld>
            <a:endParaRPr lang="en-US" sz="1050"/>
          </a:p>
        </p:txBody>
      </p:sp>
      <p:sp>
        <p:nvSpPr>
          <p:cNvPr id="21509" name="Rectangle 2"/>
          <p:cNvSpPr>
            <a:spLocks noGrp="1" noChangeArrowheads="1"/>
          </p:cNvSpPr>
          <p:nvPr>
            <p:ph type="title"/>
          </p:nvPr>
        </p:nvSpPr>
        <p:spPr/>
        <p:txBody>
          <a:bodyPr/>
          <a:lstStyle/>
          <a:p>
            <a:r>
              <a:rPr lang="en-US" sz="2400"/>
              <a:t>Coldwater</a:t>
            </a:r>
          </a:p>
        </p:txBody>
      </p:sp>
      <p:sp>
        <p:nvSpPr>
          <p:cNvPr id="98307" name="Rectangle 3"/>
          <p:cNvSpPr>
            <a:spLocks noGrp="1" noChangeArrowheads="1"/>
          </p:cNvSpPr>
          <p:nvPr>
            <p:ph type="body" idx="1"/>
          </p:nvPr>
        </p:nvSpPr>
        <p:spPr>
          <a:xfrm>
            <a:off x="1657350" y="1085850"/>
            <a:ext cx="5829300" cy="3714750"/>
          </a:xfrm>
        </p:spPr>
        <p:txBody>
          <a:bodyPr/>
          <a:lstStyle/>
          <a:p>
            <a:pPr>
              <a:buFontTx/>
              <a:buNone/>
            </a:pPr>
            <a:r>
              <a:rPr lang="en-US" sz="1800" dirty="0"/>
              <a:t>	(15)  SG&amp;A (prepaid expenses)……….   0.5</a:t>
            </a:r>
          </a:p>
          <a:p>
            <a:pPr>
              <a:buFontTx/>
              <a:buNone/>
            </a:pPr>
            <a:r>
              <a:rPr lang="en-US" sz="1800" dirty="0"/>
              <a:t>			Prepaid expenses……….				  0.5</a:t>
            </a:r>
          </a:p>
          <a:p>
            <a:pPr>
              <a:buFontTx/>
              <a:buNone/>
            </a:pPr>
            <a:r>
              <a:rPr lang="en-US" sz="1800" dirty="0"/>
              <a:t>  </a:t>
            </a:r>
          </a:p>
        </p:txBody>
      </p:sp>
      <p:graphicFrame>
        <p:nvGraphicFramePr>
          <p:cNvPr id="48130" name="Object 2"/>
          <p:cNvGraphicFramePr>
            <a:graphicFrameLocks noChangeAspect="1"/>
          </p:cNvGraphicFramePr>
          <p:nvPr/>
        </p:nvGraphicFramePr>
        <p:xfrm>
          <a:off x="4857750" y="2171700"/>
          <a:ext cx="2257425" cy="1328738"/>
        </p:xfrm>
        <a:graphic>
          <a:graphicData uri="http://schemas.openxmlformats.org/presentationml/2006/ole">
            <mc:AlternateContent xmlns:mc="http://schemas.openxmlformats.org/markup-compatibility/2006">
              <mc:Choice xmlns:v="urn:schemas-microsoft-com:vml" Requires="v">
                <p:oleObj name="Worksheet" r:id="rId2" imgW="1704940" imgH="999943" progId="Excel.Sheet.8">
                  <p:embed/>
                </p:oleObj>
              </mc:Choice>
              <mc:Fallback>
                <p:oleObj name="Worksheet" r:id="rId2" imgW="1704940" imgH="999943" progId="Excel.Sheet.8">
                  <p:embed/>
                  <p:pic>
                    <p:nvPicPr>
                      <p:cNvPr id="48130" name="Object 2"/>
                      <p:cNvPicPr>
                        <a:picLocks noChangeAspect="1" noChangeArrowheads="1"/>
                      </p:cNvPicPr>
                      <p:nvPr/>
                    </p:nvPicPr>
                    <p:blipFill>
                      <a:blip r:embed="rId3"/>
                      <a:srcRect/>
                      <a:stretch>
                        <a:fillRect/>
                      </a:stretch>
                    </p:blipFill>
                    <p:spPr bwMode="auto">
                      <a:xfrm>
                        <a:off x="4857750" y="2171700"/>
                        <a:ext cx="2257425" cy="1328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2" name="Object 4"/>
          <p:cNvGraphicFramePr>
            <a:graphicFrameLocks noChangeAspect="1"/>
          </p:cNvGraphicFramePr>
          <p:nvPr/>
        </p:nvGraphicFramePr>
        <p:xfrm>
          <a:off x="2057400" y="2171700"/>
          <a:ext cx="2282825" cy="1328738"/>
        </p:xfrm>
        <a:graphic>
          <a:graphicData uri="http://schemas.openxmlformats.org/presentationml/2006/ole">
            <mc:AlternateContent xmlns:mc="http://schemas.openxmlformats.org/markup-compatibility/2006">
              <mc:Choice xmlns:v="urn:schemas-microsoft-com:vml" Requires="v">
                <p:oleObj name="Worksheet" r:id="rId4" imgW="1724060" imgH="999943" progId="Excel.Sheet.8">
                  <p:embed/>
                </p:oleObj>
              </mc:Choice>
              <mc:Fallback>
                <p:oleObj name="Worksheet" r:id="rId4" imgW="1724060" imgH="999943" progId="Excel.Sheet.8">
                  <p:embed/>
                  <p:pic>
                    <p:nvPicPr>
                      <p:cNvPr id="48132" name="Object 4"/>
                      <p:cNvPicPr>
                        <a:picLocks noChangeAspect="1" noChangeArrowheads="1"/>
                      </p:cNvPicPr>
                      <p:nvPr/>
                    </p:nvPicPr>
                    <p:blipFill>
                      <a:blip r:embed="rId5"/>
                      <a:srcRect/>
                      <a:stretch>
                        <a:fillRect/>
                      </a:stretch>
                    </p:blipFill>
                    <p:spPr bwMode="auto">
                      <a:xfrm>
                        <a:off x="2057400" y="2171700"/>
                        <a:ext cx="2282825" cy="1328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152625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AD7D955E-5302-42AD-A49B-E549157944E9}" type="slidenum">
              <a:rPr lang="en-US" sz="1050"/>
              <a:pPr/>
              <a:t>41</a:t>
            </a:fld>
            <a:endParaRPr lang="en-US" sz="1050"/>
          </a:p>
        </p:txBody>
      </p:sp>
      <p:sp>
        <p:nvSpPr>
          <p:cNvPr id="21509" name="Rectangle 2"/>
          <p:cNvSpPr>
            <a:spLocks noGrp="1" noChangeArrowheads="1"/>
          </p:cNvSpPr>
          <p:nvPr>
            <p:ph type="title"/>
          </p:nvPr>
        </p:nvSpPr>
        <p:spPr/>
        <p:txBody>
          <a:bodyPr/>
          <a:lstStyle/>
          <a:p>
            <a:r>
              <a:rPr lang="en-US" sz="2400"/>
              <a:t>Coldwater</a:t>
            </a:r>
          </a:p>
        </p:txBody>
      </p:sp>
      <p:sp>
        <p:nvSpPr>
          <p:cNvPr id="98307" name="Rectangle 3"/>
          <p:cNvSpPr>
            <a:spLocks noGrp="1" noChangeArrowheads="1"/>
          </p:cNvSpPr>
          <p:nvPr>
            <p:ph type="body" idx="1"/>
          </p:nvPr>
        </p:nvSpPr>
        <p:spPr>
          <a:xfrm>
            <a:off x="1657350" y="1085850"/>
            <a:ext cx="5829300" cy="3714750"/>
          </a:xfrm>
        </p:spPr>
        <p:txBody>
          <a:bodyPr/>
          <a:lstStyle/>
          <a:p>
            <a:pPr>
              <a:buFontTx/>
              <a:buNone/>
            </a:pPr>
            <a:r>
              <a:rPr lang="en-US" sz="1800" dirty="0"/>
              <a:t>		(16)  Prepaid expenses…………………  2.7  (Plug)</a:t>
            </a:r>
          </a:p>
          <a:p>
            <a:pPr>
              <a:buFontTx/>
              <a:buNone/>
            </a:pPr>
            <a:r>
              <a:rPr lang="en-US" sz="1800" dirty="0"/>
              <a:t>				Cash…………………………………		  2.7</a:t>
            </a:r>
          </a:p>
          <a:p>
            <a:pPr>
              <a:buFontTx/>
              <a:buNone/>
            </a:pPr>
            <a:r>
              <a:rPr lang="en-US" sz="1800" dirty="0"/>
              <a:t>  </a:t>
            </a:r>
          </a:p>
        </p:txBody>
      </p:sp>
      <p:graphicFrame>
        <p:nvGraphicFramePr>
          <p:cNvPr id="47105" name="Object 1"/>
          <p:cNvGraphicFramePr>
            <a:graphicFrameLocks noChangeAspect="1"/>
          </p:cNvGraphicFramePr>
          <p:nvPr/>
        </p:nvGraphicFramePr>
        <p:xfrm>
          <a:off x="5153110" y="2250877"/>
          <a:ext cx="2257425" cy="1328738"/>
        </p:xfrm>
        <a:graphic>
          <a:graphicData uri="http://schemas.openxmlformats.org/presentationml/2006/ole">
            <mc:AlternateContent xmlns:mc="http://schemas.openxmlformats.org/markup-compatibility/2006">
              <mc:Choice xmlns:v="urn:schemas-microsoft-com:vml" Requires="v">
                <p:oleObj name="Worksheet" r:id="rId2" imgW="1704940" imgH="999943" progId="Excel.Sheet.8">
                  <p:embed/>
                </p:oleObj>
              </mc:Choice>
              <mc:Fallback>
                <p:oleObj name="Worksheet" r:id="rId2" imgW="1704940" imgH="999943" progId="Excel.Sheet.8">
                  <p:embed/>
                  <p:pic>
                    <p:nvPicPr>
                      <p:cNvPr id="47105" name="Object 1"/>
                      <p:cNvPicPr>
                        <a:picLocks noChangeAspect="1" noChangeArrowheads="1"/>
                      </p:cNvPicPr>
                      <p:nvPr/>
                    </p:nvPicPr>
                    <p:blipFill>
                      <a:blip r:embed="rId3"/>
                      <a:srcRect/>
                      <a:stretch>
                        <a:fillRect/>
                      </a:stretch>
                    </p:blipFill>
                    <p:spPr bwMode="auto">
                      <a:xfrm>
                        <a:off x="5153110" y="2250877"/>
                        <a:ext cx="2257425" cy="1328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6" name="Object 2"/>
          <p:cNvGraphicFramePr>
            <a:graphicFrameLocks noChangeAspect="1"/>
          </p:cNvGraphicFramePr>
          <p:nvPr/>
        </p:nvGraphicFramePr>
        <p:xfrm>
          <a:off x="1704891" y="2122136"/>
          <a:ext cx="2286000" cy="2012950"/>
        </p:xfrm>
        <a:graphic>
          <a:graphicData uri="http://schemas.openxmlformats.org/presentationml/2006/ole">
            <mc:AlternateContent xmlns:mc="http://schemas.openxmlformats.org/markup-compatibility/2006">
              <mc:Choice xmlns:v="urn:schemas-microsoft-com:vml" Requires="v">
                <p:oleObj name="Worksheet" r:id="rId4" imgW="1704940" imgH="1504898" progId="Excel.Sheet.8">
                  <p:embed/>
                </p:oleObj>
              </mc:Choice>
              <mc:Fallback>
                <p:oleObj name="Worksheet" r:id="rId4" imgW="1704940" imgH="1504898" progId="Excel.Sheet.8">
                  <p:embed/>
                  <p:pic>
                    <p:nvPicPr>
                      <p:cNvPr id="47106" name="Object 2"/>
                      <p:cNvPicPr>
                        <a:picLocks noChangeAspect="1" noChangeArrowheads="1"/>
                      </p:cNvPicPr>
                      <p:nvPr/>
                    </p:nvPicPr>
                    <p:blipFill>
                      <a:blip r:embed="rId5"/>
                      <a:srcRect/>
                      <a:stretch>
                        <a:fillRect/>
                      </a:stretch>
                    </p:blipFill>
                    <p:spPr bwMode="auto">
                      <a:xfrm>
                        <a:off x="1704891" y="2122136"/>
                        <a:ext cx="2286000"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68482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r>
              <a:rPr lang="en-US" sz="2400" dirty="0"/>
              <a:t>SG&amp;A Expenses to This Point</a:t>
            </a:r>
          </a:p>
        </p:txBody>
      </p:sp>
      <p:sp>
        <p:nvSpPr>
          <p:cNvPr id="2253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94AC903B-E47C-4111-8D4A-46D780AC713E}" type="slidenum">
              <a:rPr lang="en-US" sz="1050"/>
              <a:pPr/>
              <a:t>42</a:t>
            </a:fld>
            <a:endParaRPr lang="en-US" sz="1050"/>
          </a:p>
        </p:txBody>
      </p:sp>
      <p:sp>
        <p:nvSpPr>
          <p:cNvPr id="22536" name="Line 8"/>
          <p:cNvSpPr>
            <a:spLocks noChangeShapeType="1"/>
          </p:cNvSpPr>
          <p:nvPr/>
        </p:nvSpPr>
        <p:spPr bwMode="auto">
          <a:xfrm>
            <a:off x="4743450" y="211455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cxnSp>
        <p:nvCxnSpPr>
          <p:cNvPr id="12" name="Straight Arrow Connector 11"/>
          <p:cNvCxnSpPr>
            <a:cxnSpLocks/>
          </p:cNvCxnSpPr>
          <p:nvPr/>
        </p:nvCxnSpPr>
        <p:spPr>
          <a:xfrm flipH="1" flipV="1">
            <a:off x="5397874" y="3320905"/>
            <a:ext cx="482769" cy="53369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8" name="Object 4">
            <a:extLst>
              <a:ext uri="{FF2B5EF4-FFF2-40B4-BE49-F238E27FC236}">
                <a16:creationId xmlns:a16="http://schemas.microsoft.com/office/drawing/2014/main" id="{8B7329DB-E017-4E01-B262-051CFD507BFA}"/>
              </a:ext>
            </a:extLst>
          </p:cNvPr>
          <p:cNvGraphicFramePr>
            <a:graphicFrameLocks noChangeAspect="1"/>
          </p:cNvGraphicFramePr>
          <p:nvPr/>
        </p:nvGraphicFramePr>
        <p:xfrm>
          <a:off x="3386138" y="2030413"/>
          <a:ext cx="2282825" cy="1557337"/>
        </p:xfrm>
        <a:graphic>
          <a:graphicData uri="http://schemas.openxmlformats.org/presentationml/2006/ole">
            <mc:AlternateContent xmlns:mc="http://schemas.openxmlformats.org/markup-compatibility/2006">
              <mc:Choice xmlns:v="urn:schemas-microsoft-com:vml" Requires="v">
                <p:oleObj name="Worksheet" r:id="rId2" imgW="1724060" imgH="1171445" progId="Excel.Sheet.8">
                  <p:embed/>
                </p:oleObj>
              </mc:Choice>
              <mc:Fallback>
                <p:oleObj name="Worksheet" r:id="rId2" imgW="1724060" imgH="1171445" progId="Excel.Sheet.8">
                  <p:embed/>
                  <p:pic>
                    <p:nvPicPr>
                      <p:cNvPr id="8" name="Object 4">
                        <a:extLst>
                          <a:ext uri="{FF2B5EF4-FFF2-40B4-BE49-F238E27FC236}">
                            <a16:creationId xmlns:a16="http://schemas.microsoft.com/office/drawing/2014/main" id="{8B7329DB-E017-4E01-B262-051CFD507BFA}"/>
                          </a:ext>
                        </a:extLst>
                      </p:cNvPr>
                      <p:cNvPicPr>
                        <a:picLocks noChangeAspect="1" noChangeArrowheads="1"/>
                      </p:cNvPicPr>
                      <p:nvPr/>
                    </p:nvPicPr>
                    <p:blipFill>
                      <a:blip r:embed="rId3"/>
                      <a:srcRect/>
                      <a:stretch>
                        <a:fillRect/>
                      </a:stretch>
                    </p:blipFill>
                    <p:spPr bwMode="auto">
                      <a:xfrm>
                        <a:off x="3386138" y="2030413"/>
                        <a:ext cx="2282825" cy="155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a:extLst>
              <a:ext uri="{FF2B5EF4-FFF2-40B4-BE49-F238E27FC236}">
                <a16:creationId xmlns:a16="http://schemas.microsoft.com/office/drawing/2014/main" id="{FB84749F-F9B9-47BB-B601-24C157ACCEDE}"/>
              </a:ext>
            </a:extLst>
          </p:cNvPr>
          <p:cNvSpPr txBox="1"/>
          <p:nvPr/>
        </p:nvSpPr>
        <p:spPr>
          <a:xfrm>
            <a:off x="5611106" y="3851809"/>
            <a:ext cx="2450543" cy="369332"/>
          </a:xfrm>
          <a:prstGeom prst="rect">
            <a:avLst/>
          </a:prstGeom>
          <a:noFill/>
        </p:spPr>
        <p:txBody>
          <a:bodyPr wrap="none" rtlCol="0">
            <a:spAutoFit/>
          </a:bodyPr>
          <a:lstStyle/>
          <a:p>
            <a:r>
              <a:rPr lang="en-US" dirty="0"/>
              <a:t>From Income Statement</a:t>
            </a:r>
          </a:p>
        </p:txBody>
      </p:sp>
      <p:sp>
        <p:nvSpPr>
          <p:cNvPr id="14" name="TextBox 13">
            <a:extLst>
              <a:ext uri="{FF2B5EF4-FFF2-40B4-BE49-F238E27FC236}">
                <a16:creationId xmlns:a16="http://schemas.microsoft.com/office/drawing/2014/main" id="{2EA9B0FA-1AAE-4990-BE4A-B079E9E1C03F}"/>
              </a:ext>
            </a:extLst>
          </p:cNvPr>
          <p:cNvSpPr txBox="1"/>
          <p:nvPr/>
        </p:nvSpPr>
        <p:spPr>
          <a:xfrm>
            <a:off x="6135050" y="2202418"/>
            <a:ext cx="1848583" cy="369332"/>
          </a:xfrm>
          <a:prstGeom prst="rect">
            <a:avLst/>
          </a:prstGeom>
          <a:noFill/>
        </p:spPr>
        <p:txBody>
          <a:bodyPr wrap="none" rtlCol="0">
            <a:spAutoFit/>
          </a:bodyPr>
          <a:lstStyle/>
          <a:p>
            <a:r>
              <a:rPr lang="en-US" dirty="0"/>
              <a:t>Doesn’t Balance!!</a:t>
            </a:r>
          </a:p>
        </p:txBody>
      </p:sp>
    </p:spTree>
    <p:extLst>
      <p:ext uri="{BB962C8B-B14F-4D97-AF65-F5344CB8AC3E}">
        <p14:creationId xmlns:p14="http://schemas.microsoft.com/office/powerpoint/2010/main" val="1123139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1D138EAD-2C53-42D5-A2AF-C6492E1127D4}" type="slidenum">
              <a:rPr lang="en-US" sz="1050"/>
              <a:pPr/>
              <a:t>43</a:t>
            </a:fld>
            <a:endParaRPr lang="en-US" sz="1050"/>
          </a:p>
        </p:txBody>
      </p:sp>
      <p:sp>
        <p:nvSpPr>
          <p:cNvPr id="24581" name="Rectangle 2"/>
          <p:cNvSpPr>
            <a:spLocks noGrp="1" noChangeArrowheads="1"/>
          </p:cNvSpPr>
          <p:nvPr>
            <p:ph type="title"/>
          </p:nvPr>
        </p:nvSpPr>
        <p:spPr>
          <a:xfrm>
            <a:off x="1657350" y="457200"/>
            <a:ext cx="5829300" cy="457200"/>
          </a:xfrm>
        </p:spPr>
        <p:txBody>
          <a:bodyPr/>
          <a:lstStyle/>
          <a:p>
            <a:r>
              <a:rPr lang="en-US" sz="2400" dirty="0"/>
              <a:t>Coldwater</a:t>
            </a:r>
          </a:p>
        </p:txBody>
      </p:sp>
      <p:sp>
        <p:nvSpPr>
          <p:cNvPr id="82947" name="Rectangle 3"/>
          <p:cNvSpPr>
            <a:spLocks noGrp="1" noChangeArrowheads="1"/>
          </p:cNvSpPr>
          <p:nvPr>
            <p:ph type="body" idx="1"/>
          </p:nvPr>
        </p:nvSpPr>
        <p:spPr>
          <a:xfrm>
            <a:off x="1657350" y="1085850"/>
            <a:ext cx="5829300" cy="3486150"/>
          </a:xfrm>
        </p:spPr>
        <p:txBody>
          <a:bodyPr/>
          <a:lstStyle/>
          <a:p>
            <a:pPr>
              <a:buNone/>
            </a:pPr>
            <a:r>
              <a:rPr lang="en-US" sz="1500" dirty="0"/>
              <a:t>(17)  SG&amp;A ………………………………..36.2 (Plug)</a:t>
            </a:r>
          </a:p>
          <a:p>
            <a:pPr>
              <a:buFontTx/>
              <a:buNone/>
            </a:pPr>
            <a:r>
              <a:rPr lang="en-US" sz="1500" dirty="0"/>
              <a:t>			Accrued liabilities…….		  	36.2 </a:t>
            </a:r>
          </a:p>
          <a:p>
            <a:pPr>
              <a:buFontTx/>
              <a:buNone/>
            </a:pPr>
            <a:r>
              <a:rPr lang="en-US" sz="1500" dirty="0"/>
              <a:t>           (this explains the remainder of the total in SG&amp;A expenses)</a:t>
            </a:r>
          </a:p>
          <a:p>
            <a:pPr>
              <a:buFontTx/>
              <a:buNone/>
            </a:pPr>
            <a:r>
              <a:rPr lang="en-US" sz="1500" dirty="0"/>
              <a:t>	</a:t>
            </a:r>
          </a:p>
        </p:txBody>
      </p:sp>
      <p:graphicFrame>
        <p:nvGraphicFramePr>
          <p:cNvPr id="44034" name="Object 2"/>
          <p:cNvGraphicFramePr>
            <a:graphicFrameLocks noChangeAspect="1"/>
          </p:cNvGraphicFramePr>
          <p:nvPr/>
        </p:nvGraphicFramePr>
        <p:xfrm>
          <a:off x="4572000" y="2171700"/>
          <a:ext cx="2800350" cy="1943100"/>
        </p:xfrm>
        <a:graphic>
          <a:graphicData uri="http://schemas.openxmlformats.org/presentationml/2006/ole">
            <mc:AlternateContent xmlns:mc="http://schemas.openxmlformats.org/markup-compatibility/2006">
              <mc:Choice xmlns:v="urn:schemas-microsoft-com:vml" Requires="v">
                <p:oleObj name="Worksheet" r:id="rId2" imgW="1704992" imgH="1181100" progId="Excel.Sheet.8">
                  <p:embed/>
                </p:oleObj>
              </mc:Choice>
              <mc:Fallback>
                <p:oleObj name="Worksheet" r:id="rId2" imgW="1704992" imgH="1181100" progId="Excel.Sheet.8">
                  <p:embed/>
                  <p:pic>
                    <p:nvPicPr>
                      <p:cNvPr id="4403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171700"/>
                        <a:ext cx="2800350" cy="194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a:extLst>
              <a:ext uri="{FF2B5EF4-FFF2-40B4-BE49-F238E27FC236}">
                <a16:creationId xmlns:a16="http://schemas.microsoft.com/office/drawing/2014/main" id="{392CD692-1E22-41BE-A55A-B963B19A36A5}"/>
              </a:ext>
            </a:extLst>
          </p:cNvPr>
          <p:cNvGraphicFramePr>
            <a:graphicFrameLocks noChangeAspect="1"/>
          </p:cNvGraphicFramePr>
          <p:nvPr/>
        </p:nvGraphicFramePr>
        <p:xfrm>
          <a:off x="1297255" y="2270040"/>
          <a:ext cx="2559991" cy="1746419"/>
        </p:xfrm>
        <a:graphic>
          <a:graphicData uri="http://schemas.openxmlformats.org/presentationml/2006/ole">
            <mc:AlternateContent xmlns:mc="http://schemas.openxmlformats.org/markup-compatibility/2006">
              <mc:Choice xmlns:v="urn:schemas-microsoft-com:vml" Requires="v">
                <p:oleObj name="Worksheet" r:id="rId4" imgW="1724060" imgH="1171445" progId="Excel.Sheet.8">
                  <p:embed/>
                </p:oleObj>
              </mc:Choice>
              <mc:Fallback>
                <p:oleObj name="Worksheet" r:id="rId4" imgW="1724060" imgH="1171445" progId="Excel.Sheet.8">
                  <p:embed/>
                  <p:pic>
                    <p:nvPicPr>
                      <p:cNvPr id="7" name="Object 4">
                        <a:extLst>
                          <a:ext uri="{FF2B5EF4-FFF2-40B4-BE49-F238E27FC236}">
                            <a16:creationId xmlns:a16="http://schemas.microsoft.com/office/drawing/2014/main" id="{392CD692-1E22-41BE-A55A-B963B19A36A5}"/>
                          </a:ext>
                        </a:extLst>
                      </p:cNvPr>
                      <p:cNvPicPr>
                        <a:picLocks noChangeAspect="1" noChangeArrowheads="1"/>
                      </p:cNvPicPr>
                      <p:nvPr/>
                    </p:nvPicPr>
                    <p:blipFill>
                      <a:blip r:embed="rId5"/>
                      <a:srcRect/>
                      <a:stretch>
                        <a:fillRect/>
                      </a:stretch>
                    </p:blipFill>
                    <p:spPr bwMode="auto">
                      <a:xfrm>
                        <a:off x="1297255" y="2270040"/>
                        <a:ext cx="2559991" cy="1746419"/>
                      </a:xfrm>
                      <a:prstGeom prst="rect">
                        <a:avLst/>
                      </a:prstGeom>
                      <a:noFill/>
                    </p:spPr>
                  </p:pic>
                </p:oleObj>
              </mc:Fallback>
            </mc:AlternateContent>
          </a:graphicData>
        </a:graphic>
      </p:graphicFrame>
    </p:spTree>
    <p:extLst>
      <p:ext uri="{BB962C8B-B14F-4D97-AF65-F5344CB8AC3E}">
        <p14:creationId xmlns:p14="http://schemas.microsoft.com/office/powerpoint/2010/main" val="2323699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B98CABB0-892B-4167-BE79-90DADE47CA16}" type="slidenum">
              <a:rPr lang="en-US" sz="1050"/>
              <a:pPr/>
              <a:t>44</a:t>
            </a:fld>
            <a:endParaRPr lang="en-US" sz="1050"/>
          </a:p>
        </p:txBody>
      </p:sp>
      <p:sp>
        <p:nvSpPr>
          <p:cNvPr id="25605" name="Rectangle 2"/>
          <p:cNvSpPr>
            <a:spLocks noGrp="1" noChangeArrowheads="1"/>
          </p:cNvSpPr>
          <p:nvPr>
            <p:ph type="title"/>
          </p:nvPr>
        </p:nvSpPr>
        <p:spPr>
          <a:xfrm>
            <a:off x="1657350" y="457200"/>
            <a:ext cx="5829300" cy="457200"/>
          </a:xfrm>
        </p:spPr>
        <p:txBody>
          <a:bodyPr/>
          <a:lstStyle/>
          <a:p>
            <a:r>
              <a:rPr lang="en-US" sz="2400"/>
              <a:t>Coldwater</a:t>
            </a:r>
          </a:p>
        </p:txBody>
      </p:sp>
      <p:sp>
        <p:nvSpPr>
          <p:cNvPr id="25606" name="Rectangle 3"/>
          <p:cNvSpPr>
            <a:spLocks noGrp="1" noChangeArrowheads="1"/>
          </p:cNvSpPr>
          <p:nvPr>
            <p:ph type="body" idx="1"/>
          </p:nvPr>
        </p:nvSpPr>
        <p:spPr>
          <a:xfrm>
            <a:off x="1657350" y="1085850"/>
            <a:ext cx="5829300" cy="3486150"/>
          </a:xfrm>
        </p:spPr>
        <p:txBody>
          <a:bodyPr/>
          <a:lstStyle/>
          <a:p>
            <a:pPr>
              <a:buFontTx/>
              <a:buAutoNum type="arabicPeriod" startAt="18"/>
            </a:pPr>
            <a:r>
              <a:rPr lang="en-US" sz="1800" dirty="0"/>
              <a:t>Accrued liabilities……… 103.4   (plug)</a:t>
            </a:r>
          </a:p>
          <a:p>
            <a:pPr>
              <a:buNone/>
            </a:pPr>
            <a:r>
              <a:rPr lang="en-US" sz="1800" dirty="0"/>
              <a:t>                Cash…………………..               103.4</a:t>
            </a:r>
          </a:p>
        </p:txBody>
      </p:sp>
      <p:graphicFrame>
        <p:nvGraphicFramePr>
          <p:cNvPr id="43009" name="Object 1"/>
          <p:cNvGraphicFramePr>
            <a:graphicFrameLocks noChangeAspect="1"/>
          </p:cNvGraphicFramePr>
          <p:nvPr/>
        </p:nvGraphicFramePr>
        <p:xfrm>
          <a:off x="1023137" y="2270827"/>
          <a:ext cx="2800350" cy="1676400"/>
        </p:xfrm>
        <a:graphic>
          <a:graphicData uri="http://schemas.openxmlformats.org/presentationml/2006/ole">
            <mc:AlternateContent xmlns:mc="http://schemas.openxmlformats.org/markup-compatibility/2006">
              <mc:Choice xmlns:v="urn:schemas-microsoft-com:vml" Requires="v">
                <p:oleObj name="Worksheet" r:id="rId2" imgW="1704940" imgH="1019045" progId="Excel.Sheet.8">
                  <p:embed/>
                </p:oleObj>
              </mc:Choice>
              <mc:Fallback>
                <p:oleObj name="Worksheet" r:id="rId2" imgW="1704940" imgH="1019045" progId="Excel.Sheet.8">
                  <p:embed/>
                  <p:pic>
                    <p:nvPicPr>
                      <p:cNvPr id="43009" name="Object 1"/>
                      <p:cNvPicPr>
                        <a:picLocks noChangeAspect="1" noChangeArrowheads="1"/>
                      </p:cNvPicPr>
                      <p:nvPr/>
                    </p:nvPicPr>
                    <p:blipFill>
                      <a:blip r:embed="rId3"/>
                      <a:srcRect/>
                      <a:stretch>
                        <a:fillRect/>
                      </a:stretch>
                    </p:blipFill>
                    <p:spPr bwMode="auto">
                      <a:xfrm>
                        <a:off x="1023137" y="2270827"/>
                        <a:ext cx="280035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0" name="Object 2"/>
          <p:cNvGraphicFramePr>
            <a:graphicFrameLocks noChangeAspect="1"/>
          </p:cNvGraphicFramePr>
          <p:nvPr/>
        </p:nvGraphicFramePr>
        <p:xfrm>
          <a:off x="5030716" y="1995425"/>
          <a:ext cx="2576870" cy="2269078"/>
        </p:xfrm>
        <a:graphic>
          <a:graphicData uri="http://schemas.openxmlformats.org/presentationml/2006/ole">
            <mc:AlternateContent xmlns:mc="http://schemas.openxmlformats.org/markup-compatibility/2006">
              <mc:Choice xmlns:v="urn:schemas-microsoft-com:vml" Requires="v">
                <p:oleObj name="Worksheet" r:id="rId4" imgW="1704940" imgH="1504898" progId="Excel.Sheet.8">
                  <p:embed/>
                </p:oleObj>
              </mc:Choice>
              <mc:Fallback>
                <p:oleObj name="Worksheet" r:id="rId4" imgW="1704940" imgH="1504898" progId="Excel.Sheet.8">
                  <p:embed/>
                  <p:pic>
                    <p:nvPicPr>
                      <p:cNvPr id="43010" name="Object 2"/>
                      <p:cNvPicPr>
                        <a:picLocks noChangeAspect="1" noChangeArrowheads="1"/>
                      </p:cNvPicPr>
                      <p:nvPr/>
                    </p:nvPicPr>
                    <p:blipFill>
                      <a:blip r:embed="rId5"/>
                      <a:srcRect/>
                      <a:stretch>
                        <a:fillRect/>
                      </a:stretch>
                    </p:blipFill>
                    <p:spPr bwMode="auto">
                      <a:xfrm>
                        <a:off x="5030716" y="1995425"/>
                        <a:ext cx="2576870" cy="226907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160256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245483" y="1367645"/>
          <a:ext cx="8629700" cy="2377439"/>
        </p:xfrm>
        <a:graphic>
          <a:graphicData uri="http://schemas.openxmlformats.org/presentationml/2006/ole">
            <mc:AlternateContent xmlns:mc="http://schemas.openxmlformats.org/markup-compatibility/2006">
              <mc:Choice xmlns:v="urn:schemas-microsoft-com:vml" Requires="v">
                <p:oleObj name="Document" r:id="rId3" imgW="8507253" imgH="2366513" progId="Word.Document.8">
                  <p:embed/>
                </p:oleObj>
              </mc:Choice>
              <mc:Fallback>
                <p:oleObj name="Document" r:id="rId3" imgW="8507253" imgH="2366513" progId="Word.Document.8">
                  <p:embed/>
                  <p:pic>
                    <p:nvPicPr>
                      <p:cNvPr id="20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483" y="1367645"/>
                        <a:ext cx="8629700" cy="2377439"/>
                      </a:xfrm>
                      <a:prstGeom prst="rect">
                        <a:avLst/>
                      </a:prstGeom>
                      <a:solidFill>
                        <a:schemeClr val="bg1"/>
                      </a:solidFill>
                    </p:spPr>
                  </p:pic>
                </p:oleObj>
              </mc:Fallback>
            </mc:AlternateContent>
          </a:graphicData>
        </a:graphic>
      </p:graphicFrame>
      <p:sp>
        <p:nvSpPr>
          <p:cNvPr id="205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FF7E22D6-BD56-463E-90C5-B458731DB8AE}" type="slidenum">
              <a:rPr lang="en-US" sz="1050"/>
              <a:pPr/>
              <a:t>45</a:t>
            </a:fld>
            <a:endParaRPr lang="en-US" sz="1050"/>
          </a:p>
        </p:txBody>
      </p:sp>
    </p:spTree>
    <p:extLst>
      <p:ext uri="{BB962C8B-B14F-4D97-AF65-F5344CB8AC3E}">
        <p14:creationId xmlns:p14="http://schemas.microsoft.com/office/powerpoint/2010/main" val="1508430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FA664677-1CB5-4161-8FF7-AF5EC971AEE9}" type="slidenum">
              <a:rPr lang="en-US" sz="1050"/>
              <a:pPr/>
              <a:t>46</a:t>
            </a:fld>
            <a:endParaRPr lang="en-US" sz="1050"/>
          </a:p>
        </p:txBody>
      </p:sp>
      <p:sp>
        <p:nvSpPr>
          <p:cNvPr id="26629" name="Rectangle 2"/>
          <p:cNvSpPr>
            <a:spLocks noGrp="1" noChangeArrowheads="1"/>
          </p:cNvSpPr>
          <p:nvPr>
            <p:ph type="title"/>
          </p:nvPr>
        </p:nvSpPr>
        <p:spPr>
          <a:xfrm>
            <a:off x="1657350" y="457200"/>
            <a:ext cx="5829300" cy="342900"/>
          </a:xfrm>
        </p:spPr>
        <p:txBody>
          <a:bodyPr vert="horz" lIns="91440" tIns="45720" rIns="91440" bIns="45720" rtlCol="0" anchor="ctr">
            <a:normAutofit fontScale="90000"/>
          </a:bodyPr>
          <a:lstStyle/>
          <a:p>
            <a:r>
              <a:rPr lang="en-US" dirty="0"/>
              <a:t>Things to note</a:t>
            </a:r>
          </a:p>
        </p:txBody>
      </p:sp>
      <p:sp>
        <p:nvSpPr>
          <p:cNvPr id="3" name="Content Placeholder 2">
            <a:extLst>
              <a:ext uri="{FF2B5EF4-FFF2-40B4-BE49-F238E27FC236}">
                <a16:creationId xmlns:a16="http://schemas.microsoft.com/office/drawing/2014/main" id="{764855D5-8FB0-46F0-A145-B20E23656A4E}"/>
              </a:ext>
            </a:extLst>
          </p:cNvPr>
          <p:cNvSpPr>
            <a:spLocks noGrp="1"/>
          </p:cNvSpPr>
          <p:nvPr>
            <p:ph idx="1"/>
          </p:nvPr>
        </p:nvSpPr>
        <p:spPr/>
        <p:txBody>
          <a:bodyPr>
            <a:normAutofit/>
          </a:bodyPr>
          <a:lstStyle/>
          <a:p>
            <a:r>
              <a:rPr lang="en-US" sz="2400" dirty="0"/>
              <a:t>Customer collections were very close to sales revenue during the year.</a:t>
            </a:r>
          </a:p>
          <a:p>
            <a:r>
              <a:rPr lang="en-US" sz="2400" dirty="0"/>
              <a:t>Cost of goods sold was about $120 and even though accounts payable increased, we paid suppliers of inventory almost $140 because the inventory levels increased during the year.</a:t>
            </a:r>
          </a:p>
          <a:p>
            <a:r>
              <a:rPr lang="en-US" sz="2400" dirty="0"/>
              <a:t>Coldwater added to their PP&amp;E by $10.</a:t>
            </a:r>
          </a:p>
          <a:p>
            <a:r>
              <a:rPr lang="en-US" sz="2400" dirty="0"/>
              <a:t>SG&amp;A expense were about $107, but Coldwater chose to pay only about $103 to those creditors</a:t>
            </a:r>
          </a:p>
          <a:p>
            <a:endParaRPr lang="en-US" sz="2400" dirty="0"/>
          </a:p>
        </p:txBody>
      </p:sp>
    </p:spTree>
    <p:extLst>
      <p:ext uri="{BB962C8B-B14F-4D97-AF65-F5344CB8AC3E}">
        <p14:creationId xmlns:p14="http://schemas.microsoft.com/office/powerpoint/2010/main" val="18017210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500">
                <a:solidFill>
                  <a:schemeClr val="tx1"/>
                </a:solidFill>
                <a:latin typeface="Times New Roman" pitchFamily="18" charset="0"/>
              </a:defRPr>
            </a:lvl1pPr>
            <a:lvl2pPr marL="557213" indent="-214313">
              <a:defRPr sz="1500">
                <a:solidFill>
                  <a:schemeClr val="tx1"/>
                </a:solidFill>
                <a:latin typeface="Times New Roman" pitchFamily="18" charset="0"/>
              </a:defRPr>
            </a:lvl2pPr>
            <a:lvl3pPr marL="857250" indent="-171450">
              <a:defRPr sz="1500">
                <a:solidFill>
                  <a:schemeClr val="tx1"/>
                </a:solidFill>
                <a:latin typeface="Times New Roman" pitchFamily="18" charset="0"/>
              </a:defRPr>
            </a:lvl3pPr>
            <a:lvl4pPr marL="1200150" indent="-171450">
              <a:defRPr sz="1500">
                <a:solidFill>
                  <a:schemeClr val="tx1"/>
                </a:solidFill>
                <a:latin typeface="Times New Roman" pitchFamily="18" charset="0"/>
              </a:defRPr>
            </a:lvl4pPr>
            <a:lvl5pPr marL="1543050" indent="-171450">
              <a:defRPr sz="1500">
                <a:solidFill>
                  <a:schemeClr val="tx1"/>
                </a:solidFill>
                <a:latin typeface="Times New Roman" pitchFamily="18" charset="0"/>
              </a:defRPr>
            </a:lvl5pPr>
            <a:lvl6pPr marL="1885950" indent="-171450" algn="ctr" eaLnBrk="0" fontAlgn="base" hangingPunct="0">
              <a:lnSpc>
                <a:spcPct val="90000"/>
              </a:lnSpc>
              <a:spcBef>
                <a:spcPct val="20000"/>
              </a:spcBef>
              <a:spcAft>
                <a:spcPct val="0"/>
              </a:spcAft>
              <a:defRPr sz="1500">
                <a:solidFill>
                  <a:schemeClr val="tx1"/>
                </a:solidFill>
                <a:latin typeface="Times New Roman" pitchFamily="18" charset="0"/>
              </a:defRPr>
            </a:lvl6pPr>
            <a:lvl7pPr marL="2228850" indent="-171450" algn="ctr" eaLnBrk="0" fontAlgn="base" hangingPunct="0">
              <a:lnSpc>
                <a:spcPct val="90000"/>
              </a:lnSpc>
              <a:spcBef>
                <a:spcPct val="20000"/>
              </a:spcBef>
              <a:spcAft>
                <a:spcPct val="0"/>
              </a:spcAft>
              <a:defRPr sz="1500">
                <a:solidFill>
                  <a:schemeClr val="tx1"/>
                </a:solidFill>
                <a:latin typeface="Times New Roman" pitchFamily="18" charset="0"/>
              </a:defRPr>
            </a:lvl7pPr>
            <a:lvl8pPr marL="2571750" indent="-171450" algn="ctr" eaLnBrk="0" fontAlgn="base" hangingPunct="0">
              <a:lnSpc>
                <a:spcPct val="90000"/>
              </a:lnSpc>
              <a:spcBef>
                <a:spcPct val="20000"/>
              </a:spcBef>
              <a:spcAft>
                <a:spcPct val="0"/>
              </a:spcAft>
              <a:defRPr sz="1500">
                <a:solidFill>
                  <a:schemeClr val="tx1"/>
                </a:solidFill>
                <a:latin typeface="Times New Roman" pitchFamily="18" charset="0"/>
              </a:defRPr>
            </a:lvl8pPr>
            <a:lvl9pPr marL="2914650" indent="-171450" algn="ctr" eaLnBrk="0" fontAlgn="base" hangingPunct="0">
              <a:lnSpc>
                <a:spcPct val="90000"/>
              </a:lnSpc>
              <a:spcBef>
                <a:spcPct val="20000"/>
              </a:spcBef>
              <a:spcAft>
                <a:spcPct val="0"/>
              </a:spcAft>
              <a:defRPr sz="1500">
                <a:solidFill>
                  <a:schemeClr val="tx1"/>
                </a:solidFill>
                <a:latin typeface="Times New Roman" pitchFamily="18" charset="0"/>
              </a:defRPr>
            </a:lvl9pPr>
          </a:lstStyle>
          <a:p>
            <a:fld id="{93A90F44-0AF0-4C5D-89CE-18C19FF54213}" type="slidenum">
              <a:rPr lang="en-US" sz="1050"/>
              <a:pPr/>
              <a:t>47</a:t>
            </a:fld>
            <a:endParaRPr lang="en-US" sz="1050"/>
          </a:p>
        </p:txBody>
      </p:sp>
      <p:graphicFrame>
        <p:nvGraphicFramePr>
          <p:cNvPr id="1026" name="Object 2"/>
          <p:cNvGraphicFramePr>
            <a:graphicFrameLocks noChangeAspect="1"/>
          </p:cNvGraphicFramePr>
          <p:nvPr/>
        </p:nvGraphicFramePr>
        <p:xfrm>
          <a:off x="18148" y="288403"/>
          <a:ext cx="9071260" cy="3565967"/>
        </p:xfrm>
        <a:graphic>
          <a:graphicData uri="http://schemas.openxmlformats.org/presentationml/2006/ole">
            <mc:AlternateContent xmlns:mc="http://schemas.openxmlformats.org/markup-compatibility/2006">
              <mc:Choice xmlns:v="urn:schemas-microsoft-com:vml" Requires="v">
                <p:oleObj name="Document" r:id="rId2" imgW="8657844" imgH="3403092" progId="Word.Document.8">
                  <p:embed/>
                </p:oleObj>
              </mc:Choice>
              <mc:Fallback>
                <p:oleObj name="Document" r:id="rId2" imgW="8657844" imgH="3403092" progId="Word.Document.8">
                  <p:embed/>
                  <p:pic>
                    <p:nvPicPr>
                      <p:cNvPr id="10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8" y="288403"/>
                        <a:ext cx="9071260" cy="356596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0065839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Account Was the Most Trouble?</a:t>
            </a:r>
          </a:p>
        </p:txBody>
      </p:sp>
      <p:sp>
        <p:nvSpPr>
          <p:cNvPr id="3" name="Content Placeholder 2"/>
          <p:cNvSpPr>
            <a:spLocks noGrp="1"/>
          </p:cNvSpPr>
          <p:nvPr>
            <p:ph idx="1"/>
          </p:nvPr>
        </p:nvSpPr>
        <p:spPr/>
        <p:txBody>
          <a:bodyPr>
            <a:normAutofit/>
          </a:bodyPr>
          <a:lstStyle/>
          <a:p>
            <a:r>
              <a:rPr lang="en-US" dirty="0"/>
              <a:t>How much would it help if we had some detailed information about cash?</a:t>
            </a:r>
          </a:p>
          <a:p>
            <a:r>
              <a:rPr lang="en-US" dirty="0"/>
              <a:t>Cash flow statement – provides additional information about cash that can be very helpful in doing this kind of reverse engineering of financial statements.</a:t>
            </a:r>
          </a:p>
        </p:txBody>
      </p:sp>
    </p:spTree>
    <p:extLst>
      <p:ext uri="{BB962C8B-B14F-4D97-AF65-F5344CB8AC3E}">
        <p14:creationId xmlns:p14="http://schemas.microsoft.com/office/powerpoint/2010/main" val="1734140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a:xfrm>
            <a:off x="919089" y="228600"/>
            <a:ext cx="7371471" cy="400050"/>
          </a:xfrm>
        </p:spPr>
        <p:txBody>
          <a:bodyPr>
            <a:normAutofit fontScale="90000"/>
          </a:bodyPr>
          <a:lstStyle/>
          <a:p>
            <a:r>
              <a:rPr lang="en-US" sz="2400" dirty="0"/>
              <a:t>Coldwater -  Cash Flow Statement Based on Our Entries</a:t>
            </a:r>
          </a:p>
        </p:txBody>
      </p:sp>
      <p:sp>
        <p:nvSpPr>
          <p:cNvPr id="27654" name="Rectangle 3"/>
          <p:cNvSpPr>
            <a:spLocks noGrp="1" noChangeArrowheads="1"/>
          </p:cNvSpPr>
          <p:nvPr>
            <p:ph type="body" idx="1"/>
          </p:nvPr>
        </p:nvSpPr>
        <p:spPr>
          <a:xfrm>
            <a:off x="2223792" y="725249"/>
            <a:ext cx="5829300" cy="3806797"/>
          </a:xfrm>
        </p:spPr>
        <p:txBody>
          <a:bodyPr>
            <a:normAutofit/>
          </a:bodyPr>
          <a:lstStyle/>
          <a:p>
            <a:pPr>
              <a:lnSpc>
                <a:spcPct val="90000"/>
              </a:lnSpc>
              <a:buFontTx/>
              <a:buNone/>
            </a:pPr>
            <a:r>
              <a:rPr lang="en-US" sz="1500" dirty="0"/>
              <a:t>		Operations:</a:t>
            </a:r>
          </a:p>
          <a:p>
            <a:pPr>
              <a:lnSpc>
                <a:spcPct val="90000"/>
              </a:lnSpc>
              <a:buFontTx/>
              <a:buNone/>
            </a:pPr>
            <a:r>
              <a:rPr lang="en-US" sz="1500" dirty="0"/>
              <a:t>			Collect cash from customers	 	  245.0</a:t>
            </a:r>
          </a:p>
          <a:p>
            <a:pPr>
              <a:lnSpc>
                <a:spcPct val="90000"/>
              </a:lnSpc>
              <a:buFontTx/>
              <a:buNone/>
            </a:pPr>
            <a:r>
              <a:rPr lang="en-US" sz="1500" dirty="0"/>
              <a:t>			Received interest payments		         .1</a:t>
            </a:r>
          </a:p>
          <a:p>
            <a:pPr>
              <a:lnSpc>
                <a:spcPct val="90000"/>
              </a:lnSpc>
              <a:buFontTx/>
              <a:buNone/>
            </a:pPr>
            <a:r>
              <a:rPr lang="en-US" sz="1500" dirty="0"/>
              <a:t>			Pay suppliers of merchandise		(138.7)</a:t>
            </a:r>
          </a:p>
          <a:p>
            <a:pPr>
              <a:lnSpc>
                <a:spcPct val="90000"/>
              </a:lnSpc>
              <a:buFontTx/>
              <a:buNone/>
            </a:pPr>
            <a:r>
              <a:rPr lang="en-US" sz="1500" dirty="0"/>
              <a:t>			Pay prepaid expenses		   	   ( 2.7)</a:t>
            </a:r>
          </a:p>
          <a:p>
            <a:pPr>
              <a:lnSpc>
                <a:spcPct val="90000"/>
              </a:lnSpc>
              <a:buFontTx/>
              <a:buNone/>
            </a:pPr>
            <a:r>
              <a:rPr lang="en-US" sz="1500" dirty="0"/>
              <a:t>			Pay providers of SG&amp;A			(103.4)</a:t>
            </a:r>
          </a:p>
          <a:p>
            <a:pPr>
              <a:lnSpc>
                <a:spcPct val="90000"/>
              </a:lnSpc>
              <a:buFontTx/>
              <a:buNone/>
            </a:pPr>
            <a:r>
              <a:rPr lang="en-US" sz="1500" dirty="0"/>
              <a:t>			Pay income taxes			    	    (</a:t>
            </a:r>
            <a:r>
              <a:rPr lang="en-US" sz="1500" u="sng" dirty="0"/>
              <a:t>7.4)</a:t>
            </a:r>
            <a:endParaRPr lang="en-US" sz="1500" dirty="0"/>
          </a:p>
          <a:p>
            <a:pPr>
              <a:lnSpc>
                <a:spcPct val="90000"/>
              </a:lnSpc>
              <a:buFontTx/>
              <a:buNone/>
            </a:pPr>
            <a:r>
              <a:rPr lang="en-US" sz="1500" dirty="0"/>
              <a:t>				Total			   		    (7.1)</a:t>
            </a:r>
          </a:p>
          <a:p>
            <a:pPr>
              <a:lnSpc>
                <a:spcPct val="90000"/>
              </a:lnSpc>
              <a:buFontTx/>
              <a:buNone/>
            </a:pPr>
            <a:r>
              <a:rPr lang="en-US" sz="1500" dirty="0"/>
              <a:t>	Investing:</a:t>
            </a:r>
          </a:p>
          <a:p>
            <a:pPr>
              <a:lnSpc>
                <a:spcPct val="90000"/>
              </a:lnSpc>
              <a:buFontTx/>
              <a:buNone/>
            </a:pPr>
            <a:r>
              <a:rPr lang="en-US" sz="1500" dirty="0"/>
              <a:t>			Purchased PP&amp;E				  (10.3)</a:t>
            </a:r>
          </a:p>
          <a:p>
            <a:pPr>
              <a:lnSpc>
                <a:spcPct val="90000"/>
              </a:lnSpc>
              <a:buNone/>
            </a:pPr>
            <a:r>
              <a:rPr lang="en-US" sz="1500" dirty="0"/>
              <a:t>			Extended loan to executive	 	   </a:t>
            </a:r>
            <a:r>
              <a:rPr lang="en-US" sz="1500" u="sng" dirty="0"/>
              <a:t>( 1.6)</a:t>
            </a:r>
            <a:r>
              <a:rPr lang="en-US" sz="1500" dirty="0"/>
              <a:t>											  (11.9)</a:t>
            </a:r>
          </a:p>
          <a:p>
            <a:pPr>
              <a:lnSpc>
                <a:spcPct val="90000"/>
              </a:lnSpc>
              <a:buFontTx/>
              <a:buNone/>
            </a:pPr>
            <a:r>
              <a:rPr lang="en-US" sz="1500" dirty="0"/>
              <a:t>		Financing:</a:t>
            </a:r>
          </a:p>
          <a:p>
            <a:pPr>
              <a:lnSpc>
                <a:spcPct val="90000"/>
              </a:lnSpc>
              <a:buFontTx/>
              <a:buNone/>
            </a:pPr>
            <a:r>
              <a:rPr lang="en-US" sz="1500" dirty="0"/>
              <a:t>			Took out revolving loan		    	   </a:t>
            </a:r>
            <a:r>
              <a:rPr lang="en-US" sz="1500" u="sng" dirty="0"/>
              <a:t>10.3</a:t>
            </a:r>
          </a:p>
          <a:p>
            <a:pPr>
              <a:lnSpc>
                <a:spcPct val="90000"/>
              </a:lnSpc>
              <a:buFontTx/>
              <a:buNone/>
            </a:pPr>
            <a:r>
              <a:rPr lang="en-US" sz="1500" dirty="0"/>
              <a:t>		Change in cash			   		  (8.7)</a:t>
            </a:r>
          </a:p>
          <a:p>
            <a:pPr>
              <a:lnSpc>
                <a:spcPct val="90000"/>
              </a:lnSpc>
              <a:buFontTx/>
              <a:buNone/>
            </a:pPr>
            <a:endParaRPr lang="en-US" sz="1500" dirty="0"/>
          </a:p>
        </p:txBody>
      </p:sp>
    </p:spTree>
    <p:extLst>
      <p:ext uri="{BB962C8B-B14F-4D97-AF65-F5344CB8AC3E}">
        <p14:creationId xmlns:p14="http://schemas.microsoft.com/office/powerpoint/2010/main" val="5738097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9E9F-4CBC-8A1C-0F11-4171F41E2B25}"/>
              </a:ext>
            </a:extLst>
          </p:cNvPr>
          <p:cNvSpPr>
            <a:spLocks noGrp="1"/>
          </p:cNvSpPr>
          <p:nvPr>
            <p:ph type="title"/>
          </p:nvPr>
        </p:nvSpPr>
        <p:spPr/>
        <p:txBody>
          <a:bodyPr/>
          <a:lstStyle/>
          <a:p>
            <a:r>
              <a:rPr lang="en-US" dirty="0"/>
              <a:t>Actual Cash Flow from Operations</a:t>
            </a:r>
          </a:p>
        </p:txBody>
      </p:sp>
      <p:graphicFrame>
        <p:nvGraphicFramePr>
          <p:cNvPr id="4" name="Table 3">
            <a:extLst>
              <a:ext uri="{FF2B5EF4-FFF2-40B4-BE49-F238E27FC236}">
                <a16:creationId xmlns:a16="http://schemas.microsoft.com/office/drawing/2014/main" id="{03349ED4-B6C4-0D5E-9036-D36742232A9B}"/>
              </a:ext>
            </a:extLst>
          </p:cNvPr>
          <p:cNvGraphicFramePr>
            <a:graphicFrameLocks noGrp="1"/>
          </p:cNvGraphicFramePr>
          <p:nvPr>
            <p:extLst>
              <p:ext uri="{D42A27DB-BD31-4B8C-83A1-F6EECF244321}">
                <p14:modId xmlns:p14="http://schemas.microsoft.com/office/powerpoint/2010/main" val="781046623"/>
              </p:ext>
            </p:extLst>
          </p:nvPr>
        </p:nvGraphicFramePr>
        <p:xfrm>
          <a:off x="457200" y="1153237"/>
          <a:ext cx="7902054" cy="3210265"/>
        </p:xfrm>
        <a:graphic>
          <a:graphicData uri="http://schemas.openxmlformats.org/drawingml/2006/table">
            <a:tbl>
              <a:tblPr firstRow="1" firstCol="1" lastRow="1" lastCol="1" bandRow="1" bandCol="1"/>
              <a:tblGrid>
                <a:gridCol w="6102645">
                  <a:extLst>
                    <a:ext uri="{9D8B030D-6E8A-4147-A177-3AD203B41FA5}">
                      <a16:colId xmlns:a16="http://schemas.microsoft.com/office/drawing/2014/main" val="1530655646"/>
                    </a:ext>
                  </a:extLst>
                </a:gridCol>
                <a:gridCol w="1799409">
                  <a:extLst>
                    <a:ext uri="{9D8B030D-6E8A-4147-A177-3AD203B41FA5}">
                      <a16:colId xmlns:a16="http://schemas.microsoft.com/office/drawing/2014/main" val="638150311"/>
                    </a:ext>
                  </a:extLst>
                </a:gridCol>
              </a:tblGrid>
              <a:tr h="333930">
                <a:tc>
                  <a:txBody>
                    <a:bodyPr/>
                    <a:lstStyle/>
                    <a:p>
                      <a:pPr marL="3175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9695" marR="0" algn="r">
                        <a:lnSpc>
                          <a:spcPts val="110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FEBRUARY 28, 1998</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1910515"/>
                  </a:ext>
                </a:extLst>
              </a:tr>
              <a:tr h="273468">
                <a:tc>
                  <a:txBody>
                    <a:bodyPr/>
                    <a:lstStyle/>
                    <a:p>
                      <a:pPr marL="31750" marR="0">
                        <a:spcBef>
                          <a:spcPts val="0"/>
                        </a:spcBef>
                        <a:spcAft>
                          <a:spcPts val="0"/>
                        </a:spcAft>
                      </a:pPr>
                      <a:r>
                        <a:rPr lang="en-US" sz="1600" b="1" dirty="0">
                          <a:effectLst/>
                          <a:latin typeface="Calibri" panose="020F0502020204030204" pitchFamily="34" charset="0"/>
                          <a:ea typeface="Consolas" panose="020B0609020204030204" pitchFamily="49" charset="0"/>
                          <a:cs typeface="Consolas" panose="020B0609020204030204" pitchFamily="49" charset="0"/>
                        </a:rPr>
                        <a:t>OPERATING ACTIVITIES:</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9695" marR="0" algn="r">
                        <a:lnSpc>
                          <a:spcPts val="110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85331299"/>
                  </a:ext>
                </a:extLst>
              </a:tr>
              <a:tr h="273468">
                <a:tc>
                  <a:txBody>
                    <a:bodyPr/>
                    <a:lstStyle/>
                    <a:p>
                      <a:pPr marL="3175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 income</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9695" marR="0" algn="r">
                        <a:lnSpc>
                          <a:spcPts val="110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$ 11,688</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2391080196"/>
                  </a:ext>
                </a:extLst>
              </a:tr>
              <a:tr h="177256">
                <a:tc>
                  <a:txBody>
                    <a:bodyPr/>
                    <a:lstStyle/>
                    <a:p>
                      <a:pPr marL="31750" marR="0">
                        <a:lnSpc>
                          <a:spcPts val="1100"/>
                        </a:lnSpc>
                        <a:spcBef>
                          <a:spcPts val="5"/>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Noncash items: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9695" marR="0" algn="r">
                        <a:lnSpc>
                          <a:spcPts val="104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2418608747"/>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Depreciation</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304165"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3,738</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2185540642"/>
                  </a:ext>
                </a:extLst>
              </a:tr>
              <a:tr h="166574">
                <a:tc>
                  <a:txBody>
                    <a:bodyPr/>
                    <a:lstStyle/>
                    <a:p>
                      <a:pPr marL="303530" marR="0">
                        <a:lnSpc>
                          <a:spcPts val="104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Deferred income tax provision</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304165"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988</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3889413666"/>
                  </a:ext>
                </a:extLst>
              </a:tr>
              <a:tr h="212935">
                <a:tc>
                  <a:txBody>
                    <a:bodyPr/>
                    <a:lstStyle/>
                    <a:p>
                      <a:pPr marL="303530" marR="1395730" indent="-272415">
                        <a:lnSpc>
                          <a:spcPts val="1100"/>
                        </a:lnSpc>
                        <a:spcBef>
                          <a:spcPts val="1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a:t>
                      </a:r>
                      <a:r>
                        <a:rPr lang="en-US" sz="1600" spc="-105">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change</a:t>
                      </a:r>
                      <a:r>
                        <a:rPr lang="en-US" sz="1600" spc="-105">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in</a:t>
                      </a:r>
                      <a:r>
                        <a:rPr lang="en-US" sz="1600" spc="-105">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current</a:t>
                      </a:r>
                      <a:r>
                        <a:rPr lang="en-US" sz="1600" spc="-105">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assets</a:t>
                      </a:r>
                      <a:r>
                        <a:rPr lang="en-US" sz="1600" spc="-10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and</a:t>
                      </a:r>
                      <a:r>
                        <a:rPr lang="en-US" sz="1600" spc="-105">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liabilities: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236220" marR="0" algn="r">
                        <a:lnSpc>
                          <a:spcPts val="110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1467456425"/>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Receivables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168275"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(1,677)</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4218972856"/>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Inventories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168275"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(27,772)</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1892544501"/>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Prepaid expenses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0"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(2,273)</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3897617923"/>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Prepaid catalog costs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0"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(1,419)</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768332473"/>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Accounts payable</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304165"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9,924</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1326723743"/>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Accrued liabilities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304165"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4,968</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982765498"/>
                  </a:ext>
                </a:extLst>
              </a:tr>
              <a:tr h="166574">
                <a:tc>
                  <a:txBody>
                    <a:bodyPr/>
                    <a:lstStyle/>
                    <a:p>
                      <a:pPr marL="303530" marR="0">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Income taxes payable</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0" marR="0" algn="r">
                        <a:lnSpc>
                          <a:spcPts val="1025"/>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(451)</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2532932710"/>
                  </a:ext>
                </a:extLst>
              </a:tr>
              <a:tr h="166574">
                <a:tc>
                  <a:txBody>
                    <a:bodyPr/>
                    <a:lstStyle/>
                    <a:p>
                      <a:pPr marL="303530" marR="0">
                        <a:lnSpc>
                          <a:spcPts val="95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Increase in deferred catalog costs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0" marR="0" algn="r">
                        <a:lnSpc>
                          <a:spcPts val="95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(3,673)</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3073880"/>
                  </a:ext>
                </a:extLst>
              </a:tr>
              <a:tr h="273468">
                <a:tc>
                  <a:txBody>
                    <a:bodyPr/>
                    <a:lstStyle/>
                    <a:p>
                      <a:pPr marL="644525"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 CASH (USED IN) PROVIDED</a:t>
                      </a:r>
                      <a:r>
                        <a:rPr lang="en-US" sz="1600" spc="-36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BY OPERATING ACTIVITIES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8425" marR="0" algn="r">
                        <a:spcBef>
                          <a:spcPts val="0"/>
                        </a:spcBef>
                        <a:spcAft>
                          <a:spcPts val="0"/>
                        </a:spcAft>
                      </a:pPr>
                      <a:r>
                        <a:rPr lang="en-US" sz="1600" dirty="0">
                          <a:effectLst/>
                          <a:latin typeface="Calibri" panose="020F0502020204030204" pitchFamily="34" charset="0"/>
                          <a:ea typeface="Consolas" panose="020B0609020204030204" pitchFamily="49" charset="0"/>
                          <a:cs typeface="Consolas" panose="020B0609020204030204" pitchFamily="49" charset="0"/>
                        </a:rPr>
                        <a:t>$ (5,959)</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0006006"/>
                  </a:ext>
                </a:extLst>
              </a:tr>
            </a:tbl>
          </a:graphicData>
        </a:graphic>
      </p:graphicFrame>
      <p:sp>
        <p:nvSpPr>
          <p:cNvPr id="5" name="TextBox 4">
            <a:extLst>
              <a:ext uri="{FF2B5EF4-FFF2-40B4-BE49-F238E27FC236}">
                <a16:creationId xmlns:a16="http://schemas.microsoft.com/office/drawing/2014/main" id="{DF8F65F1-18B8-74C6-52E6-7676254722C0}"/>
              </a:ext>
            </a:extLst>
          </p:cNvPr>
          <p:cNvSpPr txBox="1"/>
          <p:nvPr/>
        </p:nvSpPr>
        <p:spPr>
          <a:xfrm>
            <a:off x="3247200" y="4411468"/>
            <a:ext cx="2955233" cy="584775"/>
          </a:xfrm>
          <a:prstGeom prst="rect">
            <a:avLst/>
          </a:prstGeom>
          <a:noFill/>
        </p:spPr>
        <p:txBody>
          <a:bodyPr wrap="none" rtlCol="0">
            <a:spAutoFit/>
          </a:bodyPr>
          <a:lstStyle/>
          <a:p>
            <a:r>
              <a:rPr lang="en-US" sz="3200" b="1" dirty="0"/>
              <a:t>Indirect Method</a:t>
            </a:r>
          </a:p>
        </p:txBody>
      </p:sp>
    </p:spTree>
    <p:extLst>
      <p:ext uri="{BB962C8B-B14F-4D97-AF65-F5344CB8AC3E}">
        <p14:creationId xmlns:p14="http://schemas.microsoft.com/office/powerpoint/2010/main" val="242686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9E9F-4CBC-8A1C-0F11-4171F41E2B25}"/>
              </a:ext>
            </a:extLst>
          </p:cNvPr>
          <p:cNvSpPr>
            <a:spLocks noGrp="1"/>
          </p:cNvSpPr>
          <p:nvPr>
            <p:ph type="title"/>
          </p:nvPr>
        </p:nvSpPr>
        <p:spPr/>
        <p:txBody>
          <a:bodyPr/>
          <a:lstStyle/>
          <a:p>
            <a:r>
              <a:rPr lang="en-US" dirty="0"/>
              <a:t>Actual Cash Flow from Investing</a:t>
            </a:r>
          </a:p>
        </p:txBody>
      </p:sp>
      <p:graphicFrame>
        <p:nvGraphicFramePr>
          <p:cNvPr id="5" name="Table 4">
            <a:extLst>
              <a:ext uri="{FF2B5EF4-FFF2-40B4-BE49-F238E27FC236}">
                <a16:creationId xmlns:a16="http://schemas.microsoft.com/office/drawing/2014/main" id="{1FF1CC07-9700-3DDC-DE33-5C1CE8F0B0AA}"/>
              </a:ext>
            </a:extLst>
          </p:cNvPr>
          <p:cNvGraphicFramePr>
            <a:graphicFrameLocks noGrp="1"/>
          </p:cNvGraphicFramePr>
          <p:nvPr>
            <p:extLst>
              <p:ext uri="{D42A27DB-BD31-4B8C-83A1-F6EECF244321}">
                <p14:modId xmlns:p14="http://schemas.microsoft.com/office/powerpoint/2010/main" val="582223570"/>
              </p:ext>
            </p:extLst>
          </p:nvPr>
        </p:nvGraphicFramePr>
        <p:xfrm>
          <a:off x="1662112" y="1848802"/>
          <a:ext cx="5819775" cy="1219200"/>
        </p:xfrm>
        <a:graphic>
          <a:graphicData uri="http://schemas.openxmlformats.org/drawingml/2006/table">
            <a:tbl>
              <a:tblPr firstRow="1" firstCol="1" lastRow="1" lastCol="1" bandRow="1" bandCol="1"/>
              <a:tblGrid>
                <a:gridCol w="4494530">
                  <a:extLst>
                    <a:ext uri="{9D8B030D-6E8A-4147-A177-3AD203B41FA5}">
                      <a16:colId xmlns:a16="http://schemas.microsoft.com/office/drawing/2014/main" val="1148217522"/>
                    </a:ext>
                  </a:extLst>
                </a:gridCol>
                <a:gridCol w="1325245">
                  <a:extLst>
                    <a:ext uri="{9D8B030D-6E8A-4147-A177-3AD203B41FA5}">
                      <a16:colId xmlns:a16="http://schemas.microsoft.com/office/drawing/2014/main" val="1701344840"/>
                    </a:ext>
                  </a:extLst>
                </a:gridCol>
              </a:tblGrid>
              <a:tr h="155575">
                <a:tc>
                  <a:txBody>
                    <a:bodyPr/>
                    <a:lstStyle/>
                    <a:p>
                      <a:pPr marL="0" marR="0">
                        <a:spcBef>
                          <a:spcPts val="0"/>
                        </a:spcBef>
                        <a:spcAft>
                          <a:spcPts val="0"/>
                        </a:spcAft>
                      </a:pPr>
                      <a:r>
                        <a:rPr lang="en-US" sz="1600" b="1">
                          <a:effectLst/>
                          <a:latin typeface="Calibri" panose="020F0502020204030204" pitchFamily="34" charset="0"/>
                          <a:ea typeface="Consolas" panose="020B0609020204030204" pitchFamily="49" charset="0"/>
                          <a:cs typeface="Consolas" panose="020B0609020204030204" pitchFamily="49" charset="0"/>
                        </a:rPr>
                        <a:t>INVESTING ACTIVITIES:</a:t>
                      </a:r>
                      <a:endParaRPr lang="en-US"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8425"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3693519137"/>
                  </a:ext>
                </a:extLst>
              </a:tr>
              <a:tr h="149860">
                <a:tc>
                  <a:txBody>
                    <a:bodyPr/>
                    <a:lstStyle/>
                    <a:p>
                      <a:pPr marL="32385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Purchase of property</a:t>
                      </a:r>
                      <a:r>
                        <a:rPr lang="en-US" sz="1600" spc="-27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and</a:t>
                      </a:r>
                      <a:r>
                        <a:rPr lang="en-US" sz="1600" spc="-9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equipment</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8425"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$(10,319)</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1497595304"/>
                  </a:ext>
                </a:extLst>
              </a:tr>
              <a:tr h="167005">
                <a:tc>
                  <a:txBody>
                    <a:bodyPr/>
                    <a:lstStyle/>
                    <a:p>
                      <a:pPr marL="323850" marR="0">
                        <a:spcBef>
                          <a:spcPts val="0"/>
                        </a:spcBef>
                        <a:spcAft>
                          <a:spcPts val="0"/>
                        </a:spcAft>
                      </a:pPr>
                      <a:r>
                        <a:rPr lang="en-US" sz="1600" dirty="0">
                          <a:effectLst/>
                          <a:latin typeface="Calibri" panose="020F0502020204030204" pitchFamily="34" charset="0"/>
                          <a:ea typeface="Consolas" panose="020B0609020204030204" pitchFamily="49" charset="0"/>
                          <a:cs typeface="Consolas" panose="020B0609020204030204" pitchFamily="49" charset="0"/>
                        </a:rPr>
                        <a:t>Proceeds on sale</a:t>
                      </a:r>
                      <a:r>
                        <a:rPr lang="en-US" sz="1600" spc="-235" dirty="0">
                          <a:effectLst/>
                          <a:latin typeface="Calibri" panose="020F0502020204030204" pitchFamily="34" charset="0"/>
                          <a:ea typeface="Consolas" panose="020B0609020204030204" pitchFamily="49" charset="0"/>
                          <a:cs typeface="Consolas" panose="020B0609020204030204" pitchFamily="49" charset="0"/>
                        </a:rPr>
                        <a:t> </a:t>
                      </a:r>
                      <a:r>
                        <a:rPr lang="en-US" sz="1600" dirty="0">
                          <a:effectLst/>
                          <a:latin typeface="Calibri" panose="020F0502020204030204" pitchFamily="34" charset="0"/>
                          <a:ea typeface="Consolas" panose="020B0609020204030204" pitchFamily="49" charset="0"/>
                          <a:cs typeface="Consolas" panose="020B0609020204030204" pitchFamily="49" charset="0"/>
                        </a:rPr>
                        <a:t>of</a:t>
                      </a:r>
                      <a:r>
                        <a:rPr lang="en-US" sz="1600" spc="-75" dirty="0">
                          <a:effectLst/>
                          <a:latin typeface="Calibri" panose="020F0502020204030204" pitchFamily="34" charset="0"/>
                          <a:ea typeface="Consolas" panose="020B0609020204030204" pitchFamily="49" charset="0"/>
                          <a:cs typeface="Consolas" panose="020B0609020204030204" pitchFamily="49" charset="0"/>
                        </a:rPr>
                        <a:t> </a:t>
                      </a:r>
                      <a:r>
                        <a:rPr lang="en-US" sz="1600" dirty="0">
                          <a:effectLst/>
                          <a:latin typeface="Calibri" panose="020F0502020204030204" pitchFamily="34" charset="0"/>
                          <a:ea typeface="Consolas" panose="020B0609020204030204" pitchFamily="49" charset="0"/>
                          <a:cs typeface="Consolas" panose="020B0609020204030204" pitchFamily="49" charset="0"/>
                        </a:rPr>
                        <a:t>equipment</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98425"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2012621088"/>
                  </a:ext>
                </a:extLst>
              </a:tr>
              <a:tr h="144145">
                <a:tc>
                  <a:txBody>
                    <a:bodyPr/>
                    <a:lstStyle/>
                    <a:p>
                      <a:pPr marL="32385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Loans</a:t>
                      </a:r>
                      <a:r>
                        <a:rPr lang="en-US" sz="1600" spc="-9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to</a:t>
                      </a:r>
                      <a:r>
                        <a:rPr lang="en-US" sz="1600" spc="-85">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executives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(1,620)</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2637561"/>
                  </a:ext>
                </a:extLst>
              </a:tr>
              <a:tr h="207010">
                <a:tc>
                  <a:txBody>
                    <a:bodyPr/>
                    <a:lstStyle/>
                    <a:p>
                      <a:pPr marL="666750" marR="0" indent="-66675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 CASH USED IN </a:t>
                      </a:r>
                      <a:r>
                        <a:rPr lang="en-US" sz="1600" spc="-33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INVESTING</a:t>
                      </a:r>
                      <a:r>
                        <a:rPr lang="en-US" sz="1600" spc="-80">
                          <a:effectLst/>
                          <a:latin typeface="Calibri" panose="020F0502020204030204" pitchFamily="34" charset="0"/>
                          <a:ea typeface="Consolas" panose="020B0609020204030204" pitchFamily="49" charset="0"/>
                          <a:cs typeface="Consolas" panose="020B0609020204030204" pitchFamily="49" charset="0"/>
                        </a:rPr>
                        <a:t> </a:t>
                      </a:r>
                      <a:r>
                        <a:rPr lang="en-US" sz="1600">
                          <a:effectLst/>
                          <a:latin typeface="Calibri" panose="020F0502020204030204" pitchFamily="34" charset="0"/>
                          <a:ea typeface="Consolas" panose="020B0609020204030204" pitchFamily="49" charset="0"/>
                          <a:cs typeface="Consolas" panose="020B0609020204030204" pitchFamily="49" charset="0"/>
                        </a:rPr>
                        <a:t>ACTIVITIES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pPr>
                      <a:r>
                        <a:rPr lang="en-US" sz="1600" dirty="0">
                          <a:effectLst/>
                          <a:latin typeface="Calibri" panose="020F0502020204030204" pitchFamily="34" charset="0"/>
                          <a:ea typeface="Consolas" panose="020B0609020204030204" pitchFamily="49" charset="0"/>
                          <a:cs typeface="Consolas" panose="020B0609020204030204" pitchFamily="49" charset="0"/>
                        </a:rPr>
                        <a:t>$(11,939)</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2001467"/>
                  </a:ext>
                </a:extLst>
              </a:tr>
            </a:tbl>
          </a:graphicData>
        </a:graphic>
      </p:graphicFrame>
    </p:spTree>
    <p:extLst>
      <p:ext uri="{BB962C8B-B14F-4D97-AF65-F5344CB8AC3E}">
        <p14:creationId xmlns:p14="http://schemas.microsoft.com/office/powerpoint/2010/main" val="4165523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9E9F-4CBC-8A1C-0F11-4171F41E2B25}"/>
              </a:ext>
            </a:extLst>
          </p:cNvPr>
          <p:cNvSpPr>
            <a:spLocks noGrp="1"/>
          </p:cNvSpPr>
          <p:nvPr>
            <p:ph type="title"/>
          </p:nvPr>
        </p:nvSpPr>
        <p:spPr>
          <a:xfrm>
            <a:off x="457200" y="189208"/>
            <a:ext cx="8229600" cy="857250"/>
          </a:xfrm>
        </p:spPr>
        <p:txBody>
          <a:bodyPr/>
          <a:lstStyle/>
          <a:p>
            <a:r>
              <a:rPr lang="en-US" dirty="0"/>
              <a:t>Actual Cash Flow from Financing</a:t>
            </a:r>
          </a:p>
        </p:txBody>
      </p:sp>
      <p:sp>
        <p:nvSpPr>
          <p:cNvPr id="5" name="Rectangle: Rounded Corners 4">
            <a:extLst>
              <a:ext uri="{FF2B5EF4-FFF2-40B4-BE49-F238E27FC236}">
                <a16:creationId xmlns:a16="http://schemas.microsoft.com/office/drawing/2014/main" id="{0A030E80-2561-1AD6-C2F1-64D689A2B3E8}"/>
              </a:ext>
            </a:extLst>
          </p:cNvPr>
          <p:cNvSpPr/>
          <p:nvPr/>
        </p:nvSpPr>
        <p:spPr>
          <a:xfrm>
            <a:off x="964800" y="2649600"/>
            <a:ext cx="7783200" cy="338400"/>
          </a:xfrm>
          <a:prstGeom prst="round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AB159CBD-CE78-8FD9-E02C-416D36A4475F}"/>
              </a:ext>
            </a:extLst>
          </p:cNvPr>
          <p:cNvGraphicFramePr>
            <a:graphicFrameLocks noGrp="1"/>
          </p:cNvGraphicFramePr>
          <p:nvPr>
            <p:extLst>
              <p:ext uri="{D42A27DB-BD31-4B8C-83A1-F6EECF244321}">
                <p14:modId xmlns:p14="http://schemas.microsoft.com/office/powerpoint/2010/main" val="4172434446"/>
              </p:ext>
            </p:extLst>
          </p:nvPr>
        </p:nvGraphicFramePr>
        <p:xfrm>
          <a:off x="792000" y="1736967"/>
          <a:ext cx="7826400" cy="1463040"/>
        </p:xfrm>
        <a:graphic>
          <a:graphicData uri="http://schemas.openxmlformats.org/drawingml/2006/table">
            <a:tbl>
              <a:tblPr firstRow="1" firstCol="1" lastRow="1" lastCol="1" bandRow="1" bandCol="1"/>
              <a:tblGrid>
                <a:gridCol w="6044218">
                  <a:extLst>
                    <a:ext uri="{9D8B030D-6E8A-4147-A177-3AD203B41FA5}">
                      <a16:colId xmlns:a16="http://schemas.microsoft.com/office/drawing/2014/main" val="1167145525"/>
                    </a:ext>
                  </a:extLst>
                </a:gridCol>
                <a:gridCol w="1782182">
                  <a:extLst>
                    <a:ext uri="{9D8B030D-6E8A-4147-A177-3AD203B41FA5}">
                      <a16:colId xmlns:a16="http://schemas.microsoft.com/office/drawing/2014/main" val="1510650333"/>
                    </a:ext>
                  </a:extLst>
                </a:gridCol>
              </a:tblGrid>
              <a:tr h="184150">
                <a:tc>
                  <a:txBody>
                    <a:bodyPr/>
                    <a:lstStyle/>
                    <a:p>
                      <a:pPr marL="0" marR="0">
                        <a:spcBef>
                          <a:spcPts val="0"/>
                        </a:spcBef>
                        <a:spcAft>
                          <a:spcPts val="0"/>
                        </a:spcAft>
                      </a:pPr>
                      <a:r>
                        <a:rPr lang="en-US" sz="1600" b="1" dirty="0">
                          <a:effectLst/>
                          <a:latin typeface="Calibri" panose="020F0502020204030204" pitchFamily="34" charset="0"/>
                          <a:ea typeface="Consolas" panose="020B0609020204030204" pitchFamily="49" charset="0"/>
                          <a:cs typeface="Consolas" panose="020B0609020204030204" pitchFamily="49" charset="0"/>
                        </a:rPr>
                        <a:t>FINANCING ACTIVITIES:</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3064419478"/>
                  </a:ext>
                </a:extLst>
              </a:tr>
              <a:tr h="172720">
                <a:tc>
                  <a:txBody>
                    <a:bodyPr/>
                    <a:lstStyle/>
                    <a:p>
                      <a:pPr marL="323850" marR="0">
                        <a:spcBef>
                          <a:spcPts val="0"/>
                        </a:spcBef>
                        <a:spcAft>
                          <a:spcPts val="0"/>
                        </a:spcAft>
                      </a:pPr>
                      <a:r>
                        <a:rPr lang="en-US" sz="1600" dirty="0">
                          <a:effectLst/>
                          <a:latin typeface="Calibri" panose="020F0502020204030204" pitchFamily="34" charset="0"/>
                          <a:ea typeface="Consolas" panose="020B0609020204030204" pitchFamily="49" charset="0"/>
                          <a:cs typeface="Consolas" panose="020B0609020204030204" pitchFamily="49" charset="0"/>
                        </a:rPr>
                        <a:t>Payments on capital leases</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	-</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787228458"/>
                  </a:ext>
                </a:extLst>
              </a:tr>
              <a:tr h="172720">
                <a:tc>
                  <a:txBody>
                    <a:bodyPr/>
                    <a:lstStyle/>
                    <a:p>
                      <a:pPr marL="32385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 advances (repayments) under revolving line of credit</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10,264</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3269253667"/>
                  </a:ext>
                </a:extLst>
              </a:tr>
              <a:tr h="172720">
                <a:tc>
                  <a:txBody>
                    <a:bodyPr/>
                    <a:lstStyle/>
                    <a:p>
                      <a:pPr marL="32385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 proceeds from initial public offering of common shares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extLst>
                  <a:ext uri="{0D108BD9-81ED-4DB2-BD59-A6C34878D82A}">
                    <a16:rowId xmlns:a16="http://schemas.microsoft.com/office/drawing/2014/main" val="1276594009"/>
                  </a:ext>
                </a:extLst>
              </a:tr>
              <a:tr h="172720">
                <a:tc>
                  <a:txBody>
                    <a:bodyPr/>
                    <a:lstStyle/>
                    <a:p>
                      <a:pPr marL="323850" marR="0">
                        <a:spcBef>
                          <a:spcPts val="0"/>
                        </a:spcBef>
                        <a:spcAft>
                          <a:spcPts val="0"/>
                        </a:spcAft>
                      </a:pPr>
                      <a:r>
                        <a:rPr lang="en-US" sz="1600" dirty="0">
                          <a:effectLst/>
                          <a:latin typeface="Calibri" panose="020F0502020204030204" pitchFamily="34" charset="0"/>
                          <a:ea typeface="Consolas" panose="020B0609020204030204" pitchFamily="49" charset="0"/>
                          <a:cs typeface="Consolas" panose="020B0609020204030204" pitchFamily="49" charset="0"/>
                        </a:rPr>
                        <a:t>Distributions to stockholders</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lnSpc>
                          <a:spcPts val="1040"/>
                        </a:lnSpc>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(1,130)</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7142800"/>
                  </a:ext>
                </a:extLst>
              </a:tr>
              <a:tr h="207010">
                <a:tc>
                  <a:txBody>
                    <a:bodyPr/>
                    <a:lstStyle/>
                    <a:p>
                      <a:pPr marL="609600" marR="0">
                        <a:spcBef>
                          <a:spcPts val="0"/>
                        </a:spcBef>
                        <a:spcAft>
                          <a:spcPts val="0"/>
                        </a:spcAft>
                      </a:pPr>
                      <a:r>
                        <a:rPr lang="en-US" sz="1600">
                          <a:effectLst/>
                          <a:latin typeface="Calibri" panose="020F0502020204030204" pitchFamily="34" charset="0"/>
                          <a:ea typeface="Consolas" panose="020B0609020204030204" pitchFamily="49" charset="0"/>
                          <a:cs typeface="Consolas" panose="020B0609020204030204" pitchFamily="49" charset="0"/>
                        </a:rPr>
                        <a:t>NET CASH PROVIDED BY (USED IN) FINANCING ACTIVITIES</a:t>
                      </a:r>
                      <a:endParaRPr lang="en-US" sz="16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a:noFill/>
                    </a:lnT>
                    <a:lnB>
                      <a:noFill/>
                    </a:lnB>
                  </a:tcPr>
                </a:tc>
                <a:tc>
                  <a:txBody>
                    <a:bodyPr/>
                    <a:lstStyle/>
                    <a:p>
                      <a:pPr marL="57150" marR="0" algn="r">
                        <a:spcBef>
                          <a:spcPts val="0"/>
                        </a:spcBef>
                        <a:spcAft>
                          <a:spcPts val="0"/>
                        </a:spcAft>
                        <a:tabLst>
                          <a:tab pos="374015" algn="l"/>
                        </a:tabLst>
                      </a:pPr>
                      <a:r>
                        <a:rPr lang="en-US" sz="1600" dirty="0">
                          <a:effectLst/>
                          <a:latin typeface="Calibri" panose="020F0502020204030204" pitchFamily="34" charset="0"/>
                          <a:ea typeface="Consolas" panose="020B0609020204030204" pitchFamily="49" charset="0"/>
                          <a:cs typeface="Consolas" panose="020B0609020204030204" pitchFamily="49" charset="0"/>
                        </a:rPr>
                        <a:t>$ 9,134</a:t>
                      </a:r>
                      <a:endParaRPr lang="en-US" sz="16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2542411"/>
                  </a:ext>
                </a:extLst>
              </a:tr>
            </a:tbl>
          </a:graphicData>
        </a:graphic>
      </p:graphicFrame>
      <p:sp>
        <p:nvSpPr>
          <p:cNvPr id="7" name="TextBox 6">
            <a:extLst>
              <a:ext uri="{FF2B5EF4-FFF2-40B4-BE49-F238E27FC236}">
                <a16:creationId xmlns:a16="http://schemas.microsoft.com/office/drawing/2014/main" id="{E9FA997B-9631-C24A-7B0B-7F906666401A}"/>
              </a:ext>
            </a:extLst>
          </p:cNvPr>
          <p:cNvSpPr txBox="1"/>
          <p:nvPr/>
        </p:nvSpPr>
        <p:spPr>
          <a:xfrm>
            <a:off x="1922400" y="3744000"/>
            <a:ext cx="5755037" cy="369332"/>
          </a:xfrm>
          <a:prstGeom prst="rect">
            <a:avLst/>
          </a:prstGeom>
          <a:noFill/>
        </p:spPr>
        <p:txBody>
          <a:bodyPr wrap="none" rtlCol="0">
            <a:spAutoFit/>
          </a:bodyPr>
          <a:lstStyle/>
          <a:p>
            <a:r>
              <a:rPr lang="en-US" dirty="0"/>
              <a:t>This was hiding in Accounts Payable and Accrued Liabilities!</a:t>
            </a:r>
          </a:p>
        </p:txBody>
      </p:sp>
    </p:spTree>
    <p:extLst>
      <p:ext uri="{BB962C8B-B14F-4D97-AF65-F5344CB8AC3E}">
        <p14:creationId xmlns:p14="http://schemas.microsoft.com/office/powerpoint/2010/main" val="155752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Next Time</a:t>
            </a:r>
          </a:p>
        </p:txBody>
      </p:sp>
      <p:sp>
        <p:nvSpPr>
          <p:cNvPr id="5" name="Content Placeholder 4"/>
          <p:cNvSpPr>
            <a:spLocks noGrp="1"/>
          </p:cNvSpPr>
          <p:nvPr>
            <p:ph idx="1"/>
          </p:nvPr>
        </p:nvSpPr>
        <p:spPr/>
        <p:txBody>
          <a:bodyPr>
            <a:normAutofit/>
          </a:bodyPr>
          <a:lstStyle/>
          <a:p>
            <a:r>
              <a:rPr lang="en-US" dirty="0"/>
              <a:t>The last main accounting statement: </a:t>
            </a:r>
          </a:p>
          <a:p>
            <a:pPr marL="0" indent="0" algn="ctr">
              <a:buNone/>
            </a:pPr>
            <a:r>
              <a:rPr lang="en-US" b="1" dirty="0"/>
              <a:t>Cash Flow Statement</a:t>
            </a:r>
          </a:p>
        </p:txBody>
      </p:sp>
    </p:spTree>
    <p:extLst>
      <p:ext uri="{BB962C8B-B14F-4D97-AF65-F5344CB8AC3E}">
        <p14:creationId xmlns:p14="http://schemas.microsoft.com/office/powerpoint/2010/main" val="2990087822"/>
      </p:ext>
    </p:extLst>
  </p:cSld>
  <p:clrMapOvr>
    <a:masterClrMapping/>
  </p:clrMapOvr>
</p:sld>
</file>

<file path=ppt/theme/theme1.xml><?xml version="1.0" encoding="utf-8"?>
<a:theme xmlns:a="http://schemas.openxmlformats.org/drawingml/2006/main" name="SOM_bknd_wide_whi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SOM_bknd_wide_white.potx</Template>
  <TotalTime>7131</TotalTime>
  <Words>1688</Words>
  <Application>Microsoft Macintosh PowerPoint</Application>
  <PresentationFormat>On-screen Show (16:9)</PresentationFormat>
  <Paragraphs>484</Paragraphs>
  <Slides>53</Slides>
  <Notes>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53</vt:i4>
      </vt:variant>
    </vt:vector>
  </HeadingPairs>
  <TitlesOfParts>
    <vt:vector size="61" baseType="lpstr">
      <vt:lpstr>Arial</vt:lpstr>
      <vt:lpstr>Avenir Next LT Pro</vt:lpstr>
      <vt:lpstr>Calibri</vt:lpstr>
      <vt:lpstr>Consolas</vt:lpstr>
      <vt:lpstr>Times New Roman</vt:lpstr>
      <vt:lpstr>SOM_bknd_wide_white</vt:lpstr>
      <vt:lpstr>Worksheet</vt:lpstr>
      <vt:lpstr>Document</vt:lpstr>
      <vt:lpstr>LAW 21474 Financial Accounting </vt:lpstr>
      <vt:lpstr>Working “backwards”</vt:lpstr>
      <vt:lpstr>PowerPoint Presentation</vt:lpstr>
      <vt:lpstr>PowerPoint Presentation</vt:lpstr>
      <vt:lpstr>Data: Financial Statements</vt:lpstr>
      <vt:lpstr>Data: Financial Statements</vt:lpstr>
      <vt:lpstr>Data: Financial Statements</vt:lpstr>
      <vt:lpstr>Account Links: T-account Notation</vt:lpstr>
      <vt:lpstr>Coldwater</vt:lpstr>
      <vt:lpstr>Go to yaleIE</vt:lpstr>
      <vt:lpstr>Data: Financial Statements</vt:lpstr>
      <vt:lpstr>Account Links</vt:lpstr>
      <vt:lpstr>Go to yaleIE</vt:lpstr>
      <vt:lpstr>Account Links</vt:lpstr>
      <vt:lpstr>Account Links</vt:lpstr>
      <vt:lpstr>Accounts with One-Way Links to Cash</vt:lpstr>
      <vt:lpstr>Accounts with Two-Way Links to Cash</vt:lpstr>
      <vt:lpstr>Coldwater</vt:lpstr>
      <vt:lpstr>Coldwater</vt:lpstr>
      <vt:lpstr>Coldwater</vt:lpstr>
      <vt:lpstr>Coldwater</vt:lpstr>
      <vt:lpstr>Coldwater</vt:lpstr>
      <vt:lpstr>Coldwater</vt:lpstr>
      <vt:lpstr>Progress Report – Balance Sheet</vt:lpstr>
      <vt:lpstr>Progress Report – Income Statement</vt:lpstr>
      <vt:lpstr>Coldwater</vt:lpstr>
      <vt:lpstr>Coldwater</vt:lpstr>
      <vt:lpstr>Coldwater</vt:lpstr>
      <vt:lpstr>Coldwater</vt:lpstr>
      <vt:lpstr>Coldwater</vt:lpstr>
      <vt:lpstr>Coldwater</vt:lpstr>
      <vt:lpstr>Coldwater</vt:lpstr>
      <vt:lpstr>Coldwater</vt:lpstr>
      <vt:lpstr>Coldwater</vt:lpstr>
      <vt:lpstr>Coldwater</vt:lpstr>
      <vt:lpstr>Coldwater</vt:lpstr>
      <vt:lpstr>Progress Report</vt:lpstr>
      <vt:lpstr>Progress Report – Income Statement</vt:lpstr>
      <vt:lpstr>Coldwater</vt:lpstr>
      <vt:lpstr>Coldwater</vt:lpstr>
      <vt:lpstr>Coldwater</vt:lpstr>
      <vt:lpstr>SG&amp;A Expenses to This Point</vt:lpstr>
      <vt:lpstr>Coldwater</vt:lpstr>
      <vt:lpstr>Coldwater</vt:lpstr>
      <vt:lpstr>PowerPoint Presentation</vt:lpstr>
      <vt:lpstr>Things to note</vt:lpstr>
      <vt:lpstr>PowerPoint Presentation</vt:lpstr>
      <vt:lpstr>What Account Was the Most Trouble?</vt:lpstr>
      <vt:lpstr>Coldwater -  Cash Flow Statement Based on Our Entries</vt:lpstr>
      <vt:lpstr>Actual Cash Flow from Operations</vt:lpstr>
      <vt:lpstr>Actual Cash Flow from Investing</vt:lpstr>
      <vt:lpstr>Actual Cash Flow from Financing</vt:lpstr>
      <vt:lpstr>Next Time</vt:lpstr>
    </vt:vector>
  </TitlesOfParts>
  <Company>Yale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 Mattison</dc:creator>
  <cp:lastModifiedBy>Antle, Rick</cp:lastModifiedBy>
  <cp:revision>69</cp:revision>
  <dcterms:created xsi:type="dcterms:W3CDTF">2012-06-28T13:26:35Z</dcterms:created>
  <dcterms:modified xsi:type="dcterms:W3CDTF">2026-02-11T20:17:55Z</dcterms:modified>
</cp:coreProperties>
</file>