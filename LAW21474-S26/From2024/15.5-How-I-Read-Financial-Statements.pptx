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339" r:id="rId2"/>
    <p:sldId id="340" r:id="rId3"/>
    <p:sldId id="341" r:id="rId4"/>
    <p:sldId id="342" r:id="rId5"/>
    <p:sldId id="343" r:id="rId6"/>
    <p:sldId id="257" r:id="rId7"/>
    <p:sldId id="278" r:id="rId8"/>
    <p:sldId id="275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0C30AA-D689-483F-B2F4-EEDF177BE883}" v="4" dt="2024-03-11T14:47:15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486" autoAdjust="0"/>
    <p:restoredTop sz="94400"/>
  </p:normalViewPr>
  <p:slideViewPr>
    <p:cSldViewPr snapToGrid="0" snapToObjects="1">
      <p:cViewPr>
        <p:scale>
          <a:sx n="78" d="100"/>
          <a:sy n="78" d="100"/>
        </p:scale>
        <p:origin x="60" y="333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2" d="100"/>
          <a:sy n="72" d="100"/>
        </p:scale>
        <p:origin x="2371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E00C30AA-D689-483F-B2F4-EEDF177BE883}"/>
    <pc:docChg chg="undo custSel addSld delSld modSld">
      <pc:chgData name="Antle, Rick" userId="c2afbbd2-30e4-4c8e-8af5-81913178ace3" providerId="ADAL" clId="{E00C30AA-D689-483F-B2F4-EEDF177BE883}" dt="2024-03-11T14:54:22.145" v="1378" actId="20577"/>
      <pc:docMkLst>
        <pc:docMk/>
      </pc:docMkLst>
      <pc:sldChg chg="addSp delSp modSp add mod">
        <pc:chgData name="Antle, Rick" userId="c2afbbd2-30e4-4c8e-8af5-81913178ace3" providerId="ADAL" clId="{E00C30AA-D689-483F-B2F4-EEDF177BE883}" dt="2024-03-11T14:47:42.126" v="973" actId="20577"/>
        <pc:sldMkLst>
          <pc:docMk/>
          <pc:sldMk cId="771280463" sldId="257"/>
        </pc:sldMkLst>
        <pc:spChg chg="del">
          <ac:chgData name="Antle, Rick" userId="c2afbbd2-30e4-4c8e-8af5-81913178ace3" providerId="ADAL" clId="{E00C30AA-D689-483F-B2F4-EEDF177BE883}" dt="2024-03-11T14:46:19.650" v="950" actId="478"/>
          <ac:spMkLst>
            <pc:docMk/>
            <pc:sldMk cId="771280463" sldId="257"/>
            <ac:spMk id="4" creationId="{82F54B40-FCFB-4CF8-B627-41DFB17F9F33}"/>
          </ac:spMkLst>
        </pc:spChg>
        <pc:spChg chg="mod">
          <ac:chgData name="Antle, Rick" userId="c2afbbd2-30e4-4c8e-8af5-81913178ace3" providerId="ADAL" clId="{E00C30AA-D689-483F-B2F4-EEDF177BE883}" dt="2024-03-11T14:47:42.126" v="973" actId="20577"/>
          <ac:spMkLst>
            <pc:docMk/>
            <pc:sldMk cId="771280463" sldId="257"/>
            <ac:spMk id="7178" creationId="{00000000-0000-0000-0000-000000000000}"/>
          </ac:spMkLst>
        </pc:spChg>
        <pc:grpChg chg="mod">
          <ac:chgData name="Antle, Rick" userId="c2afbbd2-30e4-4c8e-8af5-81913178ace3" providerId="ADAL" clId="{E00C30AA-D689-483F-B2F4-EEDF177BE883}" dt="2024-03-11T14:45:49.525" v="926"/>
          <ac:grpSpMkLst>
            <pc:docMk/>
            <pc:sldMk cId="771280463" sldId="257"/>
            <ac:grpSpMk id="9" creationId="{1B30645C-9B5E-DA54-9E32-A4451F113FFA}"/>
          </ac:grpSpMkLst>
        </pc:grpChg>
        <pc:inkChg chg="add del">
          <ac:chgData name="Antle, Rick" userId="c2afbbd2-30e4-4c8e-8af5-81913178ace3" providerId="ADAL" clId="{E00C30AA-D689-483F-B2F4-EEDF177BE883}" dt="2024-03-11T14:45:50.325" v="928" actId="9405"/>
          <ac:inkMkLst>
            <pc:docMk/>
            <pc:sldMk cId="771280463" sldId="257"/>
            <ac:inkMk id="6" creationId="{AF08F0A7-74F3-B727-0563-83C07108D353}"/>
          </ac:inkMkLst>
        </pc:inkChg>
        <pc:inkChg chg="add del mod">
          <ac:chgData name="Antle, Rick" userId="c2afbbd2-30e4-4c8e-8af5-81913178ace3" providerId="ADAL" clId="{E00C30AA-D689-483F-B2F4-EEDF177BE883}" dt="2024-03-11T14:45:49.961" v="927" actId="9405"/>
          <ac:inkMkLst>
            <pc:docMk/>
            <pc:sldMk cId="771280463" sldId="257"/>
            <ac:inkMk id="7" creationId="{9E0C89EF-3B72-EF68-D970-2D099E39FCB0}"/>
          </ac:inkMkLst>
        </pc:inkChg>
        <pc:inkChg chg="add del mod">
          <ac:chgData name="Antle, Rick" userId="c2afbbd2-30e4-4c8e-8af5-81913178ace3" providerId="ADAL" clId="{E00C30AA-D689-483F-B2F4-EEDF177BE883}" dt="2024-03-11T14:45:49.525" v="926"/>
          <ac:inkMkLst>
            <pc:docMk/>
            <pc:sldMk cId="771280463" sldId="257"/>
            <ac:inkMk id="8" creationId="{A7EE2DD4-B891-85DD-1E01-7CD63E8919F7}"/>
          </ac:inkMkLst>
        </pc:inkChg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578293038" sldId="259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464841153" sldId="263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529795742" sldId="265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809835332" sldId="266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51070238" sldId="267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711819312" sldId="268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842692049" sldId="270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263594156" sldId="271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761194709" sldId="272"/>
        </pc:sldMkLst>
      </pc:sldChg>
      <pc:sldChg chg="modSp mod">
        <pc:chgData name="Antle, Rick" userId="c2afbbd2-30e4-4c8e-8af5-81913178ace3" providerId="ADAL" clId="{E00C30AA-D689-483F-B2F4-EEDF177BE883}" dt="2024-03-11T14:23:26.029" v="140" actId="20577"/>
        <pc:sldMkLst>
          <pc:docMk/>
          <pc:sldMk cId="2990087822" sldId="275"/>
        </pc:sldMkLst>
        <pc:spChg chg="mod">
          <ac:chgData name="Antle, Rick" userId="c2afbbd2-30e4-4c8e-8af5-81913178ace3" providerId="ADAL" clId="{E00C30AA-D689-483F-B2F4-EEDF177BE883}" dt="2024-03-11T14:23:26.029" v="140" actId="20577"/>
          <ac:spMkLst>
            <pc:docMk/>
            <pc:sldMk cId="2990087822" sldId="275"/>
            <ac:spMk id="5" creationId="{00000000-0000-0000-0000-000000000000}"/>
          </ac:spMkLst>
        </pc:spChg>
      </pc:sldChg>
      <pc:sldChg chg="delSp modSp add mod">
        <pc:chgData name="Antle, Rick" userId="c2afbbd2-30e4-4c8e-8af5-81913178ace3" providerId="ADAL" clId="{E00C30AA-D689-483F-B2F4-EEDF177BE883}" dt="2024-03-11T14:47:25.062" v="965" actId="1076"/>
        <pc:sldMkLst>
          <pc:docMk/>
          <pc:sldMk cId="36222809" sldId="278"/>
        </pc:sldMkLst>
        <pc:spChg chg="mod">
          <ac:chgData name="Antle, Rick" userId="c2afbbd2-30e4-4c8e-8af5-81913178ace3" providerId="ADAL" clId="{E00C30AA-D689-483F-B2F4-EEDF177BE883}" dt="2024-03-11T14:47:25.062" v="965" actId="1076"/>
          <ac:spMkLst>
            <pc:docMk/>
            <pc:sldMk cId="36222809" sldId="278"/>
            <ac:spMk id="29" creationId="{BD6FA297-454A-40FC-A832-EC72D10A5C75}"/>
          </ac:spMkLst>
        </pc:spChg>
        <pc:spChg chg="del mod">
          <ac:chgData name="Antle, Rick" userId="c2afbbd2-30e4-4c8e-8af5-81913178ace3" providerId="ADAL" clId="{E00C30AA-D689-483F-B2F4-EEDF177BE883}" dt="2024-03-11T14:47:18.372" v="964" actId="478"/>
          <ac:spMkLst>
            <pc:docMk/>
            <pc:sldMk cId="36222809" sldId="278"/>
            <ac:spMk id="7178" creationId="{00000000-0000-0000-0000-000000000000}"/>
          </ac:spMkLst>
        </pc:spChg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592252416" sldId="283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399651867" sldId="284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767564500" sldId="285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315262549" sldId="286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074293207" sldId="300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118942253" sldId="301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312295104" sldId="302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313236674" sldId="303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837718615" sldId="305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114586001" sldId="308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601857570" sldId="309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953711998" sldId="310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3490453517" sldId="311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163753064" sldId="312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3915300887" sldId="313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701536293" sldId="314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410978368" sldId="315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3668900418" sldId="316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04919322" sldId="317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30179278" sldId="318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845200057" sldId="319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4227103833" sldId="320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745390626" sldId="321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508138231" sldId="322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038826232" sldId="323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57456470" sldId="324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529762876" sldId="325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303409692" sldId="326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073494044" sldId="327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997257639" sldId="328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568482472" sldId="329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123139979" sldId="330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32369923" sldId="331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316025615" sldId="332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508430852" sldId="333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801721069" sldId="334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006583983" sldId="335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734140597" sldId="336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573809793" sldId="337"/>
        </pc:sldMkLst>
      </pc:sldChg>
      <pc:sldChg chg="modSp mod">
        <pc:chgData name="Antle, Rick" userId="c2afbbd2-30e4-4c8e-8af5-81913178ace3" providerId="ADAL" clId="{E00C30AA-D689-483F-B2F4-EEDF177BE883}" dt="2024-03-11T14:21:58.680" v="55" actId="20577"/>
        <pc:sldMkLst>
          <pc:docMk/>
          <pc:sldMk cId="3752684525" sldId="339"/>
        </pc:sldMkLst>
        <pc:spChg chg="mod">
          <ac:chgData name="Antle, Rick" userId="c2afbbd2-30e4-4c8e-8af5-81913178ace3" providerId="ADAL" clId="{E00C30AA-D689-483F-B2F4-EEDF177BE883}" dt="2024-03-11T14:21:58.680" v="55" actId="20577"/>
          <ac:spMkLst>
            <pc:docMk/>
            <pc:sldMk cId="3752684525" sldId="339"/>
            <ac:spMk id="3" creationId="{00000000-0000-0000-0000-000000000000}"/>
          </ac:spMkLst>
        </pc:spChg>
      </pc:sldChg>
      <pc:sldChg chg="modSp new mod">
        <pc:chgData name="Antle, Rick" userId="c2afbbd2-30e4-4c8e-8af5-81913178ace3" providerId="ADAL" clId="{E00C30AA-D689-483F-B2F4-EEDF177BE883}" dt="2024-03-11T14:25:52.517" v="197" actId="20577"/>
        <pc:sldMkLst>
          <pc:docMk/>
          <pc:sldMk cId="813177587" sldId="340"/>
        </pc:sldMkLst>
        <pc:spChg chg="mod">
          <ac:chgData name="Antle, Rick" userId="c2afbbd2-30e4-4c8e-8af5-81913178ace3" providerId="ADAL" clId="{E00C30AA-D689-483F-B2F4-EEDF177BE883}" dt="2024-03-11T14:25:08.265" v="159" actId="20577"/>
          <ac:spMkLst>
            <pc:docMk/>
            <pc:sldMk cId="813177587" sldId="340"/>
            <ac:spMk id="2" creationId="{B413BF04-DFDB-7BC3-4451-8A11EE341123}"/>
          </ac:spMkLst>
        </pc:spChg>
        <pc:spChg chg="mod">
          <ac:chgData name="Antle, Rick" userId="c2afbbd2-30e4-4c8e-8af5-81913178ace3" providerId="ADAL" clId="{E00C30AA-D689-483F-B2F4-EEDF177BE883}" dt="2024-03-11T14:25:52.517" v="197" actId="20577"/>
          <ac:spMkLst>
            <pc:docMk/>
            <pc:sldMk cId="813177587" sldId="340"/>
            <ac:spMk id="3" creationId="{7EB1C64D-5E37-2C83-21AE-AEE76A23AEAD}"/>
          </ac:spMkLst>
        </pc:spChg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2426865840" sldId="340"/>
        </pc:sldMkLst>
      </pc:sldChg>
      <pc:sldChg chg="modSp new mod">
        <pc:chgData name="Antle, Rick" userId="c2afbbd2-30e4-4c8e-8af5-81913178ace3" providerId="ADAL" clId="{E00C30AA-D689-483F-B2F4-EEDF177BE883}" dt="2024-03-11T14:31:32.273" v="607" actId="5793"/>
        <pc:sldMkLst>
          <pc:docMk/>
          <pc:sldMk cId="3691167640" sldId="341"/>
        </pc:sldMkLst>
        <pc:spChg chg="mod">
          <ac:chgData name="Antle, Rick" userId="c2afbbd2-30e4-4c8e-8af5-81913178ace3" providerId="ADAL" clId="{E00C30AA-D689-483F-B2F4-EEDF177BE883}" dt="2024-03-11T14:26:38.405" v="215" actId="20577"/>
          <ac:spMkLst>
            <pc:docMk/>
            <pc:sldMk cId="3691167640" sldId="341"/>
            <ac:spMk id="2" creationId="{6ED6B2F7-3080-65C0-9A5E-EE91F35B899C}"/>
          </ac:spMkLst>
        </pc:spChg>
        <pc:spChg chg="mod">
          <ac:chgData name="Antle, Rick" userId="c2afbbd2-30e4-4c8e-8af5-81913178ace3" providerId="ADAL" clId="{E00C30AA-D689-483F-B2F4-EEDF177BE883}" dt="2024-03-11T14:31:32.273" v="607" actId="5793"/>
          <ac:spMkLst>
            <pc:docMk/>
            <pc:sldMk cId="3691167640" sldId="341"/>
            <ac:spMk id="3" creationId="{0125B890-A0BC-4FBC-60CA-EC60242D169C}"/>
          </ac:spMkLst>
        </pc:spChg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4165523121" sldId="341"/>
        </pc:sldMkLst>
      </pc:sldChg>
      <pc:sldChg chg="del">
        <pc:chgData name="Antle, Rick" userId="c2afbbd2-30e4-4c8e-8af5-81913178ace3" providerId="ADAL" clId="{E00C30AA-D689-483F-B2F4-EEDF177BE883}" dt="2024-03-11T14:22:53.147" v="56" actId="47"/>
        <pc:sldMkLst>
          <pc:docMk/>
          <pc:sldMk cId="1557527085" sldId="342"/>
        </pc:sldMkLst>
      </pc:sldChg>
      <pc:sldChg chg="modSp new mod">
        <pc:chgData name="Antle, Rick" userId="c2afbbd2-30e4-4c8e-8af5-81913178ace3" providerId="ADAL" clId="{E00C30AA-D689-483F-B2F4-EEDF177BE883}" dt="2024-03-11T14:34:53.997" v="918" actId="20577"/>
        <pc:sldMkLst>
          <pc:docMk/>
          <pc:sldMk cId="1886683135" sldId="342"/>
        </pc:sldMkLst>
        <pc:spChg chg="mod">
          <ac:chgData name="Antle, Rick" userId="c2afbbd2-30e4-4c8e-8af5-81913178ace3" providerId="ADAL" clId="{E00C30AA-D689-483F-B2F4-EEDF177BE883}" dt="2024-03-11T14:32:35.205" v="657" actId="20577"/>
          <ac:spMkLst>
            <pc:docMk/>
            <pc:sldMk cId="1886683135" sldId="342"/>
            <ac:spMk id="2" creationId="{3E58DCA4-BFE0-DCCB-6507-A6C163F3D644}"/>
          </ac:spMkLst>
        </pc:spChg>
        <pc:spChg chg="mod">
          <ac:chgData name="Antle, Rick" userId="c2afbbd2-30e4-4c8e-8af5-81913178ace3" providerId="ADAL" clId="{E00C30AA-D689-483F-B2F4-EEDF177BE883}" dt="2024-03-11T14:34:53.997" v="918" actId="20577"/>
          <ac:spMkLst>
            <pc:docMk/>
            <pc:sldMk cId="1886683135" sldId="342"/>
            <ac:spMk id="3" creationId="{D9DCF18C-3453-40F1-D557-BFF1E0D0141A}"/>
          </ac:spMkLst>
        </pc:spChg>
      </pc:sldChg>
      <pc:sldChg chg="modSp new mod">
        <pc:chgData name="Antle, Rick" userId="c2afbbd2-30e4-4c8e-8af5-81913178ace3" providerId="ADAL" clId="{E00C30AA-D689-483F-B2F4-EEDF177BE883}" dt="2024-03-11T14:54:22.145" v="1378" actId="20577"/>
        <pc:sldMkLst>
          <pc:docMk/>
          <pc:sldMk cId="3190387105" sldId="343"/>
        </pc:sldMkLst>
        <pc:spChg chg="mod">
          <ac:chgData name="Antle, Rick" userId="c2afbbd2-30e4-4c8e-8af5-81913178ace3" providerId="ADAL" clId="{E00C30AA-D689-483F-B2F4-EEDF177BE883}" dt="2024-03-11T14:54:22.145" v="1378" actId="20577"/>
          <ac:spMkLst>
            <pc:docMk/>
            <pc:sldMk cId="3190387105" sldId="343"/>
            <ac:spMk id="2" creationId="{AF5E5D96-B9DC-3426-58FA-0FA6844EC30D}"/>
          </ac:spMkLst>
        </pc:spChg>
        <pc:spChg chg="mod">
          <ac:chgData name="Antle, Rick" userId="c2afbbd2-30e4-4c8e-8af5-81913178ace3" providerId="ADAL" clId="{E00C30AA-D689-483F-B2F4-EEDF177BE883}" dt="2024-03-11T14:54:09.148" v="1352" actId="20577"/>
          <ac:spMkLst>
            <pc:docMk/>
            <pc:sldMk cId="3190387105" sldId="343"/>
            <ac:spMk id="3" creationId="{D95C3B92-BD25-A9FE-2319-603B8513FE2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3CD1F-57F6-1042-9EAE-F5D37285AAA3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915126-5B0C-F34C-854D-49A93C2360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34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15126-5B0C-F34C-854D-49A93C2360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34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49375" y="1143000"/>
            <a:ext cx="4159250" cy="2339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535023"/>
            <a:ext cx="5486400" cy="5150190"/>
          </a:xfrm>
        </p:spPr>
        <p:txBody>
          <a:bodyPr/>
          <a:lstStyle/>
          <a:p>
            <a:r>
              <a:rPr lang="en-US" sz="1800" dirty="0"/>
              <a:t>At any point in time, we can construct a </a:t>
            </a:r>
            <a:r>
              <a:rPr lang="en-US" sz="1800" b="1" dirty="0"/>
              <a:t>balance sheet </a:t>
            </a:r>
            <a:r>
              <a:rPr lang="en-US" sz="1800" dirty="0"/>
              <a:t>that shows SOM Corp’s </a:t>
            </a:r>
            <a:r>
              <a:rPr lang="en-US" sz="1800" b="1" dirty="0"/>
              <a:t>financial resources and obligations at that point in time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US" sz="1800" dirty="0"/>
              <a:t>We expect to do this periodically.</a:t>
            </a:r>
          </a:p>
          <a:p>
            <a:endParaRPr lang="en-US" sz="1800" dirty="0"/>
          </a:p>
          <a:p>
            <a:r>
              <a:rPr lang="en-US" sz="1800" dirty="0"/>
              <a:t>Flow statements tell us about why the SOM Corp’s financial position changes over time.</a:t>
            </a:r>
          </a:p>
          <a:p>
            <a:endParaRPr lang="en-US" sz="1800" dirty="0"/>
          </a:p>
          <a:p>
            <a:r>
              <a:rPr lang="en-US" sz="1800" b="1" dirty="0"/>
              <a:t>Income statement </a:t>
            </a:r>
            <a:r>
              <a:rPr lang="en-US" sz="1800" dirty="0"/>
              <a:t>– value produced and consumed by the SOM Corp’s operations not due to contributions from or distributions to its owners.</a:t>
            </a:r>
          </a:p>
          <a:p>
            <a:endParaRPr lang="en-US" sz="1800" dirty="0"/>
          </a:p>
          <a:p>
            <a:r>
              <a:rPr lang="en-US" sz="1800" b="1" dirty="0"/>
              <a:t>Cash flow statement </a:t>
            </a:r>
            <a:r>
              <a:rPr lang="en-US" sz="1800" dirty="0"/>
              <a:t>– cash that flowed in and out of the SOM Corp.</a:t>
            </a:r>
          </a:p>
          <a:p>
            <a:endParaRPr lang="en-US" sz="1800" dirty="0"/>
          </a:p>
          <a:p>
            <a:r>
              <a:rPr lang="en-US" sz="1800" b="1" dirty="0"/>
              <a:t>Statement of changes in owners’ equity </a:t>
            </a:r>
            <a:r>
              <a:rPr lang="en-US" sz="1800" dirty="0"/>
              <a:t>– value flows to and from the SOM Corp’s owners.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A14517-574A-430B-B7FF-0AFA0D1D241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86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49375" y="1143000"/>
            <a:ext cx="4159250" cy="2339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3535023"/>
            <a:ext cx="5486400" cy="5150190"/>
          </a:xfrm>
        </p:spPr>
        <p:txBody>
          <a:bodyPr/>
          <a:lstStyle/>
          <a:p>
            <a:r>
              <a:rPr lang="en-US" sz="1800" dirty="0"/>
              <a:t>Not-for-profits also have financial resources and obligations at points in time, and we prepare balance sheets for them just as we do for For-profits.</a:t>
            </a:r>
          </a:p>
          <a:p>
            <a:endParaRPr lang="en-US" sz="1800" dirty="0"/>
          </a:p>
          <a:p>
            <a:r>
              <a:rPr lang="en-US" sz="1800" dirty="0"/>
              <a:t>There is no income statement, but the activities of the organization produce and consume financial value so we have a Statement of Activities.</a:t>
            </a:r>
          </a:p>
          <a:p>
            <a:endParaRPr lang="en-US" sz="1800" dirty="0"/>
          </a:p>
          <a:p>
            <a:r>
              <a:rPr lang="en-US" sz="1800" dirty="0"/>
              <a:t>Cash is cash, whether in a for-profit or a not-for-profit, so we also have a Cash </a:t>
            </a:r>
            <a:r>
              <a:rPr lang="en-US" sz="1800"/>
              <a:t>Flow Statement.</a:t>
            </a: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A14517-574A-430B-B7FF-0AFA0D1D241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1701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915126-5B0C-F34C-854D-49A93C2360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040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980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99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6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03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1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2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01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56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95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0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603DFB-57EE-1441-A120-C0F52985D79B}" type="datetimeFigureOut">
              <a:rPr lang="en-US" smtClean="0"/>
              <a:t>3/11/2024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123048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C41DDB-7C3B-0249-847C-AD2960C917FC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B2597FBC-0C91-50CC-102C-D8BBAD7FEBD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47" t="25001" r="72540" b="21604"/>
          <a:stretch/>
        </p:blipFill>
        <p:spPr bwMode="auto">
          <a:xfrm>
            <a:off x="86008" y="4430808"/>
            <a:ext cx="570369" cy="61029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716889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5073" y="1597819"/>
            <a:ext cx="8550689" cy="1102519"/>
          </a:xfrm>
        </p:spPr>
        <p:txBody>
          <a:bodyPr>
            <a:normAutofit fontScale="90000"/>
          </a:bodyPr>
          <a:lstStyle/>
          <a:p>
            <a:r>
              <a:rPr lang="en-US" dirty="0"/>
              <a:t>LAW 21474</a:t>
            </a:r>
            <a:br>
              <a:rPr lang="en-US" dirty="0"/>
            </a:br>
            <a:r>
              <a:rPr lang="en-US" dirty="0"/>
              <a:t>Financial Accounting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8114" y="2914650"/>
            <a:ext cx="7249886" cy="1314450"/>
          </a:xfrm>
        </p:spPr>
        <p:txBody>
          <a:bodyPr/>
          <a:lstStyle/>
          <a:p>
            <a:r>
              <a:rPr lang="en-US" dirty="0"/>
              <a:t>Session 15.5: How I Read Financial Statements</a:t>
            </a:r>
          </a:p>
        </p:txBody>
      </p:sp>
    </p:spTree>
    <p:extLst>
      <p:ext uri="{BB962C8B-B14F-4D97-AF65-F5344CB8AC3E}">
        <p14:creationId xmlns:p14="http://schemas.microsoft.com/office/powerpoint/2010/main" val="37526845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3BF04-DFDB-7BC3-4451-8A11EE341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B1C64D-5E37-2C83-21AE-AEE76A23A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  <a:p>
            <a:r>
              <a:rPr lang="en-US" dirty="0"/>
              <a:t>Always in my mind</a:t>
            </a:r>
          </a:p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813177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6B2F7-3080-65C0-9A5E-EE91F35B8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Purpose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5B890-A0BC-4FBC-60CA-EC60242D16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Most important question: Why am I doing this?</a:t>
            </a:r>
          </a:p>
          <a:p>
            <a:r>
              <a:rPr lang="en-US" dirty="0"/>
              <a:t>General background and knowledge of entity?</a:t>
            </a:r>
          </a:p>
          <a:p>
            <a:pPr lvl="1"/>
            <a:r>
              <a:rPr lang="en-US" dirty="0"/>
              <a:t>E.g., I just joined LEAP Board</a:t>
            </a:r>
          </a:p>
          <a:p>
            <a:pPr lvl="1"/>
            <a:r>
              <a:rPr lang="en-US" dirty="0"/>
              <a:t>Looking for teaching material</a:t>
            </a:r>
          </a:p>
          <a:p>
            <a:pPr lvl="1"/>
            <a:r>
              <a:rPr lang="en-US" dirty="0"/>
              <a:t>First step, even if I have a specific issue</a:t>
            </a:r>
          </a:p>
          <a:p>
            <a:r>
              <a:rPr lang="en-US" dirty="0"/>
              <a:t>Specific issue</a:t>
            </a:r>
          </a:p>
          <a:p>
            <a:pPr lvl="1"/>
            <a:r>
              <a:rPr lang="en-US" dirty="0"/>
              <a:t>Transaction or set of transactions</a:t>
            </a:r>
          </a:p>
          <a:p>
            <a:pPr lvl="1"/>
            <a:r>
              <a:rPr lang="en-US" dirty="0"/>
              <a:t>Effects of certain events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167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8DCA4-BFE0-DCCB-6507-A6C163F3D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I 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CF18C-3453-40F1-D557-BFF1E0D01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Context:</a:t>
            </a:r>
          </a:p>
          <a:p>
            <a:pPr lvl="1"/>
            <a:r>
              <a:rPr lang="en-US" dirty="0"/>
              <a:t>Entity</a:t>
            </a:r>
          </a:p>
          <a:p>
            <a:pPr lvl="1"/>
            <a:r>
              <a:rPr lang="en-US" dirty="0"/>
              <a:t>Environment</a:t>
            </a:r>
          </a:p>
          <a:p>
            <a:r>
              <a:rPr lang="en-US" dirty="0"/>
              <a:t>Accounting identity:</a:t>
            </a:r>
          </a:p>
          <a:p>
            <a:pPr lvl="1"/>
            <a:r>
              <a:rPr lang="en-US" dirty="0"/>
              <a:t>For-profit: Assets – Liabilities = Equities</a:t>
            </a:r>
          </a:p>
          <a:p>
            <a:pPr lvl="1"/>
            <a:r>
              <a:rPr lang="en-US" dirty="0"/>
              <a:t>Not-for-profit: Assets – Liabilities = Net Assets</a:t>
            </a:r>
          </a:p>
          <a:p>
            <a:r>
              <a:rPr lang="en-US" dirty="0"/>
              <a:t>Articulation:</a:t>
            </a:r>
          </a:p>
          <a:p>
            <a:pPr lvl="1"/>
            <a:r>
              <a:rPr lang="en-US" dirty="0"/>
              <a:t>Way statements work together to convey information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6683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E5D96-B9DC-3426-58FA-0FA6844EC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Establish Expectations: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3B92-BD25-A9FE-2319-603B8513FE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Entity</a:t>
            </a:r>
          </a:p>
          <a:p>
            <a:pPr lvl="1"/>
            <a:r>
              <a:rPr lang="en-US" dirty="0"/>
              <a:t>Purpose</a:t>
            </a:r>
          </a:p>
          <a:p>
            <a:pPr lvl="2"/>
            <a:r>
              <a:rPr lang="en-US" dirty="0"/>
              <a:t>For-profit: Generate a return by creating financial value</a:t>
            </a:r>
          </a:p>
          <a:p>
            <a:pPr lvl="2"/>
            <a:r>
              <a:rPr lang="en-US" dirty="0"/>
              <a:t>Not-for-profit: Fulfill mission by creating non-financial value</a:t>
            </a:r>
          </a:p>
          <a:p>
            <a:r>
              <a:rPr lang="en-US" dirty="0"/>
              <a:t>Context</a:t>
            </a:r>
          </a:p>
          <a:p>
            <a:pPr lvl="1"/>
            <a:r>
              <a:rPr lang="en-US" dirty="0"/>
              <a:t>Time period</a:t>
            </a:r>
          </a:p>
          <a:p>
            <a:pPr lvl="1"/>
            <a:r>
              <a:rPr lang="en-US" dirty="0"/>
              <a:t>Specific events or circumstances of interest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387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31" indent="-28574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2972" indent="-228594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160" indent="-228594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348" indent="-228594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8915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6</a:t>
            </a:fld>
            <a:endParaRPr lang="en-US" sz="1400" dirty="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236426" y="2366009"/>
            <a:ext cx="8078417" cy="415528"/>
            <a:chOff x="203" y="1558"/>
            <a:chExt cx="4789" cy="349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49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1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24" y="1645"/>
              <a:ext cx="4368" cy="217"/>
              <a:chOff x="624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24" y="1728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906781" y="1311117"/>
            <a:ext cx="2140330" cy="46166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3737929" y="1311117"/>
            <a:ext cx="2140330" cy="46166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6561457" y="1311117"/>
            <a:ext cx="2140330" cy="46166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78" name="Rectangle 54"/>
          <p:cNvSpPr>
            <a:spLocks noGrp="1" noChangeArrowheads="1"/>
          </p:cNvSpPr>
          <p:nvPr>
            <p:ph type="title" idx="4294967295"/>
          </p:nvPr>
        </p:nvSpPr>
        <p:spPr>
          <a:xfrm>
            <a:off x="1619697" y="183577"/>
            <a:ext cx="6347460" cy="65127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483C46"/>
                </a:solidFill>
                <a:latin typeface="Avenir Next LT Pro"/>
              </a:rPr>
              <a:t>For-profit Entity</a:t>
            </a:r>
          </a:p>
        </p:txBody>
      </p:sp>
      <p:sp>
        <p:nvSpPr>
          <p:cNvPr id="26" name="Text Box 45">
            <a:extLst>
              <a:ext uri="{FF2B5EF4-FFF2-40B4-BE49-F238E27FC236}">
                <a16:creationId xmlns:a16="http://schemas.microsoft.com/office/drawing/2014/main" id="{9FCB46BF-B218-4D8A-BE22-C5F5697D8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07307" y="4083406"/>
            <a:ext cx="2601033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1822323" y="1839086"/>
            <a:ext cx="83820" cy="63246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4733870" y="1845280"/>
            <a:ext cx="83820" cy="63246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7621142" y="1778125"/>
            <a:ext cx="83820" cy="63246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68569" y="3633870"/>
            <a:ext cx="246243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8189" y="3184334"/>
            <a:ext cx="214319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24" name="Text Box 45">
            <a:extLst>
              <a:ext uri="{FF2B5EF4-FFF2-40B4-BE49-F238E27FC236}">
                <a16:creationId xmlns:a16="http://schemas.microsoft.com/office/drawing/2014/main" id="{57E822CA-44A5-4805-82CE-37EA52229F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392" y="4085332"/>
            <a:ext cx="2601033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Changes</a:t>
            </a:r>
          </a:p>
          <a:p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in Shareholders’ Equity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392" y="3627884"/>
            <a:ext cx="246243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7217" y="3170438"/>
            <a:ext cx="214319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Income Statement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1865941" y="2883159"/>
            <a:ext cx="2911535" cy="228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4793427" y="2883159"/>
            <a:ext cx="2911535" cy="228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77128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6500"/>
                            </p:stCondLst>
                            <p:childTnLst>
                              <p:par>
                                <p:cTn id="2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500"/>
                            </p:stCondLst>
                            <p:childTnLst>
                              <p:par>
                                <p:cTn id="29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7000"/>
                            </p:stCondLst>
                            <p:childTnLst>
                              <p:par>
                                <p:cTn id="45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3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65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2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4500"/>
                            </p:stCondLst>
                            <p:childTnLst>
                              <p:par>
                                <p:cTn id="64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6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nimBg="1"/>
      <p:bldP spid="7185" grpId="0" animBg="1"/>
      <p:bldP spid="7183" grpId="0" animBg="1"/>
      <p:bldP spid="26" grpId="0"/>
      <p:bldP spid="3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7" grpId="0"/>
      <p:bldP spid="5" grpId="0" animBg="1"/>
      <p:bldP spid="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31" indent="-285743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2972" indent="-228594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160" indent="-228594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348" indent="-228594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537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726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8915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103" indent="-228594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fld id="{B537C232-F718-F647-B93E-28AB2D213240}" type="slidenum">
              <a:rPr lang="en-US" sz="1400"/>
              <a:pPr/>
              <a:t>7</a:t>
            </a:fld>
            <a:endParaRPr lang="en-US" sz="1400" dirty="0"/>
          </a:p>
        </p:txBody>
      </p:sp>
      <p:sp>
        <p:nvSpPr>
          <p:cNvPr id="7187" name="Text Box 36"/>
          <p:cNvSpPr txBox="1">
            <a:spLocks noChangeArrowheads="1"/>
          </p:cNvSpPr>
          <p:nvPr/>
        </p:nvSpPr>
        <p:spPr bwMode="auto">
          <a:xfrm>
            <a:off x="906781" y="1311117"/>
            <a:ext cx="2140330" cy="46166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7183" name="Text Box 38"/>
          <p:cNvSpPr txBox="1">
            <a:spLocks noChangeArrowheads="1"/>
          </p:cNvSpPr>
          <p:nvPr/>
        </p:nvSpPr>
        <p:spPr bwMode="auto">
          <a:xfrm>
            <a:off x="6561457" y="1311117"/>
            <a:ext cx="2140330" cy="46166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11AA5CF0-9B28-499C-8785-0D7C60330908}"/>
              </a:ext>
            </a:extLst>
          </p:cNvPr>
          <p:cNvSpPr/>
          <p:nvPr/>
        </p:nvSpPr>
        <p:spPr>
          <a:xfrm>
            <a:off x="1822323" y="1839086"/>
            <a:ext cx="83820" cy="63246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236426" y="2366009"/>
            <a:ext cx="8102033" cy="415528"/>
            <a:chOff x="203" y="1558"/>
            <a:chExt cx="4803" cy="349"/>
          </a:xfrm>
        </p:grpSpPr>
        <p:sp>
          <p:nvSpPr>
            <p:cNvPr id="7189" name="Text Box 32"/>
            <p:cNvSpPr txBox="1">
              <a:spLocks noChangeArrowheads="1"/>
            </p:cNvSpPr>
            <p:nvPr/>
          </p:nvSpPr>
          <p:spPr bwMode="auto">
            <a:xfrm>
              <a:off x="203" y="1558"/>
              <a:ext cx="617" cy="349"/>
            </a:xfrm>
            <a:prstGeom prst="rect">
              <a:avLst/>
            </a:prstGeom>
            <a:noFill/>
            <a:ln w="9525">
              <a:solidFill>
                <a:srgbClr val="006BA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t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ct val="50000"/>
                </a:spcBef>
              </a:pPr>
              <a:r>
                <a:rPr lang="en-US" sz="2100" dirty="0">
                  <a:solidFill>
                    <a:srgbClr val="006BA6"/>
                  </a:solidFill>
                  <a:latin typeface="Avenir Next LT Pro"/>
                  <a:ea typeface="ＭＳ Ｐゴシック"/>
                </a:rPr>
                <a:t>time</a:t>
              </a:r>
            </a:p>
          </p:txBody>
        </p:sp>
        <p:grpSp>
          <p:nvGrpSpPr>
            <p:cNvPr id="7190" name="Group 47"/>
            <p:cNvGrpSpPr>
              <a:grpSpLocks/>
            </p:cNvGrpSpPr>
            <p:nvPr/>
          </p:nvGrpSpPr>
          <p:grpSpPr bwMode="auto">
            <a:xfrm>
              <a:off x="638" y="1645"/>
              <a:ext cx="4368" cy="217"/>
              <a:chOff x="638" y="1645"/>
              <a:chExt cx="4368" cy="217"/>
            </a:xfrm>
          </p:grpSpPr>
          <p:sp>
            <p:nvSpPr>
              <p:cNvPr id="7191" name="Line 31"/>
              <p:cNvSpPr>
                <a:spLocks noChangeShapeType="1"/>
              </p:cNvSpPr>
              <p:nvPr/>
            </p:nvSpPr>
            <p:spPr bwMode="auto">
              <a:xfrm>
                <a:off x="638" y="1731"/>
                <a:ext cx="4368" cy="0"/>
              </a:xfrm>
              <a:prstGeom prst="line">
                <a:avLst/>
              </a:prstGeom>
              <a:noFill/>
              <a:ln w="57150">
                <a:solidFill>
                  <a:srgbClr val="006BA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2" name="Line 33"/>
              <p:cNvSpPr>
                <a:spLocks noChangeShapeType="1"/>
              </p:cNvSpPr>
              <p:nvPr/>
            </p:nvSpPr>
            <p:spPr bwMode="auto">
              <a:xfrm>
                <a:off x="1169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3" name="Line 34"/>
              <p:cNvSpPr>
                <a:spLocks noChangeShapeType="1"/>
              </p:cNvSpPr>
              <p:nvPr/>
            </p:nvSpPr>
            <p:spPr bwMode="auto">
              <a:xfrm>
                <a:off x="2895" y="1670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  <p:sp>
            <p:nvSpPr>
              <p:cNvPr id="7194" name="Line 35"/>
              <p:cNvSpPr>
                <a:spLocks noChangeShapeType="1"/>
              </p:cNvSpPr>
              <p:nvPr/>
            </p:nvSpPr>
            <p:spPr bwMode="auto">
              <a:xfrm>
                <a:off x="4609" y="1645"/>
                <a:ext cx="0" cy="192"/>
              </a:xfrm>
              <a:prstGeom prst="line">
                <a:avLst/>
              </a:prstGeom>
              <a:noFill/>
              <a:ln w="9525">
                <a:solidFill>
                  <a:srgbClr val="006BA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dirty="0">
                  <a:solidFill>
                    <a:srgbClr val="006BA6"/>
                  </a:solidFill>
                  <a:latin typeface="Avenir Next LT Pro"/>
                </a:endParaRPr>
              </a:p>
            </p:txBody>
          </p:sp>
        </p:grpSp>
      </p:grpSp>
      <p:sp>
        <p:nvSpPr>
          <p:cNvPr id="7185" name="Text Box 37"/>
          <p:cNvSpPr txBox="1">
            <a:spLocks noChangeArrowheads="1"/>
          </p:cNvSpPr>
          <p:nvPr/>
        </p:nvSpPr>
        <p:spPr bwMode="auto">
          <a:xfrm>
            <a:off x="3737929" y="1311117"/>
            <a:ext cx="2140330" cy="461665"/>
          </a:xfrm>
          <a:prstGeom prst="rect">
            <a:avLst/>
          </a:prstGeom>
          <a:noFill/>
          <a:ln w="25400">
            <a:solidFill>
              <a:srgbClr val="006BA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dirty="0">
                <a:solidFill>
                  <a:srgbClr val="006BA6"/>
                </a:solidFill>
                <a:latin typeface="Avenir Next LT Pro"/>
                <a:ea typeface="ＭＳ Ｐゴシック"/>
              </a:rPr>
              <a:t>Balance sheet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1B1AC799-DA19-4BFB-92FD-93CA0821D219}"/>
              </a:ext>
            </a:extLst>
          </p:cNvPr>
          <p:cNvSpPr/>
          <p:nvPr/>
        </p:nvSpPr>
        <p:spPr>
          <a:xfrm>
            <a:off x="4733870" y="1845280"/>
            <a:ext cx="83820" cy="63246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29170EF9-F386-4FCD-AD4F-90AF740E68A3}"/>
              </a:ext>
            </a:extLst>
          </p:cNvPr>
          <p:cNvSpPr/>
          <p:nvPr/>
        </p:nvSpPr>
        <p:spPr>
          <a:xfrm>
            <a:off x="7621142" y="1778125"/>
            <a:ext cx="83820" cy="632460"/>
          </a:xfrm>
          <a:prstGeom prst="downArrow">
            <a:avLst/>
          </a:prstGeom>
          <a:solidFill>
            <a:srgbClr val="483C46"/>
          </a:solidFill>
          <a:ln>
            <a:solidFill>
              <a:srgbClr val="483C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2" name="Text Box 45">
            <a:extLst>
              <a:ext uri="{FF2B5EF4-FFF2-40B4-BE49-F238E27FC236}">
                <a16:creationId xmlns:a16="http://schemas.microsoft.com/office/drawing/2014/main" id="{E473579A-28CA-4048-9D1A-21286D9AD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6803" y="3906194"/>
            <a:ext cx="246243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3" name="Text Box 45">
            <a:extLst>
              <a:ext uri="{FF2B5EF4-FFF2-40B4-BE49-F238E27FC236}">
                <a16:creationId xmlns:a16="http://schemas.microsoft.com/office/drawing/2014/main" id="{BA05E752-E5F3-4B59-9DA0-E5B9AB9817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0720" y="3160044"/>
            <a:ext cx="2960879" cy="92333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 and Changes in Net Assets</a:t>
            </a:r>
          </a:p>
        </p:txBody>
      </p:sp>
      <p:sp>
        <p:nvSpPr>
          <p:cNvPr id="25" name="Text Box 45">
            <a:extLst>
              <a:ext uri="{FF2B5EF4-FFF2-40B4-BE49-F238E27FC236}">
                <a16:creationId xmlns:a16="http://schemas.microsoft.com/office/drawing/2014/main" id="{A7C0023A-D7D0-4895-9D91-247AEDF19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7392" y="3906194"/>
            <a:ext cx="246243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Cash Flow Statement</a:t>
            </a:r>
          </a:p>
        </p:txBody>
      </p:sp>
      <p:sp>
        <p:nvSpPr>
          <p:cNvPr id="27" name="Text Box 45">
            <a:extLst>
              <a:ext uri="{FF2B5EF4-FFF2-40B4-BE49-F238E27FC236}">
                <a16:creationId xmlns:a16="http://schemas.microsoft.com/office/drawing/2014/main" id="{88D9F8D2-A792-415F-B5EC-09F620BE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3647" y="3171045"/>
            <a:ext cx="3019466" cy="64633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anchor="t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algn="ctr"/>
            <a:r>
              <a:rPr lang="en-US" sz="1800" dirty="0">
                <a:solidFill>
                  <a:srgbClr val="006BA6"/>
                </a:solidFill>
                <a:latin typeface="Avenir Next LT Pro"/>
                <a:ea typeface="ＭＳ Ｐゴシック"/>
              </a:rPr>
              <a:t>Statement of Activities and Changes in Net Assets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43CEFA7-A254-4B13-8CA3-C9A0B2102962}"/>
              </a:ext>
            </a:extLst>
          </p:cNvPr>
          <p:cNvSpPr/>
          <p:nvPr/>
        </p:nvSpPr>
        <p:spPr>
          <a:xfrm>
            <a:off x="1865941" y="2883159"/>
            <a:ext cx="2911535" cy="228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1C731D55-0237-4203-9D1B-8D1F98DA62E9}"/>
              </a:ext>
            </a:extLst>
          </p:cNvPr>
          <p:cNvSpPr/>
          <p:nvPr/>
        </p:nvSpPr>
        <p:spPr>
          <a:xfrm>
            <a:off x="4793427" y="2883159"/>
            <a:ext cx="2911535" cy="2285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6FA297-454A-40FC-A832-EC72D10A5C75}"/>
              </a:ext>
            </a:extLst>
          </p:cNvPr>
          <p:cNvSpPr txBox="1"/>
          <p:nvPr/>
        </p:nvSpPr>
        <p:spPr>
          <a:xfrm>
            <a:off x="2817643" y="291846"/>
            <a:ext cx="3951568" cy="67323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>
                <a:solidFill>
                  <a:srgbClr val="483C46"/>
                </a:solidFill>
                <a:latin typeface="Avenir Next LT Pro"/>
                <a:ea typeface="+mj-ea"/>
                <a:cs typeface="+mj-cs"/>
              </a:defRPr>
            </a:lvl1pPr>
          </a:lstStyle>
          <a:p>
            <a:r>
              <a:rPr lang="en-US" sz="3300" dirty="0"/>
              <a:t>Not-for-profit Entity</a:t>
            </a:r>
          </a:p>
        </p:txBody>
      </p:sp>
    </p:spTree>
    <p:extLst>
      <p:ext uri="{BB962C8B-B14F-4D97-AF65-F5344CB8AC3E}">
        <p14:creationId xmlns:p14="http://schemas.microsoft.com/office/powerpoint/2010/main" val="36222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7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1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7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65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8500"/>
                            </p:stCondLst>
                            <p:childTnLst>
                              <p:par>
                                <p:cTn id="28" presetID="2" presetClass="entr" presetSubtype="1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500"/>
                            </p:stCondLst>
                            <p:childTnLst>
                              <p:par>
                                <p:cTn id="48" presetID="2" presetClass="entr" presetSubtype="4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6500"/>
                            </p:stCondLst>
                            <p:childTnLst>
                              <p:par>
                                <p:cTn id="53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7" grpId="0" animBg="1"/>
      <p:bldP spid="7183" grpId="0" animBg="1"/>
      <p:bldP spid="3" grpId="0" animBg="1"/>
      <p:bldP spid="7185" grpId="0" animBg="1"/>
      <p:bldP spid="20" grpId="0" animBg="1"/>
      <p:bldP spid="21" grpId="0" animBg="1"/>
      <p:bldP spid="22" grpId="0"/>
      <p:bldP spid="23" grpId="0"/>
      <p:bldP spid="25" grpId="0"/>
      <p:bldP spid="27" grpId="0"/>
      <p:bldP spid="5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Accounts receivable, bad debts and the allowance for doubtful accounts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90087822"/>
      </p:ext>
    </p:extLst>
  </p:cSld>
  <p:clrMapOvr>
    <a:masterClrMapping/>
  </p:clrMapOvr>
</p:sld>
</file>

<file path=ppt/theme/theme1.xml><?xml version="1.0" encoding="utf-8"?>
<a:theme xmlns:a="http://schemas.openxmlformats.org/drawingml/2006/main" name="SOM_bknd_wide_whi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SOM_bknd_wide_white.potx</Template>
  <TotalTime>7102</TotalTime>
  <Words>400</Words>
  <Application>Microsoft Office PowerPoint</Application>
  <PresentationFormat>On-screen Show (16:9)</PresentationFormat>
  <Paragraphs>78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Calibri</vt:lpstr>
      <vt:lpstr>SOM_bknd_wide_white</vt:lpstr>
      <vt:lpstr>LAW 21474 Financial Accounting </vt:lpstr>
      <vt:lpstr>Topics</vt:lpstr>
      <vt:lpstr>Purpose</vt:lpstr>
      <vt:lpstr>Things I Keep in Mind</vt:lpstr>
      <vt:lpstr>Establish Expectations: Context</vt:lpstr>
      <vt:lpstr>For-profit Entity</vt:lpstr>
      <vt:lpstr>PowerPoint Presentation</vt:lpstr>
      <vt:lpstr>Next Time</vt:lpstr>
    </vt:vector>
  </TitlesOfParts>
  <Company>Yale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Antle, Rick</cp:lastModifiedBy>
  <cp:revision>70</cp:revision>
  <dcterms:created xsi:type="dcterms:W3CDTF">2012-06-28T13:26:35Z</dcterms:created>
  <dcterms:modified xsi:type="dcterms:W3CDTF">2024-03-11T14:54:26Z</dcterms:modified>
</cp:coreProperties>
</file>