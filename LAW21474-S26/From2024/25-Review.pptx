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13" r:id="rId13"/>
    <p:sldId id="306" r:id="rId14"/>
    <p:sldId id="314" r:id="rId15"/>
    <p:sldId id="307" r:id="rId16"/>
    <p:sldId id="308" r:id="rId17"/>
    <p:sldId id="315" r:id="rId18"/>
    <p:sldId id="309" r:id="rId19"/>
    <p:sldId id="310" r:id="rId20"/>
    <p:sldId id="311" r:id="rId21"/>
    <p:sldId id="312" r:id="rId22"/>
    <p:sldId id="293" r:id="rId23"/>
    <p:sldId id="294" r:id="rId24"/>
    <p:sldId id="262" r:id="rId25"/>
    <p:sldId id="264" r:id="rId26"/>
    <p:sldId id="265" r:id="rId27"/>
    <p:sldId id="267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410"/>
  </p:normalViewPr>
  <p:slideViewPr>
    <p:cSldViewPr>
      <p:cViewPr varScale="1">
        <p:scale>
          <a:sx n="160" d="100"/>
          <a:sy n="160" d="100"/>
        </p:scale>
        <p:origin x="162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DF8D5EA5-EF04-4575-8DEF-5EE3BCC1FE0D}"/>
    <pc:docChg chg="custSel modSld">
      <pc:chgData name="Antle, Rick" userId="c2afbbd2-30e4-4c8e-8af5-81913178ace3" providerId="ADAL" clId="{DF8D5EA5-EF04-4575-8DEF-5EE3BCC1FE0D}" dt="2022-11-16T20:46:37.920" v="13" actId="27636"/>
      <pc:docMkLst>
        <pc:docMk/>
      </pc:docMkLst>
      <pc:sldChg chg="modSp mod">
        <pc:chgData name="Antle, Rick" userId="c2afbbd2-30e4-4c8e-8af5-81913178ace3" providerId="ADAL" clId="{DF8D5EA5-EF04-4575-8DEF-5EE3BCC1FE0D}" dt="2022-11-16T20:46:17.895" v="5" actId="20577"/>
        <pc:sldMkLst>
          <pc:docMk/>
          <pc:sldMk cId="1550820236" sldId="257"/>
        </pc:sldMkLst>
        <pc:spChg chg="mod">
          <ac:chgData name="Antle, Rick" userId="c2afbbd2-30e4-4c8e-8af5-81913178ace3" providerId="ADAL" clId="{DF8D5EA5-EF04-4575-8DEF-5EE3BCC1FE0D}" dt="2022-11-16T20:46:14.359" v="3" actId="20577"/>
          <ac:spMkLst>
            <pc:docMk/>
            <pc:sldMk cId="1550820236" sldId="257"/>
            <ac:spMk id="2" creationId="{00000000-0000-0000-0000-000000000000}"/>
          </ac:spMkLst>
        </pc:spChg>
        <pc:spChg chg="mod">
          <ac:chgData name="Antle, Rick" userId="c2afbbd2-30e4-4c8e-8af5-81913178ace3" providerId="ADAL" clId="{DF8D5EA5-EF04-4575-8DEF-5EE3BCC1FE0D}" dt="2022-11-16T20:46:17.895" v="5" actId="20577"/>
          <ac:spMkLst>
            <pc:docMk/>
            <pc:sldMk cId="1550820236" sldId="257"/>
            <ac:spMk id="3" creationId="{00000000-0000-0000-0000-000000000000}"/>
          </ac:spMkLst>
        </pc:spChg>
      </pc:sldChg>
      <pc:sldChg chg="modSp mod">
        <pc:chgData name="Antle, Rick" userId="c2afbbd2-30e4-4c8e-8af5-81913178ace3" providerId="ADAL" clId="{DF8D5EA5-EF04-4575-8DEF-5EE3BCC1FE0D}" dt="2022-11-16T20:46:37.920" v="13" actId="27636"/>
        <pc:sldMkLst>
          <pc:docMk/>
          <pc:sldMk cId="3527976394" sldId="313"/>
        </pc:sldMkLst>
        <pc:spChg chg="mod">
          <ac:chgData name="Antle, Rick" userId="c2afbbd2-30e4-4c8e-8af5-81913178ace3" providerId="ADAL" clId="{DF8D5EA5-EF04-4575-8DEF-5EE3BCC1FE0D}" dt="2022-11-16T20:46:37.920" v="13" actId="27636"/>
          <ac:spMkLst>
            <pc:docMk/>
            <pc:sldMk cId="3527976394" sldId="313"/>
            <ac:spMk id="2" creationId="{24E3B0C0-F3CF-4145-B35C-5AA4F9E54F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829FD-D194-4025-86C2-9B3C5B9D9CA1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5F97A-8F62-4A94-A573-7A8E463CD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7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5F97A-8F62-4A94-A573-7A8E463CD21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19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9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5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25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0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5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3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1898AFE-C235-4214-B6F5-261FC913255E}" type="datetimeFigureOut">
              <a:rPr lang="en-US" smtClean="0"/>
              <a:t>11/16/2022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43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9" t="21348" r="71825" b="19016"/>
          <a:stretch/>
        </p:blipFill>
        <p:spPr bwMode="auto">
          <a:xfrm>
            <a:off x="274320" y="4222864"/>
            <a:ext cx="598516" cy="681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28EC5-F22C-45A0-B0AE-478D58FB1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HxP1AOW028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965" y="1597819"/>
            <a:ext cx="8619999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LAW40405</a:t>
            </a:r>
            <a:br>
              <a:rPr lang="en-US" dirty="0"/>
            </a:br>
            <a:r>
              <a:rPr lang="en-US" dirty="0"/>
              <a:t>Financial Accounting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5463" y="3057158"/>
            <a:ext cx="7473664" cy="1171942"/>
          </a:xfrm>
        </p:spPr>
        <p:txBody>
          <a:bodyPr/>
          <a:lstStyle/>
          <a:p>
            <a:r>
              <a:rPr lang="en-US" dirty="0"/>
              <a:t>Session 25: Perrigo and Review</a:t>
            </a:r>
          </a:p>
        </p:txBody>
      </p:sp>
    </p:spTree>
    <p:extLst>
      <p:ext uri="{BB962C8B-B14F-4D97-AF65-F5344CB8AC3E}">
        <p14:creationId xmlns:p14="http://schemas.microsoft.com/office/powerpoint/2010/main" val="155082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07400" y="4767263"/>
            <a:ext cx="279400" cy="273844"/>
          </a:xfrm>
        </p:spPr>
        <p:txBody>
          <a:bodyPr/>
          <a:lstStyle/>
          <a:p>
            <a:fld id="{90213F0C-5B28-7445-B283-FC61875A5C95}" type="slidenum">
              <a:rPr lang="en-US"/>
              <a:pPr/>
              <a:t>2</a:t>
            </a:fld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Grow Corp. and Perrigo Co.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85850"/>
            <a:ext cx="8077200" cy="3577281"/>
          </a:xfrm>
        </p:spPr>
        <p:txBody>
          <a:bodyPr>
            <a:normAutofit/>
          </a:bodyPr>
          <a:lstStyle/>
          <a:p>
            <a:r>
              <a:rPr lang="en-US" dirty="0"/>
              <a:t>In the early 1990’s I was the expert analyst in a legal case involving a disputed management buyout (MBO)</a:t>
            </a:r>
          </a:p>
          <a:p>
            <a:r>
              <a:rPr lang="en-US" dirty="0"/>
              <a:t>Steve Ross, former SOM and MIT finance prof and my business partner, was the testifying witness</a:t>
            </a:r>
          </a:p>
        </p:txBody>
      </p:sp>
    </p:spTree>
    <p:extLst>
      <p:ext uri="{BB962C8B-B14F-4D97-AF65-F5344CB8AC3E}">
        <p14:creationId xmlns:p14="http://schemas.microsoft.com/office/powerpoint/2010/main" val="3859929389"/>
      </p:ext>
    </p:extLst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Grow Corp.</a:t>
            </a:r>
          </a:p>
          <a:p>
            <a:pPr lvl="1"/>
            <a:r>
              <a:rPr lang="en-US" dirty="0"/>
              <a:t>Manufactured and sold house paint.</a:t>
            </a:r>
          </a:p>
          <a:p>
            <a:pPr lvl="1"/>
            <a:r>
              <a:rPr lang="en-US" dirty="0"/>
              <a:t>Was struggling financially in the period in question.</a:t>
            </a:r>
          </a:p>
          <a:p>
            <a:pPr lvl="1"/>
            <a:r>
              <a:rPr lang="en-US" dirty="0"/>
              <a:t>Was subsequently acquired by ICI (Imperial Chemical Industries) which was itself acquired by AKZO Nobel in 2008.</a:t>
            </a:r>
          </a:p>
          <a:p>
            <a:r>
              <a:rPr lang="en-US" dirty="0"/>
              <a:t>Perrigo (www.perrigo.com)</a:t>
            </a:r>
          </a:p>
          <a:p>
            <a:pPr lvl="1"/>
            <a:r>
              <a:rPr lang="en-US" dirty="0"/>
              <a:t>Manufacturer of OTC healthcare products.</a:t>
            </a:r>
          </a:p>
          <a:p>
            <a:pPr lvl="1"/>
            <a:r>
              <a:rPr lang="en-US" dirty="0"/>
              <a:t>Store-brand products of familiar brands such as Advil®, Tylenol®, Flonase®, Allegra®, Prilosec® and Nicorette®.</a:t>
            </a:r>
          </a:p>
          <a:p>
            <a:pPr lvl="1"/>
            <a:r>
              <a:rPr lang="en-US" dirty="0"/>
              <a:t>Rx to OTC switches.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Perrigo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4743"/>
            <a:ext cx="8229600" cy="256988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hlinkClick r:id="rId2"/>
              </a:rPr>
              <a:t>https://www.youtube.com/watch?v=YHxP1AOW028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32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Transactions</a:t>
            </a:r>
          </a:p>
        </p:txBody>
      </p:sp>
      <p:sp>
        <p:nvSpPr>
          <p:cNvPr id="3" name="Oval 2"/>
          <p:cNvSpPr/>
          <p:nvPr/>
        </p:nvSpPr>
        <p:spPr>
          <a:xfrm>
            <a:off x="1157844" y="1223158"/>
            <a:ext cx="991590" cy="86096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Perrigo</a:t>
            </a:r>
          </a:p>
        </p:txBody>
      </p:sp>
      <p:sp>
        <p:nvSpPr>
          <p:cNvPr id="5" name="Oval 4"/>
          <p:cNvSpPr/>
          <p:nvPr/>
        </p:nvSpPr>
        <p:spPr>
          <a:xfrm>
            <a:off x="5799115" y="988813"/>
            <a:ext cx="2834245" cy="276972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5382" y="1294410"/>
            <a:ext cx="3026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 1986: Separate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5962" y="2553276"/>
            <a:ext cx="2841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1986: Grow acquires Perrigo</a:t>
            </a:r>
          </a:p>
          <a:p>
            <a:r>
              <a:rPr lang="en-US" dirty="0"/>
              <a:t>for $85 million in cash</a:t>
            </a:r>
          </a:p>
        </p:txBody>
      </p:sp>
      <p:sp>
        <p:nvSpPr>
          <p:cNvPr id="12" name="Oval 11"/>
          <p:cNvSpPr/>
          <p:nvPr/>
        </p:nvSpPr>
        <p:spPr>
          <a:xfrm>
            <a:off x="6802582" y="2557152"/>
            <a:ext cx="991590" cy="86096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Perrigo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149434" y="1835150"/>
            <a:ext cx="4643623" cy="1028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356600" y="4767263"/>
            <a:ext cx="33020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47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6" grpId="0"/>
      <p:bldP spid="6" grpId="1"/>
      <p:bldP spid="7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Transactions</a:t>
            </a:r>
          </a:p>
        </p:txBody>
      </p:sp>
      <p:sp>
        <p:nvSpPr>
          <p:cNvPr id="3" name="Oval 2"/>
          <p:cNvSpPr/>
          <p:nvPr/>
        </p:nvSpPr>
        <p:spPr>
          <a:xfrm>
            <a:off x="1157844" y="1223158"/>
            <a:ext cx="1050966" cy="9262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Perrigo</a:t>
            </a:r>
          </a:p>
          <a:p>
            <a:pPr algn="ctr"/>
            <a:r>
              <a:rPr lang="en-US" sz="1200" dirty="0"/>
              <a:t>(private)</a:t>
            </a:r>
          </a:p>
        </p:txBody>
      </p:sp>
      <p:sp>
        <p:nvSpPr>
          <p:cNvPr id="5" name="Oval 4"/>
          <p:cNvSpPr/>
          <p:nvPr/>
        </p:nvSpPr>
        <p:spPr>
          <a:xfrm>
            <a:off x="5799115" y="988813"/>
            <a:ext cx="2834245" cy="276972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5382" y="1294410"/>
            <a:ext cx="32329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April 1989: Perrigo management</a:t>
            </a:r>
          </a:p>
          <a:p>
            <a:r>
              <a:rPr lang="en-US" dirty="0"/>
              <a:t>Bought the company from Grow</a:t>
            </a:r>
          </a:p>
          <a:p>
            <a:r>
              <a:rPr lang="en-US" dirty="0"/>
              <a:t>For $106 million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5393" y="3353031"/>
            <a:ext cx="2702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 1991: Perrigo</a:t>
            </a:r>
          </a:p>
          <a:p>
            <a:r>
              <a:rPr lang="en-US" dirty="0"/>
              <a:t>IPO valued it at $1.2 billion</a:t>
            </a:r>
          </a:p>
        </p:txBody>
      </p:sp>
      <p:sp>
        <p:nvSpPr>
          <p:cNvPr id="11" name="Oval 10"/>
          <p:cNvSpPr/>
          <p:nvPr/>
        </p:nvSpPr>
        <p:spPr>
          <a:xfrm>
            <a:off x="599704" y="2448921"/>
            <a:ext cx="2107870" cy="198999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Perrigo</a:t>
            </a:r>
          </a:p>
          <a:p>
            <a:pPr algn="ctr"/>
            <a:r>
              <a:rPr lang="en-US" dirty="0"/>
              <a:t>(public)</a:t>
            </a:r>
          </a:p>
        </p:txBody>
      </p:sp>
      <p:sp>
        <p:nvSpPr>
          <p:cNvPr id="12" name="Oval 11"/>
          <p:cNvSpPr/>
          <p:nvPr/>
        </p:nvSpPr>
        <p:spPr>
          <a:xfrm>
            <a:off x="6802582" y="2557152"/>
            <a:ext cx="991590" cy="86096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Perrigo</a:t>
            </a:r>
          </a:p>
        </p:txBody>
      </p:sp>
      <p:cxnSp>
        <p:nvCxnSpPr>
          <p:cNvPr id="8" name="Straight Arrow Connector 7"/>
          <p:cNvCxnSpPr>
            <a:stCxn id="12" idx="2"/>
          </p:cNvCxnSpPr>
          <p:nvPr/>
        </p:nvCxnSpPr>
        <p:spPr>
          <a:xfrm flipH="1" flipV="1">
            <a:off x="2159000" y="1879600"/>
            <a:ext cx="4643582" cy="1108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4"/>
            <a:endCxn id="11" idx="0"/>
          </p:cNvCxnSpPr>
          <p:nvPr/>
        </p:nvCxnSpPr>
        <p:spPr>
          <a:xfrm flipH="1">
            <a:off x="1653639" y="2149434"/>
            <a:ext cx="29688" cy="299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324850" y="4767263"/>
            <a:ext cx="36195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4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/>
      <p:bldP spid="7" grpId="0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781050" y="2451100"/>
            <a:ext cx="8013700" cy="12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4350" y="1892300"/>
            <a:ext cx="116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1986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8325" y="189230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April1989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3145" y="1860550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 1991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81050" y="2349500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838700" y="2374900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216900" y="2362200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6939" y="2773918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$85 million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6080" y="2809755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$106 million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6916" y="2786618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$1,200 million</a:t>
            </a:r>
          </a:p>
        </p:txBody>
      </p:sp>
      <p:sp>
        <p:nvSpPr>
          <p:cNvPr id="18" name="Left Brace 17"/>
          <p:cNvSpPr/>
          <p:nvPr/>
        </p:nvSpPr>
        <p:spPr>
          <a:xfrm rot="5400000">
            <a:off x="2571750" y="-459343"/>
            <a:ext cx="476250" cy="40576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731710" y="662235"/>
            <a:ext cx="2265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About 3 years.</a:t>
            </a:r>
          </a:p>
          <a:p>
            <a:r>
              <a:rPr lang="en-US" dirty="0"/>
              <a:t>Annualized return: 8%</a:t>
            </a:r>
          </a:p>
        </p:txBody>
      </p:sp>
      <p:sp>
        <p:nvSpPr>
          <p:cNvPr id="20" name="Left Brace 19"/>
          <p:cNvSpPr/>
          <p:nvPr/>
        </p:nvSpPr>
        <p:spPr>
          <a:xfrm rot="5400000">
            <a:off x="6698995" y="-459343"/>
            <a:ext cx="476250" cy="40576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405627" y="662236"/>
            <a:ext cx="3411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 than 3 years.</a:t>
            </a:r>
          </a:p>
          <a:p>
            <a:r>
              <a:rPr lang="en-US" dirty="0"/>
              <a:t>Annualize return (if 3 years): 124%</a:t>
            </a:r>
          </a:p>
        </p:txBody>
      </p:sp>
      <p:sp>
        <p:nvSpPr>
          <p:cNvPr id="22" name="Left Brace 21"/>
          <p:cNvSpPr/>
          <p:nvPr/>
        </p:nvSpPr>
        <p:spPr>
          <a:xfrm rot="16200000">
            <a:off x="4222750" y="-161529"/>
            <a:ext cx="476250" cy="73596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318571" y="3995458"/>
            <a:ext cx="2382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About 6 years.</a:t>
            </a:r>
          </a:p>
          <a:p>
            <a:r>
              <a:rPr lang="en-US" dirty="0"/>
              <a:t>Annualized return: 55%</a:t>
            </a:r>
          </a:p>
        </p:txBody>
      </p:sp>
      <p:sp>
        <p:nvSpPr>
          <p:cNvPr id="24" name="Oval 23"/>
          <p:cNvSpPr/>
          <p:nvPr/>
        </p:nvSpPr>
        <p:spPr>
          <a:xfrm>
            <a:off x="3997267" y="2565400"/>
            <a:ext cx="1590733" cy="901700"/>
          </a:xfrm>
          <a:prstGeom prst="ellipse">
            <a:avLst/>
          </a:prstGeom>
          <a:noFill/>
          <a:ln w="698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4310EA-AB46-3F46-A63A-F1A0F405F2CD}"/>
              </a:ext>
            </a:extLst>
          </p:cNvPr>
          <p:cNvGrpSpPr/>
          <p:nvPr/>
        </p:nvGrpSpPr>
        <p:grpSpPr>
          <a:xfrm>
            <a:off x="5355043" y="3335049"/>
            <a:ext cx="3268292" cy="1300967"/>
            <a:chOff x="5355043" y="3335049"/>
            <a:chExt cx="3268292" cy="1300967"/>
          </a:xfrm>
        </p:grpSpPr>
        <p:sp>
          <p:nvSpPr>
            <p:cNvPr id="25" name="TextBox 24"/>
            <p:cNvSpPr txBox="1"/>
            <p:nvPr/>
          </p:nvSpPr>
          <p:spPr>
            <a:xfrm>
              <a:off x="5974212" y="3712686"/>
              <a:ext cx="26491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Was this a fair price?</a:t>
              </a:r>
            </a:p>
            <a:p>
              <a:r>
                <a:rPr lang="en-US" dirty="0"/>
                <a:t>55% growth of $85 million</a:t>
              </a:r>
            </a:p>
            <a:p>
              <a:r>
                <a:rPr lang="en-US" dirty="0"/>
                <a:t>is $319 million.</a:t>
              </a:r>
            </a:p>
          </p:txBody>
        </p:sp>
        <p:cxnSp>
          <p:nvCxnSpPr>
            <p:cNvPr id="27" name="Straight Arrow Connector 26"/>
            <p:cNvCxnSpPr>
              <a:stCxn id="25" idx="1"/>
              <a:endCxn id="24" idx="5"/>
            </p:cNvCxnSpPr>
            <p:nvPr/>
          </p:nvCxnSpPr>
          <p:spPr>
            <a:xfrm flipH="1" flipV="1">
              <a:off x="5355043" y="3335049"/>
              <a:ext cx="619169" cy="8393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>
          <a:xfrm>
            <a:off x="8369300" y="4767263"/>
            <a:ext cx="31750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1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7027" y="1119863"/>
            <a:ext cx="8809945" cy="1318537"/>
            <a:chOff x="166939" y="1860550"/>
            <a:chExt cx="8809945" cy="1318537"/>
          </a:xfrm>
        </p:grpSpPr>
        <p:grpSp>
          <p:nvGrpSpPr>
            <p:cNvPr id="3" name="Group 2"/>
            <p:cNvGrpSpPr/>
            <p:nvPr/>
          </p:nvGrpSpPr>
          <p:grpSpPr>
            <a:xfrm>
              <a:off x="166939" y="1860550"/>
              <a:ext cx="8707715" cy="1318537"/>
              <a:chOff x="166939" y="1860550"/>
              <a:chExt cx="8707715" cy="1318537"/>
            </a:xfrm>
          </p:grpSpPr>
          <p:cxnSp>
            <p:nvCxnSpPr>
              <p:cNvPr id="4" name="Straight Arrow Connector 3"/>
              <p:cNvCxnSpPr/>
              <p:nvPr/>
            </p:nvCxnSpPr>
            <p:spPr>
              <a:xfrm>
                <a:off x="781050" y="2451100"/>
                <a:ext cx="8013700" cy="127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TextBox 4"/>
              <p:cNvSpPr txBox="1"/>
              <p:nvPr/>
            </p:nvSpPr>
            <p:spPr>
              <a:xfrm>
                <a:off x="514350" y="1892300"/>
                <a:ext cx="11618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Early 1986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4378325" y="1892300"/>
                <a:ext cx="10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April1989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813145" y="1860550"/>
                <a:ext cx="1061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Dec 1991</a:t>
                </a: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781050" y="2349500"/>
                <a:ext cx="0" cy="2032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838700" y="2374900"/>
                <a:ext cx="0" cy="2032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8216900" y="2362200"/>
                <a:ext cx="0" cy="2032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166939" y="2773918"/>
                <a:ext cx="12282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$85 million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166080" y="2809755"/>
                <a:ext cx="1345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$106 million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7456916" y="2786618"/>
              <a:ext cx="15199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$1,200 million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904412" y="3382963"/>
            <a:ext cx="38687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Fairness opinion based on three things: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Multiples of similar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Discounted cash flow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717" y="2437448"/>
            <a:ext cx="53900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 fairness opinion from investment bankers.</a:t>
            </a:r>
          </a:p>
          <a:p>
            <a:r>
              <a:rPr lang="en-US" dirty="0"/>
              <a:t>Part of required due diligence from Grow management </a:t>
            </a:r>
          </a:p>
          <a:p>
            <a:r>
              <a:rPr lang="en-US" dirty="0"/>
              <a:t>and board of directors.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312150" y="4767263"/>
            <a:ext cx="37465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81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Discounted Cash Flow Analysis (DCF)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Based on forecasts of </a:t>
            </a:r>
            <a:r>
              <a:rPr lang="en-US" i="1" dirty="0"/>
              <a:t>free </a:t>
            </a:r>
            <a:r>
              <a:rPr lang="en-US" dirty="0"/>
              <a:t>cash flows: i.e., cash that could be paid to shareholders without damaging the earning power of the company</a:t>
            </a:r>
          </a:p>
          <a:p>
            <a:r>
              <a:rPr lang="en-US" dirty="0"/>
              <a:t>Here’s how we do it. First, pick a forecast window. In this case it was 10 years.</a:t>
            </a:r>
          </a:p>
          <a:p>
            <a:pPr lvl="1"/>
            <a:r>
              <a:rPr lang="en-US" dirty="0"/>
              <a:t>Forecast sales and expenses</a:t>
            </a:r>
          </a:p>
          <a:p>
            <a:pPr lvl="1"/>
            <a:r>
              <a:rPr lang="en-US" dirty="0"/>
              <a:t>Forecast working capital requirements</a:t>
            </a:r>
          </a:p>
          <a:p>
            <a:pPr lvl="2"/>
            <a:r>
              <a:rPr lang="en-US" dirty="0"/>
              <a:t>Use </a:t>
            </a:r>
            <a:r>
              <a:rPr lang="en-US" b="1" i="1" dirty="0"/>
              <a:t>indirect method cash flow logic </a:t>
            </a:r>
            <a:r>
              <a:rPr lang="en-US" dirty="0"/>
              <a:t>to derive prediction of operating cash flow stream</a:t>
            </a:r>
          </a:p>
          <a:p>
            <a:pPr lvl="1"/>
            <a:r>
              <a:rPr lang="en-US" dirty="0"/>
              <a:t>Forecast capital expenditures</a:t>
            </a:r>
          </a:p>
          <a:p>
            <a:pPr lvl="1"/>
            <a:r>
              <a:rPr lang="en-US" dirty="0"/>
              <a:t>Make simple assumption about the value of the company at the end of the forecast window. E.g., company will be worth 4x EBIT.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4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Forecasts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781138" y="1710413"/>
            <a:ext cx="8013700" cy="12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06488" y="1151613"/>
            <a:ext cx="110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 1989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8054" y="1058210"/>
            <a:ext cx="110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 1999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81138" y="1608813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358988" y="1608813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08662" y="1608813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06327" y="1875789"/>
            <a:ext cx="1141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Terminal</a:t>
            </a:r>
          </a:p>
          <a:p>
            <a:r>
              <a:rPr lang="en-US" dirty="0"/>
              <a:t>Value (TV)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1936838" y="1598376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501900" y="1621513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066962" y="1630126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3632024" y="1630126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197086" y="1630126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787988" y="1621513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353050" y="1608813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924550" y="1608813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188112" y="1608813"/>
            <a:ext cx="0" cy="20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01545" y="1923236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FCF</a:t>
            </a:r>
            <a:r>
              <a:rPr lang="en-US" sz="1400" baseline="-25000" dirty="0"/>
              <a:t>1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1310194" y="2627779"/>
            <a:ext cx="658902" cy="830481"/>
            <a:chOff x="1016839" y="2001481"/>
            <a:chExt cx="658902" cy="830481"/>
          </a:xfrm>
        </p:grpSpPr>
        <p:sp>
          <p:nvSpPr>
            <p:cNvPr id="80" name="TextBox 79"/>
            <p:cNvSpPr txBox="1"/>
            <p:nvPr/>
          </p:nvSpPr>
          <p:spPr>
            <a:xfrm>
              <a:off x="1087920" y="2001481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CFO</a:t>
              </a:r>
              <a:r>
                <a:rPr lang="en-US" sz="1400" baseline="-25000" dirty="0" err="1"/>
                <a:t>t</a:t>
              </a:r>
              <a:endParaRPr lang="en-US" sz="1400" baseline="-25000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16839" y="2253368"/>
              <a:ext cx="562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 </a:t>
              </a:r>
              <a:r>
                <a:rPr lang="en-US" sz="1400" dirty="0" err="1"/>
                <a:t>CFI</a:t>
              </a:r>
              <a:r>
                <a:rPr lang="en-US" sz="1400" baseline="-25000" dirty="0" err="1"/>
                <a:t>t</a:t>
              </a:r>
              <a:endParaRPr lang="en-US" sz="1400" baseline="-25000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42234" y="2524185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= </a:t>
              </a:r>
              <a:r>
                <a:rPr lang="en-US" sz="1400" dirty="0" err="1"/>
                <a:t>FCF</a:t>
              </a:r>
              <a:r>
                <a:rPr lang="en-US" sz="1400" baseline="-25000" dirty="0" err="1"/>
                <a:t>t</a:t>
              </a:r>
              <a:endParaRPr lang="en-US" sz="1400" baseline="-25000" dirty="0"/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2345398" y="2603968"/>
            <a:ext cx="2815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NI</a:t>
            </a:r>
            <a:r>
              <a:rPr lang="en-US" sz="1400" baseline="-25000" dirty="0" err="1"/>
              <a:t>t</a:t>
            </a:r>
            <a:r>
              <a:rPr lang="en-US" sz="1400" baseline="-25000" dirty="0"/>
              <a:t> </a:t>
            </a:r>
            <a:r>
              <a:rPr lang="en-US" sz="1400" dirty="0"/>
              <a:t>+ </a:t>
            </a:r>
            <a:r>
              <a:rPr lang="en-US" sz="1400" dirty="0" err="1"/>
              <a:t>Depr</a:t>
            </a:r>
            <a:r>
              <a:rPr lang="en-US" sz="1400" dirty="0"/>
              <a:t>  ± Necessary Adjustments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940275-95C4-004E-A174-FCFDD735A607}"/>
              </a:ext>
            </a:extLst>
          </p:cNvPr>
          <p:cNvGrpSpPr/>
          <p:nvPr/>
        </p:nvGrpSpPr>
        <p:grpSpPr>
          <a:xfrm>
            <a:off x="2274317" y="2855855"/>
            <a:ext cx="658902" cy="578594"/>
            <a:chOff x="2023449" y="3320089"/>
            <a:chExt cx="658902" cy="578594"/>
          </a:xfrm>
        </p:grpSpPr>
        <p:sp>
          <p:nvSpPr>
            <p:cNvPr id="85" name="TextBox 84"/>
            <p:cNvSpPr txBox="1"/>
            <p:nvPr/>
          </p:nvSpPr>
          <p:spPr>
            <a:xfrm>
              <a:off x="2023449" y="3320089"/>
              <a:ext cx="5629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- </a:t>
              </a:r>
              <a:r>
                <a:rPr lang="en-US" sz="1400" dirty="0" err="1"/>
                <a:t>CFI</a:t>
              </a:r>
              <a:r>
                <a:rPr lang="en-US" sz="1400" baseline="-25000" dirty="0" err="1"/>
                <a:t>t</a:t>
              </a:r>
              <a:endParaRPr lang="en-US" sz="1400" baseline="-25000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048844" y="3590906"/>
              <a:ext cx="6335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= </a:t>
              </a:r>
              <a:r>
                <a:rPr lang="en-US" sz="1400" dirty="0" err="1"/>
                <a:t>FCF</a:t>
              </a:r>
              <a:r>
                <a:rPr lang="en-US" sz="1400" baseline="-25000" dirty="0" err="1"/>
                <a:t>t</a:t>
              </a:r>
              <a:endParaRPr lang="en-US" sz="1400" baseline="-25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5161041" y="3110330"/>
                <a:ext cx="3182859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𝐷𝐶𝐹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𝐹𝐶𝐹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baseline="3000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𝑇𝑉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baseline="3000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041" y="3110330"/>
                <a:ext cx="3182859" cy="778739"/>
              </a:xfrm>
              <a:prstGeom prst="rect">
                <a:avLst/>
              </a:prstGeom>
              <a:blipFill>
                <a:blip r:embed="rId2"/>
                <a:stretch>
                  <a:fillRect t="-111290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TextBox 87"/>
          <p:cNvSpPr txBox="1"/>
          <p:nvPr/>
        </p:nvSpPr>
        <p:spPr>
          <a:xfrm>
            <a:off x="957376" y="4039856"/>
            <a:ext cx="3471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do we get the interest rate?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3541" y="4304968"/>
            <a:ext cx="3435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do we get all the forecasts?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50248" y="4035278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Finance theory helps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50248" y="4304968"/>
            <a:ext cx="1443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Management</a:t>
            </a:r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>
          <a:xfrm>
            <a:off x="8343900" y="4767263"/>
            <a:ext cx="34290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10</a:t>
            </a:fld>
            <a:endParaRPr 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49EE52C-29E9-7E4A-A34F-39B8E103B9EE}"/>
              </a:ext>
            </a:extLst>
          </p:cNvPr>
          <p:cNvSpPr txBox="1"/>
          <p:nvPr/>
        </p:nvSpPr>
        <p:spPr>
          <a:xfrm>
            <a:off x="1705679" y="1935419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FCF</a:t>
            </a:r>
            <a:r>
              <a:rPr lang="en-US" sz="1400" baseline="-250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B3AFD0B-793A-B347-A87A-8EDCD8C64B08}"/>
              </a:ext>
            </a:extLst>
          </p:cNvPr>
          <p:cNvSpPr txBox="1"/>
          <p:nvPr/>
        </p:nvSpPr>
        <p:spPr>
          <a:xfrm>
            <a:off x="2250068" y="192323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FCF</a:t>
            </a:r>
            <a:r>
              <a:rPr lang="en-US" sz="1400" baseline="-25000" dirty="0"/>
              <a:t>3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9F2856E-59A1-344C-9BAD-C5DF6DC2E15A}"/>
              </a:ext>
            </a:extLst>
          </p:cNvPr>
          <p:cNvGrpSpPr/>
          <p:nvPr/>
        </p:nvGrpSpPr>
        <p:grpSpPr>
          <a:xfrm>
            <a:off x="2857535" y="1923235"/>
            <a:ext cx="3880658" cy="338237"/>
            <a:chOff x="2857535" y="1923235"/>
            <a:chExt cx="3880658" cy="338237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64530C3-BF41-F842-B4E7-218D85E367E0}"/>
                </a:ext>
              </a:extLst>
            </p:cNvPr>
            <p:cNvSpPr txBox="1"/>
            <p:nvPr/>
          </p:nvSpPr>
          <p:spPr>
            <a:xfrm>
              <a:off x="2857535" y="1923235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FCF</a:t>
              </a:r>
              <a:r>
                <a:rPr lang="en-US" sz="1400" baseline="-25000" dirty="0"/>
                <a:t>4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634CFAE-F9DB-624E-8D6A-6AECBF91DA9B}"/>
                </a:ext>
              </a:extLst>
            </p:cNvPr>
            <p:cNvGrpSpPr/>
            <p:nvPr/>
          </p:nvGrpSpPr>
          <p:grpSpPr>
            <a:xfrm>
              <a:off x="3398591" y="1928814"/>
              <a:ext cx="3339602" cy="332658"/>
              <a:chOff x="3398591" y="1928814"/>
              <a:chExt cx="3339602" cy="332658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221161A-C7A1-9244-9DD0-C7E2295DD567}"/>
                  </a:ext>
                </a:extLst>
              </p:cNvPr>
              <p:cNvSpPr txBox="1"/>
              <p:nvPr/>
            </p:nvSpPr>
            <p:spPr>
              <a:xfrm>
                <a:off x="3939647" y="1940153"/>
                <a:ext cx="5036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FCF</a:t>
                </a:r>
                <a:r>
                  <a:rPr lang="en-US" sz="1400" baseline="-25000" dirty="0"/>
                  <a:t>6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B392421-C6AD-FF40-A163-3DDD0075DE4C}"/>
                  </a:ext>
                </a:extLst>
              </p:cNvPr>
              <p:cNvSpPr txBox="1"/>
              <p:nvPr/>
            </p:nvSpPr>
            <p:spPr>
              <a:xfrm>
                <a:off x="3398591" y="1928814"/>
                <a:ext cx="5036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FCF</a:t>
                </a:r>
                <a:r>
                  <a:rPr lang="en-US" sz="1400" baseline="-25000" dirty="0"/>
                  <a:t>5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3040C05-6CBB-E04B-9D53-46DC7A5D5BA6}"/>
                  </a:ext>
                </a:extLst>
              </p:cNvPr>
              <p:cNvSpPr txBox="1"/>
              <p:nvPr/>
            </p:nvSpPr>
            <p:spPr>
              <a:xfrm>
                <a:off x="4536156" y="1953695"/>
                <a:ext cx="5036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FCF</a:t>
                </a:r>
                <a:r>
                  <a:rPr lang="en-US" sz="1400" baseline="-25000" dirty="0"/>
                  <a:t>7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186699A1-9C00-9046-B1E2-0160138A37E5}"/>
                  </a:ext>
                </a:extLst>
              </p:cNvPr>
              <p:cNvSpPr txBox="1"/>
              <p:nvPr/>
            </p:nvSpPr>
            <p:spPr>
              <a:xfrm>
                <a:off x="5088170" y="1939511"/>
                <a:ext cx="5036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FCF</a:t>
                </a:r>
                <a:r>
                  <a:rPr lang="en-US" sz="1400" baseline="-25000" dirty="0"/>
                  <a:t>8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8028F09-8CCD-7C42-8935-6C3CF48965ED}"/>
                  </a:ext>
                </a:extLst>
              </p:cNvPr>
              <p:cNvSpPr txBox="1"/>
              <p:nvPr/>
            </p:nvSpPr>
            <p:spPr>
              <a:xfrm>
                <a:off x="6173615" y="1942413"/>
                <a:ext cx="5645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FCF</a:t>
                </a:r>
                <a:r>
                  <a:rPr lang="en-US" sz="1400" baseline="-25000" dirty="0"/>
                  <a:t>10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44E8557-6E48-3748-8D89-1805322F3EE0}"/>
                  </a:ext>
                </a:extLst>
              </p:cNvPr>
              <p:cNvSpPr txBox="1"/>
              <p:nvPr/>
            </p:nvSpPr>
            <p:spPr>
              <a:xfrm>
                <a:off x="5669951" y="1940995"/>
                <a:ext cx="5036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FCF</a:t>
                </a:r>
                <a:r>
                  <a:rPr lang="en-US" sz="1400" baseline="-25000" dirty="0"/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599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9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3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 override="childStyle">
                                        <p:cTn id="81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7" grpId="0"/>
      <p:bldP spid="84" grpId="0"/>
      <p:bldP spid="87" grpId="0"/>
      <p:bldP spid="88" grpId="0"/>
      <p:bldP spid="89" grpId="0"/>
      <p:bldP spid="90" grpId="0"/>
      <p:bldP spid="91" grpId="0"/>
      <p:bldP spid="91" grpId="1"/>
      <p:bldP spid="91" grpId="2"/>
      <p:bldP spid="93" grpId="0"/>
      <p:bldP spid="9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67027" y="1119863"/>
            <a:ext cx="8809945" cy="1318537"/>
            <a:chOff x="166939" y="1860550"/>
            <a:chExt cx="8809945" cy="1318537"/>
          </a:xfrm>
        </p:grpSpPr>
        <p:grpSp>
          <p:nvGrpSpPr>
            <p:cNvPr id="3" name="Group 2"/>
            <p:cNvGrpSpPr/>
            <p:nvPr/>
          </p:nvGrpSpPr>
          <p:grpSpPr>
            <a:xfrm>
              <a:off x="166939" y="1860550"/>
              <a:ext cx="8707715" cy="1318537"/>
              <a:chOff x="166939" y="1860550"/>
              <a:chExt cx="8707715" cy="1318537"/>
            </a:xfrm>
          </p:grpSpPr>
          <p:cxnSp>
            <p:nvCxnSpPr>
              <p:cNvPr id="4" name="Straight Arrow Connector 3"/>
              <p:cNvCxnSpPr/>
              <p:nvPr/>
            </p:nvCxnSpPr>
            <p:spPr>
              <a:xfrm>
                <a:off x="781050" y="2451100"/>
                <a:ext cx="8013700" cy="127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TextBox 4"/>
              <p:cNvSpPr txBox="1"/>
              <p:nvPr/>
            </p:nvSpPr>
            <p:spPr>
              <a:xfrm>
                <a:off x="514350" y="1892300"/>
                <a:ext cx="11618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Early 1986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4378325" y="1892300"/>
                <a:ext cx="1093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April1989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813145" y="1860550"/>
                <a:ext cx="1061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Dec 1991</a:t>
                </a: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781050" y="2349500"/>
                <a:ext cx="0" cy="2032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4838700" y="2374900"/>
                <a:ext cx="0" cy="2032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8216900" y="2362200"/>
                <a:ext cx="0" cy="2032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166939" y="2773918"/>
                <a:ext cx="12282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$85 million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166080" y="2809755"/>
                <a:ext cx="1345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$106 million</a:t>
                </a: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7456916" y="2786618"/>
              <a:ext cx="15199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$1,200 million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727663" y="3495555"/>
            <a:ext cx="3831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Management doubled its sales and net</a:t>
            </a:r>
          </a:p>
          <a:p>
            <a:r>
              <a:rPr lang="en-US" dirty="0"/>
              <a:t>Income forecasts here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4925197" y="1742163"/>
            <a:ext cx="1723253" cy="1636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56200" y="4141886"/>
            <a:ext cx="345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Two weeks </a:t>
            </a:r>
            <a:r>
              <a:rPr lang="en-US" dirty="0"/>
              <a:t>after the buyout closed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>
          <a:xfrm>
            <a:off x="8216988" y="4767263"/>
            <a:ext cx="469812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02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B0C0-F3CF-4145-B35C-5AA4F9E5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266950"/>
            <a:ext cx="3657600" cy="1021556"/>
          </a:xfrm>
        </p:spPr>
        <p:txBody>
          <a:bodyPr>
            <a:normAutofit/>
          </a:bodyPr>
          <a:lstStyle/>
          <a:p>
            <a:r>
              <a:rPr lang="en-US" dirty="0"/>
              <a:t>Perrigo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4DA2D-BFED-4462-B5C5-C08F5686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8EC5-F22C-45A0-B0AE-478D58FB1D5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76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Everyone agreed that the right interest rate to use was somewhere between 13.5% and 15.5%</a:t>
            </a:r>
          </a:p>
          <a:p>
            <a:r>
              <a:rPr lang="en-US" dirty="0"/>
              <a:t>Compare two things:</a:t>
            </a:r>
          </a:p>
          <a:p>
            <a:pPr lvl="1"/>
            <a:r>
              <a:rPr lang="en-US" dirty="0"/>
              <a:t>Range of DCFs using forecasts actually used by investment bankers in arriving at their fairness opinion</a:t>
            </a:r>
          </a:p>
          <a:p>
            <a:pPr lvl="1"/>
            <a:r>
              <a:rPr lang="en-US" dirty="0"/>
              <a:t>Range of DCFs using the forecasts put out by management in May 1989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7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C16-5 </a:t>
            </a:r>
            <a:r>
              <a:rPr lang="en-US" dirty="0" err="1"/>
              <a:t>Perrigo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24" y="1220583"/>
            <a:ext cx="7484903" cy="32602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86200" y="1006066"/>
            <a:ext cx="247343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Ross testified that,</a:t>
            </a:r>
          </a:p>
          <a:p>
            <a:r>
              <a:rPr lang="en-US" sz="1600" dirty="0"/>
              <a:t>had the investment</a:t>
            </a:r>
          </a:p>
          <a:p>
            <a:r>
              <a:rPr lang="en-US" sz="1600" dirty="0"/>
              <a:t>bankers been given </a:t>
            </a:r>
          </a:p>
          <a:p>
            <a:r>
              <a:rPr lang="en-US" sz="1600" dirty="0"/>
              <a:t>the proper information,</a:t>
            </a:r>
          </a:p>
          <a:p>
            <a:r>
              <a:rPr lang="en-US" sz="1600" dirty="0"/>
              <a:t>they would not have issued</a:t>
            </a:r>
          </a:p>
          <a:p>
            <a:r>
              <a:rPr lang="en-US" sz="1600" dirty="0"/>
              <a:t>a fairness opinion at the</a:t>
            </a:r>
          </a:p>
          <a:p>
            <a:r>
              <a:rPr lang="en-US" sz="1600" dirty="0"/>
              <a:t>$106 million price, and that</a:t>
            </a:r>
          </a:p>
          <a:p>
            <a:r>
              <a:rPr lang="en-US" sz="1600" dirty="0"/>
              <a:t>he had never seen a case in</a:t>
            </a:r>
          </a:p>
          <a:p>
            <a:r>
              <a:rPr lang="en-US" sz="1600" dirty="0"/>
              <a:t>which that had been done.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3050" y="3263900"/>
            <a:ext cx="723900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41724" y="3416300"/>
            <a:ext cx="441325" cy="279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38971" y="3416300"/>
            <a:ext cx="441325" cy="279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673850" y="1398228"/>
            <a:ext cx="723900" cy="26276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8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Cross Examining Attorney Puts this Into Evidence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9700" y="1625600"/>
          <a:ext cx="8839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$1,743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$7,617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$12,425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$15,023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$19,830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$21,891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$26,701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$27,728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$28,808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$29,941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2100" y="2520434"/>
            <a:ext cx="8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the end of the 10</a:t>
            </a:r>
            <a:r>
              <a:rPr lang="en-US" baseline="30000" dirty="0"/>
              <a:t>th</a:t>
            </a:r>
            <a:r>
              <a:rPr lang="en-US" dirty="0"/>
              <a:t> year, it is estimated that the company could be sold for $184,812.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6050" y="3123684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DCF</a:t>
            </a:r>
            <a:r>
              <a:rPr lang="en-US" baseline="-25000" dirty="0"/>
              <a:t>15.5%</a:t>
            </a:r>
            <a:r>
              <a:rPr lang="en-US" dirty="0"/>
              <a:t> = $122 million</a:t>
            </a:r>
            <a:endParaRPr lang="en-US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2686050" y="3542268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DCF</a:t>
            </a:r>
            <a:r>
              <a:rPr lang="en-US" baseline="-25000" dirty="0"/>
              <a:t>13.5%</a:t>
            </a:r>
            <a:r>
              <a:rPr lang="en-US" dirty="0"/>
              <a:t> = $130 million</a:t>
            </a:r>
            <a:endParaRPr lang="en-US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203200" y="4006334"/>
            <a:ext cx="864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Further, this was represented as being the work behind the 1986 sale </a:t>
            </a:r>
            <a:r>
              <a:rPr lang="en-US" b="1" i="1" dirty="0"/>
              <a:t>of Perrigo to Grow</a:t>
            </a:r>
            <a:r>
              <a:rPr lang="en-US" i="1" dirty="0"/>
              <a:t>!!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66100" y="4767263"/>
            <a:ext cx="52070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40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C16-5 </a:t>
            </a:r>
            <a:r>
              <a:rPr lang="en-US" dirty="0" err="1"/>
              <a:t>Perrigo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24" y="1220583"/>
            <a:ext cx="7484903" cy="32602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08300" y="369518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$85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3444024" y="3213100"/>
            <a:ext cx="0" cy="158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17705" y="297651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$130</a:t>
            </a:r>
          </a:p>
        </p:txBody>
      </p:sp>
      <p:cxnSp>
        <p:nvCxnSpPr>
          <p:cNvPr id="17" name="Straight Arrow Connector 16"/>
          <p:cNvCxnSpPr>
            <a:endCxn id="9" idx="1"/>
          </p:cNvCxnSpPr>
          <p:nvPr/>
        </p:nvCxnSpPr>
        <p:spPr>
          <a:xfrm>
            <a:off x="1511300" y="3463195"/>
            <a:ext cx="1397000" cy="416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796" y="3107809"/>
            <a:ext cx="1941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Outside the range!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977455"/>
            <a:ext cx="35235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became very highly motivated to examine their analysis. </a:t>
            </a:r>
          </a:p>
          <a:p>
            <a:r>
              <a:rPr lang="en-US" dirty="0"/>
              <a:t>(Which was done by a national-level economics consulting firm.)</a:t>
            </a:r>
          </a:p>
          <a:p>
            <a:r>
              <a:rPr lang="en-US" dirty="0"/>
              <a:t>Found immediately that the</a:t>
            </a:r>
          </a:p>
          <a:p>
            <a:r>
              <a:rPr lang="en-US" dirty="0"/>
              <a:t>discounting calculation was correct. So what is next?? Free Cash 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29123" y="3455432"/>
            <a:ext cx="441325" cy="279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415728" y="322369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2848" y="3197740"/>
            <a:ext cx="441325" cy="7583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57796" y="4194530"/>
            <a:ext cx="1206304" cy="2968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908300" y="4257042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1986 Sale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3929" y="3213869"/>
            <a:ext cx="441325" cy="7583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350000" y="1455550"/>
            <a:ext cx="377431" cy="7583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402463" y="3802153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3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9483"/>
            <a:ext cx="8229600" cy="714803"/>
          </a:xfrm>
        </p:spPr>
        <p:txBody>
          <a:bodyPr>
            <a:normAutofit fontScale="90000"/>
          </a:bodyPr>
          <a:lstStyle/>
          <a:p>
            <a:r>
              <a:rPr lang="en-US" dirty="0"/>
              <a:t>C16-3 </a:t>
            </a:r>
            <a:r>
              <a:rPr lang="en-US" dirty="0" err="1"/>
              <a:t>Perrigo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430" y="813047"/>
            <a:ext cx="8867862" cy="4197103"/>
          </a:xfrm>
          <a:prstGeom prst="rect">
            <a:avLst/>
          </a:prstGeom>
          <a:scene3d>
            <a:camera prst="orthographicFront">
              <a:rot lat="0" lon="0" rev="12000"/>
            </a:camera>
            <a:lightRig rig="threePt" dir="t"/>
          </a:scene3d>
        </p:spPr>
      </p:pic>
      <p:sp>
        <p:nvSpPr>
          <p:cNvPr id="3" name="Rectangle 2"/>
          <p:cNvSpPr/>
          <p:nvPr/>
        </p:nvSpPr>
        <p:spPr>
          <a:xfrm>
            <a:off x="123738" y="1504950"/>
            <a:ext cx="8867862" cy="2514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7000" y="1797050"/>
            <a:ext cx="8867862" cy="2209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3738" y="2114550"/>
            <a:ext cx="8867862" cy="1905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3738" y="2398774"/>
            <a:ext cx="8867862" cy="1600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3738" y="3521198"/>
            <a:ext cx="8867862" cy="49835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23738" y="4019550"/>
            <a:ext cx="8867862" cy="266700"/>
          </a:xfrm>
          <a:prstGeom prst="roundRect">
            <a:avLst/>
          </a:prstGeom>
          <a:solidFill>
            <a:schemeClr val="accent3">
              <a:lumMod val="75000"/>
              <a:alpha val="46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23738" y="2911598"/>
            <a:ext cx="8867862" cy="574552"/>
          </a:xfrm>
          <a:prstGeom prst="roundRect">
            <a:avLst/>
          </a:prstGeom>
          <a:solidFill>
            <a:schemeClr val="accent3">
              <a:lumMod val="75000"/>
              <a:alpha val="46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9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9483"/>
            <a:ext cx="8229600" cy="714803"/>
          </a:xfrm>
        </p:spPr>
        <p:txBody>
          <a:bodyPr>
            <a:normAutofit fontScale="90000"/>
          </a:bodyPr>
          <a:lstStyle/>
          <a:p>
            <a:r>
              <a:rPr lang="en-US" dirty="0"/>
              <a:t>C16-3 </a:t>
            </a:r>
            <a:r>
              <a:rPr lang="en-US" dirty="0" err="1"/>
              <a:t>Perrigo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430" y="813047"/>
            <a:ext cx="8867862" cy="4197103"/>
          </a:xfrm>
          <a:prstGeom prst="rect">
            <a:avLst/>
          </a:prstGeom>
          <a:scene3d>
            <a:camera prst="orthographicFront">
              <a:rot lat="0" lon="0" rev="12000"/>
            </a:camera>
            <a:lightRig rig="threePt" dir="t"/>
          </a:scene3d>
        </p:spPr>
      </p:pic>
      <p:sp>
        <p:nvSpPr>
          <p:cNvPr id="14" name="Rounded Rectangle 13"/>
          <p:cNvSpPr/>
          <p:nvPr/>
        </p:nvSpPr>
        <p:spPr>
          <a:xfrm>
            <a:off x="138069" y="1832161"/>
            <a:ext cx="8867862" cy="266700"/>
          </a:xfrm>
          <a:prstGeom prst="roundRect">
            <a:avLst/>
          </a:prstGeom>
          <a:solidFill>
            <a:schemeClr val="accent3">
              <a:lumMod val="75000"/>
              <a:alpha val="46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23738" y="2911598"/>
            <a:ext cx="8867862" cy="574552"/>
          </a:xfrm>
          <a:prstGeom prst="roundRect">
            <a:avLst/>
          </a:prstGeom>
          <a:solidFill>
            <a:schemeClr val="accent3">
              <a:lumMod val="75000"/>
              <a:alpha val="46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Oops! Got the Sign Wrong!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 it right and you get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1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Fix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9700" y="1219520"/>
          <a:ext cx="8839200" cy="1016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511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11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$1,743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$7,617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$12,425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$15,023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$19,830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$21,891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$26,701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$27,728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$28,808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$29,941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1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$1,758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$(2,912)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$(4,089)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(4,958)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$(6,604)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(4,965)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(5,461)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$(5,461)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$(5,461)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$(5,461)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8553733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9700" y="4108967"/>
            <a:ext cx="8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the end of the 10</a:t>
            </a:r>
            <a:r>
              <a:rPr lang="en-US" baseline="30000" dirty="0"/>
              <a:t>th</a:t>
            </a:r>
            <a:r>
              <a:rPr lang="en-US" dirty="0"/>
              <a:t> year, it is estimated that the company could be sold for $184,812.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66100" y="4767263"/>
            <a:ext cx="520700" cy="273844"/>
          </a:xfrm>
        </p:spPr>
        <p:txBody>
          <a:bodyPr/>
          <a:lstStyle/>
          <a:p>
            <a:fld id="{89C41DDB-7C3B-0249-847C-AD2960C917FC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BE383C-D1FE-2248-9FA8-F924D1C3731F}"/>
              </a:ext>
            </a:extLst>
          </p:cNvPr>
          <p:cNvGraphicFramePr>
            <a:graphicFrameLocks noGrp="1"/>
          </p:cNvGraphicFramePr>
          <p:nvPr/>
        </p:nvGraphicFramePr>
        <p:xfrm>
          <a:off x="139700" y="2453833"/>
          <a:ext cx="8839200" cy="351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>
                  <a:extLst>
                    <a:ext uri="{9D8B030D-6E8A-4147-A177-3AD203B41FA5}">
                      <a16:colId xmlns:a16="http://schemas.microsoft.com/office/drawing/2014/main" val="919043096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56753148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639336704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17330705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78506943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1903273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63149676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189439475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38812918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422994521"/>
                    </a:ext>
                  </a:extLst>
                </a:gridCol>
              </a:tblGrid>
              <a:tr h="3518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$3,501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$4,705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$8,336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$10,065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$13,226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$16,926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$21,240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$22,267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$23,347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$24,480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39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460C8D-6BED-B441-BE45-94AB077CCE56}"/>
              </a:ext>
            </a:extLst>
          </p:cNvPr>
          <p:cNvSpPr txBox="1"/>
          <p:nvPr/>
        </p:nvSpPr>
        <p:spPr>
          <a:xfrm>
            <a:off x="127000" y="2909968"/>
            <a:ext cx="8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We’re not done. This just cancels out the error. Now we have to add it again to get it right.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5527EE-89A9-484A-ABE8-4985DFBC02D1}"/>
              </a:ext>
            </a:extLst>
          </p:cNvPr>
          <p:cNvGraphicFramePr>
            <a:graphicFrameLocks noGrp="1"/>
          </p:cNvGraphicFramePr>
          <p:nvPr/>
        </p:nvGraphicFramePr>
        <p:xfrm>
          <a:off x="153200" y="3335458"/>
          <a:ext cx="8839200" cy="351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>
                  <a:extLst>
                    <a:ext uri="{9D8B030D-6E8A-4147-A177-3AD203B41FA5}">
                      <a16:colId xmlns:a16="http://schemas.microsoft.com/office/drawing/2014/main" val="919043096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56753148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639336704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17330705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78506943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1903273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63149676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189439475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38812918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422994521"/>
                    </a:ext>
                  </a:extLst>
                </a:gridCol>
              </a:tblGrid>
              <a:tr h="3518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$1,758 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$(2,912)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$(4,089)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(4,958)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$(6,604)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(4,965)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(5,461)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$(5,461)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$(5,461)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$(5,461)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96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33AF2DA-554B-E44D-AF40-94D69A679CA8}"/>
              </a:ext>
            </a:extLst>
          </p:cNvPr>
          <p:cNvGraphicFramePr>
            <a:graphicFrameLocks noGrp="1"/>
          </p:cNvGraphicFramePr>
          <p:nvPr/>
        </p:nvGraphicFramePr>
        <p:xfrm>
          <a:off x="153200" y="3800340"/>
          <a:ext cx="8839200" cy="351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>
                  <a:extLst>
                    <a:ext uri="{9D8B030D-6E8A-4147-A177-3AD203B41FA5}">
                      <a16:colId xmlns:a16="http://schemas.microsoft.com/office/drawing/2014/main" val="919043096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567531485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639336704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17330705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78506943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1903273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63149676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189439475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3388129188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422994521"/>
                    </a:ext>
                  </a:extLst>
                </a:gridCol>
              </a:tblGrid>
              <a:tr h="35183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$5,259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$1,793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$4,247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$5,107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$6,622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$11,961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$15,779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$16,806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$17,886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$19,019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3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87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Big Mistake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the right FCFs and you </a:t>
            </a:r>
            <a:r>
              <a:rPr lang="en-US"/>
              <a:t>get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03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C16-5 </a:t>
            </a:r>
            <a:r>
              <a:rPr lang="en-US" dirty="0" err="1"/>
              <a:t>Perrigo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24" y="1220583"/>
            <a:ext cx="7484903" cy="32602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08300" y="369518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0980" y="4268836"/>
            <a:ext cx="1090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1986 Sale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3444024" y="3800475"/>
            <a:ext cx="0" cy="158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7514" y="354765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971" y="388967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$85</a:t>
            </a:r>
          </a:p>
        </p:txBody>
      </p:sp>
      <p:cxnSp>
        <p:nvCxnSpPr>
          <p:cNvPr id="17" name="Straight Arrow Connector 16"/>
          <p:cNvCxnSpPr>
            <a:endCxn id="9" idx="1"/>
          </p:cNvCxnSpPr>
          <p:nvPr/>
        </p:nvCxnSpPr>
        <p:spPr>
          <a:xfrm>
            <a:off x="1511300" y="3463195"/>
            <a:ext cx="1397000" cy="416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796" y="3107809"/>
            <a:ext cx="176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Inside the range!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2848" y="3197740"/>
            <a:ext cx="441325" cy="7583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631718" y="2876696"/>
            <a:ext cx="441325" cy="7583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356448" y="1832490"/>
            <a:ext cx="441325" cy="7583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719874" y="3142591"/>
            <a:ext cx="441325" cy="75830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35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prepared a cross examination for the partner in the consulting firm that was going to present their analysis.</a:t>
            </a:r>
          </a:p>
          <a:p>
            <a:r>
              <a:rPr lang="en-US" dirty="0"/>
              <a:t>My questions were </a:t>
            </a:r>
            <a:r>
              <a:rPr lang="en-US" i="1" dirty="0"/>
              <a:t>brutal</a:t>
            </a:r>
            <a:r>
              <a:rPr lang="en-US" dirty="0"/>
              <a:t>, as was the sequencing of them. Heads were going to roll.</a:t>
            </a:r>
          </a:p>
          <a:p>
            <a:r>
              <a:rPr lang="en-US" dirty="0"/>
              <a:t>And what actually happened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01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24</a:t>
            </a:fld>
            <a:endParaRPr lang="en-US" sz="140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990601" y="2393157"/>
            <a:ext cx="7751763" cy="862013"/>
            <a:chOff x="624" y="1632"/>
            <a:chExt cx="4882" cy="724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4848" y="1968"/>
              <a:ext cx="65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/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32"/>
              <a:ext cx="4368" cy="192"/>
              <a:chOff x="624" y="1632"/>
              <a:chExt cx="4368" cy="192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24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928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560" y="163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1066801" y="1364456"/>
            <a:ext cx="1890713" cy="914400"/>
            <a:chOff x="672" y="768"/>
            <a:chExt cx="1191" cy="768"/>
          </a:xfrm>
        </p:grpSpPr>
        <p:sp>
          <p:nvSpPr>
            <p:cNvPr id="7187" name="Text Box 36"/>
            <p:cNvSpPr txBox="1">
              <a:spLocks noChangeArrowheads="1"/>
            </p:cNvSpPr>
            <p:nvPr/>
          </p:nvSpPr>
          <p:spPr bwMode="auto">
            <a:xfrm>
              <a:off x="672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8" name="Line 39"/>
            <p:cNvSpPr>
              <a:spLocks noChangeShapeType="1"/>
            </p:cNvSpPr>
            <p:nvPr/>
          </p:nvSpPr>
          <p:spPr bwMode="auto">
            <a:xfrm>
              <a:off x="124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3657601" y="1364456"/>
            <a:ext cx="1890713" cy="914400"/>
            <a:chOff x="2304" y="768"/>
            <a:chExt cx="1191" cy="768"/>
          </a:xfrm>
        </p:grpSpPr>
        <p:sp>
          <p:nvSpPr>
            <p:cNvPr id="7185" name="Text Box 37"/>
            <p:cNvSpPr txBox="1">
              <a:spLocks noChangeArrowheads="1"/>
            </p:cNvSpPr>
            <p:nvPr/>
          </p:nvSpPr>
          <p:spPr bwMode="auto">
            <a:xfrm>
              <a:off x="2304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6" name="Line 41"/>
            <p:cNvSpPr>
              <a:spLocks noChangeShapeType="1"/>
            </p:cNvSpPr>
            <p:nvPr/>
          </p:nvSpPr>
          <p:spPr bwMode="auto">
            <a:xfrm>
              <a:off x="2928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248401" y="1364456"/>
            <a:ext cx="1890713" cy="914400"/>
            <a:chOff x="3936" y="768"/>
            <a:chExt cx="1191" cy="768"/>
          </a:xfrm>
        </p:grpSpPr>
        <p:sp>
          <p:nvSpPr>
            <p:cNvPr id="7183" name="Text Box 38"/>
            <p:cNvSpPr txBox="1">
              <a:spLocks noChangeArrowheads="1"/>
            </p:cNvSpPr>
            <p:nvPr/>
          </p:nvSpPr>
          <p:spPr bwMode="auto">
            <a:xfrm>
              <a:off x="3936" y="768"/>
              <a:ext cx="1191" cy="3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/>
                <a:t>Balance sheet</a:t>
              </a:r>
            </a:p>
          </p:txBody>
        </p:sp>
        <p:sp>
          <p:nvSpPr>
            <p:cNvPr id="7184" name="Line 42"/>
            <p:cNvSpPr>
              <a:spLocks noChangeShapeType="1"/>
            </p:cNvSpPr>
            <p:nvPr/>
          </p:nvSpPr>
          <p:spPr bwMode="auto">
            <a:xfrm>
              <a:off x="4560" y="110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51"/>
          <p:cNvGrpSpPr>
            <a:grpSpLocks/>
          </p:cNvGrpSpPr>
          <p:nvPr/>
        </p:nvGrpSpPr>
        <p:grpSpPr bwMode="auto">
          <a:xfrm>
            <a:off x="2055813" y="2794396"/>
            <a:ext cx="2773361" cy="1941909"/>
            <a:chOff x="1295" y="1969"/>
            <a:chExt cx="1746" cy="1631"/>
          </a:xfrm>
        </p:grpSpPr>
        <p:sp>
          <p:nvSpPr>
            <p:cNvPr id="7181" name="AutoShape 43"/>
            <p:cNvSpPr>
              <a:spLocks/>
            </p:cNvSpPr>
            <p:nvPr/>
          </p:nvSpPr>
          <p:spPr bwMode="auto">
            <a:xfrm rot="5423058">
              <a:off x="1967" y="1297"/>
              <a:ext cx="288" cy="1632"/>
            </a:xfrm>
            <a:prstGeom prst="rightBrace">
              <a:avLst>
                <a:gd name="adj1" fmla="val 4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2" name="Text Box 45"/>
            <p:cNvSpPr txBox="1">
              <a:spLocks noChangeArrowheads="1"/>
            </p:cNvSpPr>
            <p:nvPr/>
          </p:nvSpPr>
          <p:spPr bwMode="auto">
            <a:xfrm>
              <a:off x="1344" y="2592"/>
              <a:ext cx="1697" cy="10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St of Changes in SE</a:t>
              </a:r>
            </a:p>
            <a:p>
              <a:r>
                <a:rPr lang="en-US" dirty="0"/>
                <a:t>Income statement</a:t>
              </a:r>
            </a:p>
            <a:p>
              <a:r>
                <a:rPr lang="en-US" dirty="0"/>
                <a:t>Cash flow statement</a:t>
              </a:r>
            </a:p>
          </p:txBody>
        </p:sp>
      </p:grpSp>
      <p:grpSp>
        <p:nvGrpSpPr>
          <p:cNvPr id="8" name="Group 52"/>
          <p:cNvGrpSpPr>
            <a:grpSpLocks/>
          </p:cNvGrpSpPr>
          <p:nvPr/>
        </p:nvGrpSpPr>
        <p:grpSpPr bwMode="auto">
          <a:xfrm>
            <a:off x="4648200" y="2793208"/>
            <a:ext cx="3076574" cy="1943101"/>
            <a:chOff x="2928" y="1968"/>
            <a:chExt cx="1937" cy="1632"/>
          </a:xfrm>
        </p:grpSpPr>
        <p:sp>
          <p:nvSpPr>
            <p:cNvPr id="7179" name="AutoShape 44"/>
            <p:cNvSpPr>
              <a:spLocks/>
            </p:cNvSpPr>
            <p:nvPr/>
          </p:nvSpPr>
          <p:spPr bwMode="auto">
            <a:xfrm rot="5423058">
              <a:off x="3600" y="1296"/>
              <a:ext cx="288" cy="1632"/>
            </a:xfrm>
            <a:prstGeom prst="rightBrace">
              <a:avLst>
                <a:gd name="adj1" fmla="val 47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0" name="Text Box 46"/>
            <p:cNvSpPr txBox="1">
              <a:spLocks noChangeArrowheads="1"/>
            </p:cNvSpPr>
            <p:nvPr/>
          </p:nvSpPr>
          <p:spPr bwMode="auto">
            <a:xfrm>
              <a:off x="3168" y="2592"/>
              <a:ext cx="1697" cy="10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/>
                <a:t>St of Changes in SE</a:t>
              </a:r>
            </a:p>
            <a:p>
              <a:r>
                <a:rPr lang="en-US" dirty="0"/>
                <a:t>Income statement</a:t>
              </a:r>
            </a:p>
            <a:p>
              <a:r>
                <a:rPr lang="en-US" dirty="0"/>
                <a:t>Cash flow statement</a:t>
              </a:r>
            </a:p>
          </p:txBody>
        </p:sp>
      </p:grp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Most Important Figure</a:t>
            </a:r>
          </a:p>
        </p:txBody>
      </p:sp>
    </p:spTree>
    <p:extLst>
      <p:ext uri="{BB962C8B-B14F-4D97-AF65-F5344CB8AC3E}">
        <p14:creationId xmlns:p14="http://schemas.microsoft.com/office/powerpoint/2010/main" val="210090840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8555"/>
            <a:ext cx="8229600" cy="857250"/>
          </a:xfrm>
        </p:spPr>
        <p:txBody>
          <a:bodyPr/>
          <a:lstStyle/>
          <a:p>
            <a:r>
              <a:rPr lang="en-US" dirty="0"/>
              <a:t>Suppose Value is Created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95114" y="2498312"/>
            <a:ext cx="6844453" cy="1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19509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183124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5" y="1070189"/>
            <a:ext cx="852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HERE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054539" y="1601764"/>
            <a:ext cx="393557" cy="38636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30968" y="394710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Period of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8742" y="1455084"/>
            <a:ext cx="2971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is received in cash in the current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526" y="1301022"/>
            <a:ext cx="2669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is received in cash in the future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692355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705" y="1162523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has been received in cash in the past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95113" y="284647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180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1012" y="2099193"/>
            <a:ext cx="1976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count the cash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3549" y="2044862"/>
            <a:ext cx="200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Must have an </a:t>
            </a:r>
            <a:r>
              <a:rPr lang="en-US" b="1" dirty="0"/>
              <a:t>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00" y="2098823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Must have a </a:t>
            </a:r>
            <a:r>
              <a:rPr lang="en-US" b="1" dirty="0"/>
              <a:t>liability</a:t>
            </a:r>
          </a:p>
        </p:txBody>
      </p:sp>
      <p:cxnSp>
        <p:nvCxnSpPr>
          <p:cNvPr id="23" name="Straight Arrow Connector 22"/>
          <p:cNvCxnSpPr>
            <a:stCxn id="16" idx="0"/>
          </p:cNvCxnSpPr>
          <p:nvPr/>
        </p:nvCxnSpPr>
        <p:spPr>
          <a:xfrm flipV="1">
            <a:off x="1437834" y="2515425"/>
            <a:ext cx="881676" cy="3310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0"/>
          </p:cNvCxnSpPr>
          <p:nvPr/>
        </p:nvCxnSpPr>
        <p:spPr>
          <a:xfrm flipH="1" flipV="1">
            <a:off x="6183127" y="2515425"/>
            <a:ext cx="851949" cy="323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7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2" grpId="1"/>
      <p:bldP spid="13" grpId="0"/>
      <p:bldP spid="13" grpId="1"/>
      <p:bldP spid="14" grpId="0"/>
      <p:bldP spid="14" grpId="1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Value is Consumed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095114" y="2498312"/>
            <a:ext cx="6844453" cy="17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319509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183124" y="2438421"/>
            <a:ext cx="0" cy="154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78255" y="931690"/>
            <a:ext cx="852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HERE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054539" y="1601764"/>
            <a:ext cx="393557" cy="386361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30968" y="394710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Period of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77" y="1400116"/>
            <a:ext cx="3200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is paid for with current cash disbursements, just count the cash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5526" y="1400116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is to be paid for in cash in the future, must create a </a:t>
            </a:r>
            <a:r>
              <a:rPr lang="en-US" b="1" dirty="0"/>
              <a:t>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2355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" y="1508771"/>
            <a:ext cx="2669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all the value has paid for in cash in the past, must create an </a:t>
            </a:r>
            <a:r>
              <a:rPr lang="en-US" b="1" dirty="0"/>
              <a:t>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113" y="284647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5180" y="2838941"/>
            <a:ext cx="68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</a:t>
            </a:r>
          </a:p>
        </p:txBody>
      </p:sp>
      <p:cxnSp>
        <p:nvCxnSpPr>
          <p:cNvPr id="4" name="Straight Arrow Connector 3"/>
          <p:cNvCxnSpPr>
            <a:stCxn id="16" idx="0"/>
          </p:cNvCxnSpPr>
          <p:nvPr/>
        </p:nvCxnSpPr>
        <p:spPr>
          <a:xfrm flipV="1">
            <a:off x="1437834" y="2515425"/>
            <a:ext cx="881676" cy="3310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0"/>
          </p:cNvCxnSpPr>
          <p:nvPr/>
        </p:nvCxnSpPr>
        <p:spPr>
          <a:xfrm flipH="1" flipV="1">
            <a:off x="6183127" y="2515425"/>
            <a:ext cx="851949" cy="3235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3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2" grpId="1"/>
      <p:bldP spid="13" grpId="0"/>
      <p:bldP spid="14" grpId="0"/>
      <p:bldP spid="15" grpId="0"/>
      <p:bldP spid="15" grpId="1"/>
      <p:bldP spid="16" grpId="0"/>
      <p:bldP spid="16" grpId="1"/>
      <p:bldP spid="17" grpId="0"/>
      <p:bldP spid="17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41BD4-B97F-4959-A41E-9622AF198D75}" type="slidenum">
              <a:rPr lang="en-US"/>
              <a:pPr/>
              <a:t>27</a:t>
            </a:fld>
            <a:endParaRPr lang="en-US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 Income and Other Comprehensive Income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1163570" y="1558778"/>
            <a:ext cx="42679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b="1" dirty="0"/>
              <a:t>ASSETS = LIABILITIES + EQUITIES</a:t>
            </a:r>
          </a:p>
        </p:txBody>
      </p:sp>
      <p:grpSp>
        <p:nvGrpSpPr>
          <p:cNvPr id="59413" name="Group 21"/>
          <p:cNvGrpSpPr>
            <a:grpSpLocks/>
          </p:cNvGrpSpPr>
          <p:nvPr/>
        </p:nvGrpSpPr>
        <p:grpSpPr bwMode="auto">
          <a:xfrm>
            <a:off x="2321084" y="2022976"/>
            <a:ext cx="4329113" cy="1407319"/>
            <a:chOff x="2128" y="2400"/>
            <a:chExt cx="2727" cy="1182"/>
          </a:xfrm>
        </p:grpSpPr>
        <p:sp>
          <p:nvSpPr>
            <p:cNvPr id="59398" name="Line 6"/>
            <p:cNvSpPr>
              <a:spLocks noChangeShapeType="1"/>
            </p:cNvSpPr>
            <p:nvPr/>
          </p:nvSpPr>
          <p:spPr bwMode="auto">
            <a:xfrm flipH="1">
              <a:off x="2832" y="2400"/>
              <a:ext cx="72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399" name="Line 7"/>
            <p:cNvSpPr>
              <a:spLocks noChangeShapeType="1"/>
            </p:cNvSpPr>
            <p:nvPr/>
          </p:nvSpPr>
          <p:spPr bwMode="auto">
            <a:xfrm>
              <a:off x="3888" y="2400"/>
              <a:ext cx="52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0" name="Text Box 8"/>
            <p:cNvSpPr txBox="1">
              <a:spLocks noChangeArrowheads="1"/>
            </p:cNvSpPr>
            <p:nvPr/>
          </p:nvSpPr>
          <p:spPr bwMode="auto">
            <a:xfrm>
              <a:off x="2128" y="3187"/>
              <a:ext cx="106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Contributed</a:t>
              </a:r>
            </a:p>
          </p:txBody>
        </p:sp>
        <p:sp>
          <p:nvSpPr>
            <p:cNvPr id="59401" name="Text Box 9"/>
            <p:cNvSpPr txBox="1">
              <a:spLocks noChangeArrowheads="1"/>
            </p:cNvSpPr>
            <p:nvPr/>
          </p:nvSpPr>
          <p:spPr bwMode="auto">
            <a:xfrm>
              <a:off x="3494" y="3194"/>
              <a:ext cx="21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/>
                <a:t>+</a:t>
              </a:r>
            </a:p>
          </p:txBody>
        </p:sp>
        <p:sp>
          <p:nvSpPr>
            <p:cNvPr id="59402" name="Text Box 10"/>
            <p:cNvSpPr txBox="1">
              <a:spLocks noChangeArrowheads="1"/>
            </p:cNvSpPr>
            <p:nvPr/>
          </p:nvSpPr>
          <p:spPr bwMode="auto">
            <a:xfrm>
              <a:off x="4176" y="3188"/>
              <a:ext cx="679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b="1" dirty="0"/>
                <a:t>Earned</a:t>
              </a:r>
            </a:p>
          </p:txBody>
        </p:sp>
      </p:grpSp>
      <p:grpSp>
        <p:nvGrpSpPr>
          <p:cNvPr id="59412" name="Group 20"/>
          <p:cNvGrpSpPr>
            <a:grpSpLocks/>
          </p:cNvGrpSpPr>
          <p:nvPr/>
        </p:nvGrpSpPr>
        <p:grpSpPr bwMode="auto">
          <a:xfrm>
            <a:off x="3972084" y="3337424"/>
            <a:ext cx="3228975" cy="870347"/>
            <a:chOff x="3168" y="3504"/>
            <a:chExt cx="2034" cy="731"/>
          </a:xfrm>
        </p:grpSpPr>
        <p:sp>
          <p:nvSpPr>
            <p:cNvPr id="59409" name="Text Box 17"/>
            <p:cNvSpPr txBox="1">
              <a:spLocks noChangeArrowheads="1"/>
            </p:cNvSpPr>
            <p:nvPr/>
          </p:nvSpPr>
          <p:spPr bwMode="auto">
            <a:xfrm>
              <a:off x="3168" y="3744"/>
              <a:ext cx="970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Through income</a:t>
              </a:r>
            </a:p>
            <a:p>
              <a:r>
                <a:rPr lang="en-US" sz="1600"/>
                <a:t>statement</a:t>
              </a:r>
            </a:p>
          </p:txBody>
        </p:sp>
        <p:grpSp>
          <p:nvGrpSpPr>
            <p:cNvPr id="59411" name="Group 19"/>
            <p:cNvGrpSpPr>
              <a:grpSpLocks/>
            </p:cNvGrpSpPr>
            <p:nvPr/>
          </p:nvGrpSpPr>
          <p:grpSpPr bwMode="auto">
            <a:xfrm>
              <a:off x="3648" y="3504"/>
              <a:ext cx="1554" cy="683"/>
              <a:chOff x="3648" y="3504"/>
              <a:chExt cx="1554" cy="683"/>
            </a:xfrm>
          </p:grpSpPr>
          <p:grpSp>
            <p:nvGrpSpPr>
              <p:cNvPr id="59408" name="Group 16"/>
              <p:cNvGrpSpPr>
                <a:grpSpLocks/>
              </p:cNvGrpSpPr>
              <p:nvPr/>
            </p:nvGrpSpPr>
            <p:grpSpPr bwMode="auto">
              <a:xfrm>
                <a:off x="3648" y="3504"/>
                <a:ext cx="1104" cy="192"/>
                <a:chOff x="3648" y="3504"/>
                <a:chExt cx="1104" cy="192"/>
              </a:xfrm>
            </p:grpSpPr>
            <p:sp>
              <p:nvSpPr>
                <p:cNvPr id="59406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3648" y="3504"/>
                  <a:ext cx="72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407" name="Line 15"/>
                <p:cNvSpPr>
                  <a:spLocks noChangeShapeType="1"/>
                </p:cNvSpPr>
                <p:nvPr/>
              </p:nvSpPr>
              <p:spPr bwMode="auto">
                <a:xfrm>
                  <a:off x="4560" y="3504"/>
                  <a:ext cx="192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9410" name="Text Box 18"/>
              <p:cNvSpPr txBox="1">
                <a:spLocks noChangeArrowheads="1"/>
              </p:cNvSpPr>
              <p:nvPr/>
            </p:nvSpPr>
            <p:spPr bwMode="auto">
              <a:xfrm>
                <a:off x="4272" y="3696"/>
                <a:ext cx="930" cy="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1600"/>
                  <a:t>By-pass income</a:t>
                </a:r>
              </a:p>
              <a:p>
                <a:r>
                  <a:rPr lang="en-US" sz="1600"/>
                  <a:t>statement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073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7" grpId="0"/>
    </p:bldLst>
  </p:timing>
</p:sld>
</file>

<file path=ppt/theme/theme1.xml><?xml version="1.0" encoding="utf-8"?>
<a:theme xmlns:a="http://schemas.openxmlformats.org/drawingml/2006/main" name="YLS-Class-White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YLS-Class-White-Wide</Template>
  <TotalTime>94</TotalTime>
  <Words>1244</Words>
  <Application>Microsoft Office PowerPoint</Application>
  <PresentationFormat>On-screen Show (16:9)</PresentationFormat>
  <Paragraphs>307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Times New Roman</vt:lpstr>
      <vt:lpstr>YLS-Class-White-Wide</vt:lpstr>
      <vt:lpstr>LAW40405 Financial Accounting</vt:lpstr>
      <vt:lpstr>Grow Corp. and Perrigo Co.</vt:lpstr>
      <vt:lpstr>Parties</vt:lpstr>
      <vt:lpstr>Perrigo Story</vt:lpstr>
      <vt:lpstr>Relevant Transactions</vt:lpstr>
      <vt:lpstr>Relevant Transactions</vt:lpstr>
      <vt:lpstr>Timeline</vt:lpstr>
      <vt:lpstr>Timeline</vt:lpstr>
      <vt:lpstr>Discounted Cash Flow Analysis (DCF)</vt:lpstr>
      <vt:lpstr>Forecasts</vt:lpstr>
      <vt:lpstr>Timeline</vt:lpstr>
      <vt:lpstr>Perrigo</vt:lpstr>
      <vt:lpstr>Case Facts</vt:lpstr>
      <vt:lpstr>C16-5 Perrigo</vt:lpstr>
      <vt:lpstr>Cross Examining Attorney Puts this Into Evidence</vt:lpstr>
      <vt:lpstr>C16-5 Perrigo</vt:lpstr>
      <vt:lpstr>C16-3 Perrigo</vt:lpstr>
      <vt:lpstr>C16-3 Perrigo</vt:lpstr>
      <vt:lpstr>Oops! Got the Sign Wrong!</vt:lpstr>
      <vt:lpstr>Let’s Fix It</vt:lpstr>
      <vt:lpstr>That’s a Big Mistake</vt:lpstr>
      <vt:lpstr>C16-5 Perrigo</vt:lpstr>
      <vt:lpstr>Conclusion</vt:lpstr>
      <vt:lpstr>Most Important Figure</vt:lpstr>
      <vt:lpstr>Suppose Value is Created </vt:lpstr>
      <vt:lpstr>Suppose Value is Consumed </vt:lpstr>
      <vt:lpstr>Net Income and Other Comprehensive Income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ACCT270 Foundations of Accounting &amp; Valuation</dc:title>
  <dc:creator>rantle</dc:creator>
  <cp:lastModifiedBy>Antle, Rick</cp:lastModifiedBy>
  <cp:revision>12</cp:revision>
  <dcterms:created xsi:type="dcterms:W3CDTF">2015-12-02T22:40:03Z</dcterms:created>
  <dcterms:modified xsi:type="dcterms:W3CDTF">2022-11-16T20:46:43Z</dcterms:modified>
</cp:coreProperties>
</file>