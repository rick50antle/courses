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6" r:id="rId12"/>
    <p:sldId id="274" r:id="rId13"/>
    <p:sldId id="271" r:id="rId14"/>
    <p:sldId id="277" r:id="rId15"/>
    <p:sldId id="278" r:id="rId16"/>
    <p:sldId id="299" r:id="rId17"/>
    <p:sldId id="300" r:id="rId18"/>
    <p:sldId id="302" r:id="rId19"/>
    <p:sldId id="329" r:id="rId20"/>
    <p:sldId id="301" r:id="rId21"/>
    <p:sldId id="307" r:id="rId22"/>
    <p:sldId id="313" r:id="rId23"/>
    <p:sldId id="333" r:id="rId24"/>
    <p:sldId id="330" r:id="rId25"/>
    <p:sldId id="318" r:id="rId26"/>
    <p:sldId id="319" r:id="rId27"/>
    <p:sldId id="320" r:id="rId28"/>
    <p:sldId id="321" r:id="rId29"/>
    <p:sldId id="331" r:id="rId30"/>
    <p:sldId id="332" r:id="rId31"/>
    <p:sldId id="322" r:id="rId32"/>
    <p:sldId id="323" r:id="rId33"/>
    <p:sldId id="261" r:id="rId34"/>
    <p:sldId id="324" r:id="rId35"/>
    <p:sldId id="325" r:id="rId36"/>
    <p:sldId id="326" r:id="rId37"/>
    <p:sldId id="327" r:id="rId38"/>
    <p:sldId id="328" r:id="rId39"/>
    <p:sldId id="259" r:id="rId40"/>
    <p:sldId id="284" r:id="rId41"/>
    <p:sldId id="286" r:id="rId42"/>
    <p:sldId id="285" r:id="rId43"/>
    <p:sldId id="292" r:id="rId44"/>
    <p:sldId id="295" r:id="rId45"/>
    <p:sldId id="293" r:id="rId46"/>
    <p:sldId id="334" r:id="rId47"/>
    <p:sldId id="308" r:id="rId48"/>
    <p:sldId id="335" r:id="rId49"/>
    <p:sldId id="306" r:id="rId50"/>
    <p:sldId id="305" r:id="rId51"/>
    <p:sldId id="262" r:id="rId52"/>
    <p:sldId id="263" r:id="rId53"/>
    <p:sldId id="304" r:id="rId54"/>
    <p:sldId id="303" r:id="rId55"/>
    <p:sldId id="336" r:id="rId56"/>
    <p:sldId id="337" r:id="rId57"/>
    <p:sldId id="282" r:id="rId58"/>
    <p:sldId id="338" r:id="rId59"/>
    <p:sldId id="339" r:id="rId60"/>
    <p:sldId id="340" r:id="rId61"/>
    <p:sldId id="341" r:id="rId62"/>
    <p:sldId id="342" r:id="rId63"/>
    <p:sldId id="298" r:id="rId64"/>
    <p:sldId id="297" r:id="rId65"/>
    <p:sldId id="296" r:id="rId66"/>
    <p:sldId id="343" r:id="rId67"/>
    <p:sldId id="344" r:id="rId68"/>
    <p:sldId id="345" r:id="rId69"/>
    <p:sldId id="279" r:id="rId70"/>
    <p:sldId id="280" r:id="rId71"/>
    <p:sldId id="346" r:id="rId72"/>
    <p:sldId id="347" r:id="rId73"/>
    <p:sldId id="281" r:id="rId74"/>
    <p:sldId id="287" r:id="rId75"/>
    <p:sldId id="288" r:id="rId76"/>
    <p:sldId id="289" r:id="rId77"/>
    <p:sldId id="290" r:id="rId78"/>
    <p:sldId id="291" r:id="rId7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B3E290-21CB-48CB-9A23-E45A87A3BF43}" v="97" dt="2025-04-20T21:14:47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9" autoAdjust="0"/>
    <p:restoredTop sz="94410"/>
  </p:normalViewPr>
  <p:slideViewPr>
    <p:cSldViewPr snapToGrid="0" snapToObjects="1">
      <p:cViewPr varScale="1">
        <p:scale>
          <a:sx n="128" d="100"/>
          <a:sy n="128" d="100"/>
        </p:scale>
        <p:origin x="96" y="10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91B3E290-21CB-48CB-9A23-E45A87A3BF43}"/>
    <pc:docChg chg="undo custSel addSld delSld modSld">
      <pc:chgData name="Antle, Rick" userId="c2afbbd2-30e4-4c8e-8af5-81913178ace3" providerId="ADAL" clId="{91B3E290-21CB-48CB-9A23-E45A87A3BF43}" dt="2025-04-20T21:17:03.499" v="512" actId="47"/>
      <pc:docMkLst>
        <pc:docMk/>
      </pc:docMkLst>
      <pc:sldChg chg="modSp mod">
        <pc:chgData name="Antle, Rick" userId="c2afbbd2-30e4-4c8e-8af5-81913178ace3" providerId="ADAL" clId="{91B3E290-21CB-48CB-9A23-E45A87A3BF43}" dt="2025-04-20T20:45:50.981" v="47" actId="20577"/>
        <pc:sldMkLst>
          <pc:docMk/>
          <pc:sldMk cId="1173847269" sldId="257"/>
        </pc:sldMkLst>
        <pc:spChg chg="mod">
          <ac:chgData name="Antle, Rick" userId="c2afbbd2-30e4-4c8e-8af5-81913178ace3" providerId="ADAL" clId="{91B3E290-21CB-48CB-9A23-E45A87A3BF43}" dt="2025-04-20T20:45:50.981" v="47" actId="20577"/>
          <ac:spMkLst>
            <pc:docMk/>
            <pc:sldMk cId="1173847269" sldId="257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91B3E290-21CB-48CB-9A23-E45A87A3BF43}" dt="2025-04-20T20:57:14.471" v="160" actId="6549"/>
        <pc:sldMkLst>
          <pc:docMk/>
          <pc:sldMk cId="2954920493" sldId="259"/>
        </pc:sldMkLst>
        <pc:spChg chg="mod">
          <ac:chgData name="Antle, Rick" userId="c2afbbd2-30e4-4c8e-8af5-81913178ace3" providerId="ADAL" clId="{91B3E290-21CB-48CB-9A23-E45A87A3BF43}" dt="2025-04-20T20:57:14.471" v="160" actId="6549"/>
          <ac:spMkLst>
            <pc:docMk/>
            <pc:sldMk cId="2954920493" sldId="259"/>
            <ac:spMk id="38914" creationId="{00000000-0000-0000-0000-000000000000}"/>
          </ac:spMkLst>
        </pc:spChg>
      </pc:sldChg>
      <pc:sldChg chg="del">
        <pc:chgData name="Antle, Rick" userId="c2afbbd2-30e4-4c8e-8af5-81913178ace3" providerId="ADAL" clId="{91B3E290-21CB-48CB-9A23-E45A87A3BF43}" dt="2025-04-20T21:17:03.499" v="512" actId="47"/>
        <pc:sldMkLst>
          <pc:docMk/>
          <pc:sldMk cId="2761896214" sldId="260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3748816112" sldId="261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921265499" sldId="262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4065344626" sldId="263"/>
        </pc:sldMkLst>
      </pc:sldChg>
      <pc:sldChg chg="modSp">
        <pc:chgData name="Antle, Rick" userId="c2afbbd2-30e4-4c8e-8af5-81913178ace3" providerId="ADAL" clId="{91B3E290-21CB-48CB-9A23-E45A87A3BF43}" dt="2025-04-20T21:00:13.595" v="234" actId="20577"/>
        <pc:sldMkLst>
          <pc:docMk/>
          <pc:sldMk cId="1270993046" sldId="271"/>
        </pc:sldMkLst>
        <pc:spChg chg="mod">
          <ac:chgData name="Antle, Rick" userId="c2afbbd2-30e4-4c8e-8af5-81913178ace3" providerId="ADAL" clId="{91B3E290-21CB-48CB-9A23-E45A87A3BF43}" dt="2025-04-20T21:00:13.595" v="234" actId="20577"/>
          <ac:spMkLst>
            <pc:docMk/>
            <pc:sldMk cId="1270993046" sldId="271"/>
            <ac:spMk id="18" creationId="{0D7542A4-D63F-4E70-83C5-CE27B5687C1A}"/>
          </ac:spMkLst>
        </pc:spChg>
      </pc:sldChg>
      <pc:sldChg chg="modSp mod">
        <pc:chgData name="Antle, Rick" userId="c2afbbd2-30e4-4c8e-8af5-81913178ace3" providerId="ADAL" clId="{91B3E290-21CB-48CB-9A23-E45A87A3BF43}" dt="2025-04-20T21:00:53.594" v="261" actId="113"/>
        <pc:sldMkLst>
          <pc:docMk/>
          <pc:sldMk cId="2897183247" sldId="277"/>
        </pc:sldMkLst>
        <pc:spChg chg="mod">
          <ac:chgData name="Antle, Rick" userId="c2afbbd2-30e4-4c8e-8af5-81913178ace3" providerId="ADAL" clId="{91B3E290-21CB-48CB-9A23-E45A87A3BF43}" dt="2025-04-20T21:00:53.594" v="261" actId="113"/>
          <ac:spMkLst>
            <pc:docMk/>
            <pc:sldMk cId="2897183247" sldId="277"/>
            <ac:spMk id="3" creationId="{DFE11B8B-9A94-4D2F-9651-6A9A8DDF079F}"/>
          </ac:spMkLst>
        </pc:spChg>
      </pc:sldChg>
      <pc:sldChg chg="modSp mod">
        <pc:chgData name="Antle, Rick" userId="c2afbbd2-30e4-4c8e-8af5-81913178ace3" providerId="ADAL" clId="{91B3E290-21CB-48CB-9A23-E45A87A3BF43}" dt="2025-04-20T21:02:04.972" v="320" actId="14100"/>
        <pc:sldMkLst>
          <pc:docMk/>
          <pc:sldMk cId="504981905" sldId="278"/>
        </pc:sldMkLst>
        <pc:spChg chg="mod">
          <ac:chgData name="Antle, Rick" userId="c2afbbd2-30e4-4c8e-8af5-81913178ace3" providerId="ADAL" clId="{91B3E290-21CB-48CB-9A23-E45A87A3BF43}" dt="2025-04-20T21:01:49.768" v="319" actId="20577"/>
          <ac:spMkLst>
            <pc:docMk/>
            <pc:sldMk cId="504981905" sldId="278"/>
            <ac:spMk id="28" creationId="{DC1AF33F-472C-473C-9AC4-0397509BFF3F}"/>
          </ac:spMkLst>
        </pc:spChg>
        <pc:cxnChg chg="mod">
          <ac:chgData name="Antle, Rick" userId="c2afbbd2-30e4-4c8e-8af5-81913178ace3" providerId="ADAL" clId="{91B3E290-21CB-48CB-9A23-E45A87A3BF43}" dt="2025-04-20T21:02:04.972" v="320" actId="14100"/>
          <ac:cxnSpMkLst>
            <pc:docMk/>
            <pc:sldMk cId="504981905" sldId="278"/>
            <ac:cxnSpMk id="25" creationId="{C74BB554-53C8-4C4B-9996-5748FC3A77C4}"/>
          </ac:cxnSpMkLst>
        </pc:cxnChg>
      </pc:sldChg>
      <pc:sldChg chg="del">
        <pc:chgData name="Antle, Rick" userId="c2afbbd2-30e4-4c8e-8af5-81913178ace3" providerId="ADAL" clId="{91B3E290-21CB-48CB-9A23-E45A87A3BF43}" dt="2025-04-20T20:52:05.823" v="90" actId="47"/>
        <pc:sldMkLst>
          <pc:docMk/>
          <pc:sldMk cId="41623062" sldId="279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423755168" sldId="279"/>
        </pc:sldMkLst>
      </pc:sldChg>
      <pc:sldChg chg="addSp delSp modSp del mod">
        <pc:chgData name="Antle, Rick" userId="c2afbbd2-30e4-4c8e-8af5-81913178ace3" providerId="ADAL" clId="{91B3E290-21CB-48CB-9A23-E45A87A3BF43}" dt="2025-04-20T20:56:53.582" v="108" actId="47"/>
        <pc:sldMkLst>
          <pc:docMk/>
          <pc:sldMk cId="3296537556" sldId="280"/>
        </pc:sldMkLst>
        <pc:spChg chg="mod">
          <ac:chgData name="Antle, Rick" userId="c2afbbd2-30e4-4c8e-8af5-81913178ace3" providerId="ADAL" clId="{91B3E290-21CB-48CB-9A23-E45A87A3BF43}" dt="2025-04-20T20:47:32.987" v="80" actId="6549"/>
          <ac:spMkLst>
            <pc:docMk/>
            <pc:sldMk cId="3296537556" sldId="280"/>
            <ac:spMk id="2" creationId="{C065FE36-C2E7-4EE5-A61D-ABFA0A6A098F}"/>
          </ac:spMkLst>
        </pc:spChg>
        <pc:spChg chg="del">
          <ac:chgData name="Antle, Rick" userId="c2afbbd2-30e4-4c8e-8af5-81913178ace3" providerId="ADAL" clId="{91B3E290-21CB-48CB-9A23-E45A87A3BF43}" dt="2025-04-20T20:47:56.315" v="86" actId="478"/>
          <ac:spMkLst>
            <pc:docMk/>
            <pc:sldMk cId="3296537556" sldId="280"/>
            <ac:spMk id="15" creationId="{4144316F-04AA-4CA3-BF3F-0CAA997EB6B8}"/>
          </ac:spMkLst>
        </pc:spChg>
        <pc:spChg chg="del">
          <ac:chgData name="Antle, Rick" userId="c2afbbd2-30e4-4c8e-8af5-81913178ace3" providerId="ADAL" clId="{91B3E290-21CB-48CB-9A23-E45A87A3BF43}" dt="2025-04-20T20:47:54.106" v="85" actId="478"/>
          <ac:spMkLst>
            <pc:docMk/>
            <pc:sldMk cId="3296537556" sldId="280"/>
            <ac:spMk id="16" creationId="{37EC493D-A47E-41A1-965F-F59D772B7714}"/>
          </ac:spMkLst>
        </pc:spChg>
        <pc:grpChg chg="del mod">
          <ac:chgData name="Antle, Rick" userId="c2afbbd2-30e4-4c8e-8af5-81913178ace3" providerId="ADAL" clId="{91B3E290-21CB-48CB-9A23-E45A87A3BF43}" dt="2025-04-20T20:47:50.780" v="84" actId="478"/>
          <ac:grpSpMkLst>
            <pc:docMk/>
            <pc:sldMk cId="3296537556" sldId="280"/>
            <ac:grpSpMk id="5" creationId="{584EDBB8-CAC5-4D09-BDD8-2BA9E559CC8D}"/>
          </ac:grpSpMkLst>
        </pc:grpChg>
        <pc:grpChg chg="del">
          <ac:chgData name="Antle, Rick" userId="c2afbbd2-30e4-4c8e-8af5-81913178ace3" providerId="ADAL" clId="{91B3E290-21CB-48CB-9A23-E45A87A3BF43}" dt="2025-04-20T20:47:24.947" v="79" actId="478"/>
          <ac:grpSpMkLst>
            <pc:docMk/>
            <pc:sldMk cId="3296537556" sldId="280"/>
            <ac:grpSpMk id="19" creationId="{039FC613-702F-4295-AB38-8F7E0712BDD8}"/>
          </ac:grpSpMkLst>
        </pc:grpChg>
        <pc:grpChg chg="del">
          <ac:chgData name="Antle, Rick" userId="c2afbbd2-30e4-4c8e-8af5-81913178ace3" providerId="ADAL" clId="{91B3E290-21CB-48CB-9A23-E45A87A3BF43}" dt="2025-04-20T20:47:57.879" v="87" actId="478"/>
          <ac:grpSpMkLst>
            <pc:docMk/>
            <pc:sldMk cId="3296537556" sldId="280"/>
            <ac:grpSpMk id="30" creationId="{1BF8AB09-25BD-4695-BEB4-BFF6840291A7}"/>
          </ac:grpSpMkLst>
        </pc:grpChg>
        <pc:cxnChg chg="add del">
          <ac:chgData name="Antle, Rick" userId="c2afbbd2-30e4-4c8e-8af5-81913178ace3" providerId="ADAL" clId="{91B3E290-21CB-48CB-9A23-E45A87A3BF43}" dt="2025-04-20T20:47:48.161" v="83" actId="478"/>
          <ac:cxnSpMkLst>
            <pc:docMk/>
            <pc:sldMk cId="3296537556" sldId="280"/>
            <ac:cxnSpMk id="12" creationId="{2BCCC8F2-610A-485E-8FB1-D58BBF45A92C}"/>
          </ac:cxnSpMkLst>
        </pc:cxnChg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4267767663" sldId="280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859729739" sldId="281"/>
        </pc:sldMkLst>
      </pc:sldChg>
      <pc:sldChg chg="del">
        <pc:chgData name="Antle, Rick" userId="c2afbbd2-30e4-4c8e-8af5-81913178ace3" providerId="ADAL" clId="{91B3E290-21CB-48CB-9A23-E45A87A3BF43}" dt="2025-04-20T20:56:53.582" v="108" actId="47"/>
        <pc:sldMkLst>
          <pc:docMk/>
          <pc:sldMk cId="2955890377" sldId="281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866630271" sldId="282"/>
        </pc:sldMkLst>
      </pc:sldChg>
      <pc:sldChg chg="del">
        <pc:chgData name="Antle, Rick" userId="c2afbbd2-30e4-4c8e-8af5-81913178ace3" providerId="ADAL" clId="{91B3E290-21CB-48CB-9A23-E45A87A3BF43}" dt="2025-04-20T20:56:53.582" v="108" actId="47"/>
        <pc:sldMkLst>
          <pc:docMk/>
          <pc:sldMk cId="3304190325" sldId="282"/>
        </pc:sldMkLst>
      </pc:sldChg>
      <pc:sldChg chg="del">
        <pc:chgData name="Antle, Rick" userId="c2afbbd2-30e4-4c8e-8af5-81913178ace3" providerId="ADAL" clId="{91B3E290-21CB-48CB-9A23-E45A87A3BF43}" dt="2025-04-20T20:56:53.582" v="108" actId="47"/>
        <pc:sldMkLst>
          <pc:docMk/>
          <pc:sldMk cId="2812382986" sldId="283"/>
        </pc:sldMkLst>
      </pc:sldChg>
      <pc:sldChg chg="modSp mod">
        <pc:chgData name="Antle, Rick" userId="c2afbbd2-30e4-4c8e-8af5-81913178ace3" providerId="ADAL" clId="{91B3E290-21CB-48CB-9A23-E45A87A3BF43}" dt="2025-04-20T20:58:09.222" v="171" actId="20577"/>
        <pc:sldMkLst>
          <pc:docMk/>
          <pc:sldMk cId="4020523224" sldId="287"/>
        </pc:sldMkLst>
        <pc:spChg chg="mod">
          <ac:chgData name="Antle, Rick" userId="c2afbbd2-30e4-4c8e-8af5-81913178ace3" providerId="ADAL" clId="{91B3E290-21CB-48CB-9A23-E45A87A3BF43}" dt="2025-04-20T20:58:09.222" v="171" actId="20577"/>
          <ac:spMkLst>
            <pc:docMk/>
            <pc:sldMk cId="4020523224" sldId="287"/>
            <ac:spMk id="2" creationId="{C065FE36-C2E7-4EE5-A61D-ABFA0A6A098F}"/>
          </ac:spMkLst>
        </pc:spChg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3463974339" sldId="293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4176456327" sldId="295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997929962" sldId="296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694597057" sldId="297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194721267" sldId="298"/>
        </pc:sldMkLst>
      </pc:sldChg>
      <pc:sldChg chg="modSp add mod">
        <pc:chgData name="Antle, Rick" userId="c2afbbd2-30e4-4c8e-8af5-81913178ace3" providerId="ADAL" clId="{91B3E290-21CB-48CB-9A23-E45A87A3BF43}" dt="2025-04-20T20:52:16.269" v="106" actId="20577"/>
        <pc:sldMkLst>
          <pc:docMk/>
          <pc:sldMk cId="970329228" sldId="299"/>
        </pc:sldMkLst>
        <pc:spChg chg="mod">
          <ac:chgData name="Antle, Rick" userId="c2afbbd2-30e4-4c8e-8af5-81913178ace3" providerId="ADAL" clId="{91B3E290-21CB-48CB-9A23-E45A87A3BF43}" dt="2025-04-20T20:52:16.269" v="106" actId="20577"/>
          <ac:spMkLst>
            <pc:docMk/>
            <pc:sldMk cId="970329228" sldId="299"/>
            <ac:spMk id="192514" creationId="{00000000-0000-0000-0000-000000000000}"/>
          </ac:spMkLst>
        </pc:spChg>
      </pc:sldChg>
      <pc:sldChg chg="add">
        <pc:chgData name="Antle, Rick" userId="c2afbbd2-30e4-4c8e-8af5-81913178ace3" providerId="ADAL" clId="{91B3E290-21CB-48CB-9A23-E45A87A3BF43}" dt="2025-04-20T20:51:39.898" v="89"/>
        <pc:sldMkLst>
          <pc:docMk/>
          <pc:sldMk cId="513652295" sldId="300"/>
        </pc:sldMkLst>
      </pc:sldChg>
      <pc:sldChg chg="add">
        <pc:chgData name="Antle, Rick" userId="c2afbbd2-30e4-4c8e-8af5-81913178ace3" providerId="ADAL" clId="{91B3E290-21CB-48CB-9A23-E45A87A3BF43}" dt="2025-04-20T20:51:39.898" v="89"/>
        <pc:sldMkLst>
          <pc:docMk/>
          <pc:sldMk cId="2558209455" sldId="301"/>
        </pc:sldMkLst>
      </pc:sldChg>
      <pc:sldChg chg="add">
        <pc:chgData name="Antle, Rick" userId="c2afbbd2-30e4-4c8e-8af5-81913178ace3" providerId="ADAL" clId="{91B3E290-21CB-48CB-9A23-E45A87A3BF43}" dt="2025-04-20T20:51:39.898" v="89"/>
        <pc:sldMkLst>
          <pc:docMk/>
          <pc:sldMk cId="2102473050" sldId="302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737662203" sldId="303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307265133" sldId="304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91526217" sldId="305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758714765" sldId="306"/>
        </pc:sldMkLst>
      </pc:sldChg>
      <pc:sldChg chg="modSp add mod modAnim">
        <pc:chgData name="Antle, Rick" userId="c2afbbd2-30e4-4c8e-8af5-81913178ace3" providerId="ADAL" clId="{91B3E290-21CB-48CB-9A23-E45A87A3BF43}" dt="2025-04-20T21:03:27.681" v="352" actId="27636"/>
        <pc:sldMkLst>
          <pc:docMk/>
          <pc:sldMk cId="3825705647" sldId="307"/>
        </pc:sldMkLst>
        <pc:spChg chg="mod">
          <ac:chgData name="Antle, Rick" userId="c2afbbd2-30e4-4c8e-8af5-81913178ace3" providerId="ADAL" clId="{91B3E290-21CB-48CB-9A23-E45A87A3BF43}" dt="2025-04-20T21:03:27.681" v="352" actId="27636"/>
          <ac:spMkLst>
            <pc:docMk/>
            <pc:sldMk cId="3825705647" sldId="307"/>
            <ac:spMk id="234499" creationId="{00000000-0000-0000-0000-000000000000}"/>
          </ac:spMkLst>
        </pc:spChg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964510519" sldId="308"/>
        </pc:sldMkLst>
      </pc:sldChg>
      <pc:sldChg chg="add">
        <pc:chgData name="Antle, Rick" userId="c2afbbd2-30e4-4c8e-8af5-81913178ace3" providerId="ADAL" clId="{91B3E290-21CB-48CB-9A23-E45A87A3BF43}" dt="2025-04-20T20:51:39.898" v="89"/>
        <pc:sldMkLst>
          <pc:docMk/>
          <pc:sldMk cId="1520318303" sldId="313"/>
        </pc:sldMkLst>
      </pc:sldChg>
      <pc:sldChg chg="add del">
        <pc:chgData name="Antle, Rick" userId="c2afbbd2-30e4-4c8e-8af5-81913178ace3" providerId="ADAL" clId="{91B3E290-21CB-48CB-9A23-E45A87A3BF43}" dt="2025-04-20T20:53:33.367" v="107" actId="47"/>
        <pc:sldMkLst>
          <pc:docMk/>
          <pc:sldMk cId="3793214866" sldId="317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1847285455" sldId="318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3183211658" sldId="319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3091515751" sldId="320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186170779" sldId="321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440582337" sldId="322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1151446148" sldId="323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291863934" sldId="324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3301867029" sldId="325"/>
        </pc:sldMkLst>
      </pc:sldChg>
      <pc:sldChg chg="add mod modShow">
        <pc:chgData name="Antle, Rick" userId="c2afbbd2-30e4-4c8e-8af5-81913178ace3" providerId="ADAL" clId="{91B3E290-21CB-48CB-9A23-E45A87A3BF43}" dt="2025-04-20T21:07:04.849" v="370" actId="729"/>
        <pc:sldMkLst>
          <pc:docMk/>
          <pc:sldMk cId="431018040" sldId="326"/>
        </pc:sldMkLst>
      </pc:sldChg>
      <pc:sldChg chg="add mod modShow">
        <pc:chgData name="Antle, Rick" userId="c2afbbd2-30e4-4c8e-8af5-81913178ace3" providerId="ADAL" clId="{91B3E290-21CB-48CB-9A23-E45A87A3BF43}" dt="2025-04-20T21:07:04.849" v="370" actId="729"/>
        <pc:sldMkLst>
          <pc:docMk/>
          <pc:sldMk cId="880165494" sldId="327"/>
        </pc:sldMkLst>
      </pc:sldChg>
      <pc:sldChg chg="add mod modShow">
        <pc:chgData name="Antle, Rick" userId="c2afbbd2-30e4-4c8e-8af5-81913178ace3" providerId="ADAL" clId="{91B3E290-21CB-48CB-9A23-E45A87A3BF43}" dt="2025-04-20T21:07:04.849" v="370" actId="729"/>
        <pc:sldMkLst>
          <pc:docMk/>
          <pc:sldMk cId="3433768270" sldId="328"/>
        </pc:sldMkLst>
      </pc:sldChg>
      <pc:sldChg chg="add">
        <pc:chgData name="Antle, Rick" userId="c2afbbd2-30e4-4c8e-8af5-81913178ace3" providerId="ADAL" clId="{91B3E290-21CB-48CB-9A23-E45A87A3BF43}" dt="2025-04-20T20:51:39.898" v="89"/>
        <pc:sldMkLst>
          <pc:docMk/>
          <pc:sldMk cId="815530058" sldId="329"/>
        </pc:sldMkLst>
      </pc:sldChg>
      <pc:sldChg chg="modSp add mod modShow">
        <pc:chgData name="Antle, Rick" userId="c2afbbd2-30e4-4c8e-8af5-81913178ace3" providerId="ADAL" clId="{91B3E290-21CB-48CB-9A23-E45A87A3BF43}" dt="2025-04-20T21:16:22.872" v="511" actId="20577"/>
        <pc:sldMkLst>
          <pc:docMk/>
          <pc:sldMk cId="2943708149" sldId="330"/>
        </pc:sldMkLst>
        <pc:spChg chg="mod">
          <ac:chgData name="Antle, Rick" userId="c2afbbd2-30e4-4c8e-8af5-81913178ace3" providerId="ADAL" clId="{91B3E290-21CB-48CB-9A23-E45A87A3BF43}" dt="2025-04-20T21:15:35.247" v="377" actId="27636"/>
          <ac:spMkLst>
            <pc:docMk/>
            <pc:sldMk cId="2943708149" sldId="330"/>
            <ac:spMk id="2" creationId="{381C1FA2-5F25-C867-EADD-F1F6728E7AA8}"/>
          </ac:spMkLst>
        </pc:spChg>
        <pc:spChg chg="mod">
          <ac:chgData name="Antle, Rick" userId="c2afbbd2-30e4-4c8e-8af5-81913178ace3" providerId="ADAL" clId="{91B3E290-21CB-48CB-9A23-E45A87A3BF43}" dt="2025-04-20T21:16:22.872" v="511" actId="20577"/>
          <ac:spMkLst>
            <pc:docMk/>
            <pc:sldMk cId="2943708149" sldId="330"/>
            <ac:spMk id="3" creationId="{5F1D0825-4D39-7153-B352-B82235AB48ED}"/>
          </ac:spMkLst>
        </pc:spChg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3378278871" sldId="331"/>
        </pc:sldMkLst>
      </pc:sldChg>
      <pc:sldChg chg="add mod modShow">
        <pc:chgData name="Antle, Rick" userId="c2afbbd2-30e4-4c8e-8af5-81913178ace3" providerId="ADAL" clId="{91B3E290-21CB-48CB-9A23-E45A87A3BF43}" dt="2025-04-20T21:09:48.643" v="371" actId="729"/>
        <pc:sldMkLst>
          <pc:docMk/>
          <pc:sldMk cId="2761325676" sldId="332"/>
        </pc:sldMkLst>
      </pc:sldChg>
      <pc:sldChg chg="modSp add mod">
        <pc:chgData name="Antle, Rick" userId="c2afbbd2-30e4-4c8e-8af5-81913178ace3" providerId="ADAL" clId="{91B3E290-21CB-48CB-9A23-E45A87A3BF43}" dt="2025-04-20T21:06:26.159" v="369" actId="1035"/>
        <pc:sldMkLst>
          <pc:docMk/>
          <pc:sldMk cId="4114886154" sldId="333"/>
        </pc:sldMkLst>
        <pc:spChg chg="mod">
          <ac:chgData name="Antle, Rick" userId="c2afbbd2-30e4-4c8e-8af5-81913178ace3" providerId="ADAL" clId="{91B3E290-21CB-48CB-9A23-E45A87A3BF43}" dt="2025-04-20T21:06:26.159" v="369" actId="1035"/>
          <ac:spMkLst>
            <pc:docMk/>
            <pc:sldMk cId="4114886154" sldId="333"/>
            <ac:spMk id="6" creationId="{00000000-0000-0000-0000-000000000000}"/>
          </ac:spMkLst>
        </pc:spChg>
        <pc:graphicFrameChg chg="mod modGraphic">
          <ac:chgData name="Antle, Rick" userId="c2afbbd2-30e4-4c8e-8af5-81913178ace3" providerId="ADAL" clId="{91B3E290-21CB-48CB-9A23-E45A87A3BF43}" dt="2025-04-20T21:06:26.159" v="369" actId="1035"/>
          <ac:graphicFrameMkLst>
            <pc:docMk/>
            <pc:sldMk cId="4114886154" sldId="333"/>
            <ac:graphicFrameMk id="3" creationId="{00000000-0000-0000-0000-000000000000}"/>
          </ac:graphicFrameMkLst>
        </pc:graphicFrameChg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796025726" sldId="334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845572631" sldId="335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610855499" sldId="336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450416612" sldId="337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950392210" sldId="338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710670430" sldId="339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3605543480" sldId="340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347182575" sldId="341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621777905" sldId="342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3799449927" sldId="343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257127461" sldId="344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4199626407" sldId="345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2368379820" sldId="346"/>
        </pc:sldMkLst>
      </pc:sldChg>
      <pc:sldChg chg="add">
        <pc:chgData name="Antle, Rick" userId="c2afbbd2-30e4-4c8e-8af5-81913178ace3" providerId="ADAL" clId="{91B3E290-21CB-48CB-9A23-E45A87A3BF43}" dt="2025-04-20T21:14:47.840" v="372"/>
        <pc:sldMkLst>
          <pc:docMk/>
          <pc:sldMk cId="1486566522" sldId="34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0988" y="4528986"/>
            <a:ext cx="537881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fld id="{89C41DDB-7C3B-0249-847C-AD2960C917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895" y="1597819"/>
            <a:ext cx="8796649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ACCT270</a:t>
            </a:r>
            <a:br>
              <a:rPr lang="en-US" dirty="0"/>
            </a:br>
            <a:r>
              <a:rPr lang="en-US" dirty="0"/>
              <a:t>Foundations of Accounting &amp; 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629" y="2914650"/>
            <a:ext cx="8569450" cy="1314450"/>
          </a:xfrm>
        </p:spPr>
        <p:txBody>
          <a:bodyPr>
            <a:normAutofit/>
          </a:bodyPr>
          <a:lstStyle/>
          <a:p>
            <a:r>
              <a:rPr lang="en-US" dirty="0"/>
              <a:t>Session 25: Accounting &amp; Uncertainty: More Adjustments</a:t>
            </a:r>
          </a:p>
        </p:txBody>
      </p:sp>
    </p:spTree>
    <p:extLst>
      <p:ext uri="{BB962C8B-B14F-4D97-AF65-F5344CB8AC3E}">
        <p14:creationId xmlns:p14="http://schemas.microsoft.com/office/powerpoint/2010/main" val="117384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85F6-B490-4EA3-B5FB-15098EB8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7DF4-1AD1-48C2-A519-85A04610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Accounting starts by recording transactions.</a:t>
            </a:r>
          </a:p>
          <a:p>
            <a:r>
              <a:rPr lang="en-US" dirty="0"/>
              <a:t>Tracking values and value flows (i.e., accrual accounting) requires more than keeping a record of transactions.</a:t>
            </a:r>
          </a:p>
          <a:p>
            <a:r>
              <a:rPr lang="en-US" dirty="0"/>
              <a:t>The entries that augment the basic record of transactions are called “Adjustments.”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130CD-EF4D-417F-BD6B-2FC3B7E5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4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868A-718F-4D45-BBC8-2D8BCC56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1B8B-9A94-4D2F-9651-6A9A8DDF0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adjustments that we have covered to this point in the course are aimed at two targets:</a:t>
            </a:r>
          </a:p>
          <a:p>
            <a:pPr lvl="1"/>
            <a:r>
              <a:rPr lang="en-US" dirty="0"/>
              <a:t>Keeping up with the passage of time</a:t>
            </a:r>
          </a:p>
          <a:p>
            <a:pPr lvl="2"/>
            <a:r>
              <a:rPr lang="en-US" dirty="0"/>
              <a:t>Examples: Expiration of prepaid rent, expiration of prepaid insurance, interest accrual on liabilities, depreciation of fixed assets, amortization of intangible assets.</a:t>
            </a:r>
          </a:p>
          <a:p>
            <a:pPr lvl="1"/>
            <a:r>
              <a:rPr lang="en-US" dirty="0"/>
              <a:t>Recording implicit transactions</a:t>
            </a:r>
          </a:p>
          <a:p>
            <a:pPr lvl="2"/>
            <a:r>
              <a:rPr lang="en-US" dirty="0"/>
              <a:t>Example: Recognizing liabilities for wages earned but not paid, cost of goods sold if not recorded continuously.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B10C1-FD49-484F-B5EA-603D6279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2226-807C-4066-A3C9-3C115620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Either Way, It’s Like This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1C8C9-11ED-457B-9564-275950D4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4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739FA2-F533-4CD8-8BF3-E8F695A34AD7}"/>
              </a:ext>
            </a:extLst>
          </p:cNvPr>
          <p:cNvGrpSpPr/>
          <p:nvPr/>
        </p:nvGrpSpPr>
        <p:grpSpPr>
          <a:xfrm>
            <a:off x="2659819" y="1381446"/>
            <a:ext cx="3817181" cy="2671466"/>
            <a:chOff x="2659819" y="1381446"/>
            <a:chExt cx="3817181" cy="26714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F02E28-48C1-495D-B596-82CCC9859AB7}"/>
                </a:ext>
              </a:extLst>
            </p:cNvPr>
            <p:cNvSpPr txBox="1"/>
            <p:nvPr/>
          </p:nvSpPr>
          <p:spPr>
            <a:xfrm>
              <a:off x="3598368" y="1381446"/>
              <a:ext cx="19472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Asset Account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AEC5FA-D357-41D4-A42D-B89C9B289C20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D9AB86-0E18-4B47-866E-61730D935FEC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D5736BC-A2DF-40BF-ACEE-6939A0365B3C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E771204-332B-40D2-8C08-B6255E4D7333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74D2078C-2C67-4E31-A378-26975DC666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535ECB90-217D-40C0-982A-68AEA63F0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CEF8133-E63F-4828-A894-10681B59BB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636F064-2F7E-4FBA-BDCA-EB8E44E5E2BA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F82C627-5AFE-4347-B178-2181464DACDF}"/>
              </a:ext>
            </a:extLst>
          </p:cNvPr>
          <p:cNvSpPr txBox="1"/>
          <p:nvPr/>
        </p:nvSpPr>
        <p:spPr>
          <a:xfrm>
            <a:off x="2775409" y="2479543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CBC92-463E-4EEE-8B7A-F004AA5693F6}"/>
              </a:ext>
            </a:extLst>
          </p:cNvPr>
          <p:cNvSpPr txBox="1"/>
          <p:nvPr/>
        </p:nvSpPr>
        <p:spPr>
          <a:xfrm>
            <a:off x="4742448" y="2479543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7B8CA9-F5AD-45F9-B9F3-47F242C1AEF8}"/>
              </a:ext>
            </a:extLst>
          </p:cNvPr>
          <p:cNvSpPr/>
          <p:nvPr/>
        </p:nvSpPr>
        <p:spPr>
          <a:xfrm>
            <a:off x="2590800" y="2266980"/>
            <a:ext cx="4191000" cy="1142966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4BB554-53C8-4C4B-9996-5748FC3A77C4}"/>
              </a:ext>
            </a:extLst>
          </p:cNvPr>
          <p:cNvCxnSpPr>
            <a:cxnSpLocks/>
            <a:endCxn id="22" idx="7"/>
          </p:cNvCxnSpPr>
          <p:nvPr/>
        </p:nvCxnSpPr>
        <p:spPr>
          <a:xfrm flipH="1">
            <a:off x="6168042" y="1851553"/>
            <a:ext cx="1223358" cy="58281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1AF33F-472C-473C-9AC4-0397509BFF3F}"/>
              </a:ext>
            </a:extLst>
          </p:cNvPr>
          <p:cNvSpPr txBox="1"/>
          <p:nvPr/>
        </p:nvSpPr>
        <p:spPr>
          <a:xfrm>
            <a:off x="7478064" y="1528387"/>
            <a:ext cx="1303114" cy="646331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Did we miss</a:t>
            </a:r>
          </a:p>
          <a:p>
            <a:r>
              <a:rPr lang="en-US" dirty="0"/>
              <a:t>something?</a:t>
            </a:r>
          </a:p>
        </p:txBody>
      </p:sp>
    </p:spTree>
    <p:extLst>
      <p:ext uri="{BB962C8B-B14F-4D97-AF65-F5344CB8AC3E}">
        <p14:creationId xmlns:p14="http://schemas.microsoft.com/office/powerpoint/2010/main" val="75388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Prepaid Rent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81446"/>
            <a:ext cx="3817181" cy="2671466"/>
            <a:chOff x="2659819" y="1381446"/>
            <a:chExt cx="3817181" cy="26714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3598368" y="1381446"/>
              <a:ext cx="1947264" cy="46166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US" sz="2400" dirty="0"/>
                <a:t>Prepaid Rent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856954" y="256083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768051" y="2152862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E0B5A-E473-4370-9130-86852BB18BC4}"/>
              </a:ext>
            </a:extLst>
          </p:cNvPr>
          <p:cNvSpPr txBox="1"/>
          <p:nvPr/>
        </p:nvSpPr>
        <p:spPr>
          <a:xfrm>
            <a:off x="4816817" y="2719107"/>
            <a:ext cx="17551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Expirations thru</a:t>
            </a:r>
          </a:p>
          <a:p>
            <a:pPr algn="ctr"/>
            <a:r>
              <a:rPr lang="en-US" dirty="0"/>
              <a:t>passage of time:</a:t>
            </a:r>
          </a:p>
          <a:p>
            <a:pPr algn="ctr"/>
            <a:r>
              <a:rPr lang="en-US" b="1" dirty="0"/>
              <a:t>Rent Expense</a:t>
            </a:r>
          </a:p>
        </p:txBody>
      </p:sp>
    </p:spTree>
    <p:extLst>
      <p:ext uri="{BB962C8B-B14F-4D97-AF65-F5344CB8AC3E}">
        <p14:creationId xmlns:p14="http://schemas.microsoft.com/office/powerpoint/2010/main" val="92802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Prepaid Insurance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74487"/>
            <a:ext cx="3817181" cy="2678425"/>
            <a:chOff x="2659819" y="1374487"/>
            <a:chExt cx="3817181" cy="26784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3323184" y="1374487"/>
              <a:ext cx="24976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Prepaid Insurance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856954" y="256083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680579" y="2168277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E0B5A-E473-4370-9130-86852BB18BC4}"/>
              </a:ext>
            </a:extLst>
          </p:cNvPr>
          <p:cNvSpPr txBox="1"/>
          <p:nvPr/>
        </p:nvSpPr>
        <p:spPr>
          <a:xfrm>
            <a:off x="4697374" y="2692266"/>
            <a:ext cx="1949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Expirations thru</a:t>
            </a:r>
          </a:p>
          <a:p>
            <a:pPr algn="ctr"/>
            <a:r>
              <a:rPr lang="en-US" dirty="0"/>
              <a:t>passage of time:</a:t>
            </a:r>
          </a:p>
          <a:p>
            <a:pPr algn="ctr"/>
            <a:r>
              <a:rPr lang="en-US" b="1" dirty="0"/>
              <a:t>Insurance Expense</a:t>
            </a:r>
          </a:p>
        </p:txBody>
      </p:sp>
    </p:spTree>
    <p:extLst>
      <p:ext uri="{BB962C8B-B14F-4D97-AF65-F5344CB8AC3E}">
        <p14:creationId xmlns:p14="http://schemas.microsoft.com/office/powerpoint/2010/main" val="2016256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Property, Plant &amp; Equipment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67527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Property, Plant &amp; Equipment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856954" y="256083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751256" y="2072933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E2A917-D86B-44DA-90D3-3AEE9A42D7AE}"/>
              </a:ext>
            </a:extLst>
          </p:cNvPr>
          <p:cNvSpPr txBox="1"/>
          <p:nvPr/>
        </p:nvSpPr>
        <p:spPr>
          <a:xfrm>
            <a:off x="4746714" y="2676862"/>
            <a:ext cx="2263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Expirations thru passage of time:</a:t>
            </a:r>
          </a:p>
          <a:p>
            <a:pPr algn="ctr"/>
            <a:r>
              <a:rPr lang="en-US" b="1" dirty="0"/>
              <a:t>Depreciation Expense</a:t>
            </a:r>
          </a:p>
        </p:txBody>
      </p:sp>
    </p:spTree>
    <p:extLst>
      <p:ext uri="{BB962C8B-B14F-4D97-AF65-F5344CB8AC3E}">
        <p14:creationId xmlns:p14="http://schemas.microsoft.com/office/powerpoint/2010/main" val="223012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Wait: We Used a Contra Account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660606" y="1352550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Property, Plant &amp; Equipment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857741" y="2545861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2768838" y="2284851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E0B5A-E473-4370-9130-86852BB18BC4}"/>
              </a:ext>
            </a:extLst>
          </p:cNvPr>
          <p:cNvSpPr txBox="1"/>
          <p:nvPr/>
        </p:nvSpPr>
        <p:spPr>
          <a:xfrm>
            <a:off x="6975623" y="2287666"/>
            <a:ext cx="182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Expirations thru passage of time:</a:t>
            </a:r>
          </a:p>
          <a:p>
            <a:pPr algn="ctr"/>
            <a:r>
              <a:rPr lang="en-US" b="1" dirty="0"/>
              <a:t>Depreciation Expense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F7E35-BEF8-473E-8B78-9818EC4F3DB2}"/>
              </a:ext>
            </a:extLst>
          </p:cNvPr>
          <p:cNvSpPr txBox="1"/>
          <p:nvPr/>
        </p:nvSpPr>
        <p:spPr>
          <a:xfrm>
            <a:off x="5005328" y="1352550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Accumulated Depreciation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1B0925-E87E-4581-8405-4E77A2D4F78C}"/>
              </a:ext>
            </a:extLst>
          </p:cNvPr>
          <p:cNvSpPr txBox="1"/>
          <p:nvPr/>
        </p:nvSpPr>
        <p:spPr>
          <a:xfrm>
            <a:off x="6963393" y="1929540"/>
            <a:ext cx="1901483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dirty="0"/>
              <a:t>Beginning Balance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44E36D-BE6D-44A7-BECF-62224D405205}"/>
              </a:ext>
            </a:extLst>
          </p:cNvPr>
          <p:cNvSpPr txBox="1"/>
          <p:nvPr/>
        </p:nvSpPr>
        <p:spPr>
          <a:xfrm>
            <a:off x="7032805" y="3611093"/>
            <a:ext cx="1611339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dirty="0"/>
              <a:t>Ending Balance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DBF5C8-39C1-4627-B3A2-EA57482D045D}"/>
              </a:ext>
            </a:extLst>
          </p:cNvPr>
          <p:cNvGrpSpPr/>
          <p:nvPr/>
        </p:nvGrpSpPr>
        <p:grpSpPr>
          <a:xfrm>
            <a:off x="4977926" y="1828135"/>
            <a:ext cx="3810000" cy="2209800"/>
            <a:chOff x="2667000" y="1581150"/>
            <a:chExt cx="3810000" cy="22098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A21E985-6716-4AF2-8D52-728FF83739CC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00" y="1581150"/>
              <a:ext cx="38100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CD311BE-DFC2-4F91-BDA8-7E8258494924}"/>
                </a:ext>
              </a:extLst>
            </p:cNvPr>
            <p:cNvCxnSpPr>
              <a:cxnSpLocks/>
            </p:cNvCxnSpPr>
            <p:nvPr/>
          </p:nvCxnSpPr>
          <p:spPr>
            <a:xfrm>
              <a:off x="4578096" y="1581150"/>
              <a:ext cx="0" cy="22098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0D718B-3560-428D-B9CD-584A47421C65}"/>
              </a:ext>
            </a:extLst>
          </p:cNvPr>
          <p:cNvCxnSpPr>
            <a:cxnSpLocks/>
          </p:cNvCxnSpPr>
          <p:nvPr/>
        </p:nvCxnSpPr>
        <p:spPr>
          <a:xfrm>
            <a:off x="4977926" y="3547373"/>
            <a:ext cx="381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B4A5C-F65F-4721-82A5-35B6E3372838}"/>
              </a:ext>
            </a:extLst>
          </p:cNvPr>
          <p:cNvCxnSpPr/>
          <p:nvPr/>
        </p:nvCxnSpPr>
        <p:spPr>
          <a:xfrm>
            <a:off x="6885974" y="4004408"/>
            <a:ext cx="1905000" cy="0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5EC81B-511F-4180-8F22-0156886CB79A}"/>
              </a:ext>
            </a:extLst>
          </p:cNvPr>
          <p:cNvSpPr txBox="1"/>
          <p:nvPr/>
        </p:nvSpPr>
        <p:spPr>
          <a:xfrm>
            <a:off x="5012858" y="2287051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219295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Patents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67527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Patents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856954" y="256083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751256" y="2072933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E2A917-D86B-44DA-90D3-3AEE9A42D7AE}"/>
              </a:ext>
            </a:extLst>
          </p:cNvPr>
          <p:cNvSpPr txBox="1"/>
          <p:nvPr/>
        </p:nvSpPr>
        <p:spPr>
          <a:xfrm>
            <a:off x="4746714" y="2676862"/>
            <a:ext cx="2263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Expirations thru passage of time:</a:t>
            </a:r>
          </a:p>
          <a:p>
            <a:pPr algn="ctr"/>
            <a:r>
              <a:rPr lang="en-US" b="1" dirty="0"/>
              <a:t>Amortization Expense</a:t>
            </a:r>
          </a:p>
        </p:txBody>
      </p:sp>
    </p:spTree>
    <p:extLst>
      <p:ext uri="{BB962C8B-B14F-4D97-AF65-F5344CB8AC3E}">
        <p14:creationId xmlns:p14="http://schemas.microsoft.com/office/powerpoint/2010/main" val="367287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About a Contra Account?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660606" y="1352550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Patents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857741" y="2545861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2768838" y="2284851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E0B5A-E473-4370-9130-86852BB18BC4}"/>
              </a:ext>
            </a:extLst>
          </p:cNvPr>
          <p:cNvSpPr txBox="1"/>
          <p:nvPr/>
        </p:nvSpPr>
        <p:spPr>
          <a:xfrm>
            <a:off x="6975623" y="2287666"/>
            <a:ext cx="182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Expirations thru passage of time:</a:t>
            </a:r>
          </a:p>
          <a:p>
            <a:pPr algn="ctr"/>
            <a:r>
              <a:rPr lang="en-US" b="1" dirty="0"/>
              <a:t>Amortization Expense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F7E35-BEF8-473E-8B78-9818EC4F3DB2}"/>
              </a:ext>
            </a:extLst>
          </p:cNvPr>
          <p:cNvSpPr txBox="1"/>
          <p:nvPr/>
        </p:nvSpPr>
        <p:spPr>
          <a:xfrm>
            <a:off x="5005328" y="1352550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Accumulated Amortization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1B0925-E87E-4581-8405-4E77A2D4F78C}"/>
              </a:ext>
            </a:extLst>
          </p:cNvPr>
          <p:cNvSpPr txBox="1"/>
          <p:nvPr/>
        </p:nvSpPr>
        <p:spPr>
          <a:xfrm>
            <a:off x="6963393" y="1929540"/>
            <a:ext cx="1901483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dirty="0"/>
              <a:t>Beginning Balance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44E36D-BE6D-44A7-BECF-62224D405205}"/>
              </a:ext>
            </a:extLst>
          </p:cNvPr>
          <p:cNvSpPr txBox="1"/>
          <p:nvPr/>
        </p:nvSpPr>
        <p:spPr>
          <a:xfrm>
            <a:off x="7032805" y="3611093"/>
            <a:ext cx="1611339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dirty="0"/>
              <a:t>Ending Balance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DBF5C8-39C1-4627-B3A2-EA57482D045D}"/>
              </a:ext>
            </a:extLst>
          </p:cNvPr>
          <p:cNvGrpSpPr/>
          <p:nvPr/>
        </p:nvGrpSpPr>
        <p:grpSpPr>
          <a:xfrm>
            <a:off x="4977926" y="1828135"/>
            <a:ext cx="3810000" cy="2209800"/>
            <a:chOff x="2667000" y="1581150"/>
            <a:chExt cx="3810000" cy="22098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A21E985-6716-4AF2-8D52-728FF83739CC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00" y="1581150"/>
              <a:ext cx="38100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CD311BE-DFC2-4F91-BDA8-7E8258494924}"/>
                </a:ext>
              </a:extLst>
            </p:cNvPr>
            <p:cNvCxnSpPr>
              <a:cxnSpLocks/>
            </p:cNvCxnSpPr>
            <p:nvPr/>
          </p:nvCxnSpPr>
          <p:spPr>
            <a:xfrm>
              <a:off x="4578096" y="1581150"/>
              <a:ext cx="0" cy="22098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0D718B-3560-428D-B9CD-584A47421C65}"/>
              </a:ext>
            </a:extLst>
          </p:cNvPr>
          <p:cNvCxnSpPr>
            <a:cxnSpLocks/>
          </p:cNvCxnSpPr>
          <p:nvPr/>
        </p:nvCxnSpPr>
        <p:spPr>
          <a:xfrm>
            <a:off x="4977926" y="3547373"/>
            <a:ext cx="381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B4A5C-F65F-4721-82A5-35B6E3372838}"/>
              </a:ext>
            </a:extLst>
          </p:cNvPr>
          <p:cNvCxnSpPr/>
          <p:nvPr/>
        </p:nvCxnSpPr>
        <p:spPr>
          <a:xfrm>
            <a:off x="6885974" y="4004408"/>
            <a:ext cx="1905000" cy="0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5EC81B-511F-4180-8F22-0156886CB79A}"/>
              </a:ext>
            </a:extLst>
          </p:cNvPr>
          <p:cNvSpPr txBox="1"/>
          <p:nvPr/>
        </p:nvSpPr>
        <p:spPr>
          <a:xfrm>
            <a:off x="5012858" y="2287051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07E61-A502-430F-A403-BBCBD32ACCAA}"/>
              </a:ext>
            </a:extLst>
          </p:cNvPr>
          <p:cNvSpPr txBox="1"/>
          <p:nvPr/>
        </p:nvSpPr>
        <p:spPr>
          <a:xfrm>
            <a:off x="2988714" y="4179683"/>
            <a:ext cx="3166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Ok, you can do that if you want.</a:t>
            </a:r>
          </a:p>
        </p:txBody>
      </p:sp>
    </p:spTree>
    <p:extLst>
      <p:ext uri="{BB962C8B-B14F-4D97-AF65-F5344CB8AC3E}">
        <p14:creationId xmlns:p14="http://schemas.microsoft.com/office/powerpoint/2010/main" val="4063399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97C3-984A-4D28-B19C-E6E0343D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Tesla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F2F51-66F6-461A-99E4-1C578D48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7BB27-6B40-4C76-9787-0906E274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9" y="895350"/>
            <a:ext cx="8745001" cy="356724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5092222-EA5D-4B31-AF29-7398B6E786E9}"/>
              </a:ext>
            </a:extLst>
          </p:cNvPr>
          <p:cNvSpPr/>
          <p:nvPr/>
        </p:nvSpPr>
        <p:spPr>
          <a:xfrm>
            <a:off x="199499" y="3181350"/>
            <a:ext cx="1400701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94AD7E-33B8-4E38-8188-0DFE58B28857}"/>
              </a:ext>
            </a:extLst>
          </p:cNvPr>
          <p:cNvSpPr/>
          <p:nvPr/>
        </p:nvSpPr>
        <p:spPr>
          <a:xfrm>
            <a:off x="8229601" y="3257550"/>
            <a:ext cx="685800" cy="3048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2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97C3-984A-4D28-B19C-E6E0343D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Tesla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F2F51-66F6-461A-99E4-1C578D48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B2148-52A3-4207-A667-98AE73F0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047750"/>
            <a:ext cx="4800600" cy="351912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5154A22-F7DA-4D25-A49B-2CB49EF581BE}"/>
              </a:ext>
            </a:extLst>
          </p:cNvPr>
          <p:cNvSpPr/>
          <p:nvPr/>
        </p:nvSpPr>
        <p:spPr>
          <a:xfrm>
            <a:off x="6248399" y="4248150"/>
            <a:ext cx="723901" cy="31872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A4F261-25C4-43A2-9DBF-0BCA8DC67E57}"/>
              </a:ext>
            </a:extLst>
          </p:cNvPr>
          <p:cNvSpPr/>
          <p:nvPr/>
        </p:nvSpPr>
        <p:spPr>
          <a:xfrm>
            <a:off x="4191000" y="1614678"/>
            <a:ext cx="1520953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4C8523-7FDC-469E-87BD-1D6078ED5BA1}"/>
              </a:ext>
            </a:extLst>
          </p:cNvPr>
          <p:cNvSpPr/>
          <p:nvPr/>
        </p:nvSpPr>
        <p:spPr>
          <a:xfrm>
            <a:off x="4267201" y="4248149"/>
            <a:ext cx="1461516" cy="31872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1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Goodwill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67527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Goodwill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856954" y="256083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751256" y="2072933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E2A917-D86B-44DA-90D3-3AEE9A42D7AE}"/>
              </a:ext>
            </a:extLst>
          </p:cNvPr>
          <p:cNvSpPr txBox="1"/>
          <p:nvPr/>
        </p:nvSpPr>
        <p:spPr>
          <a:xfrm>
            <a:off x="4746714" y="2676862"/>
            <a:ext cx="2263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Expirations thru passage of time:</a:t>
            </a:r>
          </a:p>
          <a:p>
            <a:pPr algn="ctr"/>
            <a:r>
              <a:rPr lang="en-US" b="1" dirty="0"/>
              <a:t>Amortization Expense</a:t>
            </a: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37A5A08C-F017-49F0-85C7-0BCEF3B85290}"/>
              </a:ext>
            </a:extLst>
          </p:cNvPr>
          <p:cNvSpPr/>
          <p:nvPr/>
        </p:nvSpPr>
        <p:spPr>
          <a:xfrm>
            <a:off x="4386748" y="2339136"/>
            <a:ext cx="2302201" cy="1952288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7542A4-D63F-4E70-83C5-CE27B5687C1A}"/>
              </a:ext>
            </a:extLst>
          </p:cNvPr>
          <p:cNvSpPr txBox="1"/>
          <p:nvPr/>
        </p:nvSpPr>
        <p:spPr>
          <a:xfrm>
            <a:off x="7086600" y="2647951"/>
            <a:ext cx="1981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 in the U.S. for</a:t>
            </a:r>
          </a:p>
          <a:p>
            <a:r>
              <a:rPr lang="en-US" sz="1600" dirty="0"/>
              <a:t>fiscal years beginning</a:t>
            </a:r>
          </a:p>
          <a:p>
            <a:r>
              <a:rPr lang="en-US" sz="1600" dirty="0"/>
              <a:t>after December 25,</a:t>
            </a:r>
          </a:p>
          <a:p>
            <a:r>
              <a:rPr lang="en-US" sz="1600" dirty="0"/>
              <a:t>2001. (FAS 142.) Goodwill is seen as not having a finite life.</a:t>
            </a:r>
          </a:p>
        </p:txBody>
      </p:sp>
    </p:spTree>
    <p:extLst>
      <p:ext uri="{BB962C8B-B14F-4D97-AF65-F5344CB8AC3E}">
        <p14:creationId xmlns:p14="http://schemas.microsoft.com/office/powerpoint/2010/main" val="127099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868A-718F-4D45-BBC8-2D8BCC56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1B8B-9A94-4D2F-9651-6A9A8DDF0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adjustments we will talk about now are different, because they use </a:t>
            </a:r>
            <a:r>
              <a:rPr lang="en-US" b="1" i="1" dirty="0"/>
              <a:t>information beyond that in transactions and the passage of time </a:t>
            </a:r>
            <a:r>
              <a:rPr lang="en-US" dirty="0"/>
              <a:t>to:</a:t>
            </a:r>
          </a:p>
          <a:p>
            <a:pPr lvl="1"/>
            <a:r>
              <a:rPr lang="en-US" dirty="0"/>
              <a:t>Decide whether an adjustment should be made (i.e., whether to recognize the implications of this information)</a:t>
            </a:r>
          </a:p>
          <a:p>
            <a:pPr lvl="1"/>
            <a:r>
              <a:rPr lang="en-US" dirty="0"/>
              <a:t>If an adjust is to be made, what the amount of the it should be.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B10C1-FD49-484F-B5EA-603D6279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83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2226-807C-4066-A3C9-3C115620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Like This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1C8C9-11ED-457B-9564-275950D4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15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739FA2-F533-4CD8-8BF3-E8F695A34AD7}"/>
              </a:ext>
            </a:extLst>
          </p:cNvPr>
          <p:cNvGrpSpPr/>
          <p:nvPr/>
        </p:nvGrpSpPr>
        <p:grpSpPr>
          <a:xfrm>
            <a:off x="2659819" y="1381446"/>
            <a:ext cx="3817181" cy="2671466"/>
            <a:chOff x="2659819" y="1381446"/>
            <a:chExt cx="3817181" cy="26714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F02E28-48C1-495D-B596-82CCC9859AB7}"/>
                </a:ext>
              </a:extLst>
            </p:cNvPr>
            <p:cNvSpPr txBox="1"/>
            <p:nvPr/>
          </p:nvSpPr>
          <p:spPr>
            <a:xfrm>
              <a:off x="3598368" y="1381446"/>
              <a:ext cx="19472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Asset Account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AEC5FA-D357-41D4-A42D-B89C9B289C20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D9AB86-0E18-4B47-866E-61730D935FEC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D5736BC-A2DF-40BF-ACEE-6939A0365B3C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E771204-332B-40D2-8C08-B6255E4D7333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74D2078C-2C67-4E31-A378-26975DC666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535ECB90-217D-40C0-982A-68AEA63F0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CEF8133-E63F-4828-A894-10681B59BB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636F064-2F7E-4FBA-BDCA-EB8E44E5E2BA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F82C627-5AFE-4347-B178-2181464DACDF}"/>
              </a:ext>
            </a:extLst>
          </p:cNvPr>
          <p:cNvSpPr txBox="1"/>
          <p:nvPr/>
        </p:nvSpPr>
        <p:spPr>
          <a:xfrm>
            <a:off x="2775409" y="2479543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CBC92-463E-4EEE-8B7A-F004AA5693F6}"/>
              </a:ext>
            </a:extLst>
          </p:cNvPr>
          <p:cNvSpPr txBox="1"/>
          <p:nvPr/>
        </p:nvSpPr>
        <p:spPr>
          <a:xfrm>
            <a:off x="4742448" y="2479543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2C8E0A-5B16-4E29-ADB8-64ACA8B54FA6}"/>
              </a:ext>
            </a:extLst>
          </p:cNvPr>
          <p:cNvGrpSpPr/>
          <p:nvPr/>
        </p:nvGrpSpPr>
        <p:grpSpPr>
          <a:xfrm>
            <a:off x="246730" y="2072260"/>
            <a:ext cx="4249067" cy="2099691"/>
            <a:chOff x="246730" y="2072260"/>
            <a:chExt cx="4249067" cy="20996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7B8CA9-F5AD-45F9-B9F3-47F242C1AEF8}"/>
                </a:ext>
              </a:extLst>
            </p:cNvPr>
            <p:cNvSpPr/>
            <p:nvPr/>
          </p:nvSpPr>
          <p:spPr>
            <a:xfrm>
              <a:off x="2679193" y="3486151"/>
              <a:ext cx="1816604" cy="6858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74BB554-53C8-4C4B-9996-5748FC3A77C4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2008094" y="3615596"/>
              <a:ext cx="671099" cy="213455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C1AF33F-472C-473C-9AC4-0397509BFF3F}"/>
                </a:ext>
              </a:extLst>
            </p:cNvPr>
            <p:cNvSpPr txBox="1"/>
            <p:nvPr/>
          </p:nvSpPr>
          <p:spPr>
            <a:xfrm>
              <a:off x="246730" y="2072260"/>
              <a:ext cx="2446504" cy="1477328"/>
            </a:xfrm>
            <a:prstGeom prst="rect">
              <a:avLst/>
            </a:prstGeom>
            <a:noFill/>
            <a:ln w="38100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Given the information</a:t>
              </a:r>
            </a:p>
            <a:p>
              <a:r>
                <a:rPr lang="en-US" dirty="0"/>
                <a:t>we have, are we comfortable reporting this number on the balance sheet?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498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How GAAP for AR Works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Record accounts at amounts owed in </a:t>
            </a:r>
            <a:r>
              <a:rPr lang="en-US" b="1" dirty="0"/>
              <a:t>Accounts Receivable</a:t>
            </a:r>
          </a:p>
          <a:p>
            <a:r>
              <a:rPr lang="en-US" dirty="0"/>
              <a:t>Set up a contra-asset: </a:t>
            </a:r>
            <a:r>
              <a:rPr lang="en-US" b="1" dirty="0"/>
              <a:t>Allowance for doubtful accounts</a:t>
            </a:r>
          </a:p>
          <a:p>
            <a:pPr lvl="1"/>
            <a:r>
              <a:rPr lang="en-US" dirty="0"/>
              <a:t>Write-offs reduce </a:t>
            </a:r>
            <a:r>
              <a:rPr lang="en-US" b="1" dirty="0"/>
              <a:t>Accounts Receivable </a:t>
            </a:r>
            <a:r>
              <a:rPr lang="en-US" dirty="0"/>
              <a:t>and the </a:t>
            </a:r>
            <a:r>
              <a:rPr lang="en-US" b="1" dirty="0"/>
              <a:t>Allowance for Doubtful Accounts</a:t>
            </a:r>
          </a:p>
          <a:p>
            <a:r>
              <a:rPr lang="en-US" dirty="0"/>
              <a:t>Estimated bad debts are treated as an expense: </a:t>
            </a:r>
            <a:r>
              <a:rPr lang="en-US" b="1" dirty="0"/>
              <a:t>Bad Debts Expense</a:t>
            </a:r>
          </a:p>
        </p:txBody>
      </p:sp>
    </p:spTree>
    <p:extLst>
      <p:ext uri="{BB962C8B-B14F-4D97-AF65-F5344CB8AC3E}">
        <p14:creationId xmlns:p14="http://schemas.microsoft.com/office/powerpoint/2010/main" val="970329228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389234" y="1523150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418341" y="1523150"/>
            <a:ext cx="3330399" cy="2416340"/>
            <a:chOff x="1315095" y="1071372"/>
            <a:chExt cx="3330399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315095" y="1071372"/>
              <a:ext cx="3330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Doubtful Accounts</a:t>
              </a:r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of Contra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1811571" y="2499821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6083541" y="249945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Bad Debts Expense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65414C-DDBC-40BD-9506-70E84E0A8897}"/>
              </a:ext>
            </a:extLst>
          </p:cNvPr>
          <p:cNvSpPr txBox="1"/>
          <p:nvPr/>
        </p:nvSpPr>
        <p:spPr>
          <a:xfrm>
            <a:off x="996656" y="3547896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Ending Balance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E293F0-095E-4601-A69F-A302F73FBE09}"/>
              </a:ext>
            </a:extLst>
          </p:cNvPr>
          <p:cNvSpPr txBox="1"/>
          <p:nvPr/>
        </p:nvSpPr>
        <p:spPr>
          <a:xfrm>
            <a:off x="6137904" y="3536338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Ending Balance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4D8C7-BA2A-455A-B0DC-8662458B451E}"/>
              </a:ext>
            </a:extLst>
          </p:cNvPr>
          <p:cNvSpPr txBox="1"/>
          <p:nvPr/>
        </p:nvSpPr>
        <p:spPr>
          <a:xfrm>
            <a:off x="739001" y="1969399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Beginning Balance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E1A50-12F9-4F11-A834-5D941B0DAD8E}"/>
              </a:ext>
            </a:extLst>
          </p:cNvPr>
          <p:cNvSpPr txBox="1"/>
          <p:nvPr/>
        </p:nvSpPr>
        <p:spPr>
          <a:xfrm>
            <a:off x="1340012" y="3204475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Obtained in business acquisitions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FD71C-A9E5-4882-8399-91ED2988717D}"/>
              </a:ext>
            </a:extLst>
          </p:cNvPr>
          <p:cNvSpPr txBox="1"/>
          <p:nvPr/>
        </p:nvSpPr>
        <p:spPr>
          <a:xfrm>
            <a:off x="2872919" y="3197990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 dirty="0"/>
              <a:t>Sold in business dispositions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2E71E-3FE8-44A8-B5DA-DA50F04D2D6B}"/>
              </a:ext>
            </a:extLst>
          </p:cNvPr>
          <p:cNvSpPr txBox="1"/>
          <p:nvPr/>
        </p:nvSpPr>
        <p:spPr>
          <a:xfrm>
            <a:off x="4692203" y="3204475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 dirty="0"/>
              <a:t>Sold in business dispositions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33400-7F9D-4740-AAD5-9A921BCD041F}"/>
              </a:ext>
            </a:extLst>
          </p:cNvPr>
          <p:cNvSpPr txBox="1"/>
          <p:nvPr/>
        </p:nvSpPr>
        <p:spPr>
          <a:xfrm>
            <a:off x="6137904" y="3165765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Obtained in business acquisitions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1742C7-AEEC-4DF7-A9A1-B5E347E0BB43}"/>
              </a:ext>
            </a:extLst>
          </p:cNvPr>
          <p:cNvSpPr txBox="1"/>
          <p:nvPr/>
        </p:nvSpPr>
        <p:spPr>
          <a:xfrm>
            <a:off x="6212960" y="1969399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Beginning Balance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422EAC-71CD-4304-AF9D-51AE183BB7E5}"/>
              </a:ext>
            </a:extLst>
          </p:cNvPr>
          <p:cNvSpPr txBox="1"/>
          <p:nvPr/>
        </p:nvSpPr>
        <p:spPr>
          <a:xfrm>
            <a:off x="2938849" y="2369509"/>
            <a:ext cx="1673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Collections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1792F48-DE9D-4AA4-9893-E78D6C47FAED}"/>
              </a:ext>
            </a:extLst>
          </p:cNvPr>
          <p:cNvGrpSpPr/>
          <p:nvPr/>
        </p:nvGrpSpPr>
        <p:grpSpPr>
          <a:xfrm>
            <a:off x="2860769" y="2742810"/>
            <a:ext cx="3193914" cy="461665"/>
            <a:chOff x="2860769" y="2742810"/>
            <a:chExt cx="3193914" cy="461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807B03-2E67-4E3C-BC61-CB5D14AB6D09}"/>
                </a:ext>
              </a:extLst>
            </p:cNvPr>
            <p:cNvSpPr txBox="1"/>
            <p:nvPr/>
          </p:nvSpPr>
          <p:spPr>
            <a:xfrm>
              <a:off x="2860769" y="2742810"/>
              <a:ext cx="15207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Write-offs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0DA6D8-96A4-4F4A-A109-D4642476A544}"/>
                </a:ext>
              </a:extLst>
            </p:cNvPr>
            <p:cNvSpPr txBox="1"/>
            <p:nvPr/>
          </p:nvSpPr>
          <p:spPr>
            <a:xfrm>
              <a:off x="4533926" y="2742810"/>
              <a:ext cx="15207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Write-offs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31CBC27-CE90-4636-A858-BBA640876DD3}"/>
                </a:ext>
              </a:extLst>
            </p:cNvPr>
            <p:cNvCxnSpPr>
              <a:cxnSpLocks/>
            </p:cNvCxnSpPr>
            <p:nvPr/>
          </p:nvCxnSpPr>
          <p:spPr>
            <a:xfrm>
              <a:off x="4237290" y="2986614"/>
              <a:ext cx="37471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365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/>
      <p:bldP spid="41" grpId="0"/>
      <p:bldP spid="3" grpId="0"/>
      <p:bldP spid="6" grpId="0"/>
      <p:bldP spid="8" grpId="0"/>
      <p:bldP spid="9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1" y="171450"/>
          <a:ext cx="8229601" cy="4272945"/>
        </p:xfrm>
        <a:graphic>
          <a:graphicData uri="http://schemas.openxmlformats.org/drawingml/2006/table">
            <a:tbl>
              <a:tblPr/>
              <a:tblGrid>
                <a:gridCol w="525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09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MGM Mirage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</a:rPr>
                        <a:t> -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Balance Sheet (000s)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December 31, 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2004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2003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ASSETS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Current assets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Cash and cash equivalents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435,128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279,606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Accounts receivable,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204,151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139,475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Inventories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70,333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65,189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Income tax receivable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9,901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Deferred income taxes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28,928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49,286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Prepaid expenses and other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81,662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89,641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Assets held for sale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226,082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Total current assets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820,202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859,180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Property and equipment,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8,914,142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8,681,339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Other assets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Investments in unconsolidated affiliates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842,640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756,012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Goodwill and other intangible assets,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233,335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267,668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Deposits and other assets,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304,710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247,070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Total other assets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1,380,685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1,270,750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11,115,029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10,811,269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A541A3FC-0179-4F04-A631-B9A8CD78C616}"/>
              </a:ext>
            </a:extLst>
          </p:cNvPr>
          <p:cNvSpPr/>
          <p:nvPr/>
        </p:nvSpPr>
        <p:spPr>
          <a:xfrm>
            <a:off x="465363" y="85724"/>
            <a:ext cx="1216479" cy="5878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BA5437-8207-490D-AF32-377997B2F964}"/>
              </a:ext>
            </a:extLst>
          </p:cNvPr>
          <p:cNvSpPr/>
          <p:nvPr/>
        </p:nvSpPr>
        <p:spPr>
          <a:xfrm>
            <a:off x="6022520" y="379639"/>
            <a:ext cx="2582637" cy="7592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56EA1F-8496-49D5-B74F-02415080D6CE}"/>
              </a:ext>
            </a:extLst>
          </p:cNvPr>
          <p:cNvCxnSpPr>
            <a:cxnSpLocks/>
          </p:cNvCxnSpPr>
          <p:nvPr/>
        </p:nvCxnSpPr>
        <p:spPr>
          <a:xfrm>
            <a:off x="685800" y="1265464"/>
            <a:ext cx="1314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629B38-E660-43CD-A99F-44C8380FF274}"/>
              </a:ext>
            </a:extLst>
          </p:cNvPr>
          <p:cNvCxnSpPr>
            <a:cxnSpLocks/>
          </p:cNvCxnSpPr>
          <p:nvPr/>
        </p:nvCxnSpPr>
        <p:spPr>
          <a:xfrm>
            <a:off x="685800" y="1662793"/>
            <a:ext cx="2212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B520E07-1D0C-4766-A34E-FE9734B5AFBA}"/>
              </a:ext>
            </a:extLst>
          </p:cNvPr>
          <p:cNvSpPr/>
          <p:nvPr/>
        </p:nvSpPr>
        <p:spPr>
          <a:xfrm>
            <a:off x="2520043" y="1347107"/>
            <a:ext cx="443593" cy="4531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848FDD-8790-4F69-9FFE-EA4A558D4E29}"/>
              </a:ext>
            </a:extLst>
          </p:cNvPr>
          <p:cNvCxnSpPr>
            <a:cxnSpLocks/>
          </p:cNvCxnSpPr>
          <p:nvPr/>
        </p:nvCxnSpPr>
        <p:spPr>
          <a:xfrm>
            <a:off x="6626681" y="1662793"/>
            <a:ext cx="2212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4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450C6-3837-01AD-15BD-1811CA45D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5" y="1163922"/>
            <a:ext cx="8676167" cy="270640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E94AF58-8CD6-3BAE-5C49-D8F47BC6E08C}"/>
              </a:ext>
            </a:extLst>
          </p:cNvPr>
          <p:cNvSpPr/>
          <p:nvPr/>
        </p:nvSpPr>
        <p:spPr>
          <a:xfrm>
            <a:off x="4212268" y="2485540"/>
            <a:ext cx="962244" cy="4915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8A736C-FB16-85B6-8CA7-9FAC98C99B92}"/>
              </a:ext>
            </a:extLst>
          </p:cNvPr>
          <p:cNvSpPr/>
          <p:nvPr/>
        </p:nvSpPr>
        <p:spPr>
          <a:xfrm>
            <a:off x="8039988" y="2467820"/>
            <a:ext cx="962244" cy="4915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3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5A07-9752-4488-A364-8529E79A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Accounts Receivable, net</a:t>
            </a:r>
          </a:p>
        </p:txBody>
      </p:sp>
      <p:graphicFrame>
        <p:nvGraphicFramePr>
          <p:cNvPr id="4" name="Table 48">
            <a:extLst>
              <a:ext uri="{FF2B5EF4-FFF2-40B4-BE49-F238E27FC236}">
                <a16:creationId xmlns:a16="http://schemas.microsoft.com/office/drawing/2014/main" id="{D2379B18-50B0-4F05-BB9B-FB17EF5A962B}"/>
              </a:ext>
            </a:extLst>
          </p:cNvPr>
          <p:cNvGraphicFramePr>
            <a:graphicFrameLocks noGrp="1"/>
          </p:cNvGraphicFramePr>
          <p:nvPr/>
        </p:nvGraphicFramePr>
        <p:xfrm>
          <a:off x="293914" y="1418713"/>
          <a:ext cx="8582049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479">
                  <a:extLst>
                    <a:ext uri="{9D8B030D-6E8A-4147-A177-3AD203B41FA5}">
                      <a16:colId xmlns:a16="http://schemas.microsoft.com/office/drawing/2014/main" val="2842612377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4244871786"/>
                    </a:ext>
                  </a:extLst>
                </a:gridCol>
                <a:gridCol w="1993470">
                  <a:extLst>
                    <a:ext uri="{9D8B030D-6E8A-4147-A177-3AD203B41FA5}">
                      <a16:colId xmlns:a16="http://schemas.microsoft.com/office/drawing/2014/main" val="2340523134"/>
                    </a:ext>
                  </a:extLst>
                </a:gridCol>
              </a:tblGrid>
              <a:tr h="29782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12/31/2004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12/31/2003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612782"/>
                  </a:ext>
                </a:extLst>
              </a:tr>
              <a:tr h="297820">
                <a:tc>
                  <a:txBody>
                    <a:bodyPr/>
                    <a:lstStyle/>
                    <a:p>
                      <a:r>
                        <a:rPr lang="en-US" sz="2400" dirty="0"/>
                        <a:t>Accounts Receivable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263,911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218,562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5722347"/>
                  </a:ext>
                </a:extLst>
              </a:tr>
              <a:tr h="297820">
                <a:tc>
                  <a:txBody>
                    <a:bodyPr/>
                    <a:lstStyle/>
                    <a:p>
                      <a:r>
                        <a:rPr lang="en-US" sz="2400" dirty="0"/>
                        <a:t>Allowance for Doubtful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(59,760)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(79,087)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881033"/>
                  </a:ext>
                </a:extLst>
              </a:tr>
              <a:tr h="271294">
                <a:tc rowSpan="2">
                  <a:txBody>
                    <a:bodyPr/>
                    <a:lstStyle/>
                    <a:p>
                      <a:r>
                        <a:rPr lang="en-US" sz="2400" b="1" dirty="0"/>
                        <a:t>Accounts Receivable,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204,151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139,475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3063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3848174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452C5466-4751-F185-77CA-8128A43BF2CC}"/>
              </a:ext>
            </a:extLst>
          </p:cNvPr>
          <p:cNvSpPr/>
          <p:nvPr/>
        </p:nvSpPr>
        <p:spPr>
          <a:xfrm>
            <a:off x="5025656" y="2712367"/>
            <a:ext cx="3576923" cy="7063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F6DED-3B51-30F4-39D5-8F0DAD3DB1A1}"/>
              </a:ext>
            </a:extLst>
          </p:cNvPr>
          <p:cNvSpPr txBox="1"/>
          <p:nvPr/>
        </p:nvSpPr>
        <p:spPr>
          <a:xfrm>
            <a:off x="5707913" y="3529409"/>
            <a:ext cx="2426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Balance Sheets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6CCADE-176E-3E1A-839C-FC405197AF45}"/>
              </a:ext>
            </a:extLst>
          </p:cNvPr>
          <p:cNvSpPr/>
          <p:nvPr/>
        </p:nvSpPr>
        <p:spPr>
          <a:xfrm>
            <a:off x="5155674" y="2353340"/>
            <a:ext cx="3392903" cy="5032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32D0A-53D6-4F83-206E-6FB65C325C66}"/>
              </a:ext>
            </a:extLst>
          </p:cNvPr>
          <p:cNvSpPr txBox="1"/>
          <p:nvPr/>
        </p:nvSpPr>
        <p:spPr>
          <a:xfrm>
            <a:off x="3348769" y="1948333"/>
            <a:ext cx="1806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Schedule II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E6D7D3-E4D3-4459-6F01-389705DC43A2}"/>
              </a:ext>
            </a:extLst>
          </p:cNvPr>
          <p:cNvSpPr/>
          <p:nvPr/>
        </p:nvSpPr>
        <p:spPr>
          <a:xfrm>
            <a:off x="5155674" y="1892595"/>
            <a:ext cx="3392903" cy="46074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51B679-9A2E-0FF9-5D12-14F7CAFA67B5}"/>
              </a:ext>
            </a:extLst>
          </p:cNvPr>
          <p:cNvSpPr txBox="1"/>
          <p:nvPr/>
        </p:nvSpPr>
        <p:spPr>
          <a:xfrm>
            <a:off x="5230732" y="895493"/>
            <a:ext cx="3524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Plug (i.e., figure it out)</a:t>
            </a:r>
          </a:p>
        </p:txBody>
      </p:sp>
    </p:spTree>
    <p:extLst>
      <p:ext uri="{BB962C8B-B14F-4D97-AF65-F5344CB8AC3E}">
        <p14:creationId xmlns:p14="http://schemas.microsoft.com/office/powerpoint/2010/main" val="255820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/>
      <p:bldP spid="7" grpId="1"/>
      <p:bldP spid="10" grpId="0" animBg="1"/>
      <p:bldP spid="10" grpId="1" animBg="1"/>
      <p:bldP spid="11" grpId="0"/>
      <p:bldP spid="11" grpId="1"/>
      <p:bldP spid="12" grpId="0" animBg="1"/>
      <p:bldP spid="12" grpId="1" animBg="1"/>
      <p:bldP spid="14" grpId="0"/>
      <p:bldP spid="1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9619" y="205979"/>
            <a:ext cx="9094381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Estimating the Allowance for Doubtful Accounts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Data analysis/judgment</a:t>
            </a:r>
          </a:p>
          <a:p>
            <a:pPr>
              <a:lnSpc>
                <a:spcPct val="90000"/>
              </a:lnSpc>
            </a:pPr>
            <a:r>
              <a:rPr lang="en-US" dirty="0"/>
              <a:t>Account analysis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Aging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Tabulate receivables by how long they have remained uncollected.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The older they are, the more likely they will be uncollectible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Sort by characteristics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Creditworthiness of customer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Past payment history</a:t>
            </a:r>
          </a:p>
          <a:p>
            <a:pPr>
              <a:lnSpc>
                <a:spcPct val="90000"/>
              </a:lnSpc>
            </a:pPr>
            <a:r>
              <a:rPr lang="en-US" dirty="0"/>
              <a:t>Consider other factors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History of past </a:t>
            </a:r>
            <a:r>
              <a:rPr lang="en-US" dirty="0" err="1"/>
              <a:t>uncollectibles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Financial stress in industry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Overall economy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Other?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70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4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4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4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4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4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4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438456" y="1153818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661228" y="1153818"/>
            <a:ext cx="3330399" cy="2416340"/>
            <a:chOff x="1508760" y="1071372"/>
            <a:chExt cx="3330399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508760" y="1071372"/>
              <a:ext cx="3330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Doubtful Accounts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FF4FF5-886F-4F67-A983-EBBCF35E9E3D}"/>
              </a:ext>
            </a:extLst>
          </p:cNvPr>
          <p:cNvCxnSpPr>
            <a:cxnSpLocks/>
          </p:cNvCxnSpPr>
          <p:nvPr/>
        </p:nvCxnSpPr>
        <p:spPr>
          <a:xfrm>
            <a:off x="996003" y="2360951"/>
            <a:ext cx="31534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22BBF-69DC-4AF8-9382-244499237748}"/>
              </a:ext>
            </a:extLst>
          </p:cNvPr>
          <p:cNvCxnSpPr>
            <a:cxnSpLocks/>
          </p:cNvCxnSpPr>
          <p:nvPr/>
        </p:nvCxnSpPr>
        <p:spPr>
          <a:xfrm flipH="1">
            <a:off x="5883349" y="2443397"/>
            <a:ext cx="211306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Account 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76305" y="2130118"/>
            <a:ext cx="1869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Sales</a:t>
            </a:r>
          </a:p>
          <a:p>
            <a:r>
              <a:rPr lang="en-US" sz="2400" b="1" dirty="0"/>
              <a:t>&amp; Collections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7996410" y="1943301"/>
            <a:ext cx="10086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Bad</a:t>
            </a:r>
          </a:p>
          <a:p>
            <a:r>
              <a:rPr lang="en-US" sz="2400" b="1" dirty="0"/>
              <a:t>Debts</a:t>
            </a:r>
          </a:p>
          <a:p>
            <a:r>
              <a:rPr lang="en-US" sz="2400" b="1" dirty="0"/>
              <a:t>Exp.??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B586D-7FD1-4231-8F9E-CAA22C760E77}"/>
              </a:ext>
            </a:extLst>
          </p:cNvPr>
          <p:cNvSpPr txBox="1"/>
          <p:nvPr/>
        </p:nvSpPr>
        <p:spPr>
          <a:xfrm>
            <a:off x="1703816" y="1593733"/>
            <a:ext cx="1194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218,582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95A5E-3D6F-495A-8776-2F449C891D09}"/>
              </a:ext>
            </a:extLst>
          </p:cNvPr>
          <p:cNvSpPr txBox="1"/>
          <p:nvPr/>
        </p:nvSpPr>
        <p:spPr>
          <a:xfrm>
            <a:off x="1464071" y="2108962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4,238,104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E8A32-2586-4FFE-AFE2-BBD6EFE71458}"/>
              </a:ext>
            </a:extLst>
          </p:cNvPr>
          <p:cNvSpPr txBox="1"/>
          <p:nvPr/>
        </p:nvSpPr>
        <p:spPr>
          <a:xfrm>
            <a:off x="5030543" y="2202914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3,629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3936C-0B93-45F2-8A9E-90766F6EF728}"/>
              </a:ext>
            </a:extLst>
          </p:cNvPr>
          <p:cNvSpPr txBox="1"/>
          <p:nvPr/>
        </p:nvSpPr>
        <p:spPr>
          <a:xfrm>
            <a:off x="3101871" y="2568296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15,698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FC3E1-F356-4B51-82F1-016F3D9DEDF0}"/>
              </a:ext>
            </a:extLst>
          </p:cNvPr>
          <p:cNvSpPr txBox="1"/>
          <p:nvPr/>
        </p:nvSpPr>
        <p:spPr>
          <a:xfrm>
            <a:off x="4945241" y="2570627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15,698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203C0-9EC8-4018-A430-2CDAB0839BAB}"/>
              </a:ext>
            </a:extLst>
          </p:cNvPr>
          <p:cNvSpPr txBox="1"/>
          <p:nvPr/>
        </p:nvSpPr>
        <p:spPr>
          <a:xfrm>
            <a:off x="3017105" y="2106631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4,177,057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9724F-26AC-4B29-A1F8-DF1C31B6D47A}"/>
              </a:ext>
            </a:extLst>
          </p:cNvPr>
          <p:cNvSpPr txBox="1"/>
          <p:nvPr/>
        </p:nvSpPr>
        <p:spPr>
          <a:xfrm>
            <a:off x="1696507" y="3143630"/>
            <a:ext cx="1194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263,911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E438D-C8E9-405D-80D2-014EF52905CF}"/>
              </a:ext>
            </a:extLst>
          </p:cNvPr>
          <p:cNvSpPr txBox="1"/>
          <p:nvPr/>
        </p:nvSpPr>
        <p:spPr>
          <a:xfrm>
            <a:off x="6313494" y="3143630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59,760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BC75B-9D29-4061-8F38-0E553EB7A683}"/>
              </a:ext>
            </a:extLst>
          </p:cNvPr>
          <p:cNvSpPr txBox="1"/>
          <p:nvPr/>
        </p:nvSpPr>
        <p:spPr>
          <a:xfrm>
            <a:off x="6438063" y="1636033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79,087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DEE500-9494-40E4-87A1-D184612F1C26}"/>
              </a:ext>
            </a:extLst>
          </p:cNvPr>
          <p:cNvSpPr/>
          <p:nvPr/>
        </p:nvSpPr>
        <p:spPr>
          <a:xfrm>
            <a:off x="1192607" y="2682393"/>
            <a:ext cx="2000520" cy="1568669"/>
          </a:xfrm>
          <a:prstGeom prst="ellipse">
            <a:avLst/>
          </a:prstGeom>
          <a:noFill/>
          <a:ln w="1016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92825F-9428-40F9-A5B7-164CD4604DA2}"/>
              </a:ext>
            </a:extLst>
          </p:cNvPr>
          <p:cNvSpPr/>
          <p:nvPr/>
        </p:nvSpPr>
        <p:spPr>
          <a:xfrm>
            <a:off x="5800167" y="2682393"/>
            <a:ext cx="2000520" cy="1568669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03468C-E220-480B-B70D-1CEC46BB3F2C}"/>
              </a:ext>
            </a:extLst>
          </p:cNvPr>
          <p:cNvCxnSpPr>
            <a:cxnSpLocks/>
          </p:cNvCxnSpPr>
          <p:nvPr/>
        </p:nvCxnSpPr>
        <p:spPr>
          <a:xfrm>
            <a:off x="3321364" y="3453318"/>
            <a:ext cx="238933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843D735-43BE-71F0-C8B3-4516797B9A65}"/>
              </a:ext>
            </a:extLst>
          </p:cNvPr>
          <p:cNvSpPr txBox="1"/>
          <p:nvPr/>
        </p:nvSpPr>
        <p:spPr>
          <a:xfrm>
            <a:off x="4109457" y="2399383"/>
            <a:ext cx="993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Write-</a:t>
            </a:r>
          </a:p>
          <a:p>
            <a:r>
              <a:rPr lang="en-US" sz="2400" b="1" dirty="0"/>
              <a:t>offs</a:t>
            </a:r>
          </a:p>
        </p:txBody>
      </p:sp>
    </p:spTree>
    <p:extLst>
      <p:ext uri="{BB962C8B-B14F-4D97-AF65-F5344CB8AC3E}">
        <p14:creationId xmlns:p14="http://schemas.microsoft.com/office/powerpoint/2010/main" val="152031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" grpId="0"/>
      <p:bldP spid="6" grpId="0"/>
      <p:bldP spid="8" grpId="0"/>
      <p:bldP spid="10" grpId="0"/>
      <p:bldP spid="11" grpId="0"/>
      <p:bldP spid="13" grpId="0"/>
      <p:bldP spid="26" grpId="0"/>
      <p:bldP spid="33" grpId="0" animBg="1"/>
      <p:bldP spid="33" grpId="1" animBg="1"/>
      <p:bldP spid="34" grpId="0" animBg="1"/>
      <p:bldP spid="34" grpId="1" animBg="1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4514850"/>
            <a:ext cx="25146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63168"/>
              </p:ext>
            </p:extLst>
          </p:nvPr>
        </p:nvGraphicFramePr>
        <p:xfrm>
          <a:off x="1093305" y="3592"/>
          <a:ext cx="7391399" cy="5137905"/>
        </p:xfrm>
        <a:graphic>
          <a:graphicData uri="http://schemas.openxmlformats.org/drawingml/2006/table">
            <a:tbl>
              <a:tblPr/>
              <a:tblGrid>
                <a:gridCol w="4006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85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MGM Mirage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Income Statement (000s)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Year Ended December 31,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2004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2003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2002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Revenues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Casino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2,223,965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2,037,514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2,012,840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Rooms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911,259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833,272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796,861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Food and beverage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841,147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757,278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706,153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Entertainment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270,799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255,995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251,488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Retail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184,438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180,935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170,537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Other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240,880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210,772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215,600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4,672,488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4,275,766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4,153,479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Less: Promotional allowances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(434,384)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(413,023)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(396,551)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4,238,104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3,862,743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3,756,928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Expenses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Casino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1,106,142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1,040,948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1,007,968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Rooms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247,387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234,693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211,401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Food and beverage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482,417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436,754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393,166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Entertainment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192,390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183,012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181,403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Retail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118,413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115,123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108,325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Other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146,146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130,698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114,431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Provision for doubtful accounts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(3,629)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12,570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27,675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General and administrative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612,615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583,599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560,909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Corporate expense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77,910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61,541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43,856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Preopening and start-up expenses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10,276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29,266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14,141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Restructuring costs (credit)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5,625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6,597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(17,021)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Property transactions, net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8,665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(18,941)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14,712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Depreciation and amortization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402,545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400,766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381,785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3,406,902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3,216,626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3,042,751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Income from unconsolidated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affil’s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119,658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53,612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32,361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Operating income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950,860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699,729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746,538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61105">
                <a:tc gridSpan="4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NOTE: this</a:t>
                      </a:r>
                      <a:r>
                        <a:rPr lang="en-US" sz="1000" baseline="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 income statement does not stop here – there are other items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931718" y="3091539"/>
            <a:ext cx="5486400" cy="342900"/>
          </a:xfrm>
          <a:prstGeom prst="ellipse">
            <a:avLst/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8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1FA2-5F25-C867-EADD-F1F6728E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Citigroup 2020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D0825-4D39-7153-B352-B82235AB4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Handling forecast errors</a:t>
            </a:r>
          </a:p>
        </p:txBody>
      </p:sp>
    </p:spTree>
    <p:extLst>
      <p:ext uri="{BB962C8B-B14F-4D97-AF65-F5344CB8AC3E}">
        <p14:creationId xmlns:p14="http://schemas.microsoft.com/office/powerpoint/2010/main" val="2943708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13719-0931-4EAC-8C9D-D8B67F46C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32" y="48052"/>
            <a:ext cx="6782937" cy="500645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DCF10A-D429-596A-7669-F60A6287C583}"/>
              </a:ext>
            </a:extLst>
          </p:cNvPr>
          <p:cNvSpPr/>
          <p:nvPr/>
        </p:nvSpPr>
        <p:spPr>
          <a:xfrm>
            <a:off x="1295400" y="3486150"/>
            <a:ext cx="678180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CCBDF7-2A8B-9720-6803-34C10E152D19}"/>
              </a:ext>
            </a:extLst>
          </p:cNvPr>
          <p:cNvSpPr/>
          <p:nvPr/>
        </p:nvSpPr>
        <p:spPr>
          <a:xfrm>
            <a:off x="5867400" y="209550"/>
            <a:ext cx="2057400" cy="685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C14C27-149B-2696-E0C9-6349ACC5329E}"/>
              </a:ext>
            </a:extLst>
          </p:cNvPr>
          <p:cNvCxnSpPr/>
          <p:nvPr/>
        </p:nvCxnSpPr>
        <p:spPr>
          <a:xfrm>
            <a:off x="1447800" y="514350"/>
            <a:ext cx="198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28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13719-0931-4EAC-8C9D-D8B67F46C3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558" b="20814"/>
          <a:stretch/>
        </p:blipFill>
        <p:spPr>
          <a:xfrm>
            <a:off x="99230" y="1310185"/>
            <a:ext cx="8761296" cy="126924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4859B9-E78C-4036-48D0-3C0D7E790E36}"/>
              </a:ext>
            </a:extLst>
          </p:cNvPr>
          <p:cNvSpPr/>
          <p:nvPr/>
        </p:nvSpPr>
        <p:spPr>
          <a:xfrm>
            <a:off x="8064500" y="2171700"/>
            <a:ext cx="609600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0.00247 L -0.12778 -0.004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25710-6C82-26F5-74EA-0CBCD738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67" y="0"/>
            <a:ext cx="5529866" cy="51435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1F086C-989D-4D93-5DA8-BEC55ADEF983}"/>
              </a:ext>
            </a:extLst>
          </p:cNvPr>
          <p:cNvCxnSpPr/>
          <p:nvPr/>
        </p:nvCxnSpPr>
        <p:spPr>
          <a:xfrm>
            <a:off x="1981200" y="361950"/>
            <a:ext cx="198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3F48E9-866C-5839-88E7-F61643B2C777}"/>
              </a:ext>
            </a:extLst>
          </p:cNvPr>
          <p:cNvSpPr/>
          <p:nvPr/>
        </p:nvSpPr>
        <p:spPr>
          <a:xfrm>
            <a:off x="1295400" y="3486150"/>
            <a:ext cx="678180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1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4B235-F6BF-4AE9-65E1-94F91CFA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09" y="1709617"/>
            <a:ext cx="8459381" cy="172426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AC7480-CEEF-5D1E-9D96-BE59142CEFA8}"/>
              </a:ext>
            </a:extLst>
          </p:cNvPr>
          <p:cNvSpPr/>
          <p:nvPr/>
        </p:nvSpPr>
        <p:spPr>
          <a:xfrm>
            <a:off x="304800" y="2952750"/>
            <a:ext cx="853440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63C74-E764-4242-92DE-7E79798C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80" y="174469"/>
            <a:ext cx="7090013" cy="471267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345BB2-2F4D-52A5-6770-898BE6105CDB}"/>
              </a:ext>
            </a:extLst>
          </p:cNvPr>
          <p:cNvSpPr/>
          <p:nvPr/>
        </p:nvSpPr>
        <p:spPr>
          <a:xfrm>
            <a:off x="1143000" y="209550"/>
            <a:ext cx="708660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208E20-9F5A-B2D8-91E1-449AB065736E}"/>
              </a:ext>
            </a:extLst>
          </p:cNvPr>
          <p:cNvSpPr/>
          <p:nvPr/>
        </p:nvSpPr>
        <p:spPr>
          <a:xfrm>
            <a:off x="1143000" y="1428750"/>
            <a:ext cx="7086600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36C306-55CC-1288-41D6-E4A905B11913}"/>
              </a:ext>
            </a:extLst>
          </p:cNvPr>
          <p:cNvCxnSpPr>
            <a:cxnSpLocks/>
          </p:cNvCxnSpPr>
          <p:nvPr/>
        </p:nvCxnSpPr>
        <p:spPr>
          <a:xfrm>
            <a:off x="1447800" y="2952750"/>
            <a:ext cx="655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27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63C74-E764-4242-92DE-7E79798C2A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66" b="40931"/>
          <a:stretch/>
        </p:blipFill>
        <p:spPr>
          <a:xfrm>
            <a:off x="0" y="1801505"/>
            <a:ext cx="9095262" cy="129994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53EE9D-0EDC-DFDB-CE1A-8C4F52874B0A}"/>
              </a:ext>
            </a:extLst>
          </p:cNvPr>
          <p:cNvSpPr/>
          <p:nvPr/>
        </p:nvSpPr>
        <p:spPr>
          <a:xfrm>
            <a:off x="228600" y="2876550"/>
            <a:ext cx="8610600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397E3-0C87-4448-B56A-915D6B2B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48" y="762568"/>
            <a:ext cx="7090707" cy="370025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C9FA2E-6ECF-D370-FEBB-0286D4F41028}"/>
              </a:ext>
            </a:extLst>
          </p:cNvPr>
          <p:cNvCxnSpPr>
            <a:cxnSpLocks/>
          </p:cNvCxnSpPr>
          <p:nvPr/>
        </p:nvCxnSpPr>
        <p:spPr>
          <a:xfrm>
            <a:off x="1905000" y="3181350"/>
            <a:ext cx="579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7EA72D-B82C-9768-6D61-FB89997B1BAF}"/>
              </a:ext>
            </a:extLst>
          </p:cNvPr>
          <p:cNvCxnSpPr>
            <a:cxnSpLocks/>
          </p:cNvCxnSpPr>
          <p:nvPr/>
        </p:nvCxnSpPr>
        <p:spPr>
          <a:xfrm>
            <a:off x="1524000" y="3486150"/>
            <a:ext cx="601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19E4D1-E506-445B-8FBE-8AE533D77CC7}"/>
              </a:ext>
            </a:extLst>
          </p:cNvPr>
          <p:cNvCxnSpPr>
            <a:cxnSpLocks/>
          </p:cNvCxnSpPr>
          <p:nvPr/>
        </p:nvCxnSpPr>
        <p:spPr>
          <a:xfrm>
            <a:off x="1524000" y="3790950"/>
            <a:ext cx="601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7418CB-3867-A04F-E464-EDC51D76607B}"/>
              </a:ext>
            </a:extLst>
          </p:cNvPr>
          <p:cNvCxnSpPr>
            <a:cxnSpLocks/>
          </p:cNvCxnSpPr>
          <p:nvPr/>
        </p:nvCxnSpPr>
        <p:spPr>
          <a:xfrm>
            <a:off x="1524000" y="4095750"/>
            <a:ext cx="6324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092ACE-B94A-4C15-B637-8C46F9F185A6}"/>
              </a:ext>
            </a:extLst>
          </p:cNvPr>
          <p:cNvCxnSpPr>
            <a:cxnSpLocks/>
          </p:cNvCxnSpPr>
          <p:nvPr/>
        </p:nvCxnSpPr>
        <p:spPr>
          <a:xfrm>
            <a:off x="1524000" y="4400550"/>
            <a:ext cx="3352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58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A62DE-EFE3-4DE1-BC11-0118D94A5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9" y="639739"/>
            <a:ext cx="7801643" cy="386402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925EE-538E-F37A-F037-58DA16059EBE}"/>
              </a:ext>
            </a:extLst>
          </p:cNvPr>
          <p:cNvCxnSpPr>
            <a:cxnSpLocks/>
          </p:cNvCxnSpPr>
          <p:nvPr/>
        </p:nvCxnSpPr>
        <p:spPr>
          <a:xfrm>
            <a:off x="1676400" y="2114550"/>
            <a:ext cx="579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3F478E-90E8-726E-09E7-689B3E38B476}"/>
              </a:ext>
            </a:extLst>
          </p:cNvPr>
          <p:cNvCxnSpPr>
            <a:cxnSpLocks/>
          </p:cNvCxnSpPr>
          <p:nvPr/>
        </p:nvCxnSpPr>
        <p:spPr>
          <a:xfrm>
            <a:off x="1663700" y="2419350"/>
            <a:ext cx="6108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B143AA-94D0-D708-BC10-C8AD9E904D2C}"/>
              </a:ext>
            </a:extLst>
          </p:cNvPr>
          <p:cNvCxnSpPr>
            <a:cxnSpLocks/>
          </p:cNvCxnSpPr>
          <p:nvPr/>
        </p:nvCxnSpPr>
        <p:spPr>
          <a:xfrm>
            <a:off x="1625600" y="2730500"/>
            <a:ext cx="561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4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C08-8977-454D-B915-16C62CED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8" y="153538"/>
            <a:ext cx="8092824" cy="483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16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C08-8977-454D-B915-16C62CED2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97" b="44974"/>
          <a:stretch/>
        </p:blipFill>
        <p:spPr>
          <a:xfrm>
            <a:off x="5339" y="1289713"/>
            <a:ext cx="9133322" cy="161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3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C08-8977-454D-B915-16C62CED2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333"/>
          <a:stretch/>
        </p:blipFill>
        <p:spPr>
          <a:xfrm>
            <a:off x="112594" y="1529341"/>
            <a:ext cx="8939283" cy="14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67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3DDA68-CF22-2FA8-8776-D57CA54D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601" y="0"/>
            <a:ext cx="5910798" cy="51435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AA5D41-2853-85DB-910F-987161C6A173}"/>
              </a:ext>
            </a:extLst>
          </p:cNvPr>
          <p:cNvSpPr/>
          <p:nvPr/>
        </p:nvSpPr>
        <p:spPr>
          <a:xfrm>
            <a:off x="1143000" y="133350"/>
            <a:ext cx="708660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CC7A2C-29C9-DBA0-4CBA-5E1CA3EDC5C3}"/>
              </a:ext>
            </a:extLst>
          </p:cNvPr>
          <p:cNvSpPr/>
          <p:nvPr/>
        </p:nvSpPr>
        <p:spPr>
          <a:xfrm>
            <a:off x="1676400" y="3562350"/>
            <a:ext cx="632460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CED7D-FDEC-C9C2-2A08-588BB65C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52" y="1800117"/>
            <a:ext cx="8573696" cy="154326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190528-D87C-A87D-A32B-3814E93EE307}"/>
              </a:ext>
            </a:extLst>
          </p:cNvPr>
          <p:cNvSpPr/>
          <p:nvPr/>
        </p:nvSpPr>
        <p:spPr>
          <a:xfrm>
            <a:off x="304800" y="3028950"/>
            <a:ext cx="861060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6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F7E1C-FF61-71A0-F0D5-5C67FC8B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56" y="0"/>
            <a:ext cx="7306287" cy="51435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506300-EA89-F7A6-D092-E7C9F5BC8609}"/>
              </a:ext>
            </a:extLst>
          </p:cNvPr>
          <p:cNvCxnSpPr>
            <a:cxnSpLocks/>
          </p:cNvCxnSpPr>
          <p:nvPr/>
        </p:nvCxnSpPr>
        <p:spPr>
          <a:xfrm>
            <a:off x="1143000" y="3181350"/>
            <a:ext cx="685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FD8F9E-66C0-EA00-B63D-3A59F6D3F422}"/>
              </a:ext>
            </a:extLst>
          </p:cNvPr>
          <p:cNvSpPr txBox="1"/>
          <p:nvPr/>
        </p:nvSpPr>
        <p:spPr>
          <a:xfrm>
            <a:off x="8077200" y="2800350"/>
            <a:ext cx="1081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story</a:t>
            </a:r>
          </a:p>
          <a:p>
            <a:r>
              <a:rPr lang="en-US" dirty="0"/>
              <a:t>as MGM Mirage</a:t>
            </a:r>
          </a:p>
        </p:txBody>
      </p:sp>
    </p:spTree>
    <p:extLst>
      <p:ext uri="{BB962C8B-B14F-4D97-AF65-F5344CB8AC3E}">
        <p14:creationId xmlns:p14="http://schemas.microsoft.com/office/powerpoint/2010/main" val="343376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FA8B-FF5C-4044-BC16-919F66BD2E75}" type="slidenum">
              <a:rPr lang="en-US"/>
              <a:pPr/>
              <a:t>39</a:t>
            </a:fld>
            <a:endParaRPr lang="en-US"/>
          </a:p>
        </p:txBody>
      </p:sp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2: Marketable Securities</a:t>
            </a: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Marketable securities are the debt and equity securities of other entities that a company holds as a passive investment.</a:t>
            </a:r>
          </a:p>
          <a:p>
            <a:pPr lvl="1"/>
            <a:r>
              <a:rPr lang="en-US" dirty="0"/>
              <a:t>A </a:t>
            </a:r>
            <a:r>
              <a:rPr lang="en-US" b="1" i="1" dirty="0"/>
              <a:t>passive investment</a:t>
            </a:r>
            <a:r>
              <a:rPr lang="en-US" dirty="0"/>
              <a:t> is one for which there is no ability to influence the operations of the investee.</a:t>
            </a:r>
          </a:p>
          <a:p>
            <a:pPr lvl="1"/>
            <a:r>
              <a:rPr lang="en-US" dirty="0"/>
              <a:t>Debt </a:t>
            </a:r>
            <a:r>
              <a:rPr lang="en-US" b="1" i="1" dirty="0"/>
              <a:t>securities</a:t>
            </a:r>
            <a:r>
              <a:rPr lang="en-US" dirty="0"/>
              <a:t> are bonds, notes receivable, etc.</a:t>
            </a:r>
          </a:p>
          <a:p>
            <a:pPr lvl="1"/>
            <a:r>
              <a:rPr lang="en-US" b="1" i="1" dirty="0"/>
              <a:t>Equity securities</a:t>
            </a:r>
            <a:r>
              <a:rPr lang="en-US" dirty="0"/>
              <a:t> are shares of stock.</a:t>
            </a:r>
          </a:p>
        </p:txBody>
      </p:sp>
    </p:spTree>
    <p:extLst>
      <p:ext uri="{BB962C8B-B14F-4D97-AF65-F5344CB8AC3E}">
        <p14:creationId xmlns:p14="http://schemas.microsoft.com/office/powerpoint/2010/main" val="295492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Marketable Securities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40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81446"/>
            <a:ext cx="3817181" cy="2671466"/>
            <a:chOff x="2659819" y="1381446"/>
            <a:chExt cx="3817181" cy="26714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59819" y="1381446"/>
              <a:ext cx="3817181" cy="46166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400" dirty="0"/>
                <a:t>Marketable Securities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946292" y="2586134"/>
            <a:ext cx="1127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Purchases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695607" y="2571750"/>
            <a:ext cx="165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of MS Sold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FB315B-F9A2-4015-88A0-F44C6B27B0E0}"/>
              </a:ext>
            </a:extLst>
          </p:cNvPr>
          <p:cNvSpPr/>
          <p:nvPr/>
        </p:nvSpPr>
        <p:spPr>
          <a:xfrm>
            <a:off x="2679193" y="3486151"/>
            <a:ext cx="1816604" cy="6858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28D003-BEA1-4690-AF35-5FCF3526A876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611294" y="3013329"/>
            <a:ext cx="1067899" cy="81572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7193D6-99D6-4209-A530-1024372741A4}"/>
              </a:ext>
            </a:extLst>
          </p:cNvPr>
          <p:cNvSpPr txBox="1"/>
          <p:nvPr/>
        </p:nvSpPr>
        <p:spPr>
          <a:xfrm>
            <a:off x="676338" y="2619778"/>
            <a:ext cx="1616764" cy="369332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Market value?</a:t>
            </a:r>
          </a:p>
        </p:txBody>
      </p:sp>
    </p:spTree>
    <p:extLst>
      <p:ext uri="{BB962C8B-B14F-4D97-AF65-F5344CB8AC3E}">
        <p14:creationId xmlns:p14="http://schemas.microsoft.com/office/powerpoint/2010/main" val="134423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Marketable Securities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41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81446"/>
            <a:ext cx="3817181" cy="2671466"/>
            <a:chOff x="2659819" y="1381446"/>
            <a:chExt cx="3817181" cy="26714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59819" y="1381446"/>
              <a:ext cx="3817181" cy="46166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2400" dirty="0"/>
                <a:t>Marketable Securities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946292" y="2586134"/>
            <a:ext cx="1127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Purchases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695607" y="2571750"/>
            <a:ext cx="165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of MS Sold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14E56E-6D87-4974-8EC5-DBBB8AB9D86B}"/>
              </a:ext>
            </a:extLst>
          </p:cNvPr>
          <p:cNvSpPr txBox="1"/>
          <p:nvPr/>
        </p:nvSpPr>
        <p:spPr>
          <a:xfrm>
            <a:off x="2176746" y="3013897"/>
            <a:ext cx="2489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Unrealized Holding Gain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43DAA2-F046-4B06-98DE-7158C697FAB5}"/>
              </a:ext>
            </a:extLst>
          </p:cNvPr>
          <p:cNvSpPr txBox="1"/>
          <p:nvPr/>
        </p:nvSpPr>
        <p:spPr>
          <a:xfrm>
            <a:off x="4671223" y="2994208"/>
            <a:ext cx="245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Unrealized Holding Loss</a:t>
            </a:r>
          </a:p>
        </p:txBody>
      </p:sp>
    </p:spTree>
    <p:extLst>
      <p:ext uri="{BB962C8B-B14F-4D97-AF65-F5344CB8AC3E}">
        <p14:creationId xmlns:p14="http://schemas.microsoft.com/office/powerpoint/2010/main" val="116797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0B29-A259-43DB-9673-9091EB58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Mark-to-Market, Net Income &amp; AOCI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697D-103A-49DB-8954-8C86A035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685799"/>
          </a:xfrm>
        </p:spPr>
        <p:txBody>
          <a:bodyPr/>
          <a:lstStyle/>
          <a:p>
            <a:r>
              <a:rPr lang="en-US" dirty="0"/>
              <a:t>Suppose there is an unrealized holding loss: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87CBE-1D01-4F5B-B023-22E0C28F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EE76A9-1CCE-4701-86EB-6BF3F796E134}"/>
              </a:ext>
            </a:extLst>
          </p:cNvPr>
          <p:cNvGraphicFramePr>
            <a:graphicFrameLocks noGrp="1"/>
          </p:cNvGraphicFramePr>
          <p:nvPr/>
        </p:nvGraphicFramePr>
        <p:xfrm>
          <a:off x="723899" y="2135125"/>
          <a:ext cx="76962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1">
                  <a:extLst>
                    <a:ext uri="{9D8B030D-6E8A-4147-A177-3AD203B41FA5}">
                      <a16:colId xmlns:a16="http://schemas.microsoft.com/office/drawing/2014/main" val="2832080175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752522747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09735201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976579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3413871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Accnt</a:t>
                      </a:r>
                      <a:r>
                        <a:rPr lang="en-US" dirty="0"/>
                        <a:t> to Dr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Accnt</a:t>
                      </a:r>
                      <a:r>
                        <a:rPr lang="en-US" dirty="0"/>
                        <a:t> to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Accnt</a:t>
                      </a:r>
                      <a:r>
                        <a:rPr lang="en-US" dirty="0"/>
                        <a:t> to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 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 Amt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9584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dirty="0"/>
                        <a:t>Unrealized Holding Loss on Marketable Securities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9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Marketable Securities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7507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00354B06-913A-478F-8EB0-441E0925BE90}"/>
              </a:ext>
            </a:extLst>
          </p:cNvPr>
          <p:cNvSpPr/>
          <p:nvPr/>
        </p:nvSpPr>
        <p:spPr>
          <a:xfrm>
            <a:off x="685800" y="2370202"/>
            <a:ext cx="6477000" cy="6858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083800-89DE-49C9-BC82-6A9AD0E77BF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810000" y="3056005"/>
            <a:ext cx="1054610" cy="99905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190C22-AD2B-47DF-A693-A1F61DE17805}"/>
              </a:ext>
            </a:extLst>
          </p:cNvPr>
          <p:cNvSpPr txBox="1"/>
          <p:nvPr/>
        </p:nvSpPr>
        <p:spPr>
          <a:xfrm>
            <a:off x="4864610" y="3731897"/>
            <a:ext cx="2298190" cy="646331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Temporary Account that should be closed?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379656-099E-4167-97E3-D37C472455CF}"/>
              </a:ext>
            </a:extLst>
          </p:cNvPr>
          <p:cNvSpPr txBox="1"/>
          <p:nvPr/>
        </p:nvSpPr>
        <p:spPr>
          <a:xfrm>
            <a:off x="7282057" y="3708181"/>
            <a:ext cx="1868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MAYBE:</a:t>
            </a:r>
          </a:p>
          <a:p>
            <a:r>
              <a:rPr lang="en-US" b="1" dirty="0">
                <a:solidFill>
                  <a:srgbClr val="FF0000"/>
                </a:solidFill>
              </a:rPr>
              <a:t>Ask your Mother!</a:t>
            </a:r>
          </a:p>
        </p:txBody>
      </p:sp>
    </p:spTree>
    <p:extLst>
      <p:ext uri="{BB962C8B-B14F-4D97-AF65-F5344CB8AC3E}">
        <p14:creationId xmlns:p14="http://schemas.microsoft.com/office/powerpoint/2010/main" val="306583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0B29-A259-43DB-9673-9091EB58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979"/>
            <a:ext cx="91944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Accumulated Other Comprehensive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697D-103A-49DB-8954-8C86A035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268610"/>
          </a:xfrm>
        </p:spPr>
        <p:txBody>
          <a:bodyPr>
            <a:normAutofit/>
          </a:bodyPr>
          <a:lstStyle/>
          <a:p>
            <a:r>
              <a:rPr lang="en-US" dirty="0"/>
              <a:t>Holds cumulative gains and losses that have not been closed. I.e., they have not been put into Retained Earnings through closing.</a:t>
            </a:r>
          </a:p>
          <a:p>
            <a:r>
              <a:rPr lang="en-US" dirty="0"/>
              <a:t>Example, Berkshire Hathaway Inc. from 2018, the year of a change in US GAAP accounting rules on marketable securities.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87CBE-1D01-4F5B-B023-22E0C28F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F5D1-C041-5782-54F9-376ABFA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Berkshire </a:t>
            </a:r>
            <a:r>
              <a:rPr lang="en-US" dirty="0" err="1">
                <a:cs typeface="Calibri"/>
              </a:rPr>
              <a:t>hathaway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F510D-45BD-DD29-A262-307CD4743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Investments in 2018: Effects of Change in Accounting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456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517D6-2573-0D65-A75D-B3282E9A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-19050"/>
            <a:ext cx="5974701" cy="51435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01B24A-82ED-E941-4CDE-C7C677E630DD}"/>
              </a:ext>
            </a:extLst>
          </p:cNvPr>
          <p:cNvSpPr/>
          <p:nvPr/>
        </p:nvSpPr>
        <p:spPr>
          <a:xfrm>
            <a:off x="1219200" y="57150"/>
            <a:ext cx="6324600" cy="685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CA2C97-9F60-857F-D6BA-6F883771E2D5}"/>
              </a:ext>
            </a:extLst>
          </p:cNvPr>
          <p:cNvSpPr/>
          <p:nvPr/>
        </p:nvSpPr>
        <p:spPr>
          <a:xfrm>
            <a:off x="1219200" y="3543300"/>
            <a:ext cx="6324600" cy="13144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A29387-55D8-382D-334C-1E6EC7365D01}"/>
              </a:ext>
            </a:extLst>
          </p:cNvPr>
          <p:cNvCxnSpPr/>
          <p:nvPr/>
        </p:nvCxnSpPr>
        <p:spPr>
          <a:xfrm>
            <a:off x="1821656" y="4040982"/>
            <a:ext cx="5486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8E15FE-DD01-CE8F-0F45-BAC125C9DA3A}"/>
              </a:ext>
            </a:extLst>
          </p:cNvPr>
          <p:cNvCxnSpPr/>
          <p:nvPr/>
        </p:nvCxnSpPr>
        <p:spPr>
          <a:xfrm>
            <a:off x="1828800" y="4171950"/>
            <a:ext cx="5486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97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5EB94-A7DF-F9DF-AD78-9D7CE3719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350"/>
            <a:ext cx="7563906" cy="491558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E37AF2-80C1-3E19-E0AE-B02DAD7EACD9}"/>
              </a:ext>
            </a:extLst>
          </p:cNvPr>
          <p:cNvSpPr/>
          <p:nvPr/>
        </p:nvSpPr>
        <p:spPr>
          <a:xfrm>
            <a:off x="990600" y="361950"/>
            <a:ext cx="7315200" cy="7620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CDA33D-5345-3F1C-93B8-A8197FEE1B0E}"/>
              </a:ext>
            </a:extLst>
          </p:cNvPr>
          <p:cNvSpPr/>
          <p:nvPr/>
        </p:nvSpPr>
        <p:spPr>
          <a:xfrm>
            <a:off x="990600" y="1962150"/>
            <a:ext cx="73152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CA928D-5E15-D1F1-3949-F7A347A22DFE}"/>
              </a:ext>
            </a:extLst>
          </p:cNvPr>
          <p:cNvSpPr/>
          <p:nvPr/>
        </p:nvSpPr>
        <p:spPr>
          <a:xfrm>
            <a:off x="990600" y="2647950"/>
            <a:ext cx="7315200" cy="7620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3017E4-8462-D4F8-0442-600EDCC4835E}"/>
              </a:ext>
            </a:extLst>
          </p:cNvPr>
          <p:cNvSpPr/>
          <p:nvPr/>
        </p:nvSpPr>
        <p:spPr>
          <a:xfrm>
            <a:off x="990600" y="4324350"/>
            <a:ext cx="73152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2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517D6-2573-0D65-A75D-B3282E9A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-19050"/>
            <a:ext cx="5974701" cy="51435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01B24A-82ED-E941-4CDE-C7C677E630DD}"/>
              </a:ext>
            </a:extLst>
          </p:cNvPr>
          <p:cNvSpPr/>
          <p:nvPr/>
        </p:nvSpPr>
        <p:spPr>
          <a:xfrm>
            <a:off x="1219200" y="57150"/>
            <a:ext cx="6324600" cy="685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CA2C97-9F60-857F-D6BA-6F883771E2D5}"/>
              </a:ext>
            </a:extLst>
          </p:cNvPr>
          <p:cNvSpPr/>
          <p:nvPr/>
        </p:nvSpPr>
        <p:spPr>
          <a:xfrm>
            <a:off x="1219200" y="3543300"/>
            <a:ext cx="6324600" cy="13144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A29387-55D8-382D-334C-1E6EC7365D01}"/>
              </a:ext>
            </a:extLst>
          </p:cNvPr>
          <p:cNvCxnSpPr/>
          <p:nvPr/>
        </p:nvCxnSpPr>
        <p:spPr>
          <a:xfrm>
            <a:off x="1821656" y="4040982"/>
            <a:ext cx="5486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8E15FE-DD01-CE8F-0F45-BAC125C9DA3A}"/>
              </a:ext>
            </a:extLst>
          </p:cNvPr>
          <p:cNvCxnSpPr/>
          <p:nvPr/>
        </p:nvCxnSpPr>
        <p:spPr>
          <a:xfrm>
            <a:off x="1828800" y="4171950"/>
            <a:ext cx="5486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5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F2BA3D-6A28-9D04-AF0D-567695907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8" y="233036"/>
            <a:ext cx="7440063" cy="467742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28C483A-7730-C311-3FC0-C58182A1A117}"/>
              </a:ext>
            </a:extLst>
          </p:cNvPr>
          <p:cNvCxnSpPr/>
          <p:nvPr/>
        </p:nvCxnSpPr>
        <p:spPr>
          <a:xfrm>
            <a:off x="6019800" y="1047750"/>
            <a:ext cx="0" cy="609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15D06D-F605-416F-865C-90EA4C04B488}"/>
              </a:ext>
            </a:extLst>
          </p:cNvPr>
          <p:cNvCxnSpPr/>
          <p:nvPr/>
        </p:nvCxnSpPr>
        <p:spPr>
          <a:xfrm>
            <a:off x="3886200" y="1047750"/>
            <a:ext cx="0" cy="609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CE9A26-7883-C82F-3174-ED6DD949860D}"/>
              </a:ext>
            </a:extLst>
          </p:cNvPr>
          <p:cNvCxnSpPr/>
          <p:nvPr/>
        </p:nvCxnSpPr>
        <p:spPr>
          <a:xfrm>
            <a:off x="6019800" y="3333750"/>
            <a:ext cx="0" cy="609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00C7B4-B051-C155-4D02-5FC4C331E5F8}"/>
              </a:ext>
            </a:extLst>
          </p:cNvPr>
          <p:cNvCxnSpPr/>
          <p:nvPr/>
        </p:nvCxnSpPr>
        <p:spPr>
          <a:xfrm>
            <a:off x="3810000" y="3333750"/>
            <a:ext cx="0" cy="609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57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3B948-0689-DC49-D3E2-CD0C3CF5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8112"/>
            <a:ext cx="7730106" cy="470135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190B1B-D59C-0E19-51AB-EC0E0803DEF9}"/>
              </a:ext>
            </a:extLst>
          </p:cNvPr>
          <p:cNvSpPr/>
          <p:nvPr/>
        </p:nvSpPr>
        <p:spPr>
          <a:xfrm>
            <a:off x="4724400" y="1200150"/>
            <a:ext cx="838200" cy="3581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621315-F0A4-9C3B-A06A-D70E682755E1}"/>
              </a:ext>
            </a:extLst>
          </p:cNvPr>
          <p:cNvSpPr/>
          <p:nvPr/>
        </p:nvSpPr>
        <p:spPr>
          <a:xfrm>
            <a:off x="5562600" y="1352550"/>
            <a:ext cx="838200" cy="3352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7B26CE-D840-5FF5-7E09-671ED509741C}"/>
              </a:ext>
            </a:extLst>
          </p:cNvPr>
          <p:cNvSpPr/>
          <p:nvPr/>
        </p:nvSpPr>
        <p:spPr>
          <a:xfrm>
            <a:off x="4724400" y="3409950"/>
            <a:ext cx="838200" cy="1295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02DD4F-2C74-5A73-7DE8-01BE9DA1049A}"/>
              </a:ext>
            </a:extLst>
          </p:cNvPr>
          <p:cNvSpPr/>
          <p:nvPr/>
        </p:nvSpPr>
        <p:spPr>
          <a:xfrm>
            <a:off x="5562600" y="3409950"/>
            <a:ext cx="838200" cy="13716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0E49D4-1800-50CD-3262-C3DC773484E1}"/>
              </a:ext>
            </a:extLst>
          </p:cNvPr>
          <p:cNvSpPr/>
          <p:nvPr/>
        </p:nvSpPr>
        <p:spPr>
          <a:xfrm>
            <a:off x="2057400" y="57150"/>
            <a:ext cx="5638800" cy="914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28A3EC-2C57-2DB3-B710-992DEADA88BF}"/>
              </a:ext>
            </a:extLst>
          </p:cNvPr>
          <p:cNvCxnSpPr>
            <a:cxnSpLocks/>
          </p:cNvCxnSpPr>
          <p:nvPr/>
        </p:nvCxnSpPr>
        <p:spPr>
          <a:xfrm>
            <a:off x="1219200" y="3740942"/>
            <a:ext cx="2438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79F124-E4DF-42A4-FF87-155F88987FEA}"/>
              </a:ext>
            </a:extLst>
          </p:cNvPr>
          <p:cNvCxnSpPr>
            <a:cxnSpLocks/>
          </p:cNvCxnSpPr>
          <p:nvPr/>
        </p:nvCxnSpPr>
        <p:spPr>
          <a:xfrm>
            <a:off x="1219200" y="3893342"/>
            <a:ext cx="76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B632DA-31CA-1D75-0B74-C73F7A7FD1DA}"/>
              </a:ext>
            </a:extLst>
          </p:cNvPr>
          <p:cNvCxnSpPr>
            <a:cxnSpLocks/>
          </p:cNvCxnSpPr>
          <p:nvPr/>
        </p:nvCxnSpPr>
        <p:spPr>
          <a:xfrm>
            <a:off x="1219200" y="4095750"/>
            <a:ext cx="1905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4F937E-BE9E-3889-8D11-2C77D3A6D2E9}"/>
              </a:ext>
            </a:extLst>
          </p:cNvPr>
          <p:cNvCxnSpPr>
            <a:cxnSpLocks/>
          </p:cNvCxnSpPr>
          <p:nvPr/>
        </p:nvCxnSpPr>
        <p:spPr>
          <a:xfrm>
            <a:off x="4953000" y="3750470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944181-8642-2C48-DB69-64858465FDA4}"/>
              </a:ext>
            </a:extLst>
          </p:cNvPr>
          <p:cNvCxnSpPr>
            <a:cxnSpLocks/>
          </p:cNvCxnSpPr>
          <p:nvPr/>
        </p:nvCxnSpPr>
        <p:spPr>
          <a:xfrm>
            <a:off x="5784056" y="3743326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0A12BE-29FD-D7C2-CA4B-D5658F13FD71}"/>
              </a:ext>
            </a:extLst>
          </p:cNvPr>
          <p:cNvCxnSpPr>
            <a:cxnSpLocks/>
          </p:cNvCxnSpPr>
          <p:nvPr/>
        </p:nvCxnSpPr>
        <p:spPr>
          <a:xfrm>
            <a:off x="5791200" y="3901654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54DEC2-BD45-E963-53AF-00BC3BE76A91}"/>
              </a:ext>
            </a:extLst>
          </p:cNvPr>
          <p:cNvCxnSpPr>
            <a:cxnSpLocks/>
          </p:cNvCxnSpPr>
          <p:nvPr/>
        </p:nvCxnSpPr>
        <p:spPr>
          <a:xfrm>
            <a:off x="4953000" y="4095750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71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28D89-172D-E9EA-D9B3-0E74E2BB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31" y="233036"/>
            <a:ext cx="7430537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C908EE-07E4-2CC4-6E58-6B58D5AEE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1266643"/>
            <a:ext cx="7535327" cy="261021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549A55-A26D-85EC-9ED3-58B7AC61975B}"/>
              </a:ext>
            </a:extLst>
          </p:cNvPr>
          <p:cNvSpPr/>
          <p:nvPr/>
        </p:nvSpPr>
        <p:spPr>
          <a:xfrm>
            <a:off x="2286000" y="2038350"/>
            <a:ext cx="228600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No entries here, so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no dividends were declared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6166F9-B5C5-85F2-6F41-A50F3889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Dividends Declared?</a:t>
            </a:r>
          </a:p>
        </p:txBody>
      </p:sp>
    </p:spTree>
    <p:extLst>
      <p:ext uri="{BB962C8B-B14F-4D97-AF65-F5344CB8AC3E}">
        <p14:creationId xmlns:p14="http://schemas.microsoft.com/office/powerpoint/2010/main" val="292126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41B9-B73B-121C-4A15-740BDB40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Dividends Paid?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54E549-1F31-89C5-E640-7F3B72AA7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0347"/>
            <a:ext cx="7954485" cy="1810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29FFD-F133-343C-AD90-F1708A6FE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28950"/>
            <a:ext cx="8011643" cy="163852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D426AE-4911-0010-4201-F2D7843785C8}"/>
              </a:ext>
            </a:extLst>
          </p:cNvPr>
          <p:cNvCxnSpPr>
            <a:cxnSpLocks/>
          </p:cNvCxnSpPr>
          <p:nvPr/>
        </p:nvCxnSpPr>
        <p:spPr>
          <a:xfrm>
            <a:off x="304800" y="2952750"/>
            <a:ext cx="8686800" cy="0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E65D0B-081D-2C60-32E0-BA2FA6604522}"/>
              </a:ext>
            </a:extLst>
          </p:cNvPr>
          <p:cNvSpPr/>
          <p:nvPr/>
        </p:nvSpPr>
        <p:spPr>
          <a:xfrm>
            <a:off x="609600" y="3028950"/>
            <a:ext cx="5029200" cy="14478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No entries here, so</a:t>
            </a:r>
          </a:p>
          <a:p>
            <a:pPr algn="ctr"/>
            <a:r>
              <a:rPr lang="en-US" sz="3200" b="1" dirty="0">
                <a:solidFill>
                  <a:srgbClr val="002060"/>
                </a:solidFill>
              </a:rPr>
              <a:t>no dividends were paid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0CD4D8-8AF3-CC1B-2654-C03D7DE0D662}"/>
              </a:ext>
            </a:extLst>
          </p:cNvPr>
          <p:cNvSpPr/>
          <p:nvPr/>
        </p:nvSpPr>
        <p:spPr>
          <a:xfrm>
            <a:off x="2362200" y="1047750"/>
            <a:ext cx="4495800" cy="1066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4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6CF9095-0FE9-DB93-9771-00FCF3AF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09550"/>
            <a:ext cx="7620000" cy="765571"/>
          </a:xfrm>
        </p:spPr>
        <p:txBody>
          <a:bodyPr>
            <a:normAutofit fontScale="90000"/>
          </a:bodyPr>
          <a:lstStyle/>
          <a:p>
            <a:r>
              <a:rPr lang="en-US" dirty="0"/>
              <a:t>Entry to Reclassify AOCI into RE #1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B3B948-0689-DC49-D3E2-CD0C3CF5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8112"/>
            <a:ext cx="7730106" cy="470135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0E49D4-1800-50CD-3262-C3DC773484E1}"/>
              </a:ext>
            </a:extLst>
          </p:cNvPr>
          <p:cNvSpPr/>
          <p:nvPr/>
        </p:nvSpPr>
        <p:spPr>
          <a:xfrm>
            <a:off x="2057400" y="57150"/>
            <a:ext cx="5638800" cy="914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28A3EC-2C57-2DB3-B710-992DEADA88BF}"/>
              </a:ext>
            </a:extLst>
          </p:cNvPr>
          <p:cNvCxnSpPr>
            <a:cxnSpLocks/>
          </p:cNvCxnSpPr>
          <p:nvPr/>
        </p:nvCxnSpPr>
        <p:spPr>
          <a:xfrm>
            <a:off x="1219200" y="3740942"/>
            <a:ext cx="2438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4F937E-BE9E-3889-8D11-2C77D3A6D2E9}"/>
              </a:ext>
            </a:extLst>
          </p:cNvPr>
          <p:cNvCxnSpPr>
            <a:cxnSpLocks/>
          </p:cNvCxnSpPr>
          <p:nvPr/>
        </p:nvCxnSpPr>
        <p:spPr>
          <a:xfrm>
            <a:off x="4953000" y="3750470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944181-8642-2C48-DB69-64858465FDA4}"/>
              </a:ext>
            </a:extLst>
          </p:cNvPr>
          <p:cNvCxnSpPr>
            <a:cxnSpLocks/>
          </p:cNvCxnSpPr>
          <p:nvPr/>
        </p:nvCxnSpPr>
        <p:spPr>
          <a:xfrm>
            <a:off x="5784056" y="3743326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055086-042D-9F44-1B7F-C84FDF386F00}"/>
              </a:ext>
            </a:extLst>
          </p:cNvPr>
          <p:cNvCxnSpPr>
            <a:cxnSpLocks/>
          </p:cNvCxnSpPr>
          <p:nvPr/>
        </p:nvCxnSpPr>
        <p:spPr>
          <a:xfrm>
            <a:off x="8001000" y="3757394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26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B8083-099B-CE71-0896-A7F4AD7B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52550"/>
            <a:ext cx="8991600" cy="161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622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7F99-2688-A109-1C69-FAD05AAE24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8600" y="209550"/>
            <a:ext cx="8229600" cy="857250"/>
          </a:xfrm>
        </p:spPr>
        <p:txBody>
          <a:bodyPr/>
          <a:lstStyle/>
          <a:p>
            <a:r>
              <a:rPr lang="en-US" dirty="0"/>
              <a:t>Reclassify AOCI to RE #2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B87C3-9F06-3290-395C-A37267CF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113957"/>
            <a:ext cx="7954485" cy="491558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C01CB6-2563-50A3-C875-75B9420DAEEC}"/>
              </a:ext>
            </a:extLst>
          </p:cNvPr>
          <p:cNvCxnSpPr>
            <a:cxnSpLocks/>
          </p:cNvCxnSpPr>
          <p:nvPr/>
        </p:nvCxnSpPr>
        <p:spPr>
          <a:xfrm>
            <a:off x="685800" y="4019550"/>
            <a:ext cx="3352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E852B5-30DE-92B3-7ABF-E957DD36EE0D}"/>
              </a:ext>
            </a:extLst>
          </p:cNvPr>
          <p:cNvSpPr/>
          <p:nvPr/>
        </p:nvSpPr>
        <p:spPr>
          <a:xfrm>
            <a:off x="7848600" y="3714750"/>
            <a:ext cx="685800" cy="381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CEDF54-EA8D-D307-E4FF-9518F33DBCE0}"/>
              </a:ext>
            </a:extLst>
          </p:cNvPr>
          <p:cNvSpPr/>
          <p:nvPr/>
        </p:nvSpPr>
        <p:spPr>
          <a:xfrm>
            <a:off x="4555222" y="1200150"/>
            <a:ext cx="914400" cy="3886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5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34583 0.0074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92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A39F8F-3C92-D27E-D63D-F6507137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33550"/>
            <a:ext cx="8940654" cy="122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166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1462-6342-4BE4-EAFA-B3AB479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0" dirty="0">
                <a:ea typeface="Calibri"/>
                <a:cs typeface="Calibri"/>
              </a:rPr>
              <a:t>Cash Sales of Investments in Equity Securities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E7237-6528-18DC-1ED7-888DD1A8C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302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2775C2-E453-EAB8-9413-7C163DD1724F}"/>
              </a:ext>
            </a:extLst>
          </p:cNvPr>
          <p:cNvSpPr/>
          <p:nvPr/>
        </p:nvSpPr>
        <p:spPr>
          <a:xfrm>
            <a:off x="955221" y="4237263"/>
            <a:ext cx="417786" cy="831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6EDCD-F56F-0A59-5F07-8316552DA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92" y="0"/>
            <a:ext cx="6888616" cy="51435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5114F6-DDA8-8554-7C6D-7E55777D37AA}"/>
              </a:ext>
            </a:extLst>
          </p:cNvPr>
          <p:cNvCxnSpPr>
            <a:cxnSpLocks/>
          </p:cNvCxnSpPr>
          <p:nvPr/>
        </p:nvCxnSpPr>
        <p:spPr>
          <a:xfrm>
            <a:off x="1600200" y="4171950"/>
            <a:ext cx="5257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33D1FC-CB3E-B07C-2C74-D23DAB4C34BD}"/>
              </a:ext>
            </a:extLst>
          </p:cNvPr>
          <p:cNvCxnSpPr>
            <a:cxnSpLocks/>
          </p:cNvCxnSpPr>
          <p:nvPr/>
        </p:nvCxnSpPr>
        <p:spPr>
          <a:xfrm>
            <a:off x="1888222" y="1911816"/>
            <a:ext cx="48173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9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4172C-C7D9-0938-2B46-8A639278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3" y="1076116"/>
            <a:ext cx="8087854" cy="299126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0813C1-E506-30F8-BF7E-0DDF34D55863}"/>
              </a:ext>
            </a:extLst>
          </p:cNvPr>
          <p:cNvCxnSpPr>
            <a:cxnSpLocks/>
          </p:cNvCxnSpPr>
          <p:nvPr/>
        </p:nvCxnSpPr>
        <p:spPr>
          <a:xfrm>
            <a:off x="990600" y="2470383"/>
            <a:ext cx="601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67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8840C-1A00-445F-BB95-2EC549924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350"/>
            <a:ext cx="9144000" cy="116308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B60DC13-8E69-C2F2-4C17-07FEC495ED0A}"/>
              </a:ext>
            </a:extLst>
          </p:cNvPr>
          <p:cNvSpPr/>
          <p:nvPr/>
        </p:nvSpPr>
        <p:spPr>
          <a:xfrm>
            <a:off x="8305800" y="1123950"/>
            <a:ext cx="838200" cy="533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8402E-5EA0-BD11-1279-222965142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3110"/>
            <a:ext cx="914400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4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4172C-C7D9-0938-2B46-8A639278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3" y="1076116"/>
            <a:ext cx="8087854" cy="299126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0813C1-E506-30F8-BF7E-0DDF34D55863}"/>
              </a:ext>
            </a:extLst>
          </p:cNvPr>
          <p:cNvCxnSpPr>
            <a:cxnSpLocks/>
          </p:cNvCxnSpPr>
          <p:nvPr/>
        </p:nvCxnSpPr>
        <p:spPr>
          <a:xfrm>
            <a:off x="982211" y="2292816"/>
            <a:ext cx="601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18484B8-1A0F-3896-8354-93925855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 Value Adjustment</a:t>
            </a:r>
          </a:p>
        </p:txBody>
      </p:sp>
    </p:spTree>
    <p:extLst>
      <p:ext uri="{BB962C8B-B14F-4D97-AF65-F5344CB8AC3E}">
        <p14:creationId xmlns:p14="http://schemas.microsoft.com/office/powerpoint/2010/main" val="34718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15D1E-F7A4-49E0-35D4-38E6BA847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2349"/>
            <a:ext cx="9144000" cy="95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779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4172C-C7D9-0938-2B46-8A639278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3" y="1076116"/>
            <a:ext cx="8087854" cy="2991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8484B8-1A0F-3896-8354-93925855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Investments Gains/Losses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8BE326-A53A-FD45-C2C0-AB54D123B0B9}"/>
              </a:ext>
            </a:extLst>
          </p:cNvPr>
          <p:cNvSpPr/>
          <p:nvPr/>
        </p:nvSpPr>
        <p:spPr>
          <a:xfrm>
            <a:off x="6299433" y="3579128"/>
            <a:ext cx="838200" cy="533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2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612898-EEF4-AFD7-8FE0-809776DB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92" y="0"/>
            <a:ext cx="6888616" cy="51435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827B41-7FCB-EE5B-FE47-9467F69B8F4B}"/>
              </a:ext>
            </a:extLst>
          </p:cNvPr>
          <p:cNvCxnSpPr>
            <a:cxnSpLocks/>
          </p:cNvCxnSpPr>
          <p:nvPr/>
        </p:nvCxnSpPr>
        <p:spPr>
          <a:xfrm>
            <a:off x="1888222" y="1626590"/>
            <a:ext cx="48173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28A4091-A7EE-33C6-6062-B76C0F26E7F7}"/>
              </a:ext>
            </a:extLst>
          </p:cNvPr>
          <p:cNvSpPr/>
          <p:nvPr/>
        </p:nvSpPr>
        <p:spPr>
          <a:xfrm>
            <a:off x="6096000" y="1276350"/>
            <a:ext cx="838200" cy="533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48FEC1-A8D8-454C-A7A6-11D6558501B9}"/>
              </a:ext>
            </a:extLst>
          </p:cNvPr>
          <p:cNvCxnSpPr>
            <a:cxnSpLocks/>
          </p:cNvCxnSpPr>
          <p:nvPr/>
        </p:nvCxnSpPr>
        <p:spPr>
          <a:xfrm>
            <a:off x="1600200" y="3739917"/>
            <a:ext cx="5105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DB5FAC-2E6B-C4D4-32DF-451073C14831}"/>
              </a:ext>
            </a:extLst>
          </p:cNvPr>
          <p:cNvCxnSpPr>
            <a:cxnSpLocks/>
          </p:cNvCxnSpPr>
          <p:nvPr/>
        </p:nvCxnSpPr>
        <p:spPr>
          <a:xfrm>
            <a:off x="1600200" y="3604994"/>
            <a:ext cx="5105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559AE-4F7C-9BC5-402D-5130FECFAAEB}"/>
              </a:ext>
            </a:extLst>
          </p:cNvPr>
          <p:cNvCxnSpPr>
            <a:cxnSpLocks/>
          </p:cNvCxnSpPr>
          <p:nvPr/>
        </p:nvCxnSpPr>
        <p:spPr>
          <a:xfrm>
            <a:off x="1600200" y="3875539"/>
            <a:ext cx="5105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D73940-6E31-B857-E89E-5042E86B9E7C}"/>
              </a:ext>
            </a:extLst>
          </p:cNvPr>
          <p:cNvCxnSpPr>
            <a:cxnSpLocks/>
          </p:cNvCxnSpPr>
          <p:nvPr/>
        </p:nvCxnSpPr>
        <p:spPr>
          <a:xfrm>
            <a:off x="1609987" y="4027939"/>
            <a:ext cx="5105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9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0FCA78-FBEA-AA8B-6EFB-F33895D0E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90" y="1342853"/>
            <a:ext cx="659222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29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2A7C2-C0C0-1998-0E24-46561147C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89" y="1238064"/>
            <a:ext cx="7135221" cy="26673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9289335-D5EE-321D-6F49-E93BC2E31F37}"/>
              </a:ext>
            </a:extLst>
          </p:cNvPr>
          <p:cNvSpPr/>
          <p:nvPr/>
        </p:nvSpPr>
        <p:spPr>
          <a:xfrm>
            <a:off x="3810000" y="2952750"/>
            <a:ext cx="838200" cy="533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4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49C4B-AB5D-8967-ACAE-424874190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5" y="1157090"/>
            <a:ext cx="8021169" cy="282932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6AF88F6-6576-BD5B-7BC8-475F764BB3BC}"/>
              </a:ext>
            </a:extLst>
          </p:cNvPr>
          <p:cNvCxnSpPr>
            <a:cxnSpLocks/>
          </p:cNvCxnSpPr>
          <p:nvPr/>
        </p:nvCxnSpPr>
        <p:spPr>
          <a:xfrm>
            <a:off x="838200" y="2673816"/>
            <a:ext cx="5638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E330F9-EE33-A1FA-CCA7-E1C1DE1CB930}"/>
              </a:ext>
            </a:extLst>
          </p:cNvPr>
          <p:cNvCxnSpPr>
            <a:cxnSpLocks/>
          </p:cNvCxnSpPr>
          <p:nvPr/>
        </p:nvCxnSpPr>
        <p:spPr>
          <a:xfrm>
            <a:off x="609600" y="3105150"/>
            <a:ext cx="2667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B2FFA1-FF63-0275-66BD-2991065F977C}"/>
              </a:ext>
            </a:extLst>
          </p:cNvPr>
          <p:cNvCxnSpPr>
            <a:cxnSpLocks/>
          </p:cNvCxnSpPr>
          <p:nvPr/>
        </p:nvCxnSpPr>
        <p:spPr>
          <a:xfrm>
            <a:off x="4860022" y="3316972"/>
            <a:ext cx="22265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76D401-3FDC-180F-8C0C-0D871E38EC3A}"/>
              </a:ext>
            </a:extLst>
          </p:cNvPr>
          <p:cNvCxnSpPr>
            <a:cxnSpLocks/>
          </p:cNvCxnSpPr>
          <p:nvPr/>
        </p:nvCxnSpPr>
        <p:spPr>
          <a:xfrm>
            <a:off x="3886200" y="3528794"/>
            <a:ext cx="1752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12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777DE-C99B-F3AF-B4DB-8AAA509D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5" y="1309511"/>
            <a:ext cx="6878010" cy="252447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A2A67DE-B35F-66E3-543E-03E0CAAA7BDD}"/>
              </a:ext>
            </a:extLst>
          </p:cNvPr>
          <p:cNvSpPr/>
          <p:nvPr/>
        </p:nvSpPr>
        <p:spPr>
          <a:xfrm>
            <a:off x="3810000" y="2952750"/>
            <a:ext cx="838200" cy="533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2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A32D-D23A-F101-C3E4-EE33F1E2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from Note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501A5-3D3C-A60D-A20E-207C7578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52550"/>
            <a:ext cx="8351523" cy="1828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07154E-06C2-CA41-E64C-F3DA17A85295}"/>
              </a:ext>
            </a:extLst>
          </p:cNvPr>
          <p:cNvCxnSpPr>
            <a:cxnSpLocks/>
          </p:cNvCxnSpPr>
          <p:nvPr/>
        </p:nvCxnSpPr>
        <p:spPr>
          <a:xfrm>
            <a:off x="3174534" y="1690906"/>
            <a:ext cx="5181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E24C5C-27A6-27B5-6B40-BAAA9DBE280A}"/>
              </a:ext>
            </a:extLst>
          </p:cNvPr>
          <p:cNvSpPr txBox="1"/>
          <p:nvPr/>
        </p:nvSpPr>
        <p:spPr>
          <a:xfrm>
            <a:off x="2438400" y="3333750"/>
            <a:ext cx="4309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Gets us part way there, but it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42375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A5C9-1AF8-FCBD-91CF-4B6727EB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Last Place to Look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E9873-6A76-FFE0-E595-11CEA21F7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5" y="1185669"/>
            <a:ext cx="7992590" cy="2772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225843-327A-3339-ACBF-D7942C57E520}"/>
              </a:ext>
            </a:extLst>
          </p:cNvPr>
          <p:cNvSpPr txBox="1"/>
          <p:nvPr/>
        </p:nvSpPr>
        <p:spPr>
          <a:xfrm>
            <a:off x="2057400" y="3867150"/>
            <a:ext cx="509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 here seems to help, and I am out of ideas …</a:t>
            </a:r>
          </a:p>
        </p:txBody>
      </p:sp>
    </p:spTree>
    <p:extLst>
      <p:ext uri="{BB962C8B-B14F-4D97-AF65-F5344CB8AC3E}">
        <p14:creationId xmlns:p14="http://schemas.microsoft.com/office/powerpoint/2010/main" val="426776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One Last Thing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F4A3-D897-4C69-8CCF-BEDC6CF01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Buffett’s arguments against including some gains and losses from the calculation of net income.</a:t>
            </a:r>
          </a:p>
          <a:p>
            <a:r>
              <a:rPr lang="en-US" dirty="0"/>
              <a:t>Look at what has happened 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5A62E-8438-4A36-BE93-E984D3DE8519}" type="slidenum">
              <a:rPr lang="en-US" dirty="0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798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72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AD8668-F6DF-49D3-828D-F3B0570C0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90550"/>
            <a:ext cx="8739230" cy="42672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54EBA7-3A06-491D-97F5-DA66CDFBEBD6}"/>
              </a:ext>
            </a:extLst>
          </p:cNvPr>
          <p:cNvCxnSpPr>
            <a:cxnSpLocks/>
          </p:cNvCxnSpPr>
          <p:nvPr/>
        </p:nvCxnSpPr>
        <p:spPr>
          <a:xfrm>
            <a:off x="638175" y="2287732"/>
            <a:ext cx="838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865C62-4986-494E-8FEA-FFFFA8363F5C}"/>
              </a:ext>
            </a:extLst>
          </p:cNvPr>
          <p:cNvCxnSpPr>
            <a:cxnSpLocks/>
          </p:cNvCxnSpPr>
          <p:nvPr/>
        </p:nvCxnSpPr>
        <p:spPr>
          <a:xfrm>
            <a:off x="827809" y="2689514"/>
            <a:ext cx="167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2CC7494-0704-4A57-9BED-7684F7F66509}"/>
              </a:ext>
            </a:extLst>
          </p:cNvPr>
          <p:cNvSpPr/>
          <p:nvPr/>
        </p:nvSpPr>
        <p:spPr>
          <a:xfrm>
            <a:off x="5791200" y="1504950"/>
            <a:ext cx="3124200" cy="8382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ABBCA8-69B1-42D5-ACA5-3074F5EC288C}"/>
              </a:ext>
            </a:extLst>
          </p:cNvPr>
          <p:cNvSpPr/>
          <p:nvPr/>
        </p:nvSpPr>
        <p:spPr>
          <a:xfrm>
            <a:off x="6019800" y="2419350"/>
            <a:ext cx="2895600" cy="304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5F1B80-8C4B-45F0-B88C-6E0CFD06874D}"/>
              </a:ext>
            </a:extLst>
          </p:cNvPr>
          <p:cNvCxnSpPr>
            <a:cxnSpLocks/>
          </p:cNvCxnSpPr>
          <p:nvPr/>
        </p:nvCxnSpPr>
        <p:spPr>
          <a:xfrm>
            <a:off x="457200" y="4857750"/>
            <a:ext cx="2514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C169214-BF4B-40F8-8978-BCD8C664D9C3}"/>
              </a:ext>
            </a:extLst>
          </p:cNvPr>
          <p:cNvSpPr/>
          <p:nvPr/>
        </p:nvSpPr>
        <p:spPr>
          <a:xfrm>
            <a:off x="6019800" y="4552950"/>
            <a:ext cx="2895600" cy="304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6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9243-9F5C-A582-44B2-860B6F32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Berkshire Case: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19EF-455E-04B0-45AC-DDF6CD94B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could make a lot of progress understanding what went on, but we can’t tie things out exactly.</a:t>
            </a:r>
          </a:p>
          <a:p>
            <a:r>
              <a:rPr lang="en-US" dirty="0"/>
              <a:t>This example was chosen because Buffett’s letter is worth discussing, not because it was tidy.</a:t>
            </a:r>
          </a:p>
          <a:p>
            <a:r>
              <a:rPr lang="en-US" dirty="0"/>
              <a:t>But notice how we had some tools to interrogate the financial statements and to assess our progress.</a:t>
            </a:r>
          </a:p>
        </p:txBody>
      </p:sp>
    </p:spTree>
    <p:extLst>
      <p:ext uri="{BB962C8B-B14F-4D97-AF65-F5344CB8AC3E}">
        <p14:creationId xmlns:p14="http://schemas.microsoft.com/office/powerpoint/2010/main" val="18597297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3: Impairments: PP&amp;E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74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660606" y="1352550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Property, Plant &amp; Equipment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857741" y="2545861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2768838" y="2284851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E0B5A-E473-4370-9130-86852BB18BC4}"/>
              </a:ext>
            </a:extLst>
          </p:cNvPr>
          <p:cNvSpPr txBox="1"/>
          <p:nvPr/>
        </p:nvSpPr>
        <p:spPr>
          <a:xfrm>
            <a:off x="6975623" y="2287666"/>
            <a:ext cx="182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Expirations thru passage of time:</a:t>
            </a:r>
          </a:p>
          <a:p>
            <a:pPr algn="ctr"/>
            <a:r>
              <a:rPr lang="en-US" b="1" dirty="0"/>
              <a:t>Depreciation Expense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F7E35-BEF8-473E-8B78-9818EC4F3DB2}"/>
              </a:ext>
            </a:extLst>
          </p:cNvPr>
          <p:cNvSpPr txBox="1"/>
          <p:nvPr/>
        </p:nvSpPr>
        <p:spPr>
          <a:xfrm>
            <a:off x="5005328" y="1352550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Accumulated Depreciation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1B0925-E87E-4581-8405-4E77A2D4F78C}"/>
              </a:ext>
            </a:extLst>
          </p:cNvPr>
          <p:cNvSpPr txBox="1"/>
          <p:nvPr/>
        </p:nvSpPr>
        <p:spPr>
          <a:xfrm>
            <a:off x="6963393" y="1929540"/>
            <a:ext cx="1901483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dirty="0"/>
              <a:t>Beginning Balance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44E36D-BE6D-44A7-BECF-62224D405205}"/>
              </a:ext>
            </a:extLst>
          </p:cNvPr>
          <p:cNvSpPr txBox="1"/>
          <p:nvPr/>
        </p:nvSpPr>
        <p:spPr>
          <a:xfrm>
            <a:off x="7032805" y="3611093"/>
            <a:ext cx="1611339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dirty="0"/>
              <a:t>Ending Balance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DBF5C8-39C1-4627-B3A2-EA57482D045D}"/>
              </a:ext>
            </a:extLst>
          </p:cNvPr>
          <p:cNvGrpSpPr/>
          <p:nvPr/>
        </p:nvGrpSpPr>
        <p:grpSpPr>
          <a:xfrm>
            <a:off x="4977926" y="1828135"/>
            <a:ext cx="3810000" cy="2209800"/>
            <a:chOff x="2667000" y="1581150"/>
            <a:chExt cx="3810000" cy="22098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A21E985-6716-4AF2-8D52-728FF83739CC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00" y="1581150"/>
              <a:ext cx="38100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CD311BE-DFC2-4F91-BDA8-7E8258494924}"/>
                </a:ext>
              </a:extLst>
            </p:cNvPr>
            <p:cNvCxnSpPr>
              <a:cxnSpLocks/>
            </p:cNvCxnSpPr>
            <p:nvPr/>
          </p:nvCxnSpPr>
          <p:spPr>
            <a:xfrm>
              <a:off x="4578096" y="1581150"/>
              <a:ext cx="0" cy="22098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0D718B-3560-428D-B9CD-584A47421C65}"/>
              </a:ext>
            </a:extLst>
          </p:cNvPr>
          <p:cNvCxnSpPr>
            <a:cxnSpLocks/>
          </p:cNvCxnSpPr>
          <p:nvPr/>
        </p:nvCxnSpPr>
        <p:spPr>
          <a:xfrm>
            <a:off x="4977926" y="3547373"/>
            <a:ext cx="381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B4A5C-F65F-4721-82A5-35B6E3372838}"/>
              </a:ext>
            </a:extLst>
          </p:cNvPr>
          <p:cNvCxnSpPr/>
          <p:nvPr/>
        </p:nvCxnSpPr>
        <p:spPr>
          <a:xfrm>
            <a:off x="6885974" y="4004408"/>
            <a:ext cx="1905000" cy="0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5EC81B-511F-4180-8F22-0156886CB79A}"/>
              </a:ext>
            </a:extLst>
          </p:cNvPr>
          <p:cNvSpPr txBox="1"/>
          <p:nvPr/>
        </p:nvSpPr>
        <p:spPr>
          <a:xfrm>
            <a:off x="5012858" y="2287051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A907FF5-FD9B-4E70-A1FA-97B0F97DD17C}"/>
              </a:ext>
            </a:extLst>
          </p:cNvPr>
          <p:cNvSpPr/>
          <p:nvPr/>
        </p:nvSpPr>
        <p:spPr>
          <a:xfrm>
            <a:off x="6939748" y="3471519"/>
            <a:ext cx="1816604" cy="6858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AA3B03-7C76-4E6D-A83B-8C9724686481}"/>
              </a:ext>
            </a:extLst>
          </p:cNvPr>
          <p:cNvCxnSpPr>
            <a:cxnSpLocks/>
            <a:stCxn id="32" idx="3"/>
            <a:endCxn id="30" idx="2"/>
          </p:cNvCxnSpPr>
          <p:nvPr/>
        </p:nvCxnSpPr>
        <p:spPr>
          <a:xfrm flipV="1">
            <a:off x="5933474" y="3814419"/>
            <a:ext cx="1006274" cy="34417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65006CA-1142-481C-97FD-E8FB1848FB09}"/>
              </a:ext>
            </a:extLst>
          </p:cNvPr>
          <p:cNvSpPr txBox="1"/>
          <p:nvPr/>
        </p:nvSpPr>
        <p:spPr>
          <a:xfrm>
            <a:off x="3242165" y="3835423"/>
            <a:ext cx="2691309" cy="646331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What if future cash flows are less than Book Value?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BABF29-F0DD-4517-BF47-0F03121F4FDA}"/>
              </a:ext>
            </a:extLst>
          </p:cNvPr>
          <p:cNvSpPr/>
          <p:nvPr/>
        </p:nvSpPr>
        <p:spPr>
          <a:xfrm>
            <a:off x="697065" y="3471519"/>
            <a:ext cx="1816604" cy="6858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9C1D66-1ED6-4BCF-A1B3-F20B5DAA15FF}"/>
              </a:ext>
            </a:extLst>
          </p:cNvPr>
          <p:cNvCxnSpPr>
            <a:cxnSpLocks/>
            <a:stCxn id="32" idx="1"/>
            <a:endCxn id="33" idx="6"/>
          </p:cNvCxnSpPr>
          <p:nvPr/>
        </p:nvCxnSpPr>
        <p:spPr>
          <a:xfrm flipH="1" flipV="1">
            <a:off x="2513669" y="3814419"/>
            <a:ext cx="728496" cy="34417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0C3D4F2-0180-4B3E-B409-DC1C5E348610}"/>
              </a:ext>
            </a:extLst>
          </p:cNvPr>
          <p:cNvSpPr txBox="1"/>
          <p:nvPr/>
        </p:nvSpPr>
        <p:spPr>
          <a:xfrm>
            <a:off x="2736344" y="3039542"/>
            <a:ext cx="1769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Impairment Loss</a:t>
            </a:r>
          </a:p>
        </p:txBody>
      </p:sp>
    </p:spTree>
    <p:extLst>
      <p:ext uri="{BB962C8B-B14F-4D97-AF65-F5344CB8AC3E}">
        <p14:creationId xmlns:p14="http://schemas.microsoft.com/office/powerpoint/2010/main" val="402052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4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Impairments: Goodwill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75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4EDBB8-CAC5-4D09-BDD8-2BA9E559CC8D}"/>
              </a:ext>
            </a:extLst>
          </p:cNvPr>
          <p:cNvGrpSpPr/>
          <p:nvPr/>
        </p:nvGrpSpPr>
        <p:grpSpPr>
          <a:xfrm>
            <a:off x="2659819" y="1367527"/>
            <a:ext cx="3817181" cy="2685385"/>
            <a:chOff x="2659819" y="1367527"/>
            <a:chExt cx="3817181" cy="26853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6FD05C-DE45-4112-A5BC-03FCFF374C32}"/>
                </a:ext>
              </a:extLst>
            </p:cNvPr>
            <p:cNvSpPr txBox="1"/>
            <p:nvPr/>
          </p:nvSpPr>
          <p:spPr>
            <a:xfrm>
              <a:off x="2694402" y="1367527"/>
              <a:ext cx="373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Goodwill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4CE148-D590-4946-A929-42172F7CB80A}"/>
                </a:ext>
              </a:extLst>
            </p:cNvPr>
            <p:cNvSpPr txBox="1"/>
            <p:nvPr/>
          </p:nvSpPr>
          <p:spPr>
            <a:xfrm>
              <a:off x="2659819" y="1976662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Beginning Balance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BEF5B0-AAA5-46D3-8979-A507EAB70FAD}"/>
                </a:ext>
              </a:extLst>
            </p:cNvPr>
            <p:cNvSpPr txBox="1"/>
            <p:nvPr/>
          </p:nvSpPr>
          <p:spPr>
            <a:xfrm>
              <a:off x="2775409" y="361559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dirty="0"/>
                <a:t>Ending Balance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1C3A69-1852-4BD9-9569-2C9757F3DCDE}"/>
                </a:ext>
              </a:extLst>
            </p:cNvPr>
            <p:cNvGrpSpPr/>
            <p:nvPr/>
          </p:nvGrpSpPr>
          <p:grpSpPr>
            <a:xfrm>
              <a:off x="2667000" y="1843112"/>
              <a:ext cx="3810000" cy="2209800"/>
              <a:chOff x="2667000" y="1843112"/>
              <a:chExt cx="3810000" cy="22098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AF19869-8895-4CAD-BCB6-E2D7092C68FE}"/>
                  </a:ext>
                </a:extLst>
              </p:cNvPr>
              <p:cNvGrpSpPr/>
              <p:nvPr/>
            </p:nvGrpSpPr>
            <p:grpSpPr>
              <a:xfrm>
                <a:off x="2667000" y="1843112"/>
                <a:ext cx="3810000" cy="2209800"/>
                <a:chOff x="2667000" y="1581150"/>
                <a:chExt cx="3810000" cy="22098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198F738-4B6F-47E6-B8D3-8E2339E73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7000" y="1581150"/>
                  <a:ext cx="381000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0D03A6B-1092-46CC-BFDB-5B40421B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8096" y="1581150"/>
                  <a:ext cx="0" cy="22098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DAD618B-6F62-4634-9AC5-1C56F413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3562350"/>
                <a:ext cx="381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BCCC8F2-610A-485E-8FB1-D58BBF45A92C}"/>
                  </a:ext>
                </a:extLst>
              </p:cNvPr>
              <p:cNvCxnSpPr/>
              <p:nvPr/>
            </p:nvCxnSpPr>
            <p:spPr>
              <a:xfrm>
                <a:off x="2667000" y="4037936"/>
                <a:ext cx="1905000" cy="0"/>
              </a:xfrm>
              <a:prstGeom prst="line">
                <a:avLst/>
              </a:prstGeom>
              <a:ln w="3810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44316F-04AA-4CA3-BF3F-0CAA997EB6B8}"/>
              </a:ext>
            </a:extLst>
          </p:cNvPr>
          <p:cNvSpPr txBox="1"/>
          <p:nvPr/>
        </p:nvSpPr>
        <p:spPr>
          <a:xfrm>
            <a:off x="2856954" y="256083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C493D-A47E-41A1-965F-F59D772B7714}"/>
              </a:ext>
            </a:extLst>
          </p:cNvPr>
          <p:cNvSpPr txBox="1"/>
          <p:nvPr/>
        </p:nvSpPr>
        <p:spPr>
          <a:xfrm>
            <a:off x="4751256" y="2072933"/>
            <a:ext cx="181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Subtractions thru</a:t>
            </a:r>
          </a:p>
          <a:p>
            <a:pPr algn="ctr"/>
            <a:r>
              <a:rPr lang="en-US" dirty="0"/>
              <a:t>transactions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1ADD7-98A9-4D3E-840A-BF3CD2502925}"/>
              </a:ext>
            </a:extLst>
          </p:cNvPr>
          <p:cNvSpPr txBox="1"/>
          <p:nvPr/>
        </p:nvSpPr>
        <p:spPr>
          <a:xfrm>
            <a:off x="5216353" y="3863295"/>
            <a:ext cx="2691309" cy="646331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What if future cash flows are less than Book Value?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CF55F1-659C-47D1-ADC0-2F4609A97BE2}"/>
              </a:ext>
            </a:extLst>
          </p:cNvPr>
          <p:cNvSpPr/>
          <p:nvPr/>
        </p:nvSpPr>
        <p:spPr>
          <a:xfrm>
            <a:off x="2671253" y="3499391"/>
            <a:ext cx="1816604" cy="6858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3D0BA3-D972-4A20-89C8-42FCBA7B8E51}"/>
              </a:ext>
            </a:extLst>
          </p:cNvPr>
          <p:cNvCxnSpPr>
            <a:cxnSpLocks/>
            <a:stCxn id="19" idx="1"/>
            <a:endCxn id="20" idx="6"/>
          </p:cNvCxnSpPr>
          <p:nvPr/>
        </p:nvCxnSpPr>
        <p:spPr>
          <a:xfrm flipH="1" flipV="1">
            <a:off x="4487857" y="3842291"/>
            <a:ext cx="728496" cy="34417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F8D7A36-EEA2-4FD4-9F83-6AEF1AC9F843}"/>
              </a:ext>
            </a:extLst>
          </p:cNvPr>
          <p:cNvSpPr txBox="1"/>
          <p:nvPr/>
        </p:nvSpPr>
        <p:spPr>
          <a:xfrm>
            <a:off x="4751256" y="2931056"/>
            <a:ext cx="1769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Impairment Loss</a:t>
            </a:r>
          </a:p>
        </p:txBody>
      </p:sp>
    </p:spTree>
    <p:extLst>
      <p:ext uri="{BB962C8B-B14F-4D97-AF65-F5344CB8AC3E}">
        <p14:creationId xmlns:p14="http://schemas.microsoft.com/office/powerpoint/2010/main" val="251436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C527-A494-4988-8EDD-E78212F6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JDS Uniphase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C89DB-8838-4025-B878-47733DE1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76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A1324-9E35-4833-B757-C50B214F2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276350"/>
            <a:ext cx="7848600" cy="296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252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30C64-AE9A-4A8C-AAC5-CBFFC788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77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5D975-9DA3-43E7-8C3A-E45391BE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76" y="63324"/>
            <a:ext cx="5626324" cy="4870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28135E-F92A-4B82-84E0-667AEA905AFA}"/>
              </a:ext>
            </a:extLst>
          </p:cNvPr>
          <p:cNvSpPr/>
          <p:nvPr/>
        </p:nvSpPr>
        <p:spPr>
          <a:xfrm>
            <a:off x="762000" y="4248150"/>
            <a:ext cx="990600" cy="792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F03EDE-B83E-4BB6-AB31-03CE2C0A7A5D}"/>
              </a:ext>
            </a:extLst>
          </p:cNvPr>
          <p:cNvSpPr/>
          <p:nvPr/>
        </p:nvSpPr>
        <p:spPr>
          <a:xfrm>
            <a:off x="1828800" y="2463284"/>
            <a:ext cx="3048000" cy="369332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FAAF1-CE92-4131-90AA-E84F501DB05E}"/>
              </a:ext>
            </a:extLst>
          </p:cNvPr>
          <p:cNvSpPr txBox="1"/>
          <p:nvPr/>
        </p:nvSpPr>
        <p:spPr>
          <a:xfrm>
            <a:off x="7480362" y="2300231"/>
            <a:ext cx="761714" cy="369332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Wow!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E597BF-4649-4EEE-89D9-D2BA50044719}"/>
              </a:ext>
            </a:extLst>
          </p:cNvPr>
          <p:cNvSpPr/>
          <p:nvPr/>
        </p:nvSpPr>
        <p:spPr>
          <a:xfrm>
            <a:off x="5334000" y="2498636"/>
            <a:ext cx="609600" cy="244732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93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  <p:bldP spid="1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D7CA-C52A-A577-5E6A-FF4A2411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23E0-E928-5667-29B3-35CF12DC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Wrap up case</a:t>
            </a:r>
          </a:p>
          <a:p>
            <a:r>
              <a:rPr lang="en-US" dirty="0"/>
              <a:t>Revisit the Grow Company</a:t>
            </a:r>
          </a:p>
        </p:txBody>
      </p:sp>
    </p:spTree>
    <p:extLst>
      <p:ext uri="{BB962C8B-B14F-4D97-AF65-F5344CB8AC3E}">
        <p14:creationId xmlns:p14="http://schemas.microsoft.com/office/powerpoint/2010/main" val="2645079491"/>
      </p:ext>
    </p:extLst>
  </p:cSld>
  <p:clrMapOvr>
    <a:masterClrMapping/>
  </p:clrMapOvr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29B1C85-9DAF-4B68-BE90-515A793D29A8}" vid="{D0254D67-9CFA-4424-9146-F95DD8B39E48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ACCT270</Template>
  <TotalTime>846</TotalTime>
  <Words>1519</Words>
  <Application>Microsoft Office PowerPoint</Application>
  <PresentationFormat>On-screen Show (16:9)</PresentationFormat>
  <Paragraphs>501</Paragraphs>
  <Slides>78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4" baseType="lpstr">
      <vt:lpstr>Arial</vt:lpstr>
      <vt:lpstr>Calibri</vt:lpstr>
      <vt:lpstr>Courier New</vt:lpstr>
      <vt:lpstr>Helvetica</vt:lpstr>
      <vt:lpstr>Times New Roman</vt:lpstr>
      <vt:lpstr>ACCT270-white-wide</vt:lpstr>
      <vt:lpstr>ACCT270 Foundations of Accounting &amp; Valuation </vt:lpstr>
      <vt:lpstr>Adjustments</vt:lpstr>
      <vt:lpstr>Adjustments 1</vt:lpstr>
      <vt:lpstr>Either Way, It’s Like This …</vt:lpstr>
      <vt:lpstr>Example: Prepaid Rent</vt:lpstr>
      <vt:lpstr>Example: Prepaid Insurance</vt:lpstr>
      <vt:lpstr>Example: Property, Plant &amp; Equipment</vt:lpstr>
      <vt:lpstr>Wait: We Used a Contra Account</vt:lpstr>
      <vt:lpstr>Example: Patents</vt:lpstr>
      <vt:lpstr>What About a Contra Account?</vt:lpstr>
      <vt:lpstr>Tesla</vt:lpstr>
      <vt:lpstr>Tesla</vt:lpstr>
      <vt:lpstr>Example: Goodwill</vt:lpstr>
      <vt:lpstr>Adjustments 2</vt:lpstr>
      <vt:lpstr>It’s Like This …</vt:lpstr>
      <vt:lpstr>Example: How GAAP for AR Works</vt:lpstr>
      <vt:lpstr>Use of Contra Account</vt:lpstr>
      <vt:lpstr>PowerPoint Presentation</vt:lpstr>
      <vt:lpstr>PowerPoint Presentation</vt:lpstr>
      <vt:lpstr>Accounts Receivable, net</vt:lpstr>
      <vt:lpstr>Estimating the Allowance for Doubtful Accounts</vt:lpstr>
      <vt:lpstr>Account Analysis</vt:lpstr>
      <vt:lpstr>PowerPoint Presentation</vt:lpstr>
      <vt:lpstr>Citigroup 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2: Marketable Securities</vt:lpstr>
      <vt:lpstr>Example: Marketable Securities</vt:lpstr>
      <vt:lpstr>Example: Marketable Securities</vt:lpstr>
      <vt:lpstr>Mark-to-Market, Net Income &amp; AOCI</vt:lpstr>
      <vt:lpstr>Accumulated Other Comprehensive Income</vt:lpstr>
      <vt:lpstr>Berkshire hathaway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Dividends Declared?</vt:lpstr>
      <vt:lpstr>Any Dividends Paid?</vt:lpstr>
      <vt:lpstr>Entry to Reclassify AOCI into RE #1</vt:lpstr>
      <vt:lpstr>PowerPoint Presentation</vt:lpstr>
      <vt:lpstr>Reclassify AOCI to RE #2</vt:lpstr>
      <vt:lpstr>PowerPoint Presentation</vt:lpstr>
      <vt:lpstr>Cash Sales of Investments in Equity Securities</vt:lpstr>
      <vt:lpstr>PowerPoint Presentation</vt:lpstr>
      <vt:lpstr>PowerPoint Presentation</vt:lpstr>
      <vt:lpstr>PowerPoint Presentation</vt:lpstr>
      <vt:lpstr>Fair Value Adjustment</vt:lpstr>
      <vt:lpstr>PowerPoint Presentation</vt:lpstr>
      <vt:lpstr>Investments Gains/Losses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from Note 2</vt:lpstr>
      <vt:lpstr>One Last Place to Look</vt:lpstr>
      <vt:lpstr>One Last Thing</vt:lpstr>
      <vt:lpstr>PowerPoint Presentation</vt:lpstr>
      <vt:lpstr>Berkshire Case: Conclusion</vt:lpstr>
      <vt:lpstr>Example 3: Impairments: PP&amp;E</vt:lpstr>
      <vt:lpstr>Impairments: Goodwill</vt:lpstr>
      <vt:lpstr>JDS Uniphase</vt:lpstr>
      <vt:lpstr>PowerPoint Presentation</vt:lpstr>
      <vt:lpstr>Next Time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ACCT270 Foundations of Accounting &amp; Valuation </dc:title>
  <dc:subject/>
  <dc:creator>Antle, Rick</dc:creator>
  <cp:keywords/>
  <dc:description/>
  <cp:lastModifiedBy>Antle, Rick</cp:lastModifiedBy>
  <cp:revision>2</cp:revision>
  <dcterms:created xsi:type="dcterms:W3CDTF">2020-11-30T00:34:39Z</dcterms:created>
  <dcterms:modified xsi:type="dcterms:W3CDTF">2025-04-20T21:17:12Z</dcterms:modified>
  <cp:category/>
</cp:coreProperties>
</file>