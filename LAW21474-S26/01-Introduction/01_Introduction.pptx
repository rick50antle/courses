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62" r:id="rId3"/>
    <p:sldId id="263" r:id="rId4"/>
    <p:sldId id="265" r:id="rId5"/>
    <p:sldId id="264" r:id="rId6"/>
    <p:sldId id="270" r:id="rId7"/>
    <p:sldId id="257" r:id="rId8"/>
    <p:sldId id="280" r:id="rId9"/>
    <p:sldId id="279" r:id="rId10"/>
    <p:sldId id="278" r:id="rId11"/>
    <p:sldId id="261" r:id="rId12"/>
    <p:sldId id="277" r:id="rId13"/>
    <p:sldId id="276" r:id="rId14"/>
    <p:sldId id="275" r:id="rId15"/>
    <p:sldId id="274" r:id="rId16"/>
    <p:sldId id="273" r:id="rId17"/>
    <p:sldId id="272" r:id="rId18"/>
    <p:sldId id="271" r:id="rId19"/>
    <p:sldId id="266" r:id="rId20"/>
    <p:sldId id="269" r:id="rId21"/>
    <p:sldId id="268" r:id="rId22"/>
    <p:sldId id="258" r:id="rId23"/>
    <p:sldId id="259" r:id="rId24"/>
    <p:sldId id="260" r:id="rId25"/>
    <p:sldId id="267"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0" y="43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le, Rick" userId="c2afbbd2-30e4-4c8e-8af5-81913178ace3" providerId="ADAL" clId="{B22BF353-A6D4-4E45-AB19-2E4F34336750}"/>
    <pc:docChg chg="modSld">
      <pc:chgData name="Antle, Rick" userId="c2afbbd2-30e4-4c8e-8af5-81913178ace3" providerId="ADAL" clId="{B22BF353-A6D4-4E45-AB19-2E4F34336750}" dt="2026-01-12T18:56:38.807" v="2" actId="20577"/>
      <pc:docMkLst>
        <pc:docMk/>
      </pc:docMkLst>
      <pc:sldChg chg="modSp mod">
        <pc:chgData name="Antle, Rick" userId="c2afbbd2-30e4-4c8e-8af5-81913178ace3" providerId="ADAL" clId="{B22BF353-A6D4-4E45-AB19-2E4F34336750}" dt="2026-01-12T18:56:38.807" v="2" actId="20577"/>
        <pc:sldMkLst>
          <pc:docMk/>
          <pc:sldMk cId="2464952412" sldId="256"/>
        </pc:sldMkLst>
        <pc:spChg chg="mod">
          <ac:chgData name="Antle, Rick" userId="c2afbbd2-30e4-4c8e-8af5-81913178ace3" providerId="ADAL" clId="{B22BF353-A6D4-4E45-AB19-2E4F34336750}" dt="2026-01-12T18:56:38.807" v="2" actId="20577"/>
          <ac:spMkLst>
            <pc:docMk/>
            <pc:sldMk cId="2464952412"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B0E143-0929-4D6C-A466-0A80672CF0D6}" type="datetimeFigureOut">
              <a:rPr lang="en-US" smtClean="0"/>
              <a:t>1/12/2026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53C36F-EA87-4FDE-A767-456819994F82}" type="slidenum">
              <a:rPr lang="en-US" smtClean="0"/>
              <a:t>‹#›</a:t>
            </a:fld>
            <a:endParaRPr lang="en-US"/>
          </a:p>
        </p:txBody>
      </p:sp>
    </p:spTree>
    <p:extLst>
      <p:ext uri="{BB962C8B-B14F-4D97-AF65-F5344CB8AC3E}">
        <p14:creationId xmlns:p14="http://schemas.microsoft.com/office/powerpoint/2010/main" val="66112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0515B26-643F-493B-A5B6-10C19422545C}" type="slidenum">
              <a:rPr lang="en-US" smtClean="0"/>
              <a:t>2</a:t>
            </a:fld>
            <a:endParaRPr lang="en-US"/>
          </a:p>
        </p:txBody>
      </p:sp>
    </p:spTree>
    <p:extLst>
      <p:ext uri="{BB962C8B-B14F-4D97-AF65-F5344CB8AC3E}">
        <p14:creationId xmlns:p14="http://schemas.microsoft.com/office/powerpoint/2010/main" val="111644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0515B26-643F-493B-A5B6-10C19422545C}" type="slidenum">
              <a:rPr lang="en-US" smtClean="0"/>
              <a:t>3</a:t>
            </a:fld>
            <a:endParaRPr lang="en-US"/>
          </a:p>
        </p:txBody>
      </p:sp>
    </p:spTree>
    <p:extLst>
      <p:ext uri="{BB962C8B-B14F-4D97-AF65-F5344CB8AC3E}">
        <p14:creationId xmlns:p14="http://schemas.microsoft.com/office/powerpoint/2010/main" val="2658473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53C36F-EA87-4FDE-A767-456819994F82}" type="slidenum">
              <a:rPr lang="en-US" smtClean="0"/>
              <a:t>13</a:t>
            </a:fld>
            <a:endParaRPr lang="en-US"/>
          </a:p>
        </p:txBody>
      </p:sp>
    </p:spTree>
    <p:extLst>
      <p:ext uri="{BB962C8B-B14F-4D97-AF65-F5344CB8AC3E}">
        <p14:creationId xmlns:p14="http://schemas.microsoft.com/office/powerpoint/2010/main" val="4279170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612668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320696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60735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492793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385025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886908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671652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698034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70367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3104101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1898AFE-C235-4214-B6F5-261FC913255E}" type="datetimeFigureOut">
              <a:rPr lang="en-US" smtClean="0"/>
              <a:t>1/12/2026</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0428EC5-F22C-45A0-B0AE-478D58FB1D5D}" type="slidenum">
              <a:rPr lang="en-US" smtClean="0"/>
              <a:t>‹#›</a:t>
            </a:fld>
            <a:endParaRPr lang="en-US"/>
          </a:p>
        </p:txBody>
      </p:sp>
    </p:spTree>
    <p:extLst>
      <p:ext uri="{BB962C8B-B14F-4D97-AF65-F5344CB8AC3E}">
        <p14:creationId xmlns:p14="http://schemas.microsoft.com/office/powerpoint/2010/main" val="2538443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857250"/>
          </a:xfrm>
        </p:spPr>
        <p:txBody>
          <a:bodyPr/>
          <a:lstStyle/>
          <a:p>
            <a:r>
              <a:rPr lang="en-US"/>
              <a:t>Click to edit Master title style</a:t>
            </a:r>
          </a:p>
        </p:txBody>
      </p:sp>
      <p:sp>
        <p:nvSpPr>
          <p:cNvPr id="3" name="Table Placeholder 2"/>
          <p:cNvSpPr>
            <a:spLocks noGrp="1"/>
          </p:cNvSpPr>
          <p:nvPr>
            <p:ph type="tbl" idx="1"/>
          </p:nvPr>
        </p:nvSpPr>
        <p:spPr>
          <a:xfrm>
            <a:off x="685800" y="1485900"/>
            <a:ext cx="7772400" cy="3086100"/>
          </a:xfrm>
        </p:spPr>
        <p:txBody>
          <a:bodyPr/>
          <a:lstStyle/>
          <a:p>
            <a:pPr lvl="0"/>
            <a:endParaRPr lang="en-US" noProof="0"/>
          </a:p>
        </p:txBody>
      </p:sp>
      <p:sp>
        <p:nvSpPr>
          <p:cNvPr id="4" name="Rectangle 4"/>
          <p:cNvSpPr>
            <a:spLocks noGrp="1" noChangeArrowheads="1"/>
          </p:cNvSpPr>
          <p:nvPr>
            <p:ph type="dt" sz="half" idx="10"/>
          </p:nvPr>
        </p:nvSpPr>
        <p:spPr>
          <a:xfrm>
            <a:off x="457200" y="4767263"/>
            <a:ext cx="2133600" cy="273844"/>
          </a:xfrm>
          <a:prstGeom prst="rect">
            <a:avLst/>
          </a:prstGeom>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4767263"/>
            <a:ext cx="2895600" cy="273844"/>
          </a:xfrm>
          <a:prstGeom prst="rect">
            <a:avLst/>
          </a:prstGeom>
        </p:spPr>
        <p:txBody>
          <a:bodyPr/>
          <a:lstStyle>
            <a:lvl1pPr>
              <a:defRPr/>
            </a:lvl1pPr>
          </a:lstStyle>
          <a:p>
            <a:pPr>
              <a:defRPr/>
            </a:pPr>
            <a:r>
              <a:rPr lang="en-US"/>
              <a:t>MGT 502                     </a:t>
            </a:r>
          </a:p>
        </p:txBody>
      </p:sp>
      <p:sp>
        <p:nvSpPr>
          <p:cNvPr id="6" name="Rectangle 6"/>
          <p:cNvSpPr>
            <a:spLocks noGrp="1" noChangeArrowheads="1"/>
          </p:cNvSpPr>
          <p:nvPr>
            <p:ph type="sldNum" sz="quarter" idx="12"/>
          </p:nvPr>
        </p:nvSpPr>
        <p:spPr/>
        <p:txBody>
          <a:bodyPr/>
          <a:lstStyle>
            <a:lvl1pPr>
              <a:defRPr/>
            </a:lvl1pPr>
          </a:lstStyle>
          <a:p>
            <a:pPr>
              <a:defRPr/>
            </a:pPr>
            <a:fld id="{3B7953CC-9593-41A4-A1FE-C7B550F58CCD}" type="slidenum">
              <a:rPr lang="en-US"/>
              <a:pPr>
                <a:defRPr/>
              </a:pPr>
              <a:t>‹#›</a:t>
            </a:fld>
            <a:endParaRPr lang="en-US"/>
          </a:p>
        </p:txBody>
      </p:sp>
    </p:spTree>
    <p:extLst>
      <p:ext uri="{BB962C8B-B14F-4D97-AF65-F5344CB8AC3E}">
        <p14:creationId xmlns:p14="http://schemas.microsoft.com/office/powerpoint/2010/main" val="247763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54" y="3978862"/>
            <a:ext cx="3048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0428EC5-F22C-45A0-B0AE-478D58FB1D5D}" type="slidenum">
              <a:rPr lang="en-US" smtClean="0"/>
              <a:t>‹#›</a:t>
            </a:fld>
            <a:endParaRPr lang="en-US"/>
          </a:p>
        </p:txBody>
      </p:sp>
    </p:spTree>
    <p:extLst>
      <p:ext uri="{BB962C8B-B14F-4D97-AF65-F5344CB8AC3E}">
        <p14:creationId xmlns:p14="http://schemas.microsoft.com/office/powerpoint/2010/main" val="1501029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LAW 21474</a:t>
            </a:r>
            <a:br>
              <a:rPr lang="en-US" dirty="0"/>
            </a:br>
            <a:r>
              <a:rPr lang="en-US" dirty="0"/>
              <a:t>Financial Accounting</a:t>
            </a:r>
          </a:p>
        </p:txBody>
      </p:sp>
      <p:sp>
        <p:nvSpPr>
          <p:cNvPr id="3" name="Subtitle 2"/>
          <p:cNvSpPr>
            <a:spLocks noGrp="1"/>
          </p:cNvSpPr>
          <p:nvPr>
            <p:ph type="subTitle" idx="1"/>
          </p:nvPr>
        </p:nvSpPr>
        <p:spPr/>
        <p:txBody>
          <a:bodyPr/>
          <a:lstStyle/>
          <a:p>
            <a:r>
              <a:rPr lang="en-US"/>
              <a:t>Session 1: Introduction</a:t>
            </a:r>
          </a:p>
        </p:txBody>
      </p:sp>
    </p:spTree>
    <p:extLst>
      <p:ext uri="{BB962C8B-B14F-4D97-AF65-F5344CB8AC3E}">
        <p14:creationId xmlns:p14="http://schemas.microsoft.com/office/powerpoint/2010/main" val="2464952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BFC5CBA-8826-43CD-9F66-DF2D8BFAA6CF}" type="slidenum">
              <a:rPr lang="en-US" altLang="en-US"/>
              <a:pPr/>
              <a:t>2</a:t>
            </a:fld>
            <a:endParaRPr lang="en-US" altLang="en-US"/>
          </a:p>
        </p:txBody>
      </p:sp>
      <p:sp>
        <p:nvSpPr>
          <p:cNvPr id="6146" name="Rectangle 2"/>
          <p:cNvSpPr>
            <a:spLocks noGrp="1" noChangeArrowheads="1"/>
          </p:cNvSpPr>
          <p:nvPr>
            <p:ph type="title"/>
          </p:nvPr>
        </p:nvSpPr>
        <p:spPr/>
        <p:txBody>
          <a:bodyPr/>
          <a:lstStyle/>
          <a:p>
            <a:r>
              <a:rPr lang="en-US" altLang="en-US" b="0"/>
              <a:t>Instructor</a:t>
            </a:r>
          </a:p>
        </p:txBody>
      </p:sp>
      <p:sp>
        <p:nvSpPr>
          <p:cNvPr id="6147" name="Rectangle 3"/>
          <p:cNvSpPr>
            <a:spLocks noGrp="1" noChangeArrowheads="1"/>
          </p:cNvSpPr>
          <p:nvPr>
            <p:ph type="body" idx="1"/>
          </p:nvPr>
        </p:nvSpPr>
        <p:spPr>
          <a:xfrm>
            <a:off x="685800" y="1143000"/>
            <a:ext cx="7772400" cy="3409950"/>
          </a:xfrm>
        </p:spPr>
        <p:txBody>
          <a:bodyPr>
            <a:normAutofit fontScale="55000" lnSpcReduction="20000"/>
          </a:bodyPr>
          <a:lstStyle/>
          <a:p>
            <a:pPr>
              <a:lnSpc>
                <a:spcPct val="120000"/>
              </a:lnSpc>
            </a:pPr>
            <a:r>
              <a:rPr lang="en-US" altLang="en-US" sz="2800" b="1"/>
              <a:t>Rick Antle</a:t>
            </a:r>
            <a:endParaRPr lang="en-US" altLang="en-US" sz="2800"/>
          </a:p>
          <a:p>
            <a:pPr lvl="1">
              <a:lnSpc>
                <a:spcPct val="120000"/>
              </a:lnSpc>
            </a:pPr>
            <a:r>
              <a:rPr lang="en-US" altLang="en-US" sz="2400"/>
              <a:t>William S. Beinecke Professor of Accounting</a:t>
            </a:r>
          </a:p>
          <a:p>
            <a:pPr lvl="1">
              <a:lnSpc>
                <a:spcPct val="120000"/>
              </a:lnSpc>
            </a:pPr>
            <a:r>
              <a:rPr lang="en-US" altLang="en-US" sz="2400"/>
              <a:t>Been at Yale since 1985, before that served as Associate Professor at the University of Chicago</a:t>
            </a:r>
          </a:p>
          <a:p>
            <a:pPr lvl="1">
              <a:lnSpc>
                <a:spcPct val="120000"/>
              </a:lnSpc>
            </a:pPr>
            <a:r>
              <a:rPr lang="en-US" altLang="en-US" sz="2400"/>
              <a:t>Ph.D. in Business from Stanford, 1981</a:t>
            </a:r>
          </a:p>
          <a:p>
            <a:pPr lvl="1">
              <a:lnSpc>
                <a:spcPct val="120000"/>
              </a:lnSpc>
            </a:pPr>
            <a:r>
              <a:rPr lang="en-US" altLang="en-US" sz="2400"/>
              <a:t>Co-founder of:</a:t>
            </a:r>
          </a:p>
          <a:p>
            <a:pPr lvl="2">
              <a:lnSpc>
                <a:spcPct val="120000"/>
              </a:lnSpc>
            </a:pPr>
            <a:r>
              <a:rPr lang="en-US" altLang="en-US" sz="2000"/>
              <a:t>Ross, Jeffrey &amp; Antle, LLC  (Now RJA Asset Management LLC)</a:t>
            </a:r>
          </a:p>
          <a:p>
            <a:pPr lvl="2">
              <a:lnSpc>
                <a:spcPct val="120000"/>
              </a:lnSpc>
            </a:pPr>
            <a:r>
              <a:rPr lang="en-US" altLang="en-US" sz="2000"/>
              <a:t>Compensation Valuation, Inc.</a:t>
            </a:r>
          </a:p>
          <a:p>
            <a:pPr lvl="2">
              <a:lnSpc>
                <a:spcPct val="120000"/>
              </a:lnSpc>
            </a:pPr>
            <a:r>
              <a:rPr lang="en-US" altLang="en-US" sz="2000"/>
              <a:t>33 Whitney Associates, LLC</a:t>
            </a:r>
          </a:p>
          <a:p>
            <a:pPr lvl="1">
              <a:lnSpc>
                <a:spcPct val="120000"/>
              </a:lnSpc>
            </a:pPr>
            <a:r>
              <a:rPr lang="en-US" altLang="en-US" sz="2400"/>
              <a:t>Sole member of 217 Canner Associates, LLC, trustee of Greenwich Sentry and Greenwich Sentry Partners Liquidation Trusts, two BLMIS feeder funds.</a:t>
            </a:r>
          </a:p>
          <a:p>
            <a:pPr>
              <a:lnSpc>
                <a:spcPct val="120000"/>
              </a:lnSpc>
            </a:pPr>
            <a:r>
              <a:rPr lang="en-US" altLang="en-US" sz="2800"/>
              <a:t>Current professional interests</a:t>
            </a:r>
          </a:p>
          <a:p>
            <a:pPr lvl="1">
              <a:lnSpc>
                <a:spcPct val="120000"/>
              </a:lnSpc>
            </a:pPr>
            <a:r>
              <a:rPr lang="en-US" altLang="en-US" sz="2400"/>
              <a:t>Teaching the first accounting course</a:t>
            </a:r>
          </a:p>
        </p:txBody>
      </p:sp>
    </p:spTree>
    <p:extLst>
      <p:ext uri="{BB962C8B-B14F-4D97-AF65-F5344CB8AC3E}">
        <p14:creationId xmlns:p14="http://schemas.microsoft.com/office/powerpoint/2010/main" val="354813663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147">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6147">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6147">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6147">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614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14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614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 name="Slide Number Placeholder 5"/>
          <p:cNvSpPr>
            <a:spLocks noGrp="1"/>
          </p:cNvSpPr>
          <p:nvPr>
            <p:ph type="sldNum" sz="quarter" idx="12"/>
          </p:nvPr>
        </p:nvSpPr>
        <p:spPr>
          <a:noFill/>
        </p:spPr>
        <p:txBody>
          <a:bodyPr/>
          <a:lstStyle/>
          <a:p>
            <a:fld id="{6ADC8D5A-095F-4234-93C5-458C59082EAB}" type="slidenum">
              <a:rPr lang="en-US" smtClean="0"/>
              <a:pPr/>
              <a:t>3</a:t>
            </a:fld>
            <a:endParaRPr lang="en-US"/>
          </a:p>
        </p:txBody>
      </p:sp>
      <p:sp>
        <p:nvSpPr>
          <p:cNvPr id="1029" name="Rectangle 7"/>
          <p:cNvSpPr>
            <a:spLocks noGrp="1" noChangeArrowheads="1"/>
          </p:cNvSpPr>
          <p:nvPr>
            <p:ph type="title"/>
          </p:nvPr>
        </p:nvSpPr>
        <p:spPr>
          <a:xfrm>
            <a:off x="685800" y="228600"/>
            <a:ext cx="7772400" cy="857250"/>
          </a:xfrm>
        </p:spPr>
        <p:txBody>
          <a:bodyPr/>
          <a:lstStyle/>
          <a:p>
            <a:r>
              <a:rPr lang="en-US"/>
              <a:t>Course details</a:t>
            </a:r>
          </a:p>
        </p:txBody>
      </p:sp>
      <p:graphicFrame>
        <p:nvGraphicFramePr>
          <p:cNvPr id="4" name="Table Placeholder 3"/>
          <p:cNvGraphicFramePr>
            <a:graphicFrameLocks noGrp="1"/>
          </p:cNvGraphicFramePr>
          <p:nvPr>
            <p:ph type="tbl" idx="1"/>
            <p:extLst>
              <p:ext uri="{D42A27DB-BD31-4B8C-83A1-F6EECF244321}">
                <p14:modId xmlns:p14="http://schemas.microsoft.com/office/powerpoint/2010/main" val="4108533790"/>
              </p:ext>
            </p:extLst>
          </p:nvPr>
        </p:nvGraphicFramePr>
        <p:xfrm>
          <a:off x="685800" y="1485900"/>
          <a:ext cx="7772400" cy="18542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70840">
                <a:tc>
                  <a:txBody>
                    <a:bodyPr/>
                    <a:lstStyle/>
                    <a:p>
                      <a:pPr algn="ctr"/>
                      <a:r>
                        <a:rPr lang="en-US"/>
                        <a:t>Item</a:t>
                      </a:r>
                    </a:p>
                  </a:txBody>
                  <a:tcPr/>
                </a:tc>
                <a:tc>
                  <a:txBody>
                    <a:bodyPr/>
                    <a:lstStyle/>
                    <a:p>
                      <a:pPr algn="ctr"/>
                      <a:r>
                        <a:rPr lang="en-US"/>
                        <a:t>Part of Grade</a:t>
                      </a:r>
                    </a:p>
                  </a:txBody>
                  <a:tcPr/>
                </a:tc>
                <a:tc>
                  <a:txBody>
                    <a:bodyPr/>
                    <a:lstStyle/>
                    <a:p>
                      <a:pPr algn="ctr"/>
                      <a:r>
                        <a:rPr lang="en-US"/>
                        <a:t>Due</a:t>
                      </a:r>
                    </a:p>
                  </a:txBody>
                  <a:tcPr/>
                </a:tc>
                <a:extLst>
                  <a:ext uri="{0D108BD9-81ED-4DB2-BD59-A6C34878D82A}">
                    <a16:rowId xmlns:a16="http://schemas.microsoft.com/office/drawing/2014/main" val="10000"/>
                  </a:ext>
                </a:extLst>
              </a:tr>
              <a:tr h="370840">
                <a:tc>
                  <a:txBody>
                    <a:bodyPr/>
                    <a:lstStyle/>
                    <a:p>
                      <a:r>
                        <a:rPr lang="en-US"/>
                        <a:t>Homework</a:t>
                      </a:r>
                    </a:p>
                  </a:txBody>
                  <a:tcPr/>
                </a:tc>
                <a:tc>
                  <a:txBody>
                    <a:bodyPr/>
                    <a:lstStyle/>
                    <a:p>
                      <a:pPr algn="ctr"/>
                      <a:r>
                        <a:rPr lang="en-US"/>
                        <a:t>10%</a:t>
                      </a:r>
                    </a:p>
                  </a:txBody>
                  <a:tcPr/>
                </a:tc>
                <a:tc>
                  <a:txBody>
                    <a:bodyPr/>
                    <a:lstStyle/>
                    <a:p>
                      <a:pPr algn="ctr"/>
                      <a:r>
                        <a:rPr lang="en-US"/>
                        <a:t>Each class session</a:t>
                      </a:r>
                    </a:p>
                  </a:txBody>
                  <a:tcPr/>
                </a:tc>
                <a:extLst>
                  <a:ext uri="{0D108BD9-81ED-4DB2-BD59-A6C34878D82A}">
                    <a16:rowId xmlns:a16="http://schemas.microsoft.com/office/drawing/2014/main" val="10001"/>
                  </a:ext>
                </a:extLst>
              </a:tr>
              <a:tr h="370840">
                <a:tc>
                  <a:txBody>
                    <a:bodyPr/>
                    <a:lstStyle/>
                    <a:p>
                      <a:r>
                        <a:rPr lang="en-US"/>
                        <a:t>Problem</a:t>
                      </a:r>
                      <a:r>
                        <a:rPr lang="en-US" baseline="0"/>
                        <a:t> Set</a:t>
                      </a:r>
                      <a:endParaRPr lang="en-US"/>
                    </a:p>
                  </a:txBody>
                  <a:tcPr/>
                </a:tc>
                <a:tc>
                  <a:txBody>
                    <a:bodyPr/>
                    <a:lstStyle/>
                    <a:p>
                      <a:pPr algn="ctr"/>
                      <a:r>
                        <a:rPr lang="en-US"/>
                        <a:t>70%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October 14 6 pm</a:t>
                      </a:r>
                    </a:p>
                  </a:txBody>
                  <a:tcPr/>
                </a:tc>
                <a:extLst>
                  <a:ext uri="{0D108BD9-81ED-4DB2-BD59-A6C34878D82A}">
                    <a16:rowId xmlns:a16="http://schemas.microsoft.com/office/drawing/2014/main" val="10002"/>
                  </a:ext>
                </a:extLst>
              </a:tr>
              <a:tr h="370840">
                <a:tc>
                  <a:txBody>
                    <a:bodyPr/>
                    <a:lstStyle/>
                    <a:p>
                      <a:r>
                        <a:rPr lang="en-US"/>
                        <a:t>Final Exam or Project</a:t>
                      </a:r>
                    </a:p>
                  </a:txBody>
                  <a:tcPr/>
                </a:tc>
                <a:tc>
                  <a:txBody>
                    <a:bodyPr/>
                    <a:lstStyle/>
                    <a:p>
                      <a:pPr algn="ctr"/>
                      <a:r>
                        <a:rPr lang="en-US"/>
                        <a:t>20%</a:t>
                      </a:r>
                    </a:p>
                  </a:txBody>
                  <a:tcPr/>
                </a:tc>
                <a:tc>
                  <a:txBody>
                    <a:bodyPr/>
                    <a:lstStyle/>
                    <a:p>
                      <a:pPr algn="ctr"/>
                      <a:r>
                        <a:rPr lang="en-US"/>
                        <a:t>Self-scheduled</a:t>
                      </a:r>
                    </a:p>
                  </a:txBody>
                  <a:tcPr/>
                </a:tc>
                <a:extLst>
                  <a:ext uri="{0D108BD9-81ED-4DB2-BD59-A6C34878D82A}">
                    <a16:rowId xmlns:a16="http://schemas.microsoft.com/office/drawing/2014/main" val="10003"/>
                  </a:ext>
                </a:extLst>
              </a:tr>
              <a:tr h="370840">
                <a:tc>
                  <a:txBody>
                    <a:bodyPr/>
                    <a:lstStyle/>
                    <a:p>
                      <a:r>
                        <a:rPr lang="en-US"/>
                        <a:t>Total</a:t>
                      </a:r>
                    </a:p>
                  </a:txBody>
                  <a:tcPr/>
                </a:tc>
                <a:tc>
                  <a:txBody>
                    <a:bodyPr/>
                    <a:lstStyle/>
                    <a:p>
                      <a:pPr algn="ctr"/>
                      <a:r>
                        <a:rPr lang="en-US"/>
                        <a:t>100%</a:t>
                      </a:r>
                    </a:p>
                  </a:txBody>
                  <a:tcPr/>
                </a:tc>
                <a:tc>
                  <a:txBody>
                    <a:bodyPr/>
                    <a:lstStyle/>
                    <a:p>
                      <a:pPr algn="ctr"/>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1978669"/>
      </p:ext>
    </p:extLst>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550"/>
            <a:ext cx="8229600" cy="857250"/>
          </a:xfrm>
        </p:spPr>
        <p:txBody>
          <a:bodyPr/>
          <a:lstStyle/>
          <a:p>
            <a:r>
              <a:rPr lang="en-US"/>
              <a:t>Accounting</a:t>
            </a:r>
          </a:p>
        </p:txBody>
      </p:sp>
      <p:sp>
        <p:nvSpPr>
          <p:cNvPr id="3" name="Content Placeholder 2"/>
          <p:cNvSpPr>
            <a:spLocks noGrp="1"/>
          </p:cNvSpPr>
          <p:nvPr>
            <p:ph idx="1"/>
          </p:nvPr>
        </p:nvSpPr>
        <p:spPr/>
        <p:txBody>
          <a:bodyPr>
            <a:normAutofit fontScale="55000" lnSpcReduction="20000"/>
          </a:bodyPr>
          <a:lstStyle/>
          <a:p>
            <a:r>
              <a:rPr lang="en-US"/>
              <a:t>It is all about capturing, processing and communicating financial </a:t>
            </a:r>
            <a:r>
              <a:rPr lang="en-US" b="1"/>
              <a:t>INFORMATION</a:t>
            </a:r>
            <a:r>
              <a:rPr lang="en-US"/>
              <a:t> and there are three components:</a:t>
            </a:r>
          </a:p>
          <a:p>
            <a:pPr lvl="1"/>
            <a:r>
              <a:rPr lang="en-US" b="1"/>
              <a:t>Aspirations</a:t>
            </a:r>
            <a:r>
              <a:rPr lang="en-US"/>
              <a:t>: Show value and how it changes. Noble. Lofty purpose. Big help in creating/maintaining a civilized society.</a:t>
            </a:r>
          </a:p>
          <a:p>
            <a:pPr lvl="1"/>
            <a:r>
              <a:rPr lang="en-US"/>
              <a:t>Accounting </a:t>
            </a:r>
            <a:r>
              <a:rPr lang="en-US" b="1"/>
              <a:t>Conventions</a:t>
            </a:r>
            <a:r>
              <a:rPr lang="en-US"/>
              <a:t>: Aspirations meet real world, need conventions. Don’t get your hopes up too high!</a:t>
            </a:r>
          </a:p>
          <a:p>
            <a:pPr lvl="1"/>
            <a:r>
              <a:rPr lang="en-US"/>
              <a:t>Institutional </a:t>
            </a:r>
            <a:r>
              <a:rPr lang="en-US" b="1"/>
              <a:t>Context</a:t>
            </a:r>
            <a:r>
              <a:rPr lang="en-US"/>
              <a:t>: Aspirations meet real world, accounting is done by people in a social/economic/political context. Watch out!</a:t>
            </a:r>
          </a:p>
          <a:p>
            <a:r>
              <a:rPr lang="en-US"/>
              <a:t>Three steps in doing accounting:</a:t>
            </a:r>
          </a:p>
          <a:p>
            <a:pPr lvl="1"/>
            <a:r>
              <a:rPr lang="en-US" b="1"/>
              <a:t>Recognition</a:t>
            </a:r>
            <a:r>
              <a:rPr lang="en-US"/>
              <a:t> (do we record anything?)</a:t>
            </a:r>
          </a:p>
          <a:p>
            <a:pPr lvl="1"/>
            <a:r>
              <a:rPr lang="en-US" b="1"/>
              <a:t>Classification</a:t>
            </a:r>
            <a:r>
              <a:rPr lang="en-US"/>
              <a:t> (if so, what accounts are affected?)</a:t>
            </a:r>
          </a:p>
          <a:p>
            <a:pPr lvl="1"/>
            <a:r>
              <a:rPr lang="en-US" b="1"/>
              <a:t>Valuation</a:t>
            </a:r>
            <a:r>
              <a:rPr lang="en-US"/>
              <a:t> (what numbers do we use?)</a:t>
            </a:r>
          </a:p>
          <a:p>
            <a:r>
              <a:rPr lang="en-US"/>
              <a:t>All within a formal, double entry system that involves recording two views of every transaction or event, requiring them to agree, and then tying them all together.</a:t>
            </a:r>
          </a:p>
        </p:txBody>
      </p:sp>
      <p:sp>
        <p:nvSpPr>
          <p:cNvPr id="4" name="Slide Number Placeholder 3"/>
          <p:cNvSpPr>
            <a:spLocks noGrp="1"/>
          </p:cNvSpPr>
          <p:nvPr>
            <p:ph type="sldNum" sz="quarter" idx="12"/>
          </p:nvPr>
        </p:nvSpPr>
        <p:spPr/>
        <p:txBody>
          <a:bodyPr/>
          <a:lstStyle/>
          <a:p>
            <a:fld id="{5E9B17D8-68A5-8A4C-9A5A-916968DB0419}" type="slidenum">
              <a:rPr lang="en-US" smtClean="0"/>
              <a:t>4</a:t>
            </a:fld>
            <a:endParaRPr lang="en-US"/>
          </a:p>
        </p:txBody>
      </p:sp>
    </p:spTree>
    <p:extLst>
      <p:ext uri="{BB962C8B-B14F-4D97-AF65-F5344CB8AC3E}">
        <p14:creationId xmlns:p14="http://schemas.microsoft.com/office/powerpoint/2010/main" val="341816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fld id="{B537C232-F718-F647-B93E-28AB2D213240}" type="slidenum">
              <a:rPr lang="en-US" sz="1400"/>
              <a:pPr/>
              <a:t>5</a:t>
            </a:fld>
            <a:endParaRPr lang="en-US" sz="1400"/>
          </a:p>
        </p:txBody>
      </p:sp>
      <p:grpSp>
        <p:nvGrpSpPr>
          <p:cNvPr id="2" name="Group 53"/>
          <p:cNvGrpSpPr>
            <a:grpSpLocks/>
          </p:cNvGrpSpPr>
          <p:nvPr/>
        </p:nvGrpSpPr>
        <p:grpSpPr bwMode="auto">
          <a:xfrm>
            <a:off x="990601" y="2393157"/>
            <a:ext cx="7751763" cy="862013"/>
            <a:chOff x="624" y="1632"/>
            <a:chExt cx="4882" cy="724"/>
          </a:xfrm>
        </p:grpSpPr>
        <p:sp>
          <p:nvSpPr>
            <p:cNvPr id="7189" name="Text Box 32"/>
            <p:cNvSpPr txBox="1">
              <a:spLocks noChangeArrowheads="1"/>
            </p:cNvSpPr>
            <p:nvPr/>
          </p:nvSpPr>
          <p:spPr bwMode="auto">
            <a:xfrm>
              <a:off x="4848" y="1968"/>
              <a:ext cx="65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US"/>
                <a:t>time</a:t>
              </a:r>
            </a:p>
          </p:txBody>
        </p:sp>
        <p:grpSp>
          <p:nvGrpSpPr>
            <p:cNvPr id="7190" name="Group 47"/>
            <p:cNvGrpSpPr>
              <a:grpSpLocks/>
            </p:cNvGrpSpPr>
            <p:nvPr/>
          </p:nvGrpSpPr>
          <p:grpSpPr bwMode="auto">
            <a:xfrm>
              <a:off x="624" y="1632"/>
              <a:ext cx="4368" cy="192"/>
              <a:chOff x="624" y="1632"/>
              <a:chExt cx="4368" cy="192"/>
            </a:xfrm>
          </p:grpSpPr>
          <p:sp>
            <p:nvSpPr>
              <p:cNvPr id="7191" name="Line 31"/>
              <p:cNvSpPr>
                <a:spLocks noChangeShapeType="1"/>
              </p:cNvSpPr>
              <p:nvPr/>
            </p:nvSpPr>
            <p:spPr bwMode="auto">
              <a:xfrm>
                <a:off x="624" y="1728"/>
                <a:ext cx="4368"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92" name="Line 33"/>
              <p:cNvSpPr>
                <a:spLocks noChangeShapeType="1"/>
              </p:cNvSpPr>
              <p:nvPr/>
            </p:nvSpPr>
            <p:spPr bwMode="auto">
              <a:xfrm>
                <a:off x="1248" y="163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3" name="Line 34"/>
              <p:cNvSpPr>
                <a:spLocks noChangeShapeType="1"/>
              </p:cNvSpPr>
              <p:nvPr/>
            </p:nvSpPr>
            <p:spPr bwMode="auto">
              <a:xfrm>
                <a:off x="2928" y="163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94" name="Line 35"/>
              <p:cNvSpPr>
                <a:spLocks noChangeShapeType="1"/>
              </p:cNvSpPr>
              <p:nvPr/>
            </p:nvSpPr>
            <p:spPr bwMode="auto">
              <a:xfrm>
                <a:off x="4560" y="1632"/>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4" name="Group 48"/>
          <p:cNvGrpSpPr>
            <a:grpSpLocks/>
          </p:cNvGrpSpPr>
          <p:nvPr/>
        </p:nvGrpSpPr>
        <p:grpSpPr bwMode="auto">
          <a:xfrm>
            <a:off x="1066801" y="1364456"/>
            <a:ext cx="1890713" cy="914400"/>
            <a:chOff x="672" y="768"/>
            <a:chExt cx="1191" cy="768"/>
          </a:xfrm>
        </p:grpSpPr>
        <p:sp>
          <p:nvSpPr>
            <p:cNvPr id="7187" name="Text Box 36"/>
            <p:cNvSpPr txBox="1">
              <a:spLocks noChangeArrowheads="1"/>
            </p:cNvSpPr>
            <p:nvPr/>
          </p:nvSpPr>
          <p:spPr bwMode="auto">
            <a:xfrm>
              <a:off x="672" y="768"/>
              <a:ext cx="1191" cy="3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t>Balance sheet</a:t>
              </a:r>
            </a:p>
          </p:txBody>
        </p:sp>
        <p:sp>
          <p:nvSpPr>
            <p:cNvPr id="7188" name="Line 39"/>
            <p:cNvSpPr>
              <a:spLocks noChangeShapeType="1"/>
            </p:cNvSpPr>
            <p:nvPr/>
          </p:nvSpPr>
          <p:spPr bwMode="auto">
            <a:xfrm>
              <a:off x="1248" y="110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 name="Group 49"/>
          <p:cNvGrpSpPr>
            <a:grpSpLocks/>
          </p:cNvGrpSpPr>
          <p:nvPr/>
        </p:nvGrpSpPr>
        <p:grpSpPr bwMode="auto">
          <a:xfrm>
            <a:off x="3657601" y="1364456"/>
            <a:ext cx="1890713" cy="914400"/>
            <a:chOff x="2304" y="768"/>
            <a:chExt cx="1191" cy="768"/>
          </a:xfrm>
        </p:grpSpPr>
        <p:sp>
          <p:nvSpPr>
            <p:cNvPr id="7185" name="Text Box 37"/>
            <p:cNvSpPr txBox="1">
              <a:spLocks noChangeArrowheads="1"/>
            </p:cNvSpPr>
            <p:nvPr/>
          </p:nvSpPr>
          <p:spPr bwMode="auto">
            <a:xfrm>
              <a:off x="2304" y="768"/>
              <a:ext cx="1191" cy="3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t>Balance sheet</a:t>
              </a:r>
            </a:p>
          </p:txBody>
        </p:sp>
        <p:sp>
          <p:nvSpPr>
            <p:cNvPr id="7186" name="Line 41"/>
            <p:cNvSpPr>
              <a:spLocks noChangeShapeType="1"/>
            </p:cNvSpPr>
            <p:nvPr/>
          </p:nvSpPr>
          <p:spPr bwMode="auto">
            <a:xfrm>
              <a:off x="2928" y="110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50"/>
          <p:cNvGrpSpPr>
            <a:grpSpLocks/>
          </p:cNvGrpSpPr>
          <p:nvPr/>
        </p:nvGrpSpPr>
        <p:grpSpPr bwMode="auto">
          <a:xfrm>
            <a:off x="6248401" y="1364456"/>
            <a:ext cx="1890713" cy="914400"/>
            <a:chOff x="3936" y="768"/>
            <a:chExt cx="1191" cy="768"/>
          </a:xfrm>
        </p:grpSpPr>
        <p:sp>
          <p:nvSpPr>
            <p:cNvPr id="7183" name="Text Box 38"/>
            <p:cNvSpPr txBox="1">
              <a:spLocks noChangeArrowheads="1"/>
            </p:cNvSpPr>
            <p:nvPr/>
          </p:nvSpPr>
          <p:spPr bwMode="auto">
            <a:xfrm>
              <a:off x="3936" y="768"/>
              <a:ext cx="1191" cy="3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t>Balance sheet</a:t>
              </a:r>
            </a:p>
          </p:txBody>
        </p:sp>
        <p:sp>
          <p:nvSpPr>
            <p:cNvPr id="7184" name="Line 42"/>
            <p:cNvSpPr>
              <a:spLocks noChangeShapeType="1"/>
            </p:cNvSpPr>
            <p:nvPr/>
          </p:nvSpPr>
          <p:spPr bwMode="auto">
            <a:xfrm>
              <a:off x="4560" y="110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7181" name="AutoShape 43"/>
          <p:cNvSpPr>
            <a:spLocks/>
          </p:cNvSpPr>
          <p:nvPr/>
        </p:nvSpPr>
        <p:spPr bwMode="auto">
          <a:xfrm rot="5423058">
            <a:off x="3180504" y="1669705"/>
            <a:ext cx="342900" cy="2592283"/>
          </a:xfrm>
          <a:prstGeom prst="rightBrace">
            <a:avLst>
              <a:gd name="adj1" fmla="val 4722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79" name="AutoShape 44"/>
          <p:cNvSpPr>
            <a:spLocks/>
          </p:cNvSpPr>
          <p:nvPr/>
        </p:nvSpPr>
        <p:spPr bwMode="auto">
          <a:xfrm rot="5423058">
            <a:off x="5772819" y="1668590"/>
            <a:ext cx="342900" cy="2592137"/>
          </a:xfrm>
          <a:prstGeom prst="rightBrace">
            <a:avLst>
              <a:gd name="adj1" fmla="val 4722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78" name="Rectangle 54"/>
          <p:cNvSpPr>
            <a:spLocks noGrp="1" noChangeArrowheads="1"/>
          </p:cNvSpPr>
          <p:nvPr>
            <p:ph type="title" idx="4294967295"/>
          </p:nvPr>
        </p:nvSpPr>
        <p:spPr/>
        <p:txBody>
          <a:bodyPr/>
          <a:lstStyle/>
          <a:p>
            <a:r>
              <a:rPr lang="en-US">
                <a:latin typeface="Times New Roman" charset="0"/>
              </a:rPr>
              <a:t>Most Important Figure</a:t>
            </a:r>
          </a:p>
        </p:txBody>
      </p:sp>
      <p:sp>
        <p:nvSpPr>
          <p:cNvPr id="7182" name="Text Box 45"/>
          <p:cNvSpPr txBox="1">
            <a:spLocks noChangeArrowheads="1"/>
          </p:cNvSpPr>
          <p:nvPr/>
        </p:nvSpPr>
        <p:spPr bwMode="auto">
          <a:xfrm>
            <a:off x="2014578" y="3164655"/>
            <a:ext cx="2694969" cy="120032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t>Income statement</a:t>
            </a:r>
          </a:p>
          <a:p>
            <a:r>
              <a:rPr lang="en-US"/>
              <a:t>Cash flow statement</a:t>
            </a:r>
          </a:p>
          <a:p>
            <a:r>
              <a:rPr lang="en-US"/>
              <a:t>St. Changes in SE</a:t>
            </a:r>
          </a:p>
        </p:txBody>
      </p:sp>
      <p:sp>
        <p:nvSpPr>
          <p:cNvPr id="3" name="TextBox 2"/>
          <p:cNvSpPr txBox="1"/>
          <p:nvPr/>
        </p:nvSpPr>
        <p:spPr>
          <a:xfrm>
            <a:off x="0" y="2699004"/>
            <a:ext cx="1854995" cy="523220"/>
          </a:xfrm>
          <a:prstGeom prst="rect">
            <a:avLst/>
          </a:prstGeom>
          <a:noFill/>
        </p:spPr>
        <p:txBody>
          <a:bodyPr wrap="none" rtlCol="0">
            <a:spAutoFit/>
          </a:bodyPr>
          <a:lstStyle/>
          <a:p>
            <a:r>
              <a:rPr lang="en-US" sz="1400"/>
              <a:t>Financial Value </a:t>
            </a:r>
          </a:p>
          <a:p>
            <a:r>
              <a:rPr lang="en-US" sz="1400"/>
              <a:t>Creation/Consumption</a:t>
            </a:r>
          </a:p>
        </p:txBody>
      </p:sp>
      <p:cxnSp>
        <p:nvCxnSpPr>
          <p:cNvPr id="10" name="Elbow Connector 9"/>
          <p:cNvCxnSpPr>
            <a:stCxn id="3" idx="2"/>
          </p:cNvCxnSpPr>
          <p:nvPr/>
        </p:nvCxnSpPr>
        <p:spPr>
          <a:xfrm rot="16200000" flipH="1">
            <a:off x="1372426" y="2777295"/>
            <a:ext cx="197225" cy="1087081"/>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3477254"/>
            <a:ext cx="1464953" cy="523220"/>
          </a:xfrm>
          <a:prstGeom prst="rect">
            <a:avLst/>
          </a:prstGeom>
          <a:noFill/>
        </p:spPr>
        <p:txBody>
          <a:bodyPr wrap="none" rtlCol="0">
            <a:spAutoFit/>
          </a:bodyPr>
          <a:lstStyle/>
          <a:p>
            <a:r>
              <a:rPr lang="en-US" sz="1400"/>
              <a:t>Cash Generation/</a:t>
            </a:r>
          </a:p>
          <a:p>
            <a:r>
              <a:rPr lang="en-US" sz="1400"/>
              <a:t>Consumption</a:t>
            </a:r>
          </a:p>
        </p:txBody>
      </p:sp>
      <p:cxnSp>
        <p:nvCxnSpPr>
          <p:cNvPr id="12" name="Straight Arrow Connector 11"/>
          <p:cNvCxnSpPr>
            <a:stCxn id="29" idx="3"/>
          </p:cNvCxnSpPr>
          <p:nvPr/>
        </p:nvCxnSpPr>
        <p:spPr>
          <a:xfrm>
            <a:off x="1464953" y="3738864"/>
            <a:ext cx="5496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 Box 45"/>
          <p:cNvSpPr txBox="1">
            <a:spLocks noChangeArrowheads="1"/>
          </p:cNvSpPr>
          <p:nvPr/>
        </p:nvSpPr>
        <p:spPr bwMode="auto">
          <a:xfrm>
            <a:off x="4810544" y="3171852"/>
            <a:ext cx="2694969" cy="120032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t>Income statement</a:t>
            </a:r>
          </a:p>
          <a:p>
            <a:r>
              <a:rPr lang="en-US"/>
              <a:t>Cash flow statement</a:t>
            </a:r>
          </a:p>
          <a:p>
            <a:r>
              <a:rPr lang="en-US"/>
              <a:t>St. Changes in SE</a:t>
            </a:r>
          </a:p>
        </p:txBody>
      </p:sp>
      <p:sp>
        <p:nvSpPr>
          <p:cNvPr id="32" name="TextBox 31"/>
          <p:cNvSpPr txBox="1"/>
          <p:nvPr/>
        </p:nvSpPr>
        <p:spPr>
          <a:xfrm>
            <a:off x="141649" y="3980325"/>
            <a:ext cx="1219886" cy="307777"/>
          </a:xfrm>
          <a:prstGeom prst="rect">
            <a:avLst/>
          </a:prstGeom>
          <a:noFill/>
        </p:spPr>
        <p:txBody>
          <a:bodyPr wrap="none" rtlCol="0">
            <a:spAutoFit/>
          </a:bodyPr>
          <a:lstStyle/>
          <a:p>
            <a:r>
              <a:rPr lang="en-US" sz="1400"/>
              <a:t>Redistribution</a:t>
            </a:r>
          </a:p>
        </p:txBody>
      </p:sp>
      <p:cxnSp>
        <p:nvCxnSpPr>
          <p:cNvPr id="33" name="Straight Arrow Connector 32"/>
          <p:cNvCxnSpPr/>
          <p:nvPr/>
        </p:nvCxnSpPr>
        <p:spPr>
          <a:xfrm>
            <a:off x="1462532" y="4143232"/>
            <a:ext cx="5496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046170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8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7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8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1" grpId="0" animBg="1"/>
      <p:bldP spid="7179" grpId="0" animBg="1"/>
      <p:bldP spid="7182" grpId="0" animBg="1"/>
      <p:bldP spid="3" grpId="0"/>
      <p:bldP spid="29" grpId="0"/>
      <p:bldP spid="31" grpId="0" animBg="1"/>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2DA8B-8D35-0A55-54AC-372C21E226E2}"/>
              </a:ext>
            </a:extLst>
          </p:cNvPr>
          <p:cNvSpPr>
            <a:spLocks noGrp="1"/>
          </p:cNvSpPr>
          <p:nvPr>
            <p:ph type="title"/>
          </p:nvPr>
        </p:nvSpPr>
        <p:spPr/>
        <p:txBody>
          <a:bodyPr/>
          <a:lstStyle/>
          <a:p>
            <a:r>
              <a:rPr lang="en-US" dirty="0">
                <a:ea typeface="Calibri"/>
                <a:cs typeface="Calibri"/>
              </a:rPr>
              <a:t>Uncle </a:t>
            </a:r>
            <a:r>
              <a:rPr lang="en-US" dirty="0" err="1">
                <a:ea typeface="Calibri"/>
                <a:cs typeface="Calibri"/>
              </a:rPr>
              <a:t>pennybags</a:t>
            </a:r>
            <a:r>
              <a:rPr lang="en-US" dirty="0">
                <a:ea typeface="Calibri"/>
                <a:cs typeface="Calibri"/>
              </a:rPr>
              <a:t>' generosity</a:t>
            </a:r>
            <a:endParaRPr lang="en-US" dirty="0"/>
          </a:p>
        </p:txBody>
      </p:sp>
      <p:sp>
        <p:nvSpPr>
          <p:cNvPr id="3" name="Text Placeholder 2">
            <a:extLst>
              <a:ext uri="{FF2B5EF4-FFF2-40B4-BE49-F238E27FC236}">
                <a16:creationId xmlns:a16="http://schemas.microsoft.com/office/drawing/2014/main" id="{43EA8DFE-34ED-E529-EBA0-78FAF4486B42}"/>
              </a:ext>
            </a:extLst>
          </p:cNvPr>
          <p:cNvSpPr>
            <a:spLocks noGrp="1"/>
          </p:cNvSpPr>
          <p:nvPr>
            <p:ph type="body" idx="1"/>
          </p:nvPr>
        </p:nvSpPr>
        <p:spPr/>
        <p:txBody>
          <a:bodyPr/>
          <a:lstStyle/>
          <a:p>
            <a:r>
              <a:rPr lang="en-US" dirty="0">
                <a:ea typeface="Calibri"/>
                <a:cs typeface="Calibri"/>
              </a:rPr>
              <a:t>How financial statements work together to convey information</a:t>
            </a:r>
            <a:endParaRPr lang="en-US" dirty="0"/>
          </a:p>
        </p:txBody>
      </p:sp>
    </p:spTree>
    <p:extLst>
      <p:ext uri="{BB962C8B-B14F-4D97-AF65-F5344CB8AC3E}">
        <p14:creationId xmlns:p14="http://schemas.microsoft.com/office/powerpoint/2010/main" val="3706324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 vector graphics&#10;&#10;Description automatically generated">
            <a:extLst>
              <a:ext uri="{FF2B5EF4-FFF2-40B4-BE49-F238E27FC236}">
                <a16:creationId xmlns:a16="http://schemas.microsoft.com/office/drawing/2014/main" id="{C7AF23DD-3CCF-4442-8E78-C74678A54D92}"/>
              </a:ext>
            </a:extLst>
          </p:cNvPr>
          <p:cNvPicPr>
            <a:picLocks noChangeAspect="1"/>
          </p:cNvPicPr>
          <p:nvPr/>
        </p:nvPicPr>
        <p:blipFill>
          <a:blip r:embed="rId2"/>
          <a:stretch>
            <a:fillRect/>
          </a:stretch>
        </p:blipFill>
        <p:spPr>
          <a:xfrm>
            <a:off x="4568816" y="315532"/>
            <a:ext cx="4505046" cy="4269347"/>
          </a:xfrm>
          <a:prstGeom prst="rect">
            <a:avLst/>
          </a:prstGeom>
        </p:spPr>
      </p:pic>
      <p:sp>
        <p:nvSpPr>
          <p:cNvPr id="5" name="TextBox 4">
            <a:extLst>
              <a:ext uri="{FF2B5EF4-FFF2-40B4-BE49-F238E27FC236}">
                <a16:creationId xmlns:a16="http://schemas.microsoft.com/office/drawing/2014/main" id="{EDF77E0D-62E1-41BD-9485-947BC2BDD2AB}"/>
              </a:ext>
            </a:extLst>
          </p:cNvPr>
          <p:cNvSpPr txBox="1"/>
          <p:nvPr/>
        </p:nvSpPr>
        <p:spPr>
          <a:xfrm>
            <a:off x="4672305" y="4890903"/>
            <a:ext cx="4281941" cy="184666"/>
          </a:xfrm>
          <a:prstGeom prst="rect">
            <a:avLst/>
          </a:prstGeom>
          <a:noFill/>
        </p:spPr>
        <p:txBody>
          <a:bodyPr wrap="none" rtlCol="0">
            <a:spAutoFit/>
          </a:bodyPr>
          <a:lstStyle/>
          <a:p>
            <a:r>
              <a:rPr lang="en-US" sz="600" dirty="0"/>
              <a:t>Source: https://www.cleanpng.com/png-computer-icons-rich-uncle-pennybags-blog-clip-art-5688280/download-png.html</a:t>
            </a:r>
          </a:p>
        </p:txBody>
      </p:sp>
      <p:sp>
        <p:nvSpPr>
          <p:cNvPr id="9" name="TextBox 8">
            <a:extLst>
              <a:ext uri="{FF2B5EF4-FFF2-40B4-BE49-F238E27FC236}">
                <a16:creationId xmlns:a16="http://schemas.microsoft.com/office/drawing/2014/main" id="{FE353D8F-7A7E-4A35-B2DC-A6DFEBBD040C}"/>
              </a:ext>
            </a:extLst>
          </p:cNvPr>
          <p:cNvSpPr txBox="1"/>
          <p:nvPr/>
        </p:nvSpPr>
        <p:spPr>
          <a:xfrm>
            <a:off x="251158" y="631063"/>
            <a:ext cx="4916731" cy="1754326"/>
          </a:xfrm>
          <a:prstGeom prst="rect">
            <a:avLst/>
          </a:prstGeom>
          <a:noFill/>
        </p:spPr>
        <p:txBody>
          <a:bodyPr wrap="none" rtlCol="0">
            <a:spAutoFit/>
          </a:bodyPr>
          <a:lstStyle/>
          <a:p>
            <a:r>
              <a:rPr lang="en-US" dirty="0"/>
              <a:t>Your uncle, Mr. Pennybags, was a bit </a:t>
            </a:r>
          </a:p>
          <a:p>
            <a:r>
              <a:rPr lang="en-US" dirty="0"/>
              <a:t>of a risk taker with a propensity to start</a:t>
            </a:r>
          </a:p>
          <a:p>
            <a:r>
              <a:rPr lang="en-US" dirty="0"/>
              <a:t>new businesses. He started 4 on Jan 1, 2020</a:t>
            </a:r>
          </a:p>
          <a:p>
            <a:r>
              <a:rPr lang="en-US" dirty="0"/>
              <a:t>and has decided to give them to you and your </a:t>
            </a:r>
          </a:p>
          <a:p>
            <a:r>
              <a:rPr lang="en-US" dirty="0"/>
              <a:t>3 siblings. He drew your name out of his hat, </a:t>
            </a:r>
          </a:p>
          <a:p>
            <a:r>
              <a:rPr lang="en-US" dirty="0"/>
              <a:t>so you get first choice.</a:t>
            </a:r>
          </a:p>
        </p:txBody>
      </p:sp>
      <p:sp>
        <p:nvSpPr>
          <p:cNvPr id="10" name="TextBox 9">
            <a:extLst>
              <a:ext uri="{FF2B5EF4-FFF2-40B4-BE49-F238E27FC236}">
                <a16:creationId xmlns:a16="http://schemas.microsoft.com/office/drawing/2014/main" id="{E2ABCE5C-4A20-4E00-9E0C-F36235172D7C}"/>
              </a:ext>
            </a:extLst>
          </p:cNvPr>
          <p:cNvSpPr txBox="1"/>
          <p:nvPr/>
        </p:nvSpPr>
        <p:spPr>
          <a:xfrm>
            <a:off x="251158" y="2385389"/>
            <a:ext cx="5083636" cy="1477328"/>
          </a:xfrm>
          <a:prstGeom prst="rect">
            <a:avLst/>
          </a:prstGeom>
          <a:noFill/>
        </p:spPr>
        <p:txBody>
          <a:bodyPr wrap="none" rtlCol="0">
            <a:spAutoFit/>
          </a:bodyPr>
          <a:lstStyle/>
          <a:p>
            <a:r>
              <a:rPr lang="en-US" dirty="0"/>
              <a:t>You are aware that, in addition to his generosity,</a:t>
            </a:r>
          </a:p>
          <a:p>
            <a:r>
              <a:rPr lang="en-US" dirty="0"/>
              <a:t>Mr. Pennybags, is a bit annoying. He never </a:t>
            </a:r>
          </a:p>
          <a:p>
            <a:r>
              <a:rPr lang="en-US" dirty="0"/>
              <a:t>passes up an opportunity to teach you what</a:t>
            </a:r>
          </a:p>
          <a:p>
            <a:r>
              <a:rPr lang="en-US" dirty="0"/>
              <a:t>he considers to be the most important</a:t>
            </a:r>
          </a:p>
          <a:p>
            <a:r>
              <a:rPr lang="en-US" dirty="0"/>
              <a:t>lessons that he had to learn “the hard way.”</a:t>
            </a:r>
          </a:p>
        </p:txBody>
      </p:sp>
      <p:sp>
        <p:nvSpPr>
          <p:cNvPr id="11" name="TextBox 10">
            <a:extLst>
              <a:ext uri="{FF2B5EF4-FFF2-40B4-BE49-F238E27FC236}">
                <a16:creationId xmlns:a16="http://schemas.microsoft.com/office/drawing/2014/main" id="{0F425182-00E6-4BC0-84BB-887834C95964}"/>
              </a:ext>
            </a:extLst>
          </p:cNvPr>
          <p:cNvSpPr txBox="1"/>
          <p:nvPr/>
        </p:nvSpPr>
        <p:spPr>
          <a:xfrm>
            <a:off x="251158" y="3862717"/>
            <a:ext cx="5019323" cy="646331"/>
          </a:xfrm>
          <a:prstGeom prst="rect">
            <a:avLst/>
          </a:prstGeom>
          <a:noFill/>
        </p:spPr>
        <p:txBody>
          <a:bodyPr wrap="none" rtlCol="0">
            <a:spAutoFit/>
          </a:bodyPr>
          <a:lstStyle/>
          <a:p>
            <a:r>
              <a:rPr lang="en-US" dirty="0"/>
              <a:t>The lesson accompanying this gift, he tells you,</a:t>
            </a:r>
          </a:p>
          <a:p>
            <a:r>
              <a:rPr lang="en-US" dirty="0"/>
              <a:t>is about financial statements.</a:t>
            </a:r>
          </a:p>
        </p:txBody>
      </p:sp>
    </p:spTree>
    <p:extLst>
      <p:ext uri="{BB962C8B-B14F-4D97-AF65-F5344CB8AC3E}">
        <p14:creationId xmlns:p14="http://schemas.microsoft.com/office/powerpoint/2010/main" val="325164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5F3B18-6783-4057-BA1C-88E370235819}"/>
              </a:ext>
            </a:extLst>
          </p:cNvPr>
          <p:cNvSpPr/>
          <p:nvPr/>
        </p:nvSpPr>
        <p:spPr>
          <a:xfrm>
            <a:off x="785611" y="4462530"/>
            <a:ext cx="2910626" cy="540912"/>
          </a:xfrm>
          <a:prstGeom prst="rect">
            <a:avLst/>
          </a:prstGeom>
          <a:solidFill>
            <a:schemeClr val="bg1"/>
          </a:solidFill>
          <a:ln>
            <a:no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AA93A73-8B3C-4FB8-9FD2-373F86D0C3DF}"/>
              </a:ext>
            </a:extLst>
          </p:cNvPr>
          <p:cNvPicPr>
            <a:picLocks noChangeAspect="1"/>
          </p:cNvPicPr>
          <p:nvPr/>
        </p:nvPicPr>
        <p:blipFill>
          <a:blip r:embed="rId2"/>
          <a:stretch>
            <a:fillRect/>
          </a:stretch>
        </p:blipFill>
        <p:spPr>
          <a:xfrm>
            <a:off x="1780833" y="0"/>
            <a:ext cx="5611091" cy="5143500"/>
          </a:xfrm>
          <a:prstGeom prst="rect">
            <a:avLst/>
          </a:prstGeom>
        </p:spPr>
      </p:pic>
    </p:spTree>
    <p:extLst>
      <p:ext uri="{BB962C8B-B14F-4D97-AF65-F5344CB8AC3E}">
        <p14:creationId xmlns:p14="http://schemas.microsoft.com/office/powerpoint/2010/main" val="3758899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48F847-9CD6-4648-994F-66E541547201}"/>
              </a:ext>
            </a:extLst>
          </p:cNvPr>
          <p:cNvSpPr/>
          <p:nvPr/>
        </p:nvSpPr>
        <p:spPr>
          <a:xfrm>
            <a:off x="785611" y="4462530"/>
            <a:ext cx="2910626" cy="540912"/>
          </a:xfrm>
          <a:prstGeom prst="rect">
            <a:avLst/>
          </a:prstGeom>
          <a:solidFill>
            <a:schemeClr val="bg1"/>
          </a:solidFill>
          <a:ln>
            <a:no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04D5644-949C-4D16-8F28-85723F470F9B}"/>
              </a:ext>
            </a:extLst>
          </p:cNvPr>
          <p:cNvPicPr>
            <a:picLocks noChangeAspect="1"/>
          </p:cNvPicPr>
          <p:nvPr/>
        </p:nvPicPr>
        <p:blipFill>
          <a:blip r:embed="rId2"/>
          <a:stretch>
            <a:fillRect/>
          </a:stretch>
        </p:blipFill>
        <p:spPr>
          <a:xfrm>
            <a:off x="1804811" y="0"/>
            <a:ext cx="5659244" cy="5143500"/>
          </a:xfrm>
          <a:prstGeom prst="rect">
            <a:avLst/>
          </a:prstGeom>
        </p:spPr>
      </p:pic>
    </p:spTree>
    <p:extLst>
      <p:ext uri="{BB962C8B-B14F-4D97-AF65-F5344CB8AC3E}">
        <p14:creationId xmlns:p14="http://schemas.microsoft.com/office/powerpoint/2010/main" val="3262415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0B388B-C0AC-4CA8-BAB2-541213A07D17}"/>
              </a:ext>
            </a:extLst>
          </p:cNvPr>
          <p:cNvSpPr/>
          <p:nvPr/>
        </p:nvSpPr>
        <p:spPr>
          <a:xfrm>
            <a:off x="785611" y="4462530"/>
            <a:ext cx="2910626" cy="540912"/>
          </a:xfrm>
          <a:prstGeom prst="rect">
            <a:avLst/>
          </a:prstGeom>
          <a:solidFill>
            <a:schemeClr val="bg1"/>
          </a:solidFill>
          <a:ln>
            <a:no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9FCD216-D4D2-4219-B885-127EA708CE4D}"/>
              </a:ext>
            </a:extLst>
          </p:cNvPr>
          <p:cNvPicPr>
            <a:picLocks noChangeAspect="1"/>
          </p:cNvPicPr>
          <p:nvPr/>
        </p:nvPicPr>
        <p:blipFill>
          <a:blip r:embed="rId2"/>
          <a:stretch>
            <a:fillRect/>
          </a:stretch>
        </p:blipFill>
        <p:spPr>
          <a:xfrm>
            <a:off x="1815708" y="0"/>
            <a:ext cx="5641259" cy="5143500"/>
          </a:xfrm>
          <a:prstGeom prst="rect">
            <a:avLst/>
          </a:prstGeom>
        </p:spPr>
      </p:pic>
    </p:spTree>
    <p:extLst>
      <p:ext uri="{BB962C8B-B14F-4D97-AF65-F5344CB8AC3E}">
        <p14:creationId xmlns:p14="http://schemas.microsoft.com/office/powerpoint/2010/main" val="625482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387D016-CDFC-45CE-9E97-CFD2A3442DBA}"/>
              </a:ext>
            </a:extLst>
          </p:cNvPr>
          <p:cNvSpPr/>
          <p:nvPr/>
        </p:nvSpPr>
        <p:spPr>
          <a:xfrm>
            <a:off x="785611" y="4462530"/>
            <a:ext cx="2910626" cy="540912"/>
          </a:xfrm>
          <a:prstGeom prst="rect">
            <a:avLst/>
          </a:prstGeom>
          <a:solidFill>
            <a:schemeClr val="bg1"/>
          </a:solidFill>
          <a:ln>
            <a:no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DE2E049-2689-45C4-B374-79AA3332CE9D}"/>
              </a:ext>
            </a:extLst>
          </p:cNvPr>
          <p:cNvPicPr>
            <a:picLocks noChangeAspect="1"/>
          </p:cNvPicPr>
          <p:nvPr/>
        </p:nvPicPr>
        <p:blipFill>
          <a:blip r:embed="rId2"/>
          <a:stretch>
            <a:fillRect/>
          </a:stretch>
        </p:blipFill>
        <p:spPr>
          <a:xfrm>
            <a:off x="1789170" y="0"/>
            <a:ext cx="5611091" cy="5143500"/>
          </a:xfrm>
          <a:prstGeom prst="rect">
            <a:avLst/>
          </a:prstGeom>
        </p:spPr>
      </p:pic>
    </p:spTree>
    <p:extLst>
      <p:ext uri="{BB962C8B-B14F-4D97-AF65-F5344CB8AC3E}">
        <p14:creationId xmlns:p14="http://schemas.microsoft.com/office/powerpoint/2010/main" val="531811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387D016-CDFC-45CE-9E97-CFD2A3442DBA}"/>
              </a:ext>
            </a:extLst>
          </p:cNvPr>
          <p:cNvSpPr/>
          <p:nvPr/>
        </p:nvSpPr>
        <p:spPr>
          <a:xfrm>
            <a:off x="785611" y="4462530"/>
            <a:ext cx="2910626" cy="540912"/>
          </a:xfrm>
          <a:prstGeom prst="rect">
            <a:avLst/>
          </a:prstGeom>
          <a:solidFill>
            <a:schemeClr val="bg1"/>
          </a:solidFill>
          <a:ln>
            <a:no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Table&#10;&#10;Description automatically generated">
            <a:extLst>
              <a:ext uri="{FF2B5EF4-FFF2-40B4-BE49-F238E27FC236}">
                <a16:creationId xmlns:a16="http://schemas.microsoft.com/office/drawing/2014/main" id="{76F716C6-C273-49D6-8814-7299C4C4D446}"/>
              </a:ext>
            </a:extLst>
          </p:cNvPr>
          <p:cNvPicPr>
            <a:picLocks noChangeAspect="1"/>
          </p:cNvPicPr>
          <p:nvPr/>
        </p:nvPicPr>
        <p:blipFill rotWithShape="1">
          <a:blip r:embed="rId2"/>
          <a:srcRect l="4648" t="6453" r="7565" b="13239"/>
          <a:stretch/>
        </p:blipFill>
        <p:spPr>
          <a:xfrm>
            <a:off x="1083499" y="87682"/>
            <a:ext cx="7079181" cy="5004148"/>
          </a:xfrm>
          <a:prstGeom prst="rect">
            <a:avLst/>
          </a:prstGeom>
        </p:spPr>
      </p:pic>
      <p:sp>
        <p:nvSpPr>
          <p:cNvPr id="3" name="Rectangle 2">
            <a:extLst>
              <a:ext uri="{FF2B5EF4-FFF2-40B4-BE49-F238E27FC236}">
                <a16:creationId xmlns:a16="http://schemas.microsoft.com/office/drawing/2014/main" id="{D9E1E125-540C-2AAF-AE35-7702B0DA7555}"/>
              </a:ext>
            </a:extLst>
          </p:cNvPr>
          <p:cNvSpPr/>
          <p:nvPr/>
        </p:nvSpPr>
        <p:spPr>
          <a:xfrm>
            <a:off x="1006549" y="4287909"/>
            <a:ext cx="7095460" cy="669658"/>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727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920B31-FA38-4630-905A-815F6DD7AB68}"/>
              </a:ext>
            </a:extLst>
          </p:cNvPr>
          <p:cNvSpPr/>
          <p:nvPr/>
        </p:nvSpPr>
        <p:spPr>
          <a:xfrm>
            <a:off x="785611" y="4462530"/>
            <a:ext cx="2910626" cy="540912"/>
          </a:xfrm>
          <a:prstGeom prst="rect">
            <a:avLst/>
          </a:prstGeom>
          <a:solidFill>
            <a:schemeClr val="bg1"/>
          </a:solidFill>
          <a:ln>
            <a:no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D041694-30AC-4400-9D91-042F70A97F6E}"/>
              </a:ext>
            </a:extLst>
          </p:cNvPr>
          <p:cNvPicPr>
            <a:picLocks noChangeAspect="1"/>
          </p:cNvPicPr>
          <p:nvPr/>
        </p:nvPicPr>
        <p:blipFill>
          <a:blip r:embed="rId3"/>
          <a:stretch>
            <a:fillRect/>
          </a:stretch>
        </p:blipFill>
        <p:spPr>
          <a:xfrm>
            <a:off x="1138698" y="0"/>
            <a:ext cx="6866604" cy="5143500"/>
          </a:xfrm>
          <a:prstGeom prst="rect">
            <a:avLst/>
          </a:prstGeom>
        </p:spPr>
      </p:pic>
      <p:sp>
        <p:nvSpPr>
          <p:cNvPr id="5" name="Rectangle 4">
            <a:extLst>
              <a:ext uri="{FF2B5EF4-FFF2-40B4-BE49-F238E27FC236}">
                <a16:creationId xmlns:a16="http://schemas.microsoft.com/office/drawing/2014/main" id="{6795A52A-42C6-47CF-A38D-CE0E3DFDAC81}"/>
              </a:ext>
            </a:extLst>
          </p:cNvPr>
          <p:cNvSpPr/>
          <p:nvPr/>
        </p:nvSpPr>
        <p:spPr>
          <a:xfrm>
            <a:off x="1006549" y="4118344"/>
            <a:ext cx="7095460" cy="971107"/>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21DC26-EC72-46C2-827B-1F5337069F34}"/>
              </a:ext>
            </a:extLst>
          </p:cNvPr>
          <p:cNvSpPr/>
          <p:nvPr/>
        </p:nvSpPr>
        <p:spPr>
          <a:xfrm>
            <a:off x="3164959" y="4118344"/>
            <a:ext cx="1329070" cy="971107"/>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DA8D96C-2929-444F-905D-61F9C5BB928E}"/>
              </a:ext>
            </a:extLst>
          </p:cNvPr>
          <p:cNvSpPr/>
          <p:nvPr/>
        </p:nvSpPr>
        <p:spPr>
          <a:xfrm>
            <a:off x="4483398" y="4118344"/>
            <a:ext cx="3521904" cy="971107"/>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73DAABF-4245-14F7-FBE0-28B8A866195D}"/>
              </a:ext>
            </a:extLst>
          </p:cNvPr>
          <p:cNvSpPr/>
          <p:nvPr/>
        </p:nvSpPr>
        <p:spPr>
          <a:xfrm>
            <a:off x="1141972" y="4290646"/>
            <a:ext cx="1126443" cy="360485"/>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028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1)">
                                      <p:cBhvr>
                                        <p:cTn id="11" dur="2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1" nodeType="clickEffect">
                                  <p:stCondLst>
                                    <p:cond delay="0"/>
                                  </p:stCondLst>
                                  <p:childTnLst>
                                    <p:set>
                                      <p:cBhvr>
                                        <p:cTn id="15" dur="1" fill="hold">
                                          <p:stCondLst>
                                            <p:cond delay="0"/>
                                          </p:stCondLst>
                                        </p:cTn>
                                        <p:tgtEl>
                                          <p:spTgt spid="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heel(1)">
                                      <p:cBhvr>
                                        <p:cTn id="20" dur="2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heel(1)">
                                      <p:cBhvr>
                                        <p:cTn id="25" dur="2000"/>
                                        <p:tgtEl>
                                          <p:spTgt spid="7"/>
                                        </p:tgtEl>
                                      </p:cBhvr>
                                    </p:animEffect>
                                  </p:childTnLst>
                                </p:cTn>
                              </p:par>
                              <p:par>
                                <p:cTn id="26" presetID="1" presetClass="exit" presetSubtype="0" fill="hold" grpId="1" nodeType="withEffect">
                                  <p:stCondLst>
                                    <p:cond delay="0"/>
                                  </p:stCondLst>
                                  <p:childTnLst>
                                    <p:set>
                                      <p:cBhvr>
                                        <p:cTn id="27"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7" grpId="0" animBg="1"/>
      <p:bldP spid="8" grpId="0" animBg="1"/>
      <p:bldP spid="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FC925C2-5F6E-4B2B-B888-6E6FCCB30EC2}"/>
              </a:ext>
            </a:extLst>
          </p:cNvPr>
          <p:cNvSpPr/>
          <p:nvPr/>
        </p:nvSpPr>
        <p:spPr>
          <a:xfrm>
            <a:off x="785611" y="4462530"/>
            <a:ext cx="2910626" cy="540912"/>
          </a:xfrm>
          <a:prstGeom prst="rect">
            <a:avLst/>
          </a:prstGeom>
          <a:solidFill>
            <a:schemeClr val="bg1"/>
          </a:solidFill>
          <a:ln>
            <a:no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41EA6BF5-E786-49E6-8D04-78047499D996}"/>
              </a:ext>
            </a:extLst>
          </p:cNvPr>
          <p:cNvPicPr>
            <a:picLocks noChangeAspect="1"/>
          </p:cNvPicPr>
          <p:nvPr/>
        </p:nvPicPr>
        <p:blipFill>
          <a:blip r:embed="rId2"/>
          <a:stretch>
            <a:fillRect/>
          </a:stretch>
        </p:blipFill>
        <p:spPr>
          <a:xfrm>
            <a:off x="1790528" y="3387795"/>
            <a:ext cx="5586024" cy="1686791"/>
          </a:xfrm>
          <a:prstGeom prst="rect">
            <a:avLst/>
          </a:prstGeom>
        </p:spPr>
      </p:pic>
      <p:pic>
        <p:nvPicPr>
          <p:cNvPr id="14" name="Picture 13">
            <a:extLst>
              <a:ext uri="{FF2B5EF4-FFF2-40B4-BE49-F238E27FC236}">
                <a16:creationId xmlns:a16="http://schemas.microsoft.com/office/drawing/2014/main" id="{D4FF00B2-FF39-4715-812C-906CA73DE9AF}"/>
              </a:ext>
            </a:extLst>
          </p:cNvPr>
          <p:cNvPicPr>
            <a:picLocks noChangeAspect="1"/>
          </p:cNvPicPr>
          <p:nvPr/>
        </p:nvPicPr>
        <p:blipFill>
          <a:blip r:embed="rId3"/>
          <a:stretch>
            <a:fillRect/>
          </a:stretch>
        </p:blipFill>
        <p:spPr>
          <a:xfrm>
            <a:off x="1753397" y="1637654"/>
            <a:ext cx="5651956" cy="1712954"/>
          </a:xfrm>
          <a:prstGeom prst="rect">
            <a:avLst/>
          </a:prstGeom>
        </p:spPr>
      </p:pic>
      <p:pic>
        <p:nvPicPr>
          <p:cNvPr id="3" name="Picture 2">
            <a:extLst>
              <a:ext uri="{FF2B5EF4-FFF2-40B4-BE49-F238E27FC236}">
                <a16:creationId xmlns:a16="http://schemas.microsoft.com/office/drawing/2014/main" id="{5D9F09A1-6F58-4256-8E4D-0CB10E123355}"/>
              </a:ext>
            </a:extLst>
          </p:cNvPr>
          <p:cNvPicPr>
            <a:picLocks noChangeAspect="1"/>
          </p:cNvPicPr>
          <p:nvPr/>
        </p:nvPicPr>
        <p:blipFill>
          <a:blip r:embed="rId4"/>
          <a:stretch>
            <a:fillRect/>
          </a:stretch>
        </p:blipFill>
        <p:spPr>
          <a:xfrm>
            <a:off x="1728727" y="0"/>
            <a:ext cx="5676625" cy="1671451"/>
          </a:xfrm>
          <a:prstGeom prst="rect">
            <a:avLst/>
          </a:prstGeom>
        </p:spPr>
      </p:pic>
      <p:sp>
        <p:nvSpPr>
          <p:cNvPr id="8" name="Rectangle 7">
            <a:extLst>
              <a:ext uri="{FF2B5EF4-FFF2-40B4-BE49-F238E27FC236}">
                <a16:creationId xmlns:a16="http://schemas.microsoft.com/office/drawing/2014/main" id="{598F2B8C-4FFE-4527-9ABD-7B8EA6D51EB7}"/>
              </a:ext>
            </a:extLst>
          </p:cNvPr>
          <p:cNvSpPr/>
          <p:nvPr/>
        </p:nvSpPr>
        <p:spPr>
          <a:xfrm>
            <a:off x="5422604" y="694660"/>
            <a:ext cx="1240465" cy="964020"/>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450329C-9726-4917-81D7-98A26CCD2DD1}"/>
              </a:ext>
            </a:extLst>
          </p:cNvPr>
          <p:cNvSpPr/>
          <p:nvPr/>
        </p:nvSpPr>
        <p:spPr>
          <a:xfrm>
            <a:off x="5369441" y="2293087"/>
            <a:ext cx="1240465" cy="1123508"/>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5F5EA0-50D9-4363-BB88-9761FF852568}"/>
              </a:ext>
            </a:extLst>
          </p:cNvPr>
          <p:cNvSpPr/>
          <p:nvPr/>
        </p:nvSpPr>
        <p:spPr>
          <a:xfrm>
            <a:off x="5369441" y="3989798"/>
            <a:ext cx="1240465" cy="1123508"/>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443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8A52A6-292C-421A-AD0D-9ABBF0AA455F}"/>
              </a:ext>
            </a:extLst>
          </p:cNvPr>
          <p:cNvPicPr>
            <a:picLocks noChangeAspect="1"/>
          </p:cNvPicPr>
          <p:nvPr/>
        </p:nvPicPr>
        <p:blipFill>
          <a:blip r:embed="rId2"/>
          <a:stretch>
            <a:fillRect/>
          </a:stretch>
        </p:blipFill>
        <p:spPr>
          <a:xfrm>
            <a:off x="195098" y="44278"/>
            <a:ext cx="4053016" cy="5099222"/>
          </a:xfrm>
          <a:prstGeom prst="rect">
            <a:avLst/>
          </a:prstGeom>
        </p:spPr>
      </p:pic>
      <p:pic>
        <p:nvPicPr>
          <p:cNvPr id="5" name="Picture 4">
            <a:extLst>
              <a:ext uri="{FF2B5EF4-FFF2-40B4-BE49-F238E27FC236}">
                <a16:creationId xmlns:a16="http://schemas.microsoft.com/office/drawing/2014/main" id="{47A1F42B-AC5F-48CB-85E3-E0C4C06A4D9D}"/>
              </a:ext>
            </a:extLst>
          </p:cNvPr>
          <p:cNvPicPr>
            <a:picLocks noChangeAspect="1"/>
          </p:cNvPicPr>
          <p:nvPr/>
        </p:nvPicPr>
        <p:blipFill>
          <a:blip r:embed="rId3"/>
          <a:stretch>
            <a:fillRect/>
          </a:stretch>
        </p:blipFill>
        <p:spPr>
          <a:xfrm>
            <a:off x="4838685" y="59209"/>
            <a:ext cx="3987114" cy="5025081"/>
          </a:xfrm>
          <a:prstGeom prst="rect">
            <a:avLst/>
          </a:prstGeom>
        </p:spPr>
      </p:pic>
      <p:sp>
        <p:nvSpPr>
          <p:cNvPr id="6" name="Rectangle 5">
            <a:extLst>
              <a:ext uri="{FF2B5EF4-FFF2-40B4-BE49-F238E27FC236}">
                <a16:creationId xmlns:a16="http://schemas.microsoft.com/office/drawing/2014/main" id="{EA663481-6635-44F3-A92E-E6004893C171}"/>
              </a:ext>
            </a:extLst>
          </p:cNvPr>
          <p:cNvSpPr/>
          <p:nvPr/>
        </p:nvSpPr>
        <p:spPr>
          <a:xfrm>
            <a:off x="3007649" y="1104830"/>
            <a:ext cx="1240465" cy="3979459"/>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6397EC6-B4CE-4C16-89C7-C5A9FDE7054E}"/>
              </a:ext>
            </a:extLst>
          </p:cNvPr>
          <p:cNvSpPr/>
          <p:nvPr/>
        </p:nvSpPr>
        <p:spPr>
          <a:xfrm>
            <a:off x="7585334" y="1154449"/>
            <a:ext cx="1240465" cy="3857030"/>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664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21569E-D1E9-44D3-9ABD-1EA5368B8AD9}"/>
              </a:ext>
            </a:extLst>
          </p:cNvPr>
          <p:cNvPicPr>
            <a:picLocks noChangeAspect="1"/>
          </p:cNvPicPr>
          <p:nvPr/>
        </p:nvPicPr>
        <p:blipFill>
          <a:blip r:embed="rId2"/>
          <a:stretch>
            <a:fillRect/>
          </a:stretch>
        </p:blipFill>
        <p:spPr>
          <a:xfrm>
            <a:off x="2530525" y="183589"/>
            <a:ext cx="3954162" cy="2174789"/>
          </a:xfrm>
          <a:prstGeom prst="rect">
            <a:avLst/>
          </a:prstGeom>
        </p:spPr>
      </p:pic>
      <p:pic>
        <p:nvPicPr>
          <p:cNvPr id="5" name="Picture 4">
            <a:extLst>
              <a:ext uri="{FF2B5EF4-FFF2-40B4-BE49-F238E27FC236}">
                <a16:creationId xmlns:a16="http://schemas.microsoft.com/office/drawing/2014/main" id="{99F6CC78-6CB4-4479-9115-92F2F5ED3071}"/>
              </a:ext>
            </a:extLst>
          </p:cNvPr>
          <p:cNvPicPr>
            <a:picLocks noChangeAspect="1"/>
          </p:cNvPicPr>
          <p:nvPr/>
        </p:nvPicPr>
        <p:blipFill>
          <a:blip r:embed="rId3"/>
          <a:stretch>
            <a:fillRect/>
          </a:stretch>
        </p:blipFill>
        <p:spPr>
          <a:xfrm>
            <a:off x="2530525" y="2431997"/>
            <a:ext cx="4020065" cy="2224216"/>
          </a:xfrm>
          <a:prstGeom prst="rect">
            <a:avLst/>
          </a:prstGeom>
        </p:spPr>
      </p:pic>
      <p:sp>
        <p:nvSpPr>
          <p:cNvPr id="6" name="Rectangle 5">
            <a:extLst>
              <a:ext uri="{FF2B5EF4-FFF2-40B4-BE49-F238E27FC236}">
                <a16:creationId xmlns:a16="http://schemas.microsoft.com/office/drawing/2014/main" id="{6FFD89B4-5AEE-409C-A037-6EA74AE1C6FC}"/>
              </a:ext>
            </a:extLst>
          </p:cNvPr>
          <p:cNvSpPr/>
          <p:nvPr/>
        </p:nvSpPr>
        <p:spPr>
          <a:xfrm>
            <a:off x="2388782" y="850606"/>
            <a:ext cx="4274288" cy="808074"/>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83FC914-A2D7-4807-8171-7E36AAD00B7E}"/>
              </a:ext>
            </a:extLst>
          </p:cNvPr>
          <p:cNvSpPr/>
          <p:nvPr/>
        </p:nvSpPr>
        <p:spPr>
          <a:xfrm>
            <a:off x="2388782" y="3157871"/>
            <a:ext cx="4274288" cy="808074"/>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652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2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heel(1)">
                                      <p:cBhvr>
                                        <p:cTn id="1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272A2B-3E5E-4EB5-BA0B-0EABC0D4B974}"/>
              </a:ext>
            </a:extLst>
          </p:cNvPr>
          <p:cNvPicPr>
            <a:picLocks noChangeAspect="1"/>
          </p:cNvPicPr>
          <p:nvPr/>
        </p:nvPicPr>
        <p:blipFill>
          <a:blip r:embed="rId2"/>
          <a:stretch>
            <a:fillRect/>
          </a:stretch>
        </p:blipFill>
        <p:spPr>
          <a:xfrm>
            <a:off x="4930922" y="484740"/>
            <a:ext cx="3921211" cy="4464908"/>
          </a:xfrm>
          <a:prstGeom prst="rect">
            <a:avLst/>
          </a:prstGeom>
        </p:spPr>
      </p:pic>
      <p:pic>
        <p:nvPicPr>
          <p:cNvPr id="3" name="Picture 2">
            <a:extLst>
              <a:ext uri="{FF2B5EF4-FFF2-40B4-BE49-F238E27FC236}">
                <a16:creationId xmlns:a16="http://schemas.microsoft.com/office/drawing/2014/main" id="{C7D977A1-85C9-4733-9CF4-A9A3FAD9BE05}"/>
              </a:ext>
            </a:extLst>
          </p:cNvPr>
          <p:cNvPicPr>
            <a:picLocks noChangeAspect="1"/>
          </p:cNvPicPr>
          <p:nvPr/>
        </p:nvPicPr>
        <p:blipFill>
          <a:blip r:embed="rId3"/>
          <a:stretch>
            <a:fillRect/>
          </a:stretch>
        </p:blipFill>
        <p:spPr>
          <a:xfrm>
            <a:off x="201537" y="412740"/>
            <a:ext cx="4053016" cy="4588476"/>
          </a:xfrm>
          <a:prstGeom prst="rect">
            <a:avLst/>
          </a:prstGeom>
        </p:spPr>
      </p:pic>
      <p:sp>
        <p:nvSpPr>
          <p:cNvPr id="6" name="Rectangle 5">
            <a:extLst>
              <a:ext uri="{FF2B5EF4-FFF2-40B4-BE49-F238E27FC236}">
                <a16:creationId xmlns:a16="http://schemas.microsoft.com/office/drawing/2014/main" id="{BEFA418B-89CC-4A19-9264-73E6D22CBAF8}"/>
              </a:ext>
            </a:extLst>
          </p:cNvPr>
          <p:cNvSpPr/>
          <p:nvPr/>
        </p:nvSpPr>
        <p:spPr>
          <a:xfrm>
            <a:off x="201537" y="1254642"/>
            <a:ext cx="3987691" cy="956929"/>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4ADC4F-FCD4-4B5E-AB36-94BFAFD0D0D2}"/>
              </a:ext>
            </a:extLst>
          </p:cNvPr>
          <p:cNvSpPr/>
          <p:nvPr/>
        </p:nvSpPr>
        <p:spPr>
          <a:xfrm>
            <a:off x="4864442" y="1254642"/>
            <a:ext cx="3987691" cy="956929"/>
          </a:xfrm>
          <a:prstGeom prst="rect">
            <a:avLst/>
          </a:prstGeom>
          <a:noFill/>
          <a:ln w="57150">
            <a:solidFill>
              <a:srgbClr val="FF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933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76269DE-D6BC-47D7-B872-4E6E7D76ADB1}"/>
              </a:ext>
            </a:extLst>
          </p:cNvPr>
          <p:cNvSpPr/>
          <p:nvPr/>
        </p:nvSpPr>
        <p:spPr>
          <a:xfrm>
            <a:off x="785611" y="4462530"/>
            <a:ext cx="2910626" cy="540912"/>
          </a:xfrm>
          <a:prstGeom prst="rect">
            <a:avLst/>
          </a:prstGeom>
          <a:solidFill>
            <a:schemeClr val="bg1"/>
          </a:solidFill>
          <a:ln>
            <a:no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descr="Table&#10;&#10;Description automatically generated with medium confidence">
            <a:extLst>
              <a:ext uri="{FF2B5EF4-FFF2-40B4-BE49-F238E27FC236}">
                <a16:creationId xmlns:a16="http://schemas.microsoft.com/office/drawing/2014/main" id="{5E38507B-81D4-4A81-943A-1A276DA7BA27}"/>
              </a:ext>
            </a:extLst>
          </p:cNvPr>
          <p:cNvPicPr>
            <a:picLocks noChangeAspect="1"/>
          </p:cNvPicPr>
          <p:nvPr/>
        </p:nvPicPr>
        <p:blipFill rotWithShape="1">
          <a:blip r:embed="rId2"/>
          <a:srcRect l="6718" t="10472" r="10387" b="17321"/>
          <a:stretch/>
        </p:blipFill>
        <p:spPr>
          <a:xfrm>
            <a:off x="1077238" y="282881"/>
            <a:ext cx="7221255" cy="4860619"/>
          </a:xfrm>
          <a:prstGeom prst="rect">
            <a:avLst/>
          </a:prstGeom>
        </p:spPr>
      </p:pic>
    </p:spTree>
    <p:extLst>
      <p:ext uri="{BB962C8B-B14F-4D97-AF65-F5344CB8AC3E}">
        <p14:creationId xmlns:p14="http://schemas.microsoft.com/office/powerpoint/2010/main" val="2197167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Government Bailouts 101</a:t>
            </a:r>
          </a:p>
        </p:txBody>
      </p:sp>
      <p:sp>
        <p:nvSpPr>
          <p:cNvPr id="3" name="Content Placeholder 2"/>
          <p:cNvSpPr>
            <a:spLocks noGrp="1"/>
          </p:cNvSpPr>
          <p:nvPr>
            <p:ph idx="1"/>
          </p:nvPr>
        </p:nvSpPr>
        <p:spPr/>
        <p:txBody>
          <a:bodyPr/>
          <a:lstStyle/>
          <a:p>
            <a:r>
              <a:rPr lang="en-US"/>
              <a:t>AIG</a:t>
            </a:r>
          </a:p>
          <a:p>
            <a:r>
              <a:rPr lang="en-US"/>
              <a:t>GM</a:t>
            </a:r>
          </a:p>
        </p:txBody>
      </p:sp>
    </p:spTree>
    <p:extLst>
      <p:ext uri="{BB962C8B-B14F-4D97-AF65-F5344CB8AC3E}">
        <p14:creationId xmlns:p14="http://schemas.microsoft.com/office/powerpoint/2010/main" val="3463725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Merck</a:t>
            </a:r>
          </a:p>
        </p:txBody>
      </p:sp>
      <p:sp>
        <p:nvSpPr>
          <p:cNvPr id="3" name="Content Placeholder 2"/>
          <p:cNvSpPr>
            <a:spLocks noGrp="1"/>
          </p:cNvSpPr>
          <p:nvPr>
            <p:ph idx="1"/>
          </p:nvPr>
        </p:nvSpPr>
        <p:spPr/>
        <p:txBody>
          <a:bodyPr/>
          <a:lstStyle/>
          <a:p>
            <a:r>
              <a:rPr lang="en-US"/>
              <a:t>Product liability: Vioxx</a:t>
            </a:r>
          </a:p>
        </p:txBody>
      </p:sp>
    </p:spTree>
    <p:extLst>
      <p:ext uri="{BB962C8B-B14F-4D97-AF65-F5344CB8AC3E}">
        <p14:creationId xmlns:p14="http://schemas.microsoft.com/office/powerpoint/2010/main" val="1252758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666750"/>
            <a:ext cx="8412480" cy="3505200"/>
          </a:xfrm>
          <a:prstGeom prst="rect">
            <a:avLst/>
          </a:prstGeom>
        </p:spPr>
      </p:pic>
      <p:sp>
        <p:nvSpPr>
          <p:cNvPr id="3" name="Oval 2"/>
          <p:cNvSpPr/>
          <p:nvPr/>
        </p:nvSpPr>
        <p:spPr>
          <a:xfrm>
            <a:off x="5867400" y="2038350"/>
            <a:ext cx="685800" cy="2057400"/>
          </a:xfrm>
          <a:prstGeom prst="ellipse">
            <a:avLst/>
          </a:pr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901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p:txBody>
          <a:bodyPr/>
          <a:lstStyle/>
          <a:p>
            <a:fld id="{02A871E3-8E1D-4A71-B0E5-1C97183FB13F}" type="slidenum">
              <a:rPr lang="en-US" altLang="en-US"/>
              <a:pPr/>
              <a:t>22</a:t>
            </a:fld>
            <a:endParaRPr lang="en-US" altLang="en-US"/>
          </a:p>
        </p:txBody>
      </p:sp>
      <p:pic>
        <p:nvPicPr>
          <p:cNvPr id="57348" name="Picture 4" descr="{058E5815-BF8E-46FD-840A-19798D0BEDC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1175148"/>
            <a:ext cx="4800600" cy="2793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209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B8662F9-A20F-4847-BA47-0F6E0A96C4B8}" type="slidenum">
              <a:rPr lang="en-US" altLang="en-US"/>
              <a:pPr/>
              <a:t>23</a:t>
            </a:fld>
            <a:endParaRPr lang="en-US" altLang="en-US"/>
          </a:p>
        </p:txBody>
      </p:sp>
      <p:sp>
        <p:nvSpPr>
          <p:cNvPr id="58370" name="Rectangle 2"/>
          <p:cNvSpPr>
            <a:spLocks noGrp="1" noChangeArrowheads="1"/>
          </p:cNvSpPr>
          <p:nvPr>
            <p:ph type="title"/>
          </p:nvPr>
        </p:nvSpPr>
        <p:spPr>
          <a:xfrm>
            <a:off x="685800" y="457200"/>
            <a:ext cx="7772400" cy="514350"/>
          </a:xfrm>
        </p:spPr>
        <p:txBody>
          <a:bodyPr>
            <a:normAutofit fontScale="90000"/>
          </a:bodyPr>
          <a:lstStyle/>
          <a:p>
            <a:r>
              <a:rPr lang="en-US" altLang="en-US" sz="2800"/>
              <a:t>Merck &amp; Co., Inc.</a:t>
            </a:r>
          </a:p>
        </p:txBody>
      </p:sp>
      <p:sp>
        <p:nvSpPr>
          <p:cNvPr id="58371" name="Rectangle 3"/>
          <p:cNvSpPr>
            <a:spLocks noGrp="1" noChangeArrowheads="1"/>
          </p:cNvSpPr>
          <p:nvPr>
            <p:ph type="body" idx="1"/>
          </p:nvPr>
        </p:nvSpPr>
        <p:spPr>
          <a:xfrm>
            <a:off x="0" y="971550"/>
            <a:ext cx="8534400" cy="3086100"/>
          </a:xfrm>
        </p:spPr>
        <p:txBody>
          <a:bodyPr>
            <a:normAutofit fontScale="92500" lnSpcReduction="10000"/>
          </a:bodyPr>
          <a:lstStyle/>
          <a:p>
            <a:pPr>
              <a:lnSpc>
                <a:spcPct val="90000"/>
              </a:lnSpc>
              <a:buFontTx/>
              <a:buNone/>
            </a:pPr>
            <a:r>
              <a:rPr lang="en-US" altLang="en-US" sz="2000">
                <a:cs typeface="Times New Roman" pitchFamily="18" charset="0"/>
              </a:rPr>
              <a:t>7</a:t>
            </a:r>
            <a:r>
              <a:rPr lang="en-US" altLang="en-US" sz="2400">
                <a:cs typeface="Times New Roman" pitchFamily="18" charset="0"/>
              </a:rPr>
              <a:t>. </a:t>
            </a:r>
            <a:r>
              <a:rPr lang="en-US" altLang="en-US" sz="2400"/>
              <a:t>From Note 11: “The Company records accruals for contingencies when it is probable that a liability has been incurred and the amount can be reasonably estimated.”</a:t>
            </a:r>
          </a:p>
          <a:p>
            <a:pPr>
              <a:lnSpc>
                <a:spcPct val="90000"/>
              </a:lnSpc>
              <a:buFontTx/>
              <a:buNone/>
            </a:pPr>
            <a:endParaRPr lang="en-US" altLang="en-US" sz="2400">
              <a:cs typeface="Times New Roman" pitchFamily="18" charset="0"/>
            </a:endParaRPr>
          </a:p>
          <a:p>
            <a:pPr>
              <a:lnSpc>
                <a:spcPct val="90000"/>
              </a:lnSpc>
              <a:buFontTx/>
              <a:buNone/>
            </a:pPr>
            <a:endParaRPr lang="en-US" altLang="en-US" sz="2400">
              <a:cs typeface="Times New Roman" pitchFamily="18" charset="0"/>
            </a:endParaRPr>
          </a:p>
          <a:p>
            <a:pPr>
              <a:lnSpc>
                <a:spcPct val="90000"/>
              </a:lnSpc>
              <a:buFontTx/>
              <a:buNone/>
            </a:pPr>
            <a:r>
              <a:rPr lang="en-US" altLang="en-US" sz="2000">
                <a:cs typeface="Times New Roman" pitchFamily="18" charset="0"/>
              </a:rPr>
              <a:t>8</a:t>
            </a:r>
            <a:r>
              <a:rPr lang="en-US" altLang="en-US" sz="2400">
                <a:cs typeface="Times New Roman" pitchFamily="18" charset="0"/>
              </a:rPr>
              <a:t>. </a:t>
            </a:r>
            <a:r>
              <a:rPr lang="en-US" altLang="en-US" sz="2400"/>
              <a:t>From Note 11: “Legal defense costs expected to be incurred in connection with a loss contingency are accrued when probable and reasonably estimable.”</a:t>
            </a:r>
            <a:br>
              <a:rPr lang="en-US" altLang="en-US" sz="2400">
                <a:cs typeface="Times New Roman" pitchFamily="18" charset="0"/>
              </a:rPr>
            </a:br>
            <a:endParaRPr lang="en-US" altLang="en-US" sz="2400">
              <a:cs typeface="Times New Roman" pitchFamily="18" charset="0"/>
            </a:endParaRPr>
          </a:p>
          <a:p>
            <a:pPr>
              <a:lnSpc>
                <a:spcPct val="90000"/>
              </a:lnSpc>
              <a:buFontTx/>
              <a:buNone/>
            </a:pPr>
            <a:r>
              <a:rPr lang="en-US" altLang="en-US" sz="2400">
                <a:cs typeface="Times New Roman" pitchFamily="18" charset="0"/>
              </a:rPr>
              <a:t> </a:t>
            </a:r>
            <a:endParaRPr lang="en-US" altLang="en-US" sz="1800">
              <a:cs typeface="Times New Roman" pitchFamily="18" charset="0"/>
            </a:endParaRPr>
          </a:p>
        </p:txBody>
      </p:sp>
    </p:spTree>
    <p:extLst>
      <p:ext uri="{BB962C8B-B14F-4D97-AF65-F5344CB8AC3E}">
        <p14:creationId xmlns:p14="http://schemas.microsoft.com/office/powerpoint/2010/main" val="1244555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 calcmode="lin" valueType="num">
                                      <p:cBhvr additive="base">
                                        <p:cTn id="7" dur="500" fill="hold"/>
                                        <p:tgtEl>
                                          <p:spTgt spid="583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3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371">
                                            <p:txEl>
                                              <p:pRg st="3" end="3"/>
                                            </p:txEl>
                                          </p:spTgt>
                                        </p:tgtEl>
                                        <p:attrNameLst>
                                          <p:attrName>style.visibility</p:attrName>
                                        </p:attrNameLst>
                                      </p:cBhvr>
                                      <p:to>
                                        <p:strVal val="visible"/>
                                      </p:to>
                                    </p:set>
                                    <p:anim calcmode="lin" valueType="num">
                                      <p:cBhvr additive="base">
                                        <p:cTn id="13" dur="500" fill="hold"/>
                                        <p:tgtEl>
                                          <p:spTgt spid="58371">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3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371">
                                            <p:txEl>
                                              <p:pRg st="4" end="4"/>
                                            </p:txEl>
                                          </p:spTgt>
                                        </p:tgtEl>
                                        <p:attrNameLst>
                                          <p:attrName>style.visibility</p:attrName>
                                        </p:attrNameLst>
                                      </p:cBhvr>
                                      <p:to>
                                        <p:strVal val="visible"/>
                                      </p:to>
                                    </p:set>
                                    <p:anim calcmode="lin" valueType="num">
                                      <p:cBhvr additive="base">
                                        <p:cTn id="19" dur="500" fill="hold"/>
                                        <p:tgtEl>
                                          <p:spTgt spid="58371">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37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E086572-59BE-4010-B727-8050D3B32980}" type="slidenum">
              <a:rPr lang="en-US" altLang="en-US"/>
              <a:pPr/>
              <a:t>24</a:t>
            </a:fld>
            <a:endParaRPr lang="en-US" altLang="en-US"/>
          </a:p>
        </p:txBody>
      </p:sp>
      <p:sp>
        <p:nvSpPr>
          <p:cNvPr id="59394" name="Rectangle 2"/>
          <p:cNvSpPr>
            <a:spLocks noGrp="1" noChangeArrowheads="1"/>
          </p:cNvSpPr>
          <p:nvPr>
            <p:ph type="title"/>
          </p:nvPr>
        </p:nvSpPr>
        <p:spPr>
          <a:xfrm>
            <a:off x="685800" y="457200"/>
            <a:ext cx="7772400" cy="514350"/>
          </a:xfrm>
        </p:spPr>
        <p:txBody>
          <a:bodyPr>
            <a:normAutofit fontScale="90000"/>
          </a:bodyPr>
          <a:lstStyle/>
          <a:p>
            <a:r>
              <a:rPr lang="en-US" altLang="en-US" sz="2800"/>
              <a:t>Merck &amp; Co., Inc.</a:t>
            </a:r>
          </a:p>
        </p:txBody>
      </p:sp>
      <p:sp>
        <p:nvSpPr>
          <p:cNvPr id="59395" name="Rectangle 3"/>
          <p:cNvSpPr>
            <a:spLocks noGrp="1" noChangeArrowheads="1"/>
          </p:cNvSpPr>
          <p:nvPr>
            <p:ph type="body" idx="1"/>
          </p:nvPr>
        </p:nvSpPr>
        <p:spPr>
          <a:xfrm>
            <a:off x="0" y="971550"/>
            <a:ext cx="8534400" cy="3086100"/>
          </a:xfrm>
        </p:spPr>
        <p:txBody>
          <a:bodyPr>
            <a:normAutofit fontScale="62500" lnSpcReduction="20000"/>
          </a:bodyPr>
          <a:lstStyle/>
          <a:p>
            <a:pPr>
              <a:lnSpc>
                <a:spcPct val="170000"/>
              </a:lnSpc>
              <a:buFontTx/>
              <a:buNone/>
            </a:pPr>
            <a:r>
              <a:rPr lang="en-US" altLang="en-US" sz="2400">
                <a:cs typeface="Times New Roman" pitchFamily="18" charset="0"/>
              </a:rPr>
              <a:t>20. </a:t>
            </a:r>
            <a:r>
              <a:rPr lang="en-US" altLang="en-US" sz="2400"/>
              <a:t>“In view of the inherent difficulty of predicting the outcome of litigation, particularly where there are many claimants and the claimants seek indeterminate damages, the Company is unable to predict the outcome of these matters, and at this time cannot reasonably estimate the possible loss or range of loss with respect to the</a:t>
            </a:r>
            <a:r>
              <a:rPr lang="en-US" altLang="en-US" sz="2400" i="1"/>
              <a:t> </a:t>
            </a:r>
            <a:r>
              <a:rPr lang="en-US" altLang="en-US" sz="2400" i="1" err="1"/>
              <a:t>Vioxx</a:t>
            </a:r>
            <a:r>
              <a:rPr lang="en-US" altLang="en-US" sz="2400"/>
              <a:t> Lawsuits. The Company has not established any reserves for any potential liability relating to the</a:t>
            </a:r>
            <a:r>
              <a:rPr lang="en-US" altLang="en-US" sz="2400" i="1"/>
              <a:t> </a:t>
            </a:r>
            <a:r>
              <a:rPr lang="en-US" altLang="en-US" sz="2400" i="1" err="1"/>
              <a:t>Vioxx</a:t>
            </a:r>
            <a:r>
              <a:rPr lang="en-US" altLang="en-US" sz="2400"/>
              <a:t> Lawsuits or the</a:t>
            </a:r>
            <a:r>
              <a:rPr lang="en-US" altLang="en-US" sz="2400" i="1"/>
              <a:t> </a:t>
            </a:r>
            <a:r>
              <a:rPr lang="en-US" altLang="en-US" sz="2400" i="1" err="1"/>
              <a:t>Vioxx</a:t>
            </a:r>
            <a:r>
              <a:rPr lang="en-US" altLang="en-US" sz="2400"/>
              <a:t> Investigations (collectively the “</a:t>
            </a:r>
            <a:r>
              <a:rPr lang="en-US" altLang="en-US" sz="2400" i="1" err="1"/>
              <a:t>Vioxx</a:t>
            </a:r>
            <a:r>
              <a:rPr lang="en-US" altLang="en-US" sz="2400"/>
              <a:t> Litigation”). The Company has established a reserve of $675 million solely for its future legal defense costs related to the</a:t>
            </a:r>
            <a:r>
              <a:rPr lang="en-US" altLang="en-US" sz="2400" i="1"/>
              <a:t> </a:t>
            </a:r>
            <a:r>
              <a:rPr lang="en-US" altLang="en-US" sz="2400" i="1" err="1"/>
              <a:t>Vioxx</a:t>
            </a:r>
            <a:r>
              <a:rPr lang="en-US" altLang="en-US" sz="2400"/>
              <a:t> Litigation. This reserve is based on certain assumptions and is the minimum amount that the Company believes at this time it can reasonably estimate will be spent over a multi-year period.”</a:t>
            </a:r>
            <a:br>
              <a:rPr lang="en-US" altLang="en-US" sz="1800">
                <a:cs typeface="Times New Roman" pitchFamily="18" charset="0"/>
              </a:rPr>
            </a:br>
            <a:endParaRPr lang="en-US" altLang="en-US" sz="1800">
              <a:cs typeface="Times New Roman" pitchFamily="18" charset="0"/>
            </a:endParaRPr>
          </a:p>
        </p:txBody>
      </p:sp>
    </p:spTree>
    <p:extLst>
      <p:ext uri="{BB962C8B-B14F-4D97-AF65-F5344CB8AC3E}">
        <p14:creationId xmlns:p14="http://schemas.microsoft.com/office/powerpoint/2010/main" val="2889930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Next Time</a:t>
            </a:r>
          </a:p>
        </p:txBody>
      </p:sp>
      <p:sp>
        <p:nvSpPr>
          <p:cNvPr id="3" name="Content Placeholder 2"/>
          <p:cNvSpPr>
            <a:spLocks noGrp="1"/>
          </p:cNvSpPr>
          <p:nvPr>
            <p:ph idx="1"/>
          </p:nvPr>
        </p:nvSpPr>
        <p:spPr/>
        <p:txBody>
          <a:bodyPr>
            <a:normAutofit fontScale="92500" lnSpcReduction="10000"/>
          </a:bodyPr>
          <a:lstStyle/>
          <a:p>
            <a:r>
              <a:rPr lang="en-US"/>
              <a:t>Start learning accounting at the MOST basic level</a:t>
            </a:r>
          </a:p>
          <a:p>
            <a:pPr lvl="1"/>
            <a:r>
              <a:rPr lang="en-US"/>
              <a:t>Bookkeeping mechanics and financial statement structure that form the basis </a:t>
            </a:r>
            <a:r>
              <a:rPr lang="en-US" i="1"/>
              <a:t>for all accounting systems</a:t>
            </a:r>
            <a:r>
              <a:rPr lang="en-US"/>
              <a:t> (US GAAP, IFRS, US Income Tax accounting)</a:t>
            </a:r>
          </a:p>
          <a:p>
            <a:pPr lvl="1"/>
            <a:r>
              <a:rPr lang="en-US"/>
              <a:t>Excel environment that I have designed. Works best with Office 365 and a subscription.</a:t>
            </a:r>
          </a:p>
          <a:p>
            <a:r>
              <a:rPr lang="en-US"/>
              <a:t>Very different from other YLS courses but </a:t>
            </a:r>
            <a:r>
              <a:rPr lang="en-US" b="1"/>
              <a:t>DO IT ANYWAY</a:t>
            </a:r>
            <a:r>
              <a:rPr lang="en-US"/>
              <a:t>!!</a:t>
            </a:r>
          </a:p>
        </p:txBody>
      </p:sp>
    </p:spTree>
    <p:extLst>
      <p:ext uri="{BB962C8B-B14F-4D97-AF65-F5344CB8AC3E}">
        <p14:creationId xmlns:p14="http://schemas.microsoft.com/office/powerpoint/2010/main" val="252977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YLS-Class-White-W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YLS-Class-White-Wide</Template>
  <TotalTime>0</TotalTime>
  <Words>772</Words>
  <Application>Microsoft Office PowerPoint</Application>
  <PresentationFormat>On-screen Show (16:9)</PresentationFormat>
  <Paragraphs>99</Paragraphs>
  <Slides>25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YLS-Class-White-Wide</vt:lpstr>
      <vt:lpstr>LAW 21474 Financial Accounting</vt:lpstr>
      <vt:lpstr>Instructor</vt:lpstr>
      <vt:lpstr>Course details</vt:lpstr>
      <vt:lpstr>Accounting</vt:lpstr>
      <vt:lpstr>Most Important Figure</vt:lpstr>
      <vt:lpstr>Uncle pennybags' generosity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Government Bailouts 101</vt:lpstr>
      <vt:lpstr>Merck</vt:lpstr>
      <vt:lpstr>PowerPoint Presentation</vt:lpstr>
      <vt:lpstr>PowerPoint Presentation</vt:lpstr>
      <vt:lpstr>Merck &amp; Co., Inc.</vt:lpstr>
      <vt:lpstr>Merck &amp; Co., Inc.</vt:lpstr>
      <vt:lpstr>Next Time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 21474 Financial Accounting</dc:title>
  <dc:creator>rantle</dc:creator>
  <cp:lastModifiedBy>Antle, Rick</cp:lastModifiedBy>
  <cp:revision>1</cp:revision>
  <dcterms:created xsi:type="dcterms:W3CDTF">2018-01-16T22:24:01Z</dcterms:created>
  <dcterms:modified xsi:type="dcterms:W3CDTF">2026-01-12T18:56:41Z</dcterms:modified>
</cp:coreProperties>
</file>