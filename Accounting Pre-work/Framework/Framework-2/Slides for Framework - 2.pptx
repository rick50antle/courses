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83" r:id="rId6"/>
    <p:sldId id="287" r:id="rId7"/>
    <p:sldId id="258" r:id="rId8"/>
    <p:sldId id="288" r:id="rId9"/>
    <p:sldId id="285" r:id="rId10"/>
    <p:sldId id="286" r:id="rId11"/>
    <p:sldId id="289" r:id="rId12"/>
    <p:sldId id="284" r:id="rId13"/>
    <p:sldId id="290" r:id="rId14"/>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BA6"/>
    <a:srgbClr val="483C46"/>
    <a:srgbClr val="224870"/>
    <a:srgbClr val="243A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44CBC-E177-4FC8-99AC-86EB021130C7}" v="1" dt="2020-02-22T19:22:29.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92"/>
  </p:normalViewPr>
  <p:slideViewPr>
    <p:cSldViewPr snapToGrid="0">
      <p:cViewPr varScale="1">
        <p:scale>
          <a:sx n="119" d="100"/>
          <a:sy n="119" d="100"/>
        </p:scale>
        <p:origin x="126" y="1050"/>
      </p:cViewPr>
      <p:guideLst>
        <p:guide orient="horz" pos="2160"/>
        <p:guide pos="3840"/>
      </p:guideLst>
    </p:cSldViewPr>
  </p:slideViewPr>
  <p:notesTextViewPr>
    <p:cViewPr>
      <p:scale>
        <a:sx n="1" d="1"/>
        <a:sy n="1" d="1"/>
      </p:scale>
      <p:origin x="0" y="0"/>
    </p:cViewPr>
  </p:notesTextViewPr>
  <p:notesViewPr>
    <p:cSldViewPr snapToGrid="0" showGuides="1">
      <p:cViewPr>
        <p:scale>
          <a:sx n="96" d="100"/>
          <a:sy n="96" d="100"/>
        </p:scale>
        <p:origin x="3816" y="1122"/>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44A44CBC-E177-4FC8-99AC-86EB021130C7}"/>
    <pc:docChg chg="undo custSel addSld delSld modSld modNotesMaster">
      <pc:chgData name="Antle, Rick" userId="c2afbbd2-30e4-4c8e-8af5-81913178ace3" providerId="ADAL" clId="{44A44CBC-E177-4FC8-99AC-86EB021130C7}" dt="2020-03-08T20:01:25.582" v="3235" actId="20577"/>
      <pc:docMkLst>
        <pc:docMk/>
      </pc:docMkLst>
      <pc:sldChg chg="addSp delSp modSp modAnim">
        <pc:chgData name="Antle, Rick" userId="c2afbbd2-30e4-4c8e-8af5-81913178ace3" providerId="ADAL" clId="{44A44CBC-E177-4FC8-99AC-86EB021130C7}" dt="2020-03-08T20:01:25.582" v="3235" actId="20577"/>
        <pc:sldMkLst>
          <pc:docMk/>
          <pc:sldMk cId="3604780475" sldId="256"/>
        </pc:sldMkLst>
        <pc:spChg chg="mod">
          <ac:chgData name="Antle, Rick" userId="c2afbbd2-30e4-4c8e-8af5-81913178ace3" providerId="ADAL" clId="{44A44CBC-E177-4FC8-99AC-86EB021130C7}" dt="2020-03-08T20:01:25.582" v="3235" actId="20577"/>
          <ac:spMkLst>
            <pc:docMk/>
            <pc:sldMk cId="3604780475" sldId="256"/>
            <ac:spMk id="2" creationId="{F8AA5610-50E7-4F70-960A-E63ECC443FC9}"/>
          </ac:spMkLst>
        </pc:spChg>
        <pc:spChg chg="add del mod">
          <ac:chgData name="Antle, Rick" userId="c2afbbd2-30e4-4c8e-8af5-81913178ace3" providerId="ADAL" clId="{44A44CBC-E177-4FC8-99AC-86EB021130C7}" dt="2020-02-22T19:21:43.427" v="195" actId="6549"/>
          <ac:spMkLst>
            <pc:docMk/>
            <pc:sldMk cId="3604780475" sldId="256"/>
            <ac:spMk id="4" creationId="{6D715DF8-4477-431C-A280-84827C252C39}"/>
          </ac:spMkLst>
        </pc:spChg>
        <pc:picChg chg="mod">
          <ac:chgData name="Antle, Rick" userId="c2afbbd2-30e4-4c8e-8af5-81913178ace3" providerId="ADAL" clId="{44A44CBC-E177-4FC8-99AC-86EB021130C7}" dt="2020-02-22T19:21:42.220" v="193" actId="1076"/>
          <ac:picMkLst>
            <pc:docMk/>
            <pc:sldMk cId="3604780475" sldId="256"/>
            <ac:picMk id="5" creationId="{AFE2ACD4-A303-C640-A5FE-B7772F45CE38}"/>
          </ac:picMkLst>
        </pc:picChg>
        <pc:picChg chg="mod">
          <ac:chgData name="Antle, Rick" userId="c2afbbd2-30e4-4c8e-8af5-81913178ace3" providerId="ADAL" clId="{44A44CBC-E177-4FC8-99AC-86EB021130C7}" dt="2020-02-22T19:21:41.812" v="192" actId="1076"/>
          <ac:picMkLst>
            <pc:docMk/>
            <pc:sldMk cId="3604780475" sldId="256"/>
            <ac:picMk id="6" creationId="{221BAAE8-98A9-CB48-B200-9C80A5018A59}"/>
          </ac:picMkLst>
        </pc:picChg>
        <pc:picChg chg="mod">
          <ac:chgData name="Antle, Rick" userId="c2afbbd2-30e4-4c8e-8af5-81913178ace3" providerId="ADAL" clId="{44A44CBC-E177-4FC8-99AC-86EB021130C7}" dt="2020-02-22T19:21:41.402" v="191" actId="1076"/>
          <ac:picMkLst>
            <pc:docMk/>
            <pc:sldMk cId="3604780475" sldId="256"/>
            <ac:picMk id="7" creationId="{902F1DFA-A3E7-E240-ADE1-9B58839C4BB1}"/>
          </ac:picMkLst>
        </pc:picChg>
      </pc:sldChg>
      <pc:sldChg chg="del">
        <pc:chgData name="Antle, Rick" userId="c2afbbd2-30e4-4c8e-8af5-81913178ace3" providerId="ADAL" clId="{44A44CBC-E177-4FC8-99AC-86EB021130C7}" dt="2020-02-23T21:18:11.984" v="3225" actId="47"/>
        <pc:sldMkLst>
          <pc:docMk/>
          <pc:sldMk cId="771280463" sldId="257"/>
        </pc:sldMkLst>
      </pc:sldChg>
      <pc:sldChg chg="del">
        <pc:chgData name="Antle, Rick" userId="c2afbbd2-30e4-4c8e-8af5-81913178ace3" providerId="ADAL" clId="{44A44CBC-E177-4FC8-99AC-86EB021130C7}" dt="2020-02-23T21:18:11.984" v="3225" actId="47"/>
        <pc:sldMkLst>
          <pc:docMk/>
          <pc:sldMk cId="618991816" sldId="277"/>
        </pc:sldMkLst>
      </pc:sldChg>
      <pc:sldChg chg="modNotes">
        <pc:chgData name="Antle, Rick" userId="c2afbbd2-30e4-4c8e-8af5-81913178ace3" providerId="ADAL" clId="{44A44CBC-E177-4FC8-99AC-86EB021130C7}" dt="2020-02-22T21:51:55.446" v="1217"/>
        <pc:sldMkLst>
          <pc:docMk/>
          <pc:sldMk cId="691816092" sldId="283"/>
        </pc:sldMkLst>
      </pc:sldChg>
      <pc:sldChg chg="modAnim modNotes">
        <pc:chgData name="Antle, Rick" userId="c2afbbd2-30e4-4c8e-8af5-81913178ace3" providerId="ADAL" clId="{44A44CBC-E177-4FC8-99AC-86EB021130C7}" dt="2020-02-22T22:03:59.600" v="2647" actId="20577"/>
        <pc:sldMkLst>
          <pc:docMk/>
          <pc:sldMk cId="146954458" sldId="284"/>
        </pc:sldMkLst>
      </pc:sldChg>
      <pc:sldChg chg="modNotes">
        <pc:chgData name="Antle, Rick" userId="c2afbbd2-30e4-4c8e-8af5-81913178ace3" providerId="ADAL" clId="{44A44CBC-E177-4FC8-99AC-86EB021130C7}" dt="2020-02-22T21:51:55.446" v="1217"/>
        <pc:sldMkLst>
          <pc:docMk/>
          <pc:sldMk cId="2679044763" sldId="286"/>
        </pc:sldMkLst>
      </pc:sldChg>
      <pc:sldChg chg="addSp modSp modAnim">
        <pc:chgData name="Antle, Rick" userId="c2afbbd2-30e4-4c8e-8af5-81913178ace3" providerId="ADAL" clId="{44A44CBC-E177-4FC8-99AC-86EB021130C7}" dt="2020-02-22T21:15:27.414" v="239"/>
        <pc:sldMkLst>
          <pc:docMk/>
          <pc:sldMk cId="793937184" sldId="288"/>
        </pc:sldMkLst>
        <pc:grpChg chg="mod">
          <ac:chgData name="Antle, Rick" userId="c2afbbd2-30e4-4c8e-8af5-81913178ace3" providerId="ADAL" clId="{44A44CBC-E177-4FC8-99AC-86EB021130C7}" dt="2020-02-22T21:14:58.699" v="225" actId="1076"/>
          <ac:grpSpMkLst>
            <pc:docMk/>
            <pc:sldMk cId="793937184" sldId="288"/>
            <ac:grpSpMk id="14" creationId="{473740F8-8679-8745-A7B4-6A2E08B2A2EF}"/>
          </ac:grpSpMkLst>
        </pc:grpChg>
        <pc:picChg chg="add mod">
          <ac:chgData name="Antle, Rick" userId="c2afbbd2-30e4-4c8e-8af5-81913178ace3" providerId="ADAL" clId="{44A44CBC-E177-4FC8-99AC-86EB021130C7}" dt="2020-02-22T21:12:09.332" v="210" actId="1076"/>
          <ac:picMkLst>
            <pc:docMk/>
            <pc:sldMk cId="793937184" sldId="288"/>
            <ac:picMk id="26" creationId="{50DAB2F3-8A2E-4562-94E6-1920DAF1F927}"/>
          </ac:picMkLst>
        </pc:picChg>
        <pc:picChg chg="add mod">
          <ac:chgData name="Antle, Rick" userId="c2afbbd2-30e4-4c8e-8af5-81913178ace3" providerId="ADAL" clId="{44A44CBC-E177-4FC8-99AC-86EB021130C7}" dt="2020-02-22T21:14:00.406" v="223" actId="1076"/>
          <ac:picMkLst>
            <pc:docMk/>
            <pc:sldMk cId="793937184" sldId="288"/>
            <ac:picMk id="27" creationId="{826D3B04-35BE-4C82-86AD-AED9CAFAD46C}"/>
          </ac:picMkLst>
        </pc:picChg>
      </pc:sldChg>
      <pc:sldChg chg="modSp add modNotes">
        <pc:chgData name="Antle, Rick" userId="c2afbbd2-30e4-4c8e-8af5-81913178ace3" providerId="ADAL" clId="{44A44CBC-E177-4FC8-99AC-86EB021130C7}" dt="2020-02-22T21:51:55.446" v="1217"/>
        <pc:sldMkLst>
          <pc:docMk/>
          <pc:sldMk cId="2386417367" sldId="289"/>
        </pc:sldMkLst>
        <pc:spChg chg="mod">
          <ac:chgData name="Antle, Rick" userId="c2afbbd2-30e4-4c8e-8af5-81913178ace3" providerId="ADAL" clId="{44A44CBC-E177-4FC8-99AC-86EB021130C7}" dt="2020-02-22T21:42:02.229" v="285" actId="5793"/>
          <ac:spMkLst>
            <pc:docMk/>
            <pc:sldMk cId="2386417367" sldId="289"/>
            <ac:spMk id="2" creationId="{57DF4C10-54AF-41BF-9D96-7E1A8FA83F25}"/>
          </ac:spMkLst>
        </pc:spChg>
      </pc:sldChg>
      <pc:sldChg chg="modSp add modAnim modNotes">
        <pc:chgData name="Antle, Rick" userId="c2afbbd2-30e4-4c8e-8af5-81913178ace3" providerId="ADAL" clId="{44A44CBC-E177-4FC8-99AC-86EB021130C7}" dt="2020-02-22T22:13:20.670" v="3224" actId="6549"/>
        <pc:sldMkLst>
          <pc:docMk/>
          <pc:sldMk cId="4048288453" sldId="290"/>
        </pc:sldMkLst>
        <pc:spChg chg="mod">
          <ac:chgData name="Antle, Rick" userId="c2afbbd2-30e4-4c8e-8af5-81913178ace3" providerId="ADAL" clId="{44A44CBC-E177-4FC8-99AC-86EB021130C7}" dt="2020-02-22T22:13:20.670" v="3224" actId="6549"/>
          <ac:spMkLst>
            <pc:docMk/>
            <pc:sldMk cId="4048288453" sldId="29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3177" tIns="46589" rIns="93177" bIns="46589" rtlCol="0"/>
          <a:lstStyle>
            <a:lvl1pPr algn="r">
              <a:defRPr sz="1200"/>
            </a:lvl1pPr>
          </a:lstStyle>
          <a:p>
            <a:fld id="{692135A7-B2CA-423B-8B1D-9DA36F8D5DA4}" type="datetimeFigureOut">
              <a:rPr lang="en-US" smtClean="0"/>
              <a:t>3/8/2020</a:t>
            </a:fld>
            <a:endParaRPr lang="en-US"/>
          </a:p>
        </p:txBody>
      </p:sp>
      <p:sp>
        <p:nvSpPr>
          <p:cNvPr id="4" name="Slide Image Placeholder 3"/>
          <p:cNvSpPr>
            <a:spLocks noGrp="1" noRot="1" noChangeAspect="1"/>
          </p:cNvSpPr>
          <p:nvPr>
            <p:ph type="sldImg" idx="2"/>
          </p:nvPr>
        </p:nvSpPr>
        <p:spPr>
          <a:xfrm>
            <a:off x="654050" y="1162050"/>
            <a:ext cx="5573713"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2982119"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8"/>
            <a:ext cx="2982119" cy="466433"/>
          </a:xfrm>
          <a:prstGeom prst="rect">
            <a:avLst/>
          </a:prstGeom>
        </p:spPr>
        <p:txBody>
          <a:bodyPr vert="horz" lIns="93177" tIns="46589" rIns="93177" bIns="46589" rtlCol="0" anchor="b"/>
          <a:lstStyle>
            <a:lvl1pPr algn="r">
              <a:defRPr sz="1200"/>
            </a:lvl1pPr>
          </a:lstStyle>
          <a:p>
            <a:fld id="{E04AAC75-D203-4401-AB87-B4DEDF5A6FD2}" type="slidenum">
              <a:rPr lang="en-US" smtClean="0"/>
              <a:t>‹#›</a:t>
            </a:fld>
            <a:endParaRPr lang="en-US"/>
          </a:p>
        </p:txBody>
      </p:sp>
    </p:spTree>
    <p:extLst>
      <p:ext uri="{BB962C8B-B14F-4D97-AF65-F5344CB8AC3E}">
        <p14:creationId xmlns:p14="http://schemas.microsoft.com/office/powerpoint/2010/main" val="2648725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4AAC75-D203-4401-AB87-B4DEDF5A6FD2}" type="slidenum">
              <a:rPr lang="en-US" smtClean="0"/>
              <a:t>1</a:t>
            </a:fld>
            <a:endParaRPr lang="en-US"/>
          </a:p>
        </p:txBody>
      </p:sp>
    </p:spTree>
    <p:extLst>
      <p:ext uri="{BB962C8B-B14F-4D97-AF65-F5344CB8AC3E}">
        <p14:creationId xmlns:p14="http://schemas.microsoft.com/office/powerpoint/2010/main" val="2886378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In the last video we saw that accounting starts with the identification of an </a:t>
            </a:r>
            <a:r>
              <a:rPr lang="en-US" sz="1800" b="1" dirty="0"/>
              <a:t>entity</a:t>
            </a:r>
            <a:r>
              <a:rPr lang="en-US" sz="1800" dirty="0"/>
              <a:t>. We will call it </a:t>
            </a:r>
            <a:r>
              <a:rPr lang="en-US" sz="1800" b="1" dirty="0"/>
              <a:t>SOM Corp.</a:t>
            </a:r>
          </a:p>
          <a:p>
            <a:r>
              <a:rPr lang="en-US" sz="1800" dirty="0"/>
              <a:t>
To accomplish its objectives SOM Corp engages in </a:t>
            </a:r>
            <a:r>
              <a:rPr lang="en-US" sz="1800" b="1" dirty="0"/>
              <a:t>transactions</a:t>
            </a:r>
            <a:r>
              <a:rPr lang="en-US" sz="1800" dirty="0"/>
              <a:t> with a variety of outside parties.</a:t>
            </a:r>
          </a:p>
          <a:p>
            <a:r>
              <a:rPr lang="en-US" sz="1800" dirty="0"/>
              <a:t>
</a:t>
            </a:r>
            <a:r>
              <a:rPr lang="en-US" sz="1800" b="1" dirty="0"/>
              <a:t>Managers oversee </a:t>
            </a:r>
            <a:r>
              <a:rPr lang="en-US" sz="1800" dirty="0"/>
              <a:t>these transactions and </a:t>
            </a:r>
            <a:r>
              <a:rPr lang="en-US" sz="1800" b="1" dirty="0"/>
              <a:t>one purpose</a:t>
            </a:r>
            <a:r>
              <a:rPr lang="en-US" sz="1800" dirty="0"/>
              <a:t> of accounting systems is to help the managers </a:t>
            </a:r>
            <a:r>
              <a:rPr lang="en-US" sz="1800" b="1" dirty="0"/>
              <a:t>keep track</a:t>
            </a:r>
            <a:r>
              <a:rPr lang="en-US" sz="1800" dirty="0"/>
              <a:t> of all the activity.</a:t>
            </a:r>
          </a:p>
          <a:p>
            <a:r>
              <a:rPr lang="en-US" sz="1800" dirty="0"/>
              <a:t>
Accounting, however, aspires to do more than simply keep track of this activity. </a:t>
            </a:r>
          </a:p>
          <a:p>
            <a:r>
              <a:rPr lang="en-US" sz="1800" dirty="0"/>
              <a:t>
It tries to </a:t>
            </a:r>
            <a:r>
              <a:rPr lang="en-US" sz="1800" b="1" dirty="0"/>
              <a:t>add meaning to the facts </a:t>
            </a:r>
            <a:r>
              <a:rPr lang="en-US" sz="1800" dirty="0"/>
              <a:t>– i.e., it tries to tell the </a:t>
            </a:r>
            <a:r>
              <a:rPr lang="en-US" sz="1800" b="1" dirty="0"/>
              <a:t>financial story </a:t>
            </a:r>
            <a:r>
              <a:rPr lang="en-US" sz="1800" dirty="0"/>
              <a:t>of SOM Corp.</a:t>
            </a:r>
          </a:p>
        </p:txBody>
      </p:sp>
      <p:sp>
        <p:nvSpPr>
          <p:cNvPr id="4" name="Slide Number Placeholder 3"/>
          <p:cNvSpPr>
            <a:spLocks noGrp="1"/>
          </p:cNvSpPr>
          <p:nvPr>
            <p:ph type="sldNum" sz="quarter" idx="5"/>
          </p:nvPr>
        </p:nvSpPr>
        <p:spPr>
          <a:xfrm>
            <a:off x="3899694" y="8829968"/>
            <a:ext cx="2982119" cy="466433"/>
          </a:xfrm>
        </p:spPr>
        <p:txBody>
          <a:bodyPr/>
          <a:lstStyle/>
          <a:p>
            <a:fld id="{E04AAC75-D203-4401-AB87-B4DEDF5A6FD2}" type="slidenum">
              <a:rPr lang="en-US" smtClean="0"/>
              <a:t>2</a:t>
            </a:fld>
            <a:endParaRPr lang="en-US"/>
          </a:p>
        </p:txBody>
      </p:sp>
    </p:spTree>
    <p:extLst>
      <p:ext uri="{BB962C8B-B14F-4D97-AF65-F5344CB8AC3E}">
        <p14:creationId xmlns:p14="http://schemas.microsoft.com/office/powerpoint/2010/main" val="2164788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When looking at the financial story accounting writes, it is helpful to keep in mind three things.</a:t>
            </a:r>
          </a:p>
          <a:p>
            <a:endParaRPr lang="en-US" sz="1800" dirty="0"/>
          </a:p>
          <a:p>
            <a:pPr marL="349415" indent="-349415">
              <a:buAutoNum type="arabicPeriod"/>
            </a:pPr>
            <a:r>
              <a:rPr lang="en-US" sz="1800" dirty="0"/>
              <a:t>What kind of story does accounting </a:t>
            </a:r>
            <a:r>
              <a:rPr lang="en-US" sz="1800" b="1" dirty="0"/>
              <a:t>aspire</a:t>
            </a:r>
            <a:r>
              <a:rPr lang="en-US" sz="1800" dirty="0"/>
              <a:t> to write?</a:t>
            </a:r>
          </a:p>
          <a:p>
            <a:pPr marL="349415" indent="-349415">
              <a:buAutoNum type="arabicPeriod"/>
            </a:pPr>
            <a:r>
              <a:rPr lang="en-US" sz="1800" dirty="0"/>
              <a:t>What are the practical ways accounting goes about its task.</a:t>
            </a:r>
          </a:p>
          <a:p>
            <a:pPr marL="349415" indent="-349415">
              <a:buAutoNum type="arabicPeriod"/>
            </a:pPr>
            <a:r>
              <a:rPr lang="en-US" sz="1800" dirty="0"/>
              <a:t>In what context is this task being done.</a:t>
            </a:r>
          </a:p>
          <a:p>
            <a:endParaRPr lang="en-US" sz="1800" dirty="0"/>
          </a:p>
        </p:txBody>
      </p:sp>
      <p:sp>
        <p:nvSpPr>
          <p:cNvPr id="4" name="Slide Number Placeholder 3"/>
          <p:cNvSpPr>
            <a:spLocks noGrp="1"/>
          </p:cNvSpPr>
          <p:nvPr>
            <p:ph type="sldNum" sz="quarter" idx="5"/>
          </p:nvPr>
        </p:nvSpPr>
        <p:spPr/>
        <p:txBody>
          <a:bodyPr/>
          <a:lstStyle/>
          <a:p>
            <a:fld id="{E04AAC75-D203-4401-AB87-B4DEDF5A6FD2}" type="slidenum">
              <a:rPr lang="en-US" smtClean="0"/>
              <a:t>3</a:t>
            </a:fld>
            <a:endParaRPr lang="en-US"/>
          </a:p>
        </p:txBody>
      </p:sp>
    </p:spTree>
    <p:extLst>
      <p:ext uri="{BB962C8B-B14F-4D97-AF65-F5344CB8AC3E}">
        <p14:creationId xmlns:p14="http://schemas.microsoft.com/office/powerpoint/2010/main" val="1816555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3177" tIns="46589" rIns="93177" bIns="46589" rtlCol="0"/>
          <a:lstStyle/>
          <a:p>
            <a:r>
              <a:rPr lang="en-US" sz="1800" dirty="0"/>
              <a:t>Accounting aspires to keep track of </a:t>
            </a:r>
            <a:r>
              <a:rPr lang="en-US" sz="1800" b="1" dirty="0"/>
              <a:t>value</a:t>
            </a:r>
            <a:r>
              <a:rPr lang="en-US" sz="1800" dirty="0"/>
              <a:t> and how it changes.</a:t>
            </a:r>
          </a:p>
          <a:p>
            <a:endParaRPr lang="en-US" sz="1800" dirty="0"/>
          </a:p>
          <a:p>
            <a:r>
              <a:rPr lang="en-US" sz="1800" dirty="0"/>
              <a:t>For example, we aspire to answer questions such as:</a:t>
            </a:r>
          </a:p>
          <a:p>
            <a:pPr marL="291179" indent="-291179">
              <a:buFont typeface="Arial" panose="020B0604020202020204" pitchFamily="34" charset="0"/>
              <a:buChar char="•"/>
            </a:pPr>
            <a:r>
              <a:rPr lang="en-US" sz="1800" dirty="0"/>
              <a:t>Did SOM Corp create value last year?</a:t>
            </a:r>
          </a:p>
          <a:p>
            <a:pPr marL="291179" indent="-291179">
              <a:buFont typeface="Arial" panose="020B0604020202020204" pitchFamily="34" charset="0"/>
              <a:buChar char="•"/>
            </a:pPr>
            <a:r>
              <a:rPr lang="en-US" sz="1800" dirty="0"/>
              <a:t>If so, how much?</a:t>
            </a:r>
          </a:p>
          <a:p>
            <a:pPr marL="291179" indent="-291179">
              <a:buFont typeface="Arial" panose="020B0604020202020204" pitchFamily="34" charset="0"/>
              <a:buChar char="•"/>
            </a:pPr>
            <a:r>
              <a:rPr lang="en-US" sz="1800" dirty="0"/>
              <a:t>How much of that value was distributed to its shareholders, and how much was retained for use by SOM Corp?</a:t>
            </a:r>
          </a:p>
          <a:p>
            <a:pPr marL="291179" indent="-291179">
              <a:buFont typeface="Arial" panose="020B0604020202020204" pitchFamily="34" charset="0"/>
              <a:buChar char="•"/>
            </a:pPr>
            <a:r>
              <a:rPr lang="en-US" sz="1800" dirty="0"/>
              <a:t>What was the value of all the goods and services supplied to Customers?</a:t>
            </a:r>
          </a:p>
          <a:p>
            <a:pPr marL="291179" indent="-291179">
              <a:buFont typeface="Arial" panose="020B0604020202020204" pitchFamily="34" charset="0"/>
              <a:buChar char="•"/>
            </a:pPr>
            <a:r>
              <a:rPr lang="en-US" sz="1800" dirty="0"/>
              <a:t>Received from Suppliers?</a:t>
            </a:r>
          </a:p>
          <a:p>
            <a:pPr marL="291179" indent="-291179">
              <a:buFont typeface="Arial" panose="020B0604020202020204" pitchFamily="34" charset="0"/>
              <a:buChar char="•"/>
            </a:pPr>
            <a:r>
              <a:rPr lang="en-US" sz="1800" dirty="0"/>
              <a:t>And so on.</a:t>
            </a:r>
          </a:p>
        </p:txBody>
      </p:sp>
      <p:sp>
        <p:nvSpPr>
          <p:cNvPr id="4" name="Slide Number Placeholder 3"/>
          <p:cNvSpPr>
            <a:spLocks noGrp="1"/>
          </p:cNvSpPr>
          <p:nvPr>
            <p:ph type="sldNum" sz="quarter" idx="5"/>
          </p:nvPr>
        </p:nvSpPr>
        <p:spPr/>
        <p:txBody>
          <a:bodyPr/>
          <a:lstStyle/>
          <a:p>
            <a:fld id="{E04AAC75-D203-4401-AB87-B4DEDF5A6FD2}" type="slidenum">
              <a:rPr lang="en-US" smtClean="0"/>
              <a:t>4</a:t>
            </a:fld>
            <a:endParaRPr lang="en-US"/>
          </a:p>
        </p:txBody>
      </p:sp>
    </p:spTree>
    <p:extLst>
      <p:ext uri="{BB962C8B-B14F-4D97-AF65-F5344CB8AC3E}">
        <p14:creationId xmlns:p14="http://schemas.microsoft.com/office/powerpoint/2010/main" val="4217997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Personally, I own 1 house, 2 cars, 8 guitars, some scuba equipment (well used) and a ukulele. I also have some money in a bank, a retirement account, and a small investment in a hedge fund.</a:t>
            </a:r>
          </a:p>
          <a:p>
            <a:endParaRPr lang="en-US" sz="1800" dirty="0"/>
          </a:p>
          <a:p>
            <a:r>
              <a:rPr lang="en-US" sz="1800" dirty="0"/>
              <a:t>What is the total value of what I own?</a:t>
            </a:r>
          </a:p>
          <a:p>
            <a:endParaRPr lang="en-US" sz="1800" dirty="0"/>
          </a:p>
          <a:p>
            <a:pPr lvl="1"/>
            <a:r>
              <a:rPr lang="en-US" sz="1800" dirty="0"/>
              <a:t>Some items are easy – e.g., the bank account</a:t>
            </a:r>
          </a:p>
          <a:p>
            <a:pPr lvl="1"/>
            <a:r>
              <a:rPr lang="en-US" sz="1800" dirty="0"/>
              <a:t>Some are hard – e.g., the house, the guitars and the used scuba equipment.</a:t>
            </a:r>
          </a:p>
          <a:p>
            <a:endParaRPr lang="en-US" sz="1800" dirty="0"/>
          </a:p>
        </p:txBody>
      </p:sp>
      <p:sp>
        <p:nvSpPr>
          <p:cNvPr id="4" name="Slide Number Placeholder 3"/>
          <p:cNvSpPr>
            <a:spLocks noGrp="1"/>
          </p:cNvSpPr>
          <p:nvPr>
            <p:ph type="sldNum" sz="quarter" idx="5"/>
          </p:nvPr>
        </p:nvSpPr>
        <p:spPr/>
        <p:txBody>
          <a:bodyPr/>
          <a:lstStyle/>
          <a:p>
            <a:fld id="{E04AAC75-D203-4401-AB87-B4DEDF5A6FD2}" type="slidenum">
              <a:rPr lang="en-US" smtClean="0"/>
              <a:t>5</a:t>
            </a:fld>
            <a:endParaRPr lang="en-US"/>
          </a:p>
        </p:txBody>
      </p:sp>
    </p:spTree>
    <p:extLst>
      <p:ext uri="{BB962C8B-B14F-4D97-AF65-F5344CB8AC3E}">
        <p14:creationId xmlns:p14="http://schemas.microsoft.com/office/powerpoint/2010/main" val="2992569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3177" tIns="46589" rIns="93177" bIns="46589" rtlCol="0"/>
          <a:lstStyle/>
          <a:p>
            <a:r>
              <a:rPr lang="en-US" sz="1800" dirty="0"/>
              <a:t>Accounting conventions start with the idea of a “fair trade” or an “</a:t>
            </a:r>
            <a:r>
              <a:rPr lang="en-US" sz="1800" b="1" dirty="0"/>
              <a:t>arms length</a:t>
            </a:r>
            <a:r>
              <a:rPr lang="en-US" sz="1800" dirty="0"/>
              <a:t>” transaction.</a:t>
            </a:r>
          </a:p>
          <a:p>
            <a:endParaRPr lang="en-US" sz="1800" dirty="0"/>
          </a:p>
          <a:p>
            <a:r>
              <a:rPr lang="en-US" sz="1800" dirty="0"/>
              <a:t>This is the view that the value flows associated with each arrow in an exchange are equal at the time of the exchange. Otherwise, one party or the other should not participate.</a:t>
            </a:r>
          </a:p>
          <a:p>
            <a:endParaRPr lang="en-US" sz="1800" dirty="0"/>
          </a:p>
          <a:p>
            <a:endParaRPr lang="en-US" sz="1800" dirty="0"/>
          </a:p>
        </p:txBody>
      </p:sp>
      <p:sp>
        <p:nvSpPr>
          <p:cNvPr id="4" name="Slide Number Placeholder 3"/>
          <p:cNvSpPr>
            <a:spLocks noGrp="1"/>
          </p:cNvSpPr>
          <p:nvPr>
            <p:ph type="sldNum" sz="quarter" idx="5"/>
          </p:nvPr>
        </p:nvSpPr>
        <p:spPr/>
        <p:txBody>
          <a:bodyPr/>
          <a:lstStyle/>
          <a:p>
            <a:fld id="{E04AAC75-D203-4401-AB87-B4DEDF5A6FD2}" type="slidenum">
              <a:rPr lang="en-US" smtClean="0"/>
              <a:t>6</a:t>
            </a:fld>
            <a:endParaRPr lang="en-US"/>
          </a:p>
        </p:txBody>
      </p:sp>
    </p:spTree>
    <p:extLst>
      <p:ext uri="{BB962C8B-B14F-4D97-AF65-F5344CB8AC3E}">
        <p14:creationId xmlns:p14="http://schemas.microsoft.com/office/powerpoint/2010/main" val="419323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For example, think about the exchange with Employees.</a:t>
            </a:r>
          </a:p>
          <a:p>
            <a:endParaRPr lang="en-US" sz="1800" dirty="0"/>
          </a:p>
          <a:p>
            <a:r>
              <a:rPr lang="en-US" sz="1800" dirty="0"/>
              <a:t>In particular, </a:t>
            </a:r>
            <a:r>
              <a:rPr lang="en-US" sz="1800" b="1" dirty="0"/>
              <a:t>what is the value of the labor </a:t>
            </a:r>
            <a:r>
              <a:rPr lang="en-US" sz="1800" dirty="0"/>
              <a:t>they provide? </a:t>
            </a:r>
          </a:p>
          <a:p>
            <a:endParaRPr lang="en-US" sz="1800" dirty="0"/>
          </a:p>
          <a:p>
            <a:r>
              <a:rPr lang="en-US" sz="1800" dirty="0"/>
              <a:t>We view the value of the labor as </a:t>
            </a:r>
            <a:r>
              <a:rPr lang="en-US" sz="1800" b="1" dirty="0"/>
              <a:t>equal to the value of the salary and bonus they were paid in exchange</a:t>
            </a:r>
            <a:r>
              <a:rPr lang="en-US" sz="1800" dirty="0"/>
              <a:t>.</a:t>
            </a:r>
            <a:endParaRPr lang="en-US" sz="1800" b="1" dirty="0"/>
          </a:p>
          <a:p>
            <a:endParaRPr lang="en-US" sz="1800" dirty="0"/>
          </a:p>
          <a:p>
            <a:r>
              <a:rPr lang="en-US" sz="1800" dirty="0"/>
              <a:t>What about the </a:t>
            </a:r>
            <a:r>
              <a:rPr lang="en-US" sz="1800" b="1" dirty="0"/>
              <a:t>goods and services received from Suppliers</a:t>
            </a:r>
            <a:r>
              <a:rPr lang="en-US" sz="1800" dirty="0"/>
              <a:t>? Again, we view their value as equal to the cash that they receive in exchange.</a:t>
            </a:r>
          </a:p>
        </p:txBody>
      </p:sp>
      <p:sp>
        <p:nvSpPr>
          <p:cNvPr id="4" name="Slide Number Placeholder 3"/>
          <p:cNvSpPr>
            <a:spLocks noGrp="1"/>
          </p:cNvSpPr>
          <p:nvPr>
            <p:ph type="sldNum" sz="quarter" idx="5"/>
          </p:nvPr>
        </p:nvSpPr>
        <p:spPr>
          <a:xfrm>
            <a:off x="3899694" y="8829968"/>
            <a:ext cx="2982119" cy="466433"/>
          </a:xfrm>
        </p:spPr>
        <p:txBody>
          <a:bodyPr/>
          <a:lstStyle/>
          <a:p>
            <a:fld id="{E04AAC75-D203-4401-AB87-B4DEDF5A6FD2}" type="slidenum">
              <a:rPr lang="en-US" smtClean="0"/>
              <a:t>7</a:t>
            </a:fld>
            <a:endParaRPr lang="en-US"/>
          </a:p>
        </p:txBody>
      </p:sp>
    </p:spTree>
    <p:extLst>
      <p:ext uri="{BB962C8B-B14F-4D97-AF65-F5344CB8AC3E}">
        <p14:creationId xmlns:p14="http://schemas.microsoft.com/office/powerpoint/2010/main" val="3923091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8182" y="4473891"/>
            <a:ext cx="5505450" cy="4183092"/>
          </a:xfrm>
        </p:spPr>
        <p:txBody>
          <a:bodyPr/>
          <a:lstStyle/>
          <a:p>
            <a:r>
              <a:rPr lang="en-US" sz="1800" dirty="0"/>
              <a:t>We adopt as a basic principle that the value of the goods and services received in a “arm’s length” transaction is equal to the value of the things given up. This gives us a place to start.</a:t>
            </a:r>
          </a:p>
          <a:p>
            <a:endParaRPr lang="en-US" sz="1800" dirty="0"/>
          </a:p>
          <a:p>
            <a:r>
              <a:rPr lang="en-US" sz="1800" dirty="0"/>
              <a:t>But what then? What about value changes that are not accompanied by a transaction?</a:t>
            </a:r>
          </a:p>
          <a:p>
            <a:endParaRPr lang="en-US" sz="1800" dirty="0"/>
          </a:p>
          <a:p>
            <a:r>
              <a:rPr lang="en-US" sz="1800" dirty="0"/>
              <a:t>That’s the problem with valuing my house – it hasn’t been bought or sold since 1986. Further, a couple of my neighbors’ houses have been sold, but not withing the last two years and the houses aren’t exactly like mine.</a:t>
            </a:r>
          </a:p>
          <a:p>
            <a:endParaRPr lang="en-US" sz="1800" dirty="0"/>
          </a:p>
          <a:p>
            <a:r>
              <a:rPr lang="en-US" sz="1800" dirty="0"/>
              <a:t>Instead of going on the fool’s errand of trying to get the value story exactly right, we instead use accounting conventions to produce a useful, if flawed, financial story.</a:t>
            </a:r>
          </a:p>
        </p:txBody>
      </p:sp>
      <p:sp>
        <p:nvSpPr>
          <p:cNvPr id="4" name="Slide Number Placeholder 3"/>
          <p:cNvSpPr>
            <a:spLocks noGrp="1"/>
          </p:cNvSpPr>
          <p:nvPr>
            <p:ph type="sldNum" sz="quarter" idx="5"/>
          </p:nvPr>
        </p:nvSpPr>
        <p:spPr/>
        <p:txBody>
          <a:bodyPr/>
          <a:lstStyle/>
          <a:p>
            <a:fld id="{E04AAC75-D203-4401-AB87-B4DEDF5A6FD2}" type="slidenum">
              <a:rPr lang="en-US" smtClean="0"/>
              <a:t>8</a:t>
            </a:fld>
            <a:endParaRPr lang="en-US"/>
          </a:p>
        </p:txBody>
      </p:sp>
    </p:spTree>
    <p:extLst>
      <p:ext uri="{BB962C8B-B14F-4D97-AF65-F5344CB8AC3E}">
        <p14:creationId xmlns:p14="http://schemas.microsoft.com/office/powerpoint/2010/main" val="3860793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6675" y="1162050"/>
            <a:ext cx="3567113" cy="2008188"/>
          </a:xfrm>
        </p:spPr>
      </p:sp>
      <p:sp>
        <p:nvSpPr>
          <p:cNvPr id="3" name="Notes Placeholder 2"/>
          <p:cNvSpPr>
            <a:spLocks noGrp="1"/>
          </p:cNvSpPr>
          <p:nvPr>
            <p:ph type="body" idx="1"/>
          </p:nvPr>
        </p:nvSpPr>
        <p:spPr>
          <a:xfrm>
            <a:off x="797513" y="3340417"/>
            <a:ext cx="5505450" cy="3660458"/>
          </a:xfrm>
        </p:spPr>
        <p:txBody>
          <a:bodyPr vert="horz" lIns="93177" tIns="46589" rIns="93177" bIns="46589" rtlCol="0"/>
          <a:lstStyle/>
          <a:p>
            <a:r>
              <a:rPr lang="en-US" sz="1800" dirty="0"/>
              <a:t>So we have aspirations to show value and how it changes. In order to get the job done, we have to have some conventions.</a:t>
            </a:r>
          </a:p>
          <a:p>
            <a:endParaRPr lang="en-US" sz="1800" dirty="0"/>
          </a:p>
          <a:p>
            <a:r>
              <a:rPr lang="en-US" sz="1800" dirty="0"/>
              <a:t>But the application of these conventions in practice is a messy business. You’ve probably heard of “creative accounting.” Creative accounting is of concern because the application of accounting conventions in practice is not an exact science. And if it is not an exact science, then the incentives and pressures the people doing the accounting are facing will likely bleed through into the accounts themselves. This gives rise to the third component of the framework: Context.</a:t>
            </a:r>
          </a:p>
          <a:p>
            <a:endParaRPr lang="en-US" sz="1800" dirty="0"/>
          </a:p>
          <a:p>
            <a:r>
              <a:rPr lang="en-US" sz="1800" dirty="0"/>
              <a:t>What are the reports being used for? Who has incentives to tilt the application of conventions and in what direction? How much is it possible to tilt the application in a particular context. These are all important things to keep in our awareness.</a:t>
            </a:r>
          </a:p>
        </p:txBody>
      </p:sp>
      <p:sp>
        <p:nvSpPr>
          <p:cNvPr id="4" name="Slide Number Placeholder 3"/>
          <p:cNvSpPr>
            <a:spLocks noGrp="1"/>
          </p:cNvSpPr>
          <p:nvPr>
            <p:ph type="sldNum" sz="quarter" idx="5"/>
          </p:nvPr>
        </p:nvSpPr>
        <p:spPr/>
        <p:txBody>
          <a:bodyPr/>
          <a:lstStyle/>
          <a:p>
            <a:fld id="{E04AAC75-D203-4401-AB87-B4DEDF5A6FD2}" type="slidenum">
              <a:rPr lang="en-US" smtClean="0"/>
              <a:t>9</a:t>
            </a:fld>
            <a:endParaRPr lang="en-US"/>
          </a:p>
        </p:txBody>
      </p:sp>
    </p:spTree>
    <p:extLst>
      <p:ext uri="{BB962C8B-B14F-4D97-AF65-F5344CB8AC3E}">
        <p14:creationId xmlns:p14="http://schemas.microsoft.com/office/powerpoint/2010/main" val="3865463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That’s the big picture.</a:t>
            </a:r>
          </a:p>
          <a:p>
            <a:endParaRPr lang="en-US" sz="1800" dirty="0"/>
          </a:p>
          <a:p>
            <a:r>
              <a:rPr lang="en-US" sz="1800" dirty="0"/>
              <a:t>Accounting tries to show value and value changes for some entity.</a:t>
            </a:r>
          </a:p>
          <a:p>
            <a:endParaRPr lang="en-US" sz="1800" dirty="0"/>
          </a:p>
          <a:p>
            <a:r>
              <a:rPr lang="en-US" sz="1800" dirty="0"/>
              <a:t>It uses conventions to accomplish its task, and all this is done in some particular context.</a:t>
            </a:r>
          </a:p>
          <a:p>
            <a:endParaRPr lang="en-US" sz="1800" dirty="0"/>
          </a:p>
          <a:p>
            <a:r>
              <a:rPr lang="en-US" sz="1800" dirty="0"/>
              <a:t>Now we start getting down to the brass tacks. What kinds of financial reports are produced, and what do they reveal? Equally important, what do they omit?</a:t>
            </a:r>
          </a:p>
          <a:p>
            <a:endParaRPr lang="en-US" sz="1800" dirty="0"/>
          </a:p>
          <a:p>
            <a:r>
              <a:rPr lang="en-US" sz="1800" dirty="0"/>
              <a:t>In the next module, we look at the basic accounting statements and take a brief tour of their contents.</a:t>
            </a:r>
          </a:p>
          <a:p>
            <a:endParaRPr lang="en-US" sz="1800" dirty="0"/>
          </a:p>
        </p:txBody>
      </p:sp>
      <p:sp>
        <p:nvSpPr>
          <p:cNvPr id="4" name="Slide Number Placeholder 3"/>
          <p:cNvSpPr>
            <a:spLocks noGrp="1"/>
          </p:cNvSpPr>
          <p:nvPr>
            <p:ph type="sldNum" sz="quarter" idx="5"/>
          </p:nvPr>
        </p:nvSpPr>
        <p:spPr/>
        <p:txBody>
          <a:bodyPr/>
          <a:lstStyle/>
          <a:p>
            <a:fld id="{E04AAC75-D203-4401-AB87-B4DEDF5A6FD2}" type="slidenum">
              <a:rPr lang="en-US" smtClean="0"/>
              <a:t>10</a:t>
            </a:fld>
            <a:endParaRPr lang="en-US"/>
          </a:p>
        </p:txBody>
      </p:sp>
    </p:spTree>
    <p:extLst>
      <p:ext uri="{BB962C8B-B14F-4D97-AF65-F5344CB8AC3E}">
        <p14:creationId xmlns:p14="http://schemas.microsoft.com/office/powerpoint/2010/main" val="3239311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2D5D2-A2DD-4F13-A170-E7162B57EC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B1B102-D250-49C8-A73C-B2B5D830B8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0EBD6C-6956-450B-9C00-9ABD2C0B9A77}"/>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D58679DD-4EE0-4294-888D-D454373A8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C6CC7-042B-4902-AF33-8EAEEAF4B11D}"/>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3347330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174D-5771-4715-AA9B-B72A46DE8C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15D749-8F9B-4BA6-92A7-95C07CF874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1B7A17-3718-4E42-B558-2C012F469CDE}"/>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658E903F-BF60-4D30-857E-B7CC72BF37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72FB4-E62C-4BCA-ABE1-3D4B36CB38F3}"/>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2082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6849-8965-4A79-BC11-FD4BFF191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58C2FA-14DB-47BF-A171-63281D6F33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AA130A-59F9-42C1-BDDF-27C4992E3251}"/>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8FF556ED-738A-4E63-AEFA-73C8198F2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F56EC-9513-431E-83F4-8606F4C1DF8C}"/>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143020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06A9-1E49-456E-9B2C-B92BB6832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B7F4D3-4FD2-425B-9309-04366A7650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8DD000-2356-4822-8F7E-DD30A882F2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5C61EC-DD5A-4081-AEE5-28E7B4465524}"/>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6" name="Footer Placeholder 5">
            <a:extLst>
              <a:ext uri="{FF2B5EF4-FFF2-40B4-BE49-F238E27FC236}">
                <a16:creationId xmlns:a16="http://schemas.microsoft.com/office/drawing/2014/main" id="{1F2CCED6-D894-4078-973D-BEDE6A5599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CFDD36-E660-4BC9-B489-F808CAAC0DF4}"/>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704934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42AD-F16E-49E9-8F82-B6EFAE9A8B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C36C2-33F4-49BA-8806-609C4F765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738EFE-09C8-4715-99BA-5C6BD5473D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F8E4AC-E218-41A4-B255-946118339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F3D351-906B-4A56-B4E1-48E3AF70E1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1B3DB0-66C0-405A-BA65-40B8E27B54A3}"/>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8" name="Footer Placeholder 7">
            <a:extLst>
              <a:ext uri="{FF2B5EF4-FFF2-40B4-BE49-F238E27FC236}">
                <a16:creationId xmlns:a16="http://schemas.microsoft.com/office/drawing/2014/main" id="{63ED817C-041C-435B-87BC-67342FF419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696BA2-1924-4439-970D-CAD28383CBDA}"/>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64663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5CF2C-C828-4D37-B6D9-9BF64D9EC1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47039F-7A99-4E6F-87E8-FC540C24327E}"/>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4" name="Footer Placeholder 3">
            <a:extLst>
              <a:ext uri="{FF2B5EF4-FFF2-40B4-BE49-F238E27FC236}">
                <a16:creationId xmlns:a16="http://schemas.microsoft.com/office/drawing/2014/main" id="{847A833D-746A-475B-A573-1256AC0DBC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50423E-ABD3-4FAA-80EF-AF7CF4E710B5}"/>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430861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49F91-8513-407B-BCA0-810127D09D34}"/>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3" name="Footer Placeholder 2">
            <a:extLst>
              <a:ext uri="{FF2B5EF4-FFF2-40B4-BE49-F238E27FC236}">
                <a16:creationId xmlns:a16="http://schemas.microsoft.com/office/drawing/2014/main" id="{1B71F3C8-F2B2-4E6B-AB4D-6791F0F1FD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CD0F53-ADEF-4CBD-9C8A-F6D9BEF75D5A}"/>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98797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8E0F7-424C-47E4-9BC9-337EB063A4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4E890D-BF92-44E6-A1B4-5A1266541F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FFA8F7-3172-4714-9CAD-78EF7A37C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BFCD6A-D3A0-45A8-BCFA-174B3E365544}"/>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6" name="Footer Placeholder 5">
            <a:extLst>
              <a:ext uri="{FF2B5EF4-FFF2-40B4-BE49-F238E27FC236}">
                <a16:creationId xmlns:a16="http://schemas.microsoft.com/office/drawing/2014/main" id="{4F007DAE-6D9F-4553-A3A0-70E082A23C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B403F6-2113-4A2A-902A-19CC19F5F693}"/>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2653189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8FB04-9BF3-497C-B561-E31A24146E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F98CC3-908B-4509-86AE-F893D4B62A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308D4D-9015-4FBA-BA42-EAE86BDEF6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33B172-4137-45A3-A7ED-94D94314C369}"/>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6" name="Footer Placeholder 5">
            <a:extLst>
              <a:ext uri="{FF2B5EF4-FFF2-40B4-BE49-F238E27FC236}">
                <a16:creationId xmlns:a16="http://schemas.microsoft.com/office/drawing/2014/main" id="{D67928FA-4755-4C6B-8E27-D3E8894F7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816C9-0682-43D5-A08D-00AB7578D1FB}"/>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992295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79AB-8F5E-43D9-B044-C1423C836D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BCC20-302A-484A-8671-0A56CAFD34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F264E-7CDF-4C9C-8C41-6DDDE82C29E6}"/>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33D1A0D0-535A-4C21-AAF8-008BCB05CA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1CCD1-6457-4DA3-9EB0-91F4642172F8}"/>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186732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934138-E220-4EE6-BD3E-07A9040BD1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FC94CE-A273-45B2-AE4C-2FE95A5611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4B5361-150E-42D2-AE21-A4E2E15B0D24}"/>
              </a:ext>
            </a:extLst>
          </p:cNvPr>
          <p:cNvSpPr>
            <a:spLocks noGrp="1"/>
          </p:cNvSpPr>
          <p:nvPr>
            <p:ph type="dt" sz="half" idx="10"/>
          </p:nvPr>
        </p:nvSpPr>
        <p:spPr/>
        <p:txBody>
          <a:body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D305E6A5-CDFC-425C-991B-5535886EA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D9109D-EA81-49E9-88B0-46CFC86C67F4}"/>
              </a:ext>
            </a:extLst>
          </p:cNvPr>
          <p:cNvSpPr>
            <a:spLocks noGrp="1"/>
          </p:cNvSpPr>
          <p:nvPr>
            <p:ph type="sldNum" sz="quarter" idx="12"/>
          </p:nvPr>
        </p:nvSpPr>
        <p:spPr/>
        <p:txBody>
          <a:bodyPr/>
          <a:lstStyle/>
          <a:p>
            <a:fld id="{78D475CF-8A57-480B-85B3-F948A0C86ADA}" type="slidenum">
              <a:rPr lang="en-US" smtClean="0"/>
              <a:t>‹#›</a:t>
            </a:fld>
            <a:endParaRPr lang="en-US"/>
          </a:p>
        </p:txBody>
      </p:sp>
    </p:spTree>
    <p:extLst>
      <p:ext uri="{BB962C8B-B14F-4D97-AF65-F5344CB8AC3E}">
        <p14:creationId xmlns:p14="http://schemas.microsoft.com/office/powerpoint/2010/main" val="417022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8DD2F4-8E5B-44DC-9845-45F6D448B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49B99E-7542-4520-9048-BFF5F1F7C2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E6185F-17AE-4714-AA3D-EE847CD86C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844516-32BA-49D3-B2FF-89F72C53AC6E}" type="datetimeFigureOut">
              <a:rPr lang="en-US" smtClean="0"/>
              <a:t>3/8/2020</a:t>
            </a:fld>
            <a:endParaRPr lang="en-US"/>
          </a:p>
        </p:txBody>
      </p:sp>
      <p:sp>
        <p:nvSpPr>
          <p:cNvPr id="5" name="Footer Placeholder 4">
            <a:extLst>
              <a:ext uri="{FF2B5EF4-FFF2-40B4-BE49-F238E27FC236}">
                <a16:creationId xmlns:a16="http://schemas.microsoft.com/office/drawing/2014/main" id="{7557D9DF-303F-4085-90F7-A215D788C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8866F5-B0DC-4A19-AD3C-6033BB0811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D475CF-8A57-480B-85B3-F948A0C86ADA}" type="slidenum">
              <a:rPr lang="en-US" smtClean="0"/>
              <a:t>‹#›</a:t>
            </a:fld>
            <a:endParaRPr lang="en-US"/>
          </a:p>
        </p:txBody>
      </p:sp>
    </p:spTree>
    <p:extLst>
      <p:ext uri="{BB962C8B-B14F-4D97-AF65-F5344CB8AC3E}">
        <p14:creationId xmlns:p14="http://schemas.microsoft.com/office/powerpoint/2010/main" val="594674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 Type="http://schemas.openxmlformats.org/officeDocument/2006/relationships/notesSlide" Target="../notesSlides/notesSlide5.xml"/><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5610-50E7-4F70-960A-E63ECC443FC9}"/>
              </a:ext>
            </a:extLst>
          </p:cNvPr>
          <p:cNvSpPr>
            <a:spLocks noGrp="1"/>
          </p:cNvSpPr>
          <p:nvPr>
            <p:ph type="ctrTitle"/>
          </p:nvPr>
        </p:nvSpPr>
        <p:spPr>
          <a:ln>
            <a:noFill/>
          </a:ln>
        </p:spPr>
        <p:txBody>
          <a:bodyPr/>
          <a:lstStyle/>
          <a:p>
            <a:r>
              <a:rPr lang="en-US" dirty="0">
                <a:solidFill>
                  <a:srgbClr val="483C46"/>
                </a:solidFill>
                <a:latin typeface="Avenir Next LT Pro"/>
              </a:rPr>
              <a:t>Framework – Part 2</a:t>
            </a:r>
          </a:p>
        </p:txBody>
      </p:sp>
      <p:sp>
        <p:nvSpPr>
          <p:cNvPr id="4" name="Subtitle 3">
            <a:extLst>
              <a:ext uri="{FF2B5EF4-FFF2-40B4-BE49-F238E27FC236}">
                <a16:creationId xmlns:a16="http://schemas.microsoft.com/office/drawing/2014/main" id="{6D715DF8-4477-431C-A280-84827C252C39}"/>
              </a:ext>
            </a:extLst>
          </p:cNvPr>
          <p:cNvSpPr>
            <a:spLocks noGrp="1"/>
          </p:cNvSpPr>
          <p:nvPr>
            <p:ph type="subTitle" idx="1"/>
          </p:nvPr>
        </p:nvSpPr>
        <p:spPr/>
        <p:txBody>
          <a:bodyPr/>
          <a:lstStyle/>
          <a:p>
            <a:pPr algn="l"/>
            <a:r>
              <a:rPr lang="en-US" dirty="0"/>
              <a:t>                                Aspirations                Conventions           Context</a:t>
            </a:r>
          </a:p>
        </p:txBody>
      </p:sp>
      <p:pic>
        <p:nvPicPr>
          <p:cNvPr id="5" name="Picture 9" descr="A close up of a sign&#10;&#10;Description generated with very high confidence">
            <a:extLst>
              <a:ext uri="{FF2B5EF4-FFF2-40B4-BE49-F238E27FC236}">
                <a16:creationId xmlns:a16="http://schemas.microsoft.com/office/drawing/2014/main" id="{AFE2ACD4-A303-C640-A5FE-B7772F45CE38}"/>
              </a:ext>
            </a:extLst>
          </p:cNvPr>
          <p:cNvPicPr>
            <a:picLocks noChangeAspect="1"/>
          </p:cNvPicPr>
          <p:nvPr/>
        </p:nvPicPr>
        <p:blipFill>
          <a:blip r:embed="rId3"/>
          <a:stretch>
            <a:fillRect/>
          </a:stretch>
        </p:blipFill>
        <p:spPr>
          <a:xfrm>
            <a:off x="3345421" y="3573919"/>
            <a:ext cx="462817" cy="472230"/>
          </a:xfrm>
          <a:prstGeom prst="rect">
            <a:avLst/>
          </a:prstGeom>
        </p:spPr>
      </p:pic>
      <p:pic>
        <p:nvPicPr>
          <p:cNvPr id="6" name="Picture 14" descr="A picture containing food, drawing&#10;&#10;Description generated with very high confidence">
            <a:extLst>
              <a:ext uri="{FF2B5EF4-FFF2-40B4-BE49-F238E27FC236}">
                <a16:creationId xmlns:a16="http://schemas.microsoft.com/office/drawing/2014/main" id="{221BAAE8-98A9-CB48-B200-9C80A5018A59}"/>
              </a:ext>
            </a:extLst>
          </p:cNvPr>
          <p:cNvPicPr>
            <a:picLocks noChangeAspect="1"/>
          </p:cNvPicPr>
          <p:nvPr/>
        </p:nvPicPr>
        <p:blipFill>
          <a:blip r:embed="rId4"/>
          <a:stretch>
            <a:fillRect/>
          </a:stretch>
        </p:blipFill>
        <p:spPr>
          <a:xfrm>
            <a:off x="5863033" y="3553065"/>
            <a:ext cx="465934" cy="472230"/>
          </a:xfrm>
          <a:prstGeom prst="rect">
            <a:avLst/>
          </a:prstGeom>
        </p:spPr>
      </p:pic>
      <p:pic>
        <p:nvPicPr>
          <p:cNvPr id="7" name="Picture 16" descr="A picture containing food&#10;&#10;Description generated with very high confidence">
            <a:extLst>
              <a:ext uri="{FF2B5EF4-FFF2-40B4-BE49-F238E27FC236}">
                <a16:creationId xmlns:a16="http://schemas.microsoft.com/office/drawing/2014/main" id="{902F1DFA-A3E7-E240-ADE1-9B58839C4BB1}"/>
              </a:ext>
            </a:extLst>
          </p:cNvPr>
          <p:cNvPicPr>
            <a:picLocks noChangeAspect="1"/>
          </p:cNvPicPr>
          <p:nvPr/>
        </p:nvPicPr>
        <p:blipFill>
          <a:blip r:embed="rId5"/>
          <a:stretch>
            <a:fillRect/>
          </a:stretch>
        </p:blipFill>
        <p:spPr>
          <a:xfrm>
            <a:off x="8150796" y="3590467"/>
            <a:ext cx="465932" cy="472229"/>
          </a:xfrm>
          <a:prstGeom prst="rect">
            <a:avLst/>
          </a:prstGeom>
        </p:spPr>
      </p:pic>
    </p:spTree>
    <p:extLst>
      <p:ext uri="{BB962C8B-B14F-4D97-AF65-F5344CB8AC3E}">
        <p14:creationId xmlns:p14="http://schemas.microsoft.com/office/powerpoint/2010/main" val="3604780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953936" y="2399771"/>
            <a:ext cx="4002304" cy="3847427"/>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latin typeface="Avenir Next LT Pro"/>
              </a:rPr>
              <a:t>SOM Corp</a:t>
            </a:r>
            <a:endParaRPr lang="en-US" sz="1400" dirty="0">
              <a:latin typeface="Avenir Next LT Pro"/>
            </a:endParaRPr>
          </a:p>
        </p:txBody>
      </p:sp>
      <p:sp>
        <p:nvSpPr>
          <p:cNvPr id="16" name="TextBox 15"/>
          <p:cNvSpPr txBox="1"/>
          <p:nvPr/>
        </p:nvSpPr>
        <p:spPr>
          <a:xfrm>
            <a:off x="4180493" y="6523345"/>
            <a:ext cx="4888155" cy="307777"/>
          </a:xfrm>
          <a:prstGeom prst="rect">
            <a:avLst/>
          </a:prstGeom>
          <a:noFill/>
        </p:spPr>
        <p:txBody>
          <a:bodyPr wrap="square" rtlCol="0">
            <a:spAutoFit/>
          </a:bodyPr>
          <a:lstStyle/>
          <a:p>
            <a:r>
              <a:rPr lang="en-US" sz="1400">
                <a:latin typeface="Avenir Next LT Pro"/>
              </a:rPr>
              <a:t>Source: SOM Professor Shyam Sunder</a:t>
            </a:r>
          </a:p>
        </p:txBody>
      </p:sp>
      <p:cxnSp>
        <p:nvCxnSpPr>
          <p:cNvPr id="18" name="Straight Arrow Connector 17"/>
          <p:cNvCxnSpPr/>
          <p:nvPr/>
        </p:nvCxnSpPr>
        <p:spPr>
          <a:xfrm>
            <a:off x="5782007" y="1610947"/>
            <a:ext cx="0" cy="6669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cxnSpLocks/>
          </p:cNvCxnSpPr>
          <p:nvPr/>
        </p:nvCxnSpPr>
        <p:spPr>
          <a:xfrm flipV="1">
            <a:off x="5955383" y="1610947"/>
            <a:ext cx="0" cy="660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cxnSpLocks/>
          </p:cNvCxnSpPr>
          <p:nvPr/>
        </p:nvCxnSpPr>
        <p:spPr>
          <a:xfrm>
            <a:off x="29210356" y="14548357"/>
            <a:ext cx="26629095" cy="87780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394817" y="1758609"/>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sp>
        <p:nvSpPr>
          <p:cNvPr id="43" name="Oval 42">
            <a:extLst>
              <a:ext uri="{FF2B5EF4-FFF2-40B4-BE49-F238E27FC236}">
                <a16:creationId xmlns:a16="http://schemas.microsoft.com/office/drawing/2014/main" id="{53DE92C2-C8F1-47DD-98FE-9DEDE2C81FA7}"/>
              </a:ext>
            </a:extLst>
          </p:cNvPr>
          <p:cNvSpPr/>
          <p:nvPr/>
        </p:nvSpPr>
        <p:spPr>
          <a:xfrm>
            <a:off x="5056613" y="7438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Money Providers</a:t>
            </a:r>
          </a:p>
        </p:txBody>
      </p:sp>
      <p:sp>
        <p:nvSpPr>
          <p:cNvPr id="44" name="Oval 43">
            <a:extLst>
              <a:ext uri="{FF2B5EF4-FFF2-40B4-BE49-F238E27FC236}">
                <a16:creationId xmlns:a16="http://schemas.microsoft.com/office/drawing/2014/main" id="{0E9A1D84-BFE9-4D02-AC53-E7B1CE87A179}"/>
              </a:ext>
            </a:extLst>
          </p:cNvPr>
          <p:cNvSpPr/>
          <p:nvPr/>
        </p:nvSpPr>
        <p:spPr>
          <a:xfrm>
            <a:off x="8003847" y="101490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Managers</a:t>
            </a:r>
          </a:p>
        </p:txBody>
      </p:sp>
      <p:sp>
        <p:nvSpPr>
          <p:cNvPr id="50" name="Oval 49">
            <a:extLst>
              <a:ext uri="{FF2B5EF4-FFF2-40B4-BE49-F238E27FC236}">
                <a16:creationId xmlns:a16="http://schemas.microsoft.com/office/drawing/2014/main" id="{1EAC0625-A291-4444-BF86-AAB9F2D58BB7}"/>
              </a:ext>
            </a:extLst>
          </p:cNvPr>
          <p:cNvSpPr/>
          <p:nvPr/>
        </p:nvSpPr>
        <p:spPr>
          <a:xfrm>
            <a:off x="8955049" y="3583112"/>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Employees</a:t>
            </a:r>
          </a:p>
        </p:txBody>
      </p:sp>
      <p:sp>
        <p:nvSpPr>
          <p:cNvPr id="59" name="Oval 58">
            <a:extLst>
              <a:ext uri="{FF2B5EF4-FFF2-40B4-BE49-F238E27FC236}">
                <a16:creationId xmlns:a16="http://schemas.microsoft.com/office/drawing/2014/main" id="{FB444828-91DF-432E-B628-95F8BE051F18}"/>
              </a:ext>
            </a:extLst>
          </p:cNvPr>
          <p:cNvSpPr/>
          <p:nvPr/>
        </p:nvSpPr>
        <p:spPr>
          <a:xfrm>
            <a:off x="1841621" y="5159715"/>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Suppliers</a:t>
            </a:r>
          </a:p>
        </p:txBody>
      </p:sp>
      <p:sp>
        <p:nvSpPr>
          <p:cNvPr id="72" name="Oval 71">
            <a:extLst>
              <a:ext uri="{FF2B5EF4-FFF2-40B4-BE49-F238E27FC236}">
                <a16:creationId xmlns:a16="http://schemas.microsoft.com/office/drawing/2014/main" id="{9C96A383-4942-4261-AE25-13BAC8F921C6}"/>
              </a:ext>
            </a:extLst>
          </p:cNvPr>
          <p:cNvSpPr/>
          <p:nvPr/>
        </p:nvSpPr>
        <p:spPr>
          <a:xfrm>
            <a:off x="1466158" y="3233211"/>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Government</a:t>
            </a:r>
          </a:p>
        </p:txBody>
      </p:sp>
      <p:sp>
        <p:nvSpPr>
          <p:cNvPr id="100" name="Oval 99">
            <a:extLst>
              <a:ext uri="{FF2B5EF4-FFF2-40B4-BE49-F238E27FC236}">
                <a16:creationId xmlns:a16="http://schemas.microsoft.com/office/drawing/2014/main" id="{85A9A108-4F45-49BB-AC03-99346552ECE4}"/>
              </a:ext>
            </a:extLst>
          </p:cNvPr>
          <p:cNvSpPr/>
          <p:nvPr/>
        </p:nvSpPr>
        <p:spPr>
          <a:xfrm>
            <a:off x="1841621" y="652899"/>
            <a:ext cx="2162340" cy="2211419"/>
          </a:xfrm>
          <a:prstGeom prst="ellipse">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Customers</a:t>
            </a:r>
            <a:endParaRPr lang="en-US"/>
          </a:p>
        </p:txBody>
      </p:sp>
      <p:sp>
        <p:nvSpPr>
          <p:cNvPr id="17" name="TextBox 16">
            <a:extLst>
              <a:ext uri="{FF2B5EF4-FFF2-40B4-BE49-F238E27FC236}">
                <a16:creationId xmlns:a16="http://schemas.microsoft.com/office/drawing/2014/main" id="{6C1D5B45-B917-41EB-9AD9-BED49FBE396E}"/>
              </a:ext>
            </a:extLst>
          </p:cNvPr>
          <p:cNvSpPr txBox="1"/>
          <p:nvPr/>
        </p:nvSpPr>
        <p:spPr>
          <a:xfrm rot="19080000">
            <a:off x="6121638" y="1329025"/>
            <a:ext cx="2423675" cy="492443"/>
          </a:xfrm>
          <a:prstGeom prst="rect">
            <a:avLst/>
          </a:prstGeom>
          <a:noFill/>
        </p:spPr>
        <p:txBody>
          <a:bodyPr wrap="square" rtlCol="0" anchor="t">
            <a:spAutoFit/>
          </a:bodyPr>
          <a:lstStyle/>
          <a:p>
            <a:r>
              <a:rPr lang="en-US" sz="1300">
                <a:solidFill>
                  <a:srgbClr val="000000"/>
                </a:solidFill>
                <a:latin typeface="Avenir Next LT Pro"/>
              </a:rPr>
              <a:t>Principal &amp; Interest Payments</a:t>
            </a:r>
          </a:p>
          <a:p>
            <a:pPr algn="ctr"/>
            <a:r>
              <a:rPr lang="en-US" sz="1300" b="1">
                <a:solidFill>
                  <a:srgbClr val="000000"/>
                </a:solidFill>
                <a:latin typeface="Avenir Next LT Pro"/>
              </a:rPr>
              <a:t>LENDERS</a:t>
            </a:r>
          </a:p>
        </p:txBody>
      </p:sp>
      <p:sp>
        <p:nvSpPr>
          <p:cNvPr id="19" name="TextBox 18">
            <a:extLst>
              <a:ext uri="{FF2B5EF4-FFF2-40B4-BE49-F238E27FC236}">
                <a16:creationId xmlns:a16="http://schemas.microsoft.com/office/drawing/2014/main" id="{4ABDB609-1D8A-4308-A5E6-B931FA6A1605}"/>
              </a:ext>
            </a:extLst>
          </p:cNvPr>
          <p:cNvSpPr txBox="1"/>
          <p:nvPr/>
        </p:nvSpPr>
        <p:spPr>
          <a:xfrm rot="19068021">
            <a:off x="5824907" y="1025508"/>
            <a:ext cx="2399035" cy="461665"/>
          </a:xfrm>
          <a:prstGeom prst="rect">
            <a:avLst/>
          </a:prstGeom>
          <a:noFill/>
        </p:spPr>
        <p:txBody>
          <a:bodyPr wrap="square" rtlCol="0" anchor="t">
            <a:spAutoFit/>
          </a:bodyPr>
          <a:lstStyle/>
          <a:p>
            <a:r>
              <a:rPr lang="en-US" sz="1200">
                <a:solidFill>
                  <a:srgbClr val="000000"/>
                </a:solidFill>
                <a:latin typeface="Avenir Next LT Pro"/>
              </a:rPr>
              <a:t>Dividends &amp; </a:t>
            </a:r>
            <a:r>
              <a:rPr lang="en-US" sz="1200">
                <a:solidFill>
                  <a:srgbClr val="000000"/>
                </a:solidFill>
                <a:ea typeface="+mn-lt"/>
                <a:cs typeface="+mn-lt"/>
              </a:rPr>
              <a:t>O</a:t>
            </a:r>
            <a:r>
              <a:rPr lang="en-US" sz="1200">
                <a:solidFill>
                  <a:srgbClr val="000000"/>
                </a:solidFill>
                <a:latin typeface="Avenir Next LT Pro"/>
              </a:rPr>
              <a:t>wnership Claims</a:t>
            </a:r>
          </a:p>
          <a:p>
            <a:pPr algn="ctr"/>
            <a:r>
              <a:rPr lang="en-US" sz="1200" b="1">
                <a:solidFill>
                  <a:srgbClr val="000000"/>
                </a:solidFill>
                <a:latin typeface="Avenir Next LT Pro"/>
              </a:rPr>
              <a:t>OWNERS</a:t>
            </a:r>
            <a:endParaRPr lang="en-US" b="1">
              <a:solidFill>
                <a:srgbClr val="000000"/>
              </a:solidFill>
              <a:latin typeface="Calibri" panose="020F0502020204030204"/>
              <a:cs typeface="Calibri" panose="020F0502020204030204"/>
            </a:endParaRPr>
          </a:p>
        </p:txBody>
      </p:sp>
      <p:cxnSp>
        <p:nvCxnSpPr>
          <p:cNvPr id="22" name="Straight Arrow Connector 21">
            <a:extLst>
              <a:ext uri="{FF2B5EF4-FFF2-40B4-BE49-F238E27FC236}">
                <a16:creationId xmlns:a16="http://schemas.microsoft.com/office/drawing/2014/main" id="{664AA916-06F8-4B95-9D36-B0596CD2293E}"/>
              </a:ext>
            </a:extLst>
          </p:cNvPr>
          <p:cNvCxnSpPr/>
          <p:nvPr/>
        </p:nvCxnSpPr>
        <p:spPr>
          <a:xfrm rot="3127788">
            <a:off x="7761472" y="2167184"/>
            <a:ext cx="0" cy="6669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4931D21-D085-4FF0-8DD1-D0C7FFB6F8A6}"/>
              </a:ext>
            </a:extLst>
          </p:cNvPr>
          <p:cNvCxnSpPr>
            <a:cxnSpLocks/>
          </p:cNvCxnSpPr>
          <p:nvPr/>
        </p:nvCxnSpPr>
        <p:spPr>
          <a:xfrm rot="3127788" flipV="1">
            <a:off x="7870313" y="2305226"/>
            <a:ext cx="0" cy="660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17F159B-F827-4A73-99D4-AC764859C7E2}"/>
              </a:ext>
            </a:extLst>
          </p:cNvPr>
          <p:cNvSpPr txBox="1"/>
          <p:nvPr/>
        </p:nvSpPr>
        <p:spPr>
          <a:xfrm rot="19287229">
            <a:off x="7094758" y="1937822"/>
            <a:ext cx="1106393" cy="461665"/>
          </a:xfrm>
          <a:prstGeom prst="rect">
            <a:avLst/>
          </a:prstGeom>
          <a:noFill/>
        </p:spPr>
        <p:txBody>
          <a:bodyPr wrap="square" rtlCol="0" anchor="t">
            <a:spAutoFit/>
          </a:bodyPr>
          <a:lstStyle>
            <a:defPPr>
              <a:defRPr lang="en-US"/>
            </a:defPPr>
            <a:lvl1pPr>
              <a:defRPr sz="1200">
                <a:solidFill>
                  <a:schemeClr val="bg2">
                    <a:lumMod val="75000"/>
                  </a:schemeClr>
                </a:solidFill>
                <a:latin typeface="Avenir Next LT Pro"/>
              </a:defRPr>
            </a:lvl1pPr>
          </a:lstStyle>
          <a:p>
            <a:r>
              <a:rPr lang="en-US">
                <a:solidFill>
                  <a:srgbClr val="000000"/>
                </a:solidFill>
              </a:rPr>
              <a:t>Managerial</a:t>
            </a:r>
          </a:p>
          <a:p>
            <a:r>
              <a:rPr lang="en-US">
                <a:solidFill>
                  <a:srgbClr val="000000"/>
                </a:solidFill>
              </a:rPr>
              <a:t>Services</a:t>
            </a:r>
          </a:p>
        </p:txBody>
      </p:sp>
      <p:sp>
        <p:nvSpPr>
          <p:cNvPr id="26" name="TextBox 25">
            <a:extLst>
              <a:ext uri="{FF2B5EF4-FFF2-40B4-BE49-F238E27FC236}">
                <a16:creationId xmlns:a16="http://schemas.microsoft.com/office/drawing/2014/main" id="{12D8D785-C4B8-4757-80D2-206E4CE2A5BC}"/>
              </a:ext>
            </a:extLst>
          </p:cNvPr>
          <p:cNvSpPr txBox="1"/>
          <p:nvPr/>
        </p:nvSpPr>
        <p:spPr>
          <a:xfrm rot="20878139">
            <a:off x="7601508" y="2640058"/>
            <a:ext cx="2423675" cy="461665"/>
          </a:xfrm>
          <a:prstGeom prst="rect">
            <a:avLst/>
          </a:prstGeom>
          <a:noFill/>
        </p:spPr>
        <p:txBody>
          <a:bodyPr wrap="square" rtlCol="0" anchor="t">
            <a:spAutoFit/>
          </a:bodyPr>
          <a:lstStyle>
            <a:defPPr>
              <a:defRPr lang="en-US"/>
            </a:defPPr>
            <a:lvl1pPr>
              <a:defRPr sz="1200">
                <a:solidFill>
                  <a:schemeClr val="bg2">
                    <a:lumMod val="75000"/>
                  </a:schemeClr>
                </a:solidFill>
                <a:latin typeface="Avenir Next LT Pro"/>
              </a:defRPr>
            </a:lvl1pPr>
          </a:lstStyle>
          <a:p>
            <a:r>
              <a:rPr lang="en-US">
                <a:solidFill>
                  <a:srgbClr val="000000"/>
                </a:solidFill>
              </a:rPr>
              <a:t>Salary, bonus, incentive payments, equity awards</a:t>
            </a:r>
          </a:p>
        </p:txBody>
      </p:sp>
      <p:sp>
        <p:nvSpPr>
          <p:cNvPr id="4" name="TextBox 3">
            <a:extLst>
              <a:ext uri="{FF2B5EF4-FFF2-40B4-BE49-F238E27FC236}">
                <a16:creationId xmlns:a16="http://schemas.microsoft.com/office/drawing/2014/main" id="{757D882E-50C2-4A2C-BDDE-F56CFDEDC5E2}"/>
              </a:ext>
            </a:extLst>
          </p:cNvPr>
          <p:cNvSpPr txBox="1"/>
          <p:nvPr/>
        </p:nvSpPr>
        <p:spPr>
          <a:xfrm>
            <a:off x="7865538" y="4666937"/>
            <a:ext cx="1402948" cy="307777"/>
          </a:xfrm>
          <a:prstGeom prst="rect">
            <a:avLst/>
          </a:prstGeom>
          <a:noFill/>
        </p:spPr>
        <p:txBody>
          <a:bodyPr wrap="none" rtlCol="0" anchor="t">
            <a:spAutoFit/>
          </a:bodyPr>
          <a:lstStyle/>
          <a:p>
            <a:r>
              <a:rPr lang="en-US" sz="1400">
                <a:solidFill>
                  <a:srgbClr val="000000"/>
                </a:solidFill>
                <a:latin typeface="Avenir Next LT Pro"/>
              </a:rPr>
              <a:t>Salary &amp; bonus</a:t>
            </a:r>
          </a:p>
        </p:txBody>
      </p:sp>
      <p:sp>
        <p:nvSpPr>
          <p:cNvPr id="6" name="TextBox 5">
            <a:extLst>
              <a:ext uri="{FF2B5EF4-FFF2-40B4-BE49-F238E27FC236}">
                <a16:creationId xmlns:a16="http://schemas.microsoft.com/office/drawing/2014/main" id="{EE00A463-DB1F-4C56-AB94-F85CF0153002}"/>
              </a:ext>
            </a:extLst>
          </p:cNvPr>
          <p:cNvSpPr txBox="1"/>
          <p:nvPr/>
        </p:nvSpPr>
        <p:spPr>
          <a:xfrm>
            <a:off x="8311213" y="4456450"/>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cxnSp>
        <p:nvCxnSpPr>
          <p:cNvPr id="7" name="Straight Arrow Connector 6">
            <a:extLst>
              <a:ext uri="{FF2B5EF4-FFF2-40B4-BE49-F238E27FC236}">
                <a16:creationId xmlns:a16="http://schemas.microsoft.com/office/drawing/2014/main" id="{88E40D5D-D5FB-4EE4-8BB2-FC1701F5E24D}"/>
              </a:ext>
            </a:extLst>
          </p:cNvPr>
          <p:cNvCxnSpPr>
            <a:cxnSpLocks/>
          </p:cNvCxnSpPr>
          <p:nvPr/>
        </p:nvCxnSpPr>
        <p:spPr>
          <a:xfrm>
            <a:off x="8112333" y="4439818"/>
            <a:ext cx="68662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1BD0067-29F0-4627-97AB-778A56900CD1}"/>
              </a:ext>
            </a:extLst>
          </p:cNvPr>
          <p:cNvCxnSpPr>
            <a:cxnSpLocks/>
          </p:cNvCxnSpPr>
          <p:nvPr/>
        </p:nvCxnSpPr>
        <p:spPr>
          <a:xfrm flipH="1">
            <a:off x="8058537" y="4242518"/>
            <a:ext cx="6866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1">
            <a:extLst>
              <a:ext uri="{FF2B5EF4-FFF2-40B4-BE49-F238E27FC236}">
                <a16:creationId xmlns:a16="http://schemas.microsoft.com/office/drawing/2014/main" id="{84F27887-D82D-4E3D-8713-1499011F5FEB}"/>
              </a:ext>
            </a:extLst>
          </p:cNvPr>
          <p:cNvSpPr txBox="1"/>
          <p:nvPr/>
        </p:nvSpPr>
        <p:spPr>
          <a:xfrm>
            <a:off x="8066881" y="3855798"/>
            <a:ext cx="659155" cy="307777"/>
          </a:xfrm>
          <a:prstGeom prst="rect">
            <a:avLst/>
          </a:prstGeom>
          <a:noFill/>
        </p:spPr>
        <p:txBody>
          <a:bodyPr wrap="none"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rgbClr val="000000"/>
                </a:solidFill>
                <a:latin typeface="Avenir Next LT Pro"/>
              </a:rPr>
              <a:t>Labor</a:t>
            </a:r>
          </a:p>
        </p:txBody>
      </p:sp>
      <p:sp>
        <p:nvSpPr>
          <p:cNvPr id="2" name="Oval 1">
            <a:extLst>
              <a:ext uri="{FF2B5EF4-FFF2-40B4-BE49-F238E27FC236}">
                <a16:creationId xmlns:a16="http://schemas.microsoft.com/office/drawing/2014/main" id="{8CEF93F2-74D0-47AD-8104-894CFADE0A8D}"/>
              </a:ext>
            </a:extLst>
          </p:cNvPr>
          <p:cNvSpPr/>
          <p:nvPr/>
        </p:nvSpPr>
        <p:spPr>
          <a:xfrm>
            <a:off x="8957054" y="358511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Employees</a:t>
            </a:r>
            <a:endParaRPr lang="en-US"/>
          </a:p>
        </p:txBody>
      </p:sp>
      <p:sp>
        <p:nvSpPr>
          <p:cNvPr id="3" name="TextBox 2">
            <a:extLst>
              <a:ext uri="{FF2B5EF4-FFF2-40B4-BE49-F238E27FC236}">
                <a16:creationId xmlns:a16="http://schemas.microsoft.com/office/drawing/2014/main" id="{3195BCFF-A0C5-4B71-AF73-25D0141266F1}"/>
              </a:ext>
            </a:extLst>
          </p:cNvPr>
          <p:cNvSpPr txBox="1"/>
          <p:nvPr/>
        </p:nvSpPr>
        <p:spPr>
          <a:xfrm rot="20456451">
            <a:off x="3776442" y="5665889"/>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cxnSp>
        <p:nvCxnSpPr>
          <p:cNvPr id="10" name="Straight Arrow Connector 9">
            <a:extLst>
              <a:ext uri="{FF2B5EF4-FFF2-40B4-BE49-F238E27FC236}">
                <a16:creationId xmlns:a16="http://schemas.microsoft.com/office/drawing/2014/main" id="{2E40F88A-68EC-4777-A72C-1FE371E8BA31}"/>
              </a:ext>
            </a:extLst>
          </p:cNvPr>
          <p:cNvCxnSpPr>
            <a:cxnSpLocks/>
          </p:cNvCxnSpPr>
          <p:nvPr/>
        </p:nvCxnSpPr>
        <p:spPr>
          <a:xfrm flipV="1">
            <a:off x="3443436" y="5297162"/>
            <a:ext cx="678802" cy="28078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D9B967-3F59-40DA-8225-D26BB9E21C5B}"/>
              </a:ext>
            </a:extLst>
          </p:cNvPr>
          <p:cNvCxnSpPr>
            <a:cxnSpLocks/>
          </p:cNvCxnSpPr>
          <p:nvPr/>
        </p:nvCxnSpPr>
        <p:spPr>
          <a:xfrm flipH="1">
            <a:off x="3499362" y="5443836"/>
            <a:ext cx="652256" cy="2928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EF9BD0A-CEFD-4DCF-AF08-56E79AF466AB}"/>
              </a:ext>
            </a:extLst>
          </p:cNvPr>
          <p:cNvSpPr txBox="1"/>
          <p:nvPr/>
        </p:nvSpPr>
        <p:spPr>
          <a:xfrm>
            <a:off x="2504109" y="4867126"/>
            <a:ext cx="1729924" cy="307777"/>
          </a:xfrm>
          <a:prstGeom prst="rect">
            <a:avLst/>
          </a:prstGeom>
          <a:noFill/>
        </p:spPr>
        <p:txBody>
          <a:bodyPr wrap="square" rtlCol="0" anchor="t">
            <a:spAutoFit/>
          </a:bodyPr>
          <a:lstStyle/>
          <a:p>
            <a:r>
              <a:rPr lang="en-US" sz="1400">
                <a:solidFill>
                  <a:srgbClr val="000000"/>
                </a:solidFill>
                <a:latin typeface="Avenir Next LT Pro"/>
              </a:rPr>
              <a:t>Goods &amp;Services </a:t>
            </a:r>
            <a:endParaRPr lang="en-US">
              <a:solidFill>
                <a:srgbClr val="000000"/>
              </a:solidFill>
              <a:latin typeface="Calibri" panose="020F0502020204030204"/>
              <a:cs typeface="Calibri" panose="020F0502020204030204"/>
            </a:endParaRPr>
          </a:p>
        </p:txBody>
      </p:sp>
      <p:sp>
        <p:nvSpPr>
          <p:cNvPr id="13" name="Oval 12">
            <a:extLst>
              <a:ext uri="{FF2B5EF4-FFF2-40B4-BE49-F238E27FC236}">
                <a16:creationId xmlns:a16="http://schemas.microsoft.com/office/drawing/2014/main" id="{8FDA8C06-D6A2-46B4-A56F-B4354CD07649}"/>
              </a:ext>
            </a:extLst>
          </p:cNvPr>
          <p:cNvSpPr/>
          <p:nvPr/>
        </p:nvSpPr>
        <p:spPr>
          <a:xfrm>
            <a:off x="1823574" y="5181773"/>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Suppliers</a:t>
            </a:r>
            <a:endParaRPr lang="en-US"/>
          </a:p>
        </p:txBody>
      </p:sp>
      <p:sp>
        <p:nvSpPr>
          <p:cNvPr id="9" name="TextBox 8">
            <a:extLst>
              <a:ext uri="{FF2B5EF4-FFF2-40B4-BE49-F238E27FC236}">
                <a16:creationId xmlns:a16="http://schemas.microsoft.com/office/drawing/2014/main" id="{B7F4F351-2038-4B2C-82D0-EAAB476465B3}"/>
              </a:ext>
            </a:extLst>
          </p:cNvPr>
          <p:cNvSpPr txBox="1"/>
          <p:nvPr/>
        </p:nvSpPr>
        <p:spPr>
          <a:xfrm>
            <a:off x="3155275" y="3513966"/>
            <a:ext cx="783548" cy="307777"/>
          </a:xfrm>
          <a:prstGeom prst="rect">
            <a:avLst/>
          </a:prstGeom>
          <a:noFill/>
        </p:spPr>
        <p:txBody>
          <a:bodyPr wrap="none" rtlCol="0" anchor="t">
            <a:spAutoFit/>
          </a:bodyPr>
          <a:lstStyle/>
          <a:p>
            <a:r>
              <a:rPr lang="en-US" sz="1400">
                <a:solidFill>
                  <a:srgbClr val="000000"/>
                </a:solidFill>
                <a:latin typeface="Avenir Next LT Pro"/>
              </a:rPr>
              <a:t>Taxes $</a:t>
            </a:r>
          </a:p>
        </p:txBody>
      </p:sp>
      <p:sp>
        <p:nvSpPr>
          <p:cNvPr id="14" name="TextBox 13">
            <a:extLst>
              <a:ext uri="{FF2B5EF4-FFF2-40B4-BE49-F238E27FC236}">
                <a16:creationId xmlns:a16="http://schemas.microsoft.com/office/drawing/2014/main" id="{08B1B855-4D42-43F8-998D-A174EC50B00E}"/>
              </a:ext>
            </a:extLst>
          </p:cNvPr>
          <p:cNvSpPr txBox="1"/>
          <p:nvPr/>
        </p:nvSpPr>
        <p:spPr>
          <a:xfrm>
            <a:off x="2744667" y="4467377"/>
            <a:ext cx="1248483" cy="307777"/>
          </a:xfrm>
          <a:prstGeom prst="rect">
            <a:avLst/>
          </a:prstGeom>
          <a:noFill/>
        </p:spPr>
        <p:txBody>
          <a:bodyPr wrap="none" rtlCol="0" anchor="t">
            <a:spAutoFit/>
          </a:bodyPr>
          <a:lstStyle/>
          <a:p>
            <a:r>
              <a:rPr lang="en-US" sz="1400">
                <a:solidFill>
                  <a:srgbClr val="000000"/>
                </a:solidFill>
                <a:latin typeface="Avenir Next LT Pro"/>
              </a:rPr>
              <a:t>Public goods</a:t>
            </a:r>
          </a:p>
        </p:txBody>
      </p:sp>
      <p:cxnSp>
        <p:nvCxnSpPr>
          <p:cNvPr id="15" name="Straight Arrow Connector 14">
            <a:extLst>
              <a:ext uri="{FF2B5EF4-FFF2-40B4-BE49-F238E27FC236}">
                <a16:creationId xmlns:a16="http://schemas.microsoft.com/office/drawing/2014/main" id="{A1218194-BE7E-4273-A819-9DD11A44003E}"/>
              </a:ext>
            </a:extLst>
          </p:cNvPr>
          <p:cNvCxnSpPr>
            <a:cxnSpLocks/>
          </p:cNvCxnSpPr>
          <p:nvPr/>
        </p:nvCxnSpPr>
        <p:spPr>
          <a:xfrm>
            <a:off x="3221681" y="4045284"/>
            <a:ext cx="702029" cy="610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71DAA99-5DEC-4350-8F4C-1A8320ECC8E7}"/>
              </a:ext>
            </a:extLst>
          </p:cNvPr>
          <p:cNvCxnSpPr>
            <a:cxnSpLocks/>
          </p:cNvCxnSpPr>
          <p:nvPr/>
        </p:nvCxnSpPr>
        <p:spPr>
          <a:xfrm flipH="1" flipV="1">
            <a:off x="3209718" y="3844925"/>
            <a:ext cx="676862" cy="8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92F640A2-4FD7-4DEC-83FB-FC077B82A9A0}"/>
              </a:ext>
            </a:extLst>
          </p:cNvPr>
          <p:cNvSpPr/>
          <p:nvPr/>
        </p:nvSpPr>
        <p:spPr>
          <a:xfrm>
            <a:off x="1458137" y="3235216"/>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Government</a:t>
            </a:r>
            <a:endParaRPr lang="en-US"/>
          </a:p>
        </p:txBody>
      </p:sp>
      <p:cxnSp>
        <p:nvCxnSpPr>
          <p:cNvPr id="29" name="Straight Arrow Connector 28">
            <a:extLst>
              <a:ext uri="{FF2B5EF4-FFF2-40B4-BE49-F238E27FC236}">
                <a16:creationId xmlns:a16="http://schemas.microsoft.com/office/drawing/2014/main" id="{A5DFC6EA-175F-43DE-AA33-56FEF90E49F9}"/>
              </a:ext>
            </a:extLst>
          </p:cNvPr>
          <p:cNvCxnSpPr>
            <a:cxnSpLocks/>
          </p:cNvCxnSpPr>
          <p:nvPr/>
        </p:nvCxnSpPr>
        <p:spPr>
          <a:xfrm>
            <a:off x="3926785" y="2548091"/>
            <a:ext cx="545262" cy="356496"/>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B63FE671-5D73-4BEF-B60A-05F6135E3884}"/>
              </a:ext>
            </a:extLst>
          </p:cNvPr>
          <p:cNvSpPr txBox="1"/>
          <p:nvPr/>
        </p:nvSpPr>
        <p:spPr>
          <a:xfrm rot="2100000">
            <a:off x="3858137" y="2753205"/>
            <a:ext cx="288862" cy="307777"/>
          </a:xfrm>
          <a:prstGeom prst="rect">
            <a:avLst/>
          </a:prstGeom>
          <a:noFill/>
        </p:spPr>
        <p:txBody>
          <a:bodyPr wrap="none" rtlCol="0" anchor="t">
            <a:spAutoFit/>
          </a:bodyPr>
          <a:lstStyle/>
          <a:p>
            <a:r>
              <a:rPr lang="en-US" sz="1400">
                <a:solidFill>
                  <a:srgbClr val="483C46"/>
                </a:solidFill>
                <a:latin typeface="Avenir Next LT Pro"/>
              </a:rPr>
              <a:t>$</a:t>
            </a:r>
          </a:p>
        </p:txBody>
      </p:sp>
      <p:sp>
        <p:nvSpPr>
          <p:cNvPr id="31" name="TextBox 30">
            <a:extLst>
              <a:ext uri="{FF2B5EF4-FFF2-40B4-BE49-F238E27FC236}">
                <a16:creationId xmlns:a16="http://schemas.microsoft.com/office/drawing/2014/main" id="{DC84091B-9899-4B84-A31E-558C0F027D36}"/>
              </a:ext>
            </a:extLst>
          </p:cNvPr>
          <p:cNvSpPr txBox="1"/>
          <p:nvPr/>
        </p:nvSpPr>
        <p:spPr>
          <a:xfrm rot="2055280">
            <a:off x="4033958" y="2140193"/>
            <a:ext cx="1022450" cy="523220"/>
          </a:xfrm>
          <a:prstGeom prst="rect">
            <a:avLst/>
          </a:prstGeom>
          <a:noFill/>
        </p:spPr>
        <p:txBody>
          <a:bodyPr wrap="square" rtlCol="0" anchor="t">
            <a:spAutoFit/>
          </a:bodyPr>
          <a:lstStyle/>
          <a:p>
            <a:r>
              <a:rPr lang="en-US" sz="1400">
                <a:solidFill>
                  <a:srgbClr val="483C46"/>
                </a:solidFill>
                <a:latin typeface="Avenir Next LT Pro"/>
              </a:rPr>
              <a:t>Goods &amp;</a:t>
            </a:r>
          </a:p>
          <a:p>
            <a:r>
              <a:rPr lang="en-US" sz="1400">
                <a:solidFill>
                  <a:srgbClr val="483C46"/>
                </a:solidFill>
                <a:latin typeface="Avenir Next LT Pro"/>
              </a:rPr>
              <a:t>Services</a:t>
            </a:r>
            <a:endParaRPr lang="en-US">
              <a:solidFill>
                <a:srgbClr val="483C46"/>
              </a:solidFill>
              <a:cs typeface="Calibri"/>
            </a:endParaRPr>
          </a:p>
        </p:txBody>
      </p:sp>
      <p:sp>
        <p:nvSpPr>
          <p:cNvPr id="32" name="Oval 31">
            <a:extLst>
              <a:ext uri="{FF2B5EF4-FFF2-40B4-BE49-F238E27FC236}">
                <a16:creationId xmlns:a16="http://schemas.microsoft.com/office/drawing/2014/main" id="{33AAB294-C595-4A8A-B9F1-A3B034988D82}"/>
              </a:ext>
            </a:extLst>
          </p:cNvPr>
          <p:cNvSpPr/>
          <p:nvPr/>
        </p:nvSpPr>
        <p:spPr>
          <a:xfrm>
            <a:off x="1835008" y="645812"/>
            <a:ext cx="2162340" cy="2211419"/>
          </a:xfrm>
          <a:prstGeom prst="ellipse">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Customers</a:t>
            </a:r>
            <a:endParaRPr lang="en-US"/>
          </a:p>
        </p:txBody>
      </p:sp>
      <p:cxnSp>
        <p:nvCxnSpPr>
          <p:cNvPr id="33" name="Straight Arrow Connector 32">
            <a:extLst>
              <a:ext uri="{FF2B5EF4-FFF2-40B4-BE49-F238E27FC236}">
                <a16:creationId xmlns:a16="http://schemas.microsoft.com/office/drawing/2014/main" id="{816838A6-3067-4D31-AC5D-CF597A28A988}"/>
              </a:ext>
            </a:extLst>
          </p:cNvPr>
          <p:cNvCxnSpPr>
            <a:cxnSpLocks/>
          </p:cNvCxnSpPr>
          <p:nvPr/>
        </p:nvCxnSpPr>
        <p:spPr>
          <a:xfrm flipH="1" flipV="1">
            <a:off x="3961870" y="2387996"/>
            <a:ext cx="572842" cy="386819"/>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1816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descr="A picture containing food&#10;&#10;Description generated with very high confidence">
            <a:extLst>
              <a:ext uri="{FF2B5EF4-FFF2-40B4-BE49-F238E27FC236}">
                <a16:creationId xmlns:a16="http://schemas.microsoft.com/office/drawing/2014/main" id="{C35DC992-9A41-486A-A972-B96A5AC94332}"/>
              </a:ext>
            </a:extLst>
          </p:cNvPr>
          <p:cNvPicPr>
            <a:picLocks noChangeAspect="1"/>
          </p:cNvPicPr>
          <p:nvPr/>
        </p:nvPicPr>
        <p:blipFill>
          <a:blip r:embed="rId3"/>
          <a:stretch>
            <a:fillRect/>
          </a:stretch>
        </p:blipFill>
        <p:spPr>
          <a:xfrm>
            <a:off x="358203" y="4850798"/>
            <a:ext cx="1503680" cy="1524000"/>
          </a:xfrm>
          <a:prstGeom prst="rect">
            <a:avLst/>
          </a:prstGeom>
        </p:spPr>
      </p:pic>
      <p:pic>
        <p:nvPicPr>
          <p:cNvPr id="14" name="Picture 14" descr="A picture containing food, drawing&#10;&#10;Description generated with very high confidence">
            <a:extLst>
              <a:ext uri="{FF2B5EF4-FFF2-40B4-BE49-F238E27FC236}">
                <a16:creationId xmlns:a16="http://schemas.microsoft.com/office/drawing/2014/main" id="{B5142ACA-8648-409F-AA08-E1478046758A}"/>
              </a:ext>
            </a:extLst>
          </p:cNvPr>
          <p:cNvPicPr>
            <a:picLocks noChangeAspect="1"/>
          </p:cNvPicPr>
          <p:nvPr/>
        </p:nvPicPr>
        <p:blipFill>
          <a:blip r:embed="rId4"/>
          <a:stretch>
            <a:fillRect/>
          </a:stretch>
        </p:blipFill>
        <p:spPr>
          <a:xfrm>
            <a:off x="365760" y="3313171"/>
            <a:ext cx="1503680" cy="1524000"/>
          </a:xfrm>
          <a:prstGeom prst="rect">
            <a:avLst/>
          </a:prstGeom>
        </p:spPr>
      </p:pic>
      <p:sp>
        <p:nvSpPr>
          <p:cNvPr id="2" name="Title 1"/>
          <p:cNvSpPr>
            <a:spLocks noGrp="1"/>
          </p:cNvSpPr>
          <p:nvPr>
            <p:ph type="title"/>
          </p:nvPr>
        </p:nvSpPr>
        <p:spPr>
          <a:xfrm>
            <a:off x="198120" y="90805"/>
            <a:ext cx="10515600" cy="1325563"/>
          </a:xfrm>
        </p:spPr>
        <p:txBody>
          <a:bodyPr/>
          <a:lstStyle/>
          <a:p>
            <a:r>
              <a:rPr lang="en-US">
                <a:solidFill>
                  <a:srgbClr val="483C46"/>
                </a:solidFill>
                <a:latin typeface="Avenir Next LT Pro"/>
              </a:rPr>
              <a:t>Keep these in </a:t>
            </a:r>
            <a:r>
              <a:rPr lang="en-US" dirty="0">
                <a:solidFill>
                  <a:srgbClr val="483C46"/>
                </a:solidFill>
                <a:latin typeface="Avenir Next LT Pro"/>
              </a:rPr>
              <a:t>mind about accounting</a:t>
            </a:r>
          </a:p>
        </p:txBody>
      </p:sp>
      <p:pic>
        <p:nvPicPr>
          <p:cNvPr id="9" name="Picture 9" descr="A close up of a sign&#10;&#10;Description generated with very high confidence">
            <a:extLst>
              <a:ext uri="{FF2B5EF4-FFF2-40B4-BE49-F238E27FC236}">
                <a16:creationId xmlns:a16="http://schemas.microsoft.com/office/drawing/2014/main" id="{4FCAA7C9-682E-440F-B3CC-1CBC17C88324}"/>
              </a:ext>
            </a:extLst>
          </p:cNvPr>
          <p:cNvPicPr>
            <a:picLocks noChangeAspect="1"/>
          </p:cNvPicPr>
          <p:nvPr/>
        </p:nvPicPr>
        <p:blipFill>
          <a:blip r:embed="rId5"/>
          <a:stretch>
            <a:fillRect/>
          </a:stretch>
        </p:blipFill>
        <p:spPr>
          <a:xfrm>
            <a:off x="366915" y="1859049"/>
            <a:ext cx="1498600" cy="1529080"/>
          </a:xfrm>
          <a:prstGeom prst="rect">
            <a:avLst/>
          </a:prstGeom>
        </p:spPr>
      </p:pic>
      <p:sp>
        <p:nvSpPr>
          <p:cNvPr id="3" name="Content Placeholder 2"/>
          <p:cNvSpPr>
            <a:spLocks noGrp="1"/>
          </p:cNvSpPr>
          <p:nvPr>
            <p:ph idx="1"/>
          </p:nvPr>
        </p:nvSpPr>
        <p:spPr>
          <a:xfrm>
            <a:off x="1686560" y="2213090"/>
            <a:ext cx="9652000" cy="1003157"/>
          </a:xfrm>
        </p:spPr>
        <p:txBody>
          <a:bodyPr vert="horz" lIns="91440" tIns="45720" rIns="91440" bIns="45720" rtlCol="0" anchor="t">
            <a:normAutofit/>
          </a:bodyPr>
          <a:lstStyle/>
          <a:p>
            <a:pPr marL="0" indent="0">
              <a:buNone/>
            </a:pPr>
            <a:r>
              <a:rPr lang="en-US" b="1">
                <a:solidFill>
                  <a:srgbClr val="483C46"/>
                </a:solidFill>
                <a:latin typeface="Avenir Next LT Pro"/>
              </a:rPr>
              <a:t>Aspirations</a:t>
            </a:r>
            <a:r>
              <a:rPr lang="en-US">
                <a:solidFill>
                  <a:srgbClr val="483C46"/>
                </a:solidFill>
                <a:latin typeface="Avenir Next LT Pro"/>
              </a:rPr>
              <a:t>: Show value and how it changes.</a:t>
            </a:r>
            <a:endParaRPr lang="en-US">
              <a:solidFill>
                <a:srgbClr val="483C46"/>
              </a:solidFill>
              <a:cs typeface="Calibri"/>
            </a:endParaRPr>
          </a:p>
        </p:txBody>
      </p:sp>
      <p:sp>
        <p:nvSpPr>
          <p:cNvPr id="4" name="Slide Number Placeholder 3"/>
          <p:cNvSpPr>
            <a:spLocks noGrp="1"/>
          </p:cNvSpPr>
          <p:nvPr>
            <p:ph type="sldNum" sz="quarter" idx="12"/>
          </p:nvPr>
        </p:nvSpPr>
        <p:spPr/>
        <p:txBody>
          <a:bodyPr/>
          <a:lstStyle/>
          <a:p>
            <a:fld id="{5E9B17D8-68A5-8A4C-9A5A-916968DB0419}" type="slidenum">
              <a:rPr lang="en-US" smtClean="0"/>
              <a:t>3</a:t>
            </a:fld>
            <a:endParaRPr lang="en-US"/>
          </a:p>
        </p:txBody>
      </p:sp>
      <p:sp>
        <p:nvSpPr>
          <p:cNvPr id="11" name="TextBox 10">
            <a:extLst>
              <a:ext uri="{FF2B5EF4-FFF2-40B4-BE49-F238E27FC236}">
                <a16:creationId xmlns:a16="http://schemas.microsoft.com/office/drawing/2014/main" id="{58595D58-2FA2-498B-9645-5A854DA97421}"/>
              </a:ext>
            </a:extLst>
          </p:cNvPr>
          <p:cNvSpPr txBox="1"/>
          <p:nvPr/>
        </p:nvSpPr>
        <p:spPr>
          <a:xfrm>
            <a:off x="1656080" y="5028276"/>
            <a:ext cx="96473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Context: </a:t>
            </a:r>
            <a:r>
              <a:rPr lang="en-US" sz="2800">
                <a:solidFill>
                  <a:srgbClr val="483C46"/>
                </a:solidFill>
                <a:latin typeface="Avenir Next LT Pro"/>
              </a:rPr>
              <a:t>Social/economic/political setting.​</a:t>
            </a:r>
          </a:p>
        </p:txBody>
      </p:sp>
      <p:sp>
        <p:nvSpPr>
          <p:cNvPr id="13" name="TextBox 12">
            <a:extLst>
              <a:ext uri="{FF2B5EF4-FFF2-40B4-BE49-F238E27FC236}">
                <a16:creationId xmlns:a16="http://schemas.microsoft.com/office/drawing/2014/main" id="{DBF347AF-A9BA-4FD8-99A5-14CA7C40531D}"/>
              </a:ext>
            </a:extLst>
          </p:cNvPr>
          <p:cNvSpPr txBox="1"/>
          <p:nvPr/>
        </p:nvSpPr>
        <p:spPr>
          <a:xfrm>
            <a:off x="1686560" y="3648678"/>
            <a:ext cx="1010873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Conventions:</a:t>
            </a:r>
            <a:r>
              <a:rPr lang="en-US" sz="2800">
                <a:solidFill>
                  <a:srgbClr val="483C46"/>
                </a:solidFill>
                <a:latin typeface="Avenir Next LT Pro"/>
              </a:rPr>
              <a:t> Practical guides.​</a:t>
            </a:r>
          </a:p>
        </p:txBody>
      </p:sp>
    </p:spTree>
    <p:extLst>
      <p:ext uri="{BB962C8B-B14F-4D97-AF65-F5344CB8AC3E}">
        <p14:creationId xmlns:p14="http://schemas.microsoft.com/office/powerpoint/2010/main" val="394065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3">
                                            <p:txEl>
                                              <p:pRg st="0" end="0"/>
                                            </p:txEl>
                                          </p:spTgt>
                                        </p:tgtEl>
                                      </p:cBhvr>
                                    </p:animEffect>
                                    <p:set>
                                      <p:cBhvr>
                                        <p:cTn id="13" dur="1" fill="hold">
                                          <p:stCondLst>
                                            <p:cond delay="499"/>
                                          </p:stCondLst>
                                        </p:cTn>
                                        <p:tgtEl>
                                          <p:spTgt spid="3">
                                            <p:txEl>
                                              <p:pRg st="0" end="0"/>
                                            </p:txEl>
                                          </p:spTgt>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11" grpId="0"/>
      <p:bldP spid="13" grpId="0"/>
      <p:bldP spid="1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9" descr="A close up of a sign&#10;&#10;Description generated with very high confidence">
            <a:extLst>
              <a:ext uri="{FF2B5EF4-FFF2-40B4-BE49-F238E27FC236}">
                <a16:creationId xmlns:a16="http://schemas.microsoft.com/office/drawing/2014/main" id="{4FCAA7C9-682E-440F-B3CC-1CBC17C88324}"/>
              </a:ext>
            </a:extLst>
          </p:cNvPr>
          <p:cNvPicPr>
            <a:picLocks noChangeAspect="1"/>
          </p:cNvPicPr>
          <p:nvPr/>
        </p:nvPicPr>
        <p:blipFill>
          <a:blip r:embed="rId3"/>
          <a:stretch>
            <a:fillRect/>
          </a:stretch>
        </p:blipFill>
        <p:spPr>
          <a:xfrm>
            <a:off x="366915" y="1859049"/>
            <a:ext cx="1498600" cy="1529080"/>
          </a:xfrm>
          <a:prstGeom prst="rect">
            <a:avLst/>
          </a:prstGeom>
        </p:spPr>
      </p:pic>
      <p:sp>
        <p:nvSpPr>
          <p:cNvPr id="3" name="Content Placeholder 2"/>
          <p:cNvSpPr>
            <a:spLocks noGrp="1"/>
          </p:cNvSpPr>
          <p:nvPr>
            <p:ph idx="1"/>
          </p:nvPr>
        </p:nvSpPr>
        <p:spPr>
          <a:xfrm>
            <a:off x="1686560" y="2213090"/>
            <a:ext cx="9652000" cy="1003157"/>
          </a:xfrm>
        </p:spPr>
        <p:txBody>
          <a:bodyPr vert="horz" lIns="91440" tIns="45720" rIns="91440" bIns="45720" rtlCol="0" anchor="t">
            <a:normAutofit/>
          </a:bodyPr>
          <a:lstStyle/>
          <a:p>
            <a:pPr marL="0" indent="0">
              <a:buNone/>
            </a:pPr>
            <a:r>
              <a:rPr lang="en-US" b="1">
                <a:solidFill>
                  <a:srgbClr val="483C46"/>
                </a:solidFill>
                <a:latin typeface="Avenir Next LT Pro"/>
              </a:rPr>
              <a:t>Aspirations</a:t>
            </a:r>
            <a:r>
              <a:rPr lang="en-US">
                <a:solidFill>
                  <a:srgbClr val="483C46"/>
                </a:solidFill>
                <a:latin typeface="Avenir Next LT Pro"/>
              </a:rPr>
              <a:t>: Show value and how it changes.</a:t>
            </a:r>
            <a:endParaRPr lang="en-US">
              <a:solidFill>
                <a:srgbClr val="483C46"/>
              </a:solidFill>
              <a:cs typeface="Calibri"/>
            </a:endParaRPr>
          </a:p>
        </p:txBody>
      </p:sp>
      <p:sp>
        <p:nvSpPr>
          <p:cNvPr id="4" name="Slide Number Placeholder 3"/>
          <p:cNvSpPr>
            <a:spLocks noGrp="1"/>
          </p:cNvSpPr>
          <p:nvPr>
            <p:ph type="sldNum" sz="quarter" idx="12"/>
          </p:nvPr>
        </p:nvSpPr>
        <p:spPr/>
        <p:txBody>
          <a:bodyPr/>
          <a:lstStyle/>
          <a:p>
            <a:fld id="{5E9B17D8-68A5-8A4C-9A5A-916968DB0419}" type="slidenum">
              <a:rPr lang="en-US" smtClean="0"/>
              <a:t>4</a:t>
            </a:fld>
            <a:endParaRPr lang="en-US"/>
          </a:p>
        </p:txBody>
      </p:sp>
    </p:spTree>
    <p:extLst>
      <p:ext uri="{BB962C8B-B14F-4D97-AF65-F5344CB8AC3E}">
        <p14:creationId xmlns:p14="http://schemas.microsoft.com/office/powerpoint/2010/main" val="55729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0587-D942-4892-85CA-960212AB06FB}"/>
              </a:ext>
            </a:extLst>
          </p:cNvPr>
          <p:cNvSpPr>
            <a:spLocks noGrp="1"/>
          </p:cNvSpPr>
          <p:nvPr>
            <p:ph type="title"/>
          </p:nvPr>
        </p:nvSpPr>
        <p:spPr/>
        <p:txBody>
          <a:bodyPr/>
          <a:lstStyle/>
          <a:p>
            <a:r>
              <a:rPr lang="en-US" dirty="0"/>
              <a:t>VALUE is an abstract concept</a:t>
            </a:r>
          </a:p>
        </p:txBody>
      </p:sp>
      <p:pic>
        <p:nvPicPr>
          <p:cNvPr id="5" name="Graphic 4" descr="House">
            <a:extLst>
              <a:ext uri="{FF2B5EF4-FFF2-40B4-BE49-F238E27FC236}">
                <a16:creationId xmlns:a16="http://schemas.microsoft.com/office/drawing/2014/main" id="{4BE3E11F-28A9-4BFA-BA15-A688FCE8C78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6143" y="2078945"/>
            <a:ext cx="914400" cy="914400"/>
          </a:xfrm>
          <a:prstGeom prst="rect">
            <a:avLst/>
          </a:prstGeom>
        </p:spPr>
      </p:pic>
      <p:pic>
        <p:nvPicPr>
          <p:cNvPr id="7" name="Graphic 6" descr="Guitar">
            <a:extLst>
              <a:ext uri="{FF2B5EF4-FFF2-40B4-BE49-F238E27FC236}">
                <a16:creationId xmlns:a16="http://schemas.microsoft.com/office/drawing/2014/main" id="{F25D8680-49B0-42E2-AC79-215D343D070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2218" y="4900886"/>
            <a:ext cx="633782" cy="633782"/>
          </a:xfrm>
          <a:prstGeom prst="rect">
            <a:avLst/>
          </a:prstGeom>
        </p:spPr>
      </p:pic>
      <p:pic>
        <p:nvPicPr>
          <p:cNvPr id="9" name="Graphic 8" descr="Electric guitar">
            <a:extLst>
              <a:ext uri="{FF2B5EF4-FFF2-40B4-BE49-F238E27FC236}">
                <a16:creationId xmlns:a16="http://schemas.microsoft.com/office/drawing/2014/main" id="{556611ED-24DF-4876-813F-AD2BCF389E8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5104" y="2594101"/>
            <a:ext cx="914400" cy="914400"/>
          </a:xfrm>
          <a:prstGeom prst="rect">
            <a:avLst/>
          </a:prstGeom>
        </p:spPr>
      </p:pic>
      <p:pic>
        <p:nvPicPr>
          <p:cNvPr id="11" name="Graphic 10" descr="Dollar">
            <a:extLst>
              <a:ext uri="{FF2B5EF4-FFF2-40B4-BE49-F238E27FC236}">
                <a16:creationId xmlns:a16="http://schemas.microsoft.com/office/drawing/2014/main" id="{A89ACF70-3607-4DBA-9433-12513D2C596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80998" y="4127374"/>
            <a:ext cx="262054" cy="262054"/>
          </a:xfrm>
          <a:prstGeom prst="rect">
            <a:avLst/>
          </a:prstGeom>
        </p:spPr>
      </p:pic>
      <p:pic>
        <p:nvPicPr>
          <p:cNvPr id="13" name="Graphic 12" descr="Car">
            <a:extLst>
              <a:ext uri="{FF2B5EF4-FFF2-40B4-BE49-F238E27FC236}">
                <a16:creationId xmlns:a16="http://schemas.microsoft.com/office/drawing/2014/main" id="{0738483B-DC09-4C9D-97FE-9002FA2278B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73948" y="1632430"/>
            <a:ext cx="914400" cy="914400"/>
          </a:xfrm>
          <a:prstGeom prst="rect">
            <a:avLst/>
          </a:prstGeom>
        </p:spPr>
      </p:pic>
      <p:pic>
        <p:nvPicPr>
          <p:cNvPr id="16" name="Graphic 15" descr="Car">
            <a:extLst>
              <a:ext uri="{FF2B5EF4-FFF2-40B4-BE49-F238E27FC236}">
                <a16:creationId xmlns:a16="http://schemas.microsoft.com/office/drawing/2014/main" id="{1107BC10-E21A-4DE1-97C5-30A4468CBFC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829680" y="2592488"/>
            <a:ext cx="914400" cy="914400"/>
          </a:xfrm>
          <a:prstGeom prst="rect">
            <a:avLst/>
          </a:prstGeom>
        </p:spPr>
      </p:pic>
      <p:pic>
        <p:nvPicPr>
          <p:cNvPr id="17" name="Graphic 16" descr="Electric guitar">
            <a:extLst>
              <a:ext uri="{FF2B5EF4-FFF2-40B4-BE49-F238E27FC236}">
                <a16:creationId xmlns:a16="http://schemas.microsoft.com/office/drawing/2014/main" id="{F1BD2902-C1C9-45F7-B64B-7EAE6247FE9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60997" y="1508076"/>
            <a:ext cx="914400" cy="914400"/>
          </a:xfrm>
          <a:prstGeom prst="rect">
            <a:avLst/>
          </a:prstGeom>
        </p:spPr>
      </p:pic>
      <p:pic>
        <p:nvPicPr>
          <p:cNvPr id="18" name="Graphic 17" descr="Electric guitar">
            <a:extLst>
              <a:ext uri="{FF2B5EF4-FFF2-40B4-BE49-F238E27FC236}">
                <a16:creationId xmlns:a16="http://schemas.microsoft.com/office/drawing/2014/main" id="{2267C0D7-689C-4D55-A8AE-C6959D7F94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06246" y="2642444"/>
            <a:ext cx="914400" cy="914400"/>
          </a:xfrm>
          <a:prstGeom prst="rect">
            <a:avLst/>
          </a:prstGeom>
        </p:spPr>
      </p:pic>
      <p:pic>
        <p:nvPicPr>
          <p:cNvPr id="19" name="Graphic 18" descr="Electric guitar">
            <a:extLst>
              <a:ext uri="{FF2B5EF4-FFF2-40B4-BE49-F238E27FC236}">
                <a16:creationId xmlns:a16="http://schemas.microsoft.com/office/drawing/2014/main" id="{358C5630-2BD1-475B-AFD2-949D9B61A4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07872" y="1427616"/>
            <a:ext cx="914400" cy="914400"/>
          </a:xfrm>
          <a:prstGeom prst="rect">
            <a:avLst/>
          </a:prstGeom>
        </p:spPr>
      </p:pic>
      <p:pic>
        <p:nvPicPr>
          <p:cNvPr id="20" name="Graphic 19" descr="Electric guitar">
            <a:extLst>
              <a:ext uri="{FF2B5EF4-FFF2-40B4-BE49-F238E27FC236}">
                <a16:creationId xmlns:a16="http://schemas.microsoft.com/office/drawing/2014/main" id="{A7F01A2F-DC2F-41D1-8FE3-11F27D9565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72159" y="2993345"/>
            <a:ext cx="914400" cy="914400"/>
          </a:xfrm>
          <a:prstGeom prst="rect">
            <a:avLst/>
          </a:prstGeom>
        </p:spPr>
      </p:pic>
      <p:grpSp>
        <p:nvGrpSpPr>
          <p:cNvPr id="14" name="Group 13">
            <a:extLst>
              <a:ext uri="{FF2B5EF4-FFF2-40B4-BE49-F238E27FC236}">
                <a16:creationId xmlns:a16="http://schemas.microsoft.com/office/drawing/2014/main" id="{473740F8-8679-8745-A7B4-6A2E08B2A2EF}"/>
              </a:ext>
            </a:extLst>
          </p:cNvPr>
          <p:cNvGrpSpPr/>
          <p:nvPr/>
        </p:nvGrpSpPr>
        <p:grpSpPr>
          <a:xfrm>
            <a:off x="8824663" y="4372355"/>
            <a:ext cx="3122741" cy="1809873"/>
            <a:chOff x="8696726" y="4508600"/>
            <a:chExt cx="3122741" cy="1809873"/>
          </a:xfrm>
        </p:grpSpPr>
        <p:pic>
          <p:nvPicPr>
            <p:cNvPr id="21" name="Graphic 20">
              <a:extLst>
                <a:ext uri="{FF2B5EF4-FFF2-40B4-BE49-F238E27FC236}">
                  <a16:creationId xmlns:a16="http://schemas.microsoft.com/office/drawing/2014/main" id="{CCE8C533-3AD0-4C0C-AD7B-1715437D1599}"/>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10480998" y="4704064"/>
              <a:ext cx="1338469" cy="1338469"/>
            </a:xfrm>
            <a:prstGeom prst="rect">
              <a:avLst/>
            </a:prstGeom>
          </p:spPr>
        </p:pic>
        <p:pic>
          <p:nvPicPr>
            <p:cNvPr id="22" name="Graphic 21">
              <a:extLst>
                <a:ext uri="{FF2B5EF4-FFF2-40B4-BE49-F238E27FC236}">
                  <a16:creationId xmlns:a16="http://schemas.microsoft.com/office/drawing/2014/main" id="{6E448B3E-5614-4DD3-823F-9BE7D5BFD52F}"/>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8696726" y="4508600"/>
              <a:ext cx="1809873" cy="1809873"/>
            </a:xfrm>
            <a:prstGeom prst="rect">
              <a:avLst/>
            </a:prstGeom>
          </p:spPr>
        </p:pic>
      </p:grpSp>
      <p:pic>
        <p:nvPicPr>
          <p:cNvPr id="23" name="Graphic 22" descr="Electric guitar">
            <a:extLst>
              <a:ext uri="{FF2B5EF4-FFF2-40B4-BE49-F238E27FC236}">
                <a16:creationId xmlns:a16="http://schemas.microsoft.com/office/drawing/2014/main" id="{1B52F4A2-996D-4138-8C5F-CE03A386D11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05772" y="1580708"/>
            <a:ext cx="914400" cy="914400"/>
          </a:xfrm>
          <a:prstGeom prst="rect">
            <a:avLst/>
          </a:prstGeom>
        </p:spPr>
      </p:pic>
      <p:pic>
        <p:nvPicPr>
          <p:cNvPr id="24" name="Graphic 23" descr="Dollar">
            <a:extLst>
              <a:ext uri="{FF2B5EF4-FFF2-40B4-BE49-F238E27FC236}">
                <a16:creationId xmlns:a16="http://schemas.microsoft.com/office/drawing/2014/main" id="{3D429364-A523-4215-ACEC-14DAFA5599D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45140" y="2971800"/>
            <a:ext cx="914400" cy="914400"/>
          </a:xfrm>
          <a:prstGeom prst="rect">
            <a:avLst/>
          </a:prstGeom>
        </p:spPr>
      </p:pic>
      <p:pic>
        <p:nvPicPr>
          <p:cNvPr id="25" name="Graphic 24" descr="Dollar">
            <a:extLst>
              <a:ext uri="{FF2B5EF4-FFF2-40B4-BE49-F238E27FC236}">
                <a16:creationId xmlns:a16="http://schemas.microsoft.com/office/drawing/2014/main" id="{7D2180F3-7BA1-4895-B871-E6CE79C3C8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78998" y="3645026"/>
            <a:ext cx="482348" cy="482348"/>
          </a:xfrm>
          <a:prstGeom prst="rect">
            <a:avLst/>
          </a:prstGeom>
        </p:spPr>
      </p:pic>
      <p:grpSp>
        <p:nvGrpSpPr>
          <p:cNvPr id="12" name="Group 11">
            <a:extLst>
              <a:ext uri="{FF2B5EF4-FFF2-40B4-BE49-F238E27FC236}">
                <a16:creationId xmlns:a16="http://schemas.microsoft.com/office/drawing/2014/main" id="{26B55691-336A-114F-85CC-FEB620B70CBC}"/>
              </a:ext>
            </a:extLst>
          </p:cNvPr>
          <p:cNvGrpSpPr/>
          <p:nvPr/>
        </p:nvGrpSpPr>
        <p:grpSpPr>
          <a:xfrm>
            <a:off x="1819155" y="4192931"/>
            <a:ext cx="1670628" cy="1482046"/>
            <a:chOff x="1819155" y="4192931"/>
            <a:chExt cx="1670628" cy="1482046"/>
          </a:xfrm>
        </p:grpSpPr>
        <p:pic>
          <p:nvPicPr>
            <p:cNvPr id="15" name="Graphic 14" descr="Fins">
              <a:extLst>
                <a:ext uri="{FF2B5EF4-FFF2-40B4-BE49-F238E27FC236}">
                  <a16:creationId xmlns:a16="http://schemas.microsoft.com/office/drawing/2014/main" id="{81DA12F4-2D89-49E8-B960-961300AD1C8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575383" y="4192931"/>
              <a:ext cx="914400" cy="914400"/>
            </a:xfrm>
            <a:prstGeom prst="rect">
              <a:avLst/>
            </a:prstGeom>
          </p:spPr>
        </p:pic>
        <p:pic>
          <p:nvPicPr>
            <p:cNvPr id="10" name="Graphic 9" descr="Tropical scene">
              <a:extLst>
                <a:ext uri="{FF2B5EF4-FFF2-40B4-BE49-F238E27FC236}">
                  <a16:creationId xmlns:a16="http://schemas.microsoft.com/office/drawing/2014/main" id="{B4B55E6D-D123-544F-B276-38B87EBF89C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819155" y="4760577"/>
              <a:ext cx="914400" cy="914400"/>
            </a:xfrm>
            <a:prstGeom prst="rect">
              <a:avLst/>
            </a:prstGeom>
          </p:spPr>
        </p:pic>
      </p:grpSp>
      <p:pic>
        <p:nvPicPr>
          <p:cNvPr id="26" name="Graphic 25" descr="Electric guitar">
            <a:extLst>
              <a:ext uri="{FF2B5EF4-FFF2-40B4-BE49-F238E27FC236}">
                <a16:creationId xmlns:a16="http://schemas.microsoft.com/office/drawing/2014/main" id="{50DAB2F3-8A2E-4562-94E6-1920DAF1F9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73821" y="2230082"/>
            <a:ext cx="914400" cy="914400"/>
          </a:xfrm>
          <a:prstGeom prst="rect">
            <a:avLst/>
          </a:prstGeom>
        </p:spPr>
      </p:pic>
      <p:pic>
        <p:nvPicPr>
          <p:cNvPr id="27" name="Graphic 26" descr="Electric guitar">
            <a:extLst>
              <a:ext uri="{FF2B5EF4-FFF2-40B4-BE49-F238E27FC236}">
                <a16:creationId xmlns:a16="http://schemas.microsoft.com/office/drawing/2014/main" id="{826D3B04-35BE-4C82-86AD-AED9CAFAD46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46385" y="2238985"/>
            <a:ext cx="914400" cy="914400"/>
          </a:xfrm>
          <a:prstGeom prst="rect">
            <a:avLst/>
          </a:prstGeom>
        </p:spPr>
      </p:pic>
    </p:spTree>
    <p:extLst>
      <p:ext uri="{BB962C8B-B14F-4D97-AF65-F5344CB8AC3E}">
        <p14:creationId xmlns:p14="http://schemas.microsoft.com/office/powerpoint/2010/main" val="79393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2000"/>
                                  </p:stCondLst>
                                  <p:childTnLst>
                                    <p:set>
                                      <p:cBhvr>
                                        <p:cTn id="9" dur="1" fill="hold">
                                          <p:stCondLst>
                                            <p:cond delay="0"/>
                                          </p:stCondLst>
                                        </p:cTn>
                                        <p:tgtEl>
                                          <p:spTgt spid="13"/>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3000"/>
                            </p:stCondLst>
                            <p:childTnLst>
                              <p:par>
                                <p:cTn id="14" presetID="1" presetClass="entr" presetSubtype="0" fill="hold" nodeType="afterEffect">
                                  <p:stCondLst>
                                    <p:cond delay="200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5000"/>
                            </p:stCondLst>
                            <p:childTnLst>
                              <p:par>
                                <p:cTn id="17" presetID="1" presetClass="entr" presetSubtype="0" fill="hold" nodeType="afterEffect">
                                  <p:stCondLst>
                                    <p:cond delay="100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6000"/>
                            </p:stCondLst>
                            <p:childTnLst>
                              <p:par>
                                <p:cTn id="20" presetID="1" presetClass="entr" presetSubtype="0" fill="hold" nodeType="afterEffect">
                                  <p:stCondLst>
                                    <p:cond delay="1000"/>
                                  </p:stCondLst>
                                  <p:childTnLst>
                                    <p:set>
                                      <p:cBhvr>
                                        <p:cTn id="21" dur="1" fill="hold">
                                          <p:stCondLst>
                                            <p:cond delay="0"/>
                                          </p:stCondLst>
                                        </p:cTn>
                                        <p:tgtEl>
                                          <p:spTgt spid="20"/>
                                        </p:tgtEl>
                                        <p:attrNameLst>
                                          <p:attrName>style.visibility</p:attrName>
                                        </p:attrNameLst>
                                      </p:cBhvr>
                                      <p:to>
                                        <p:strVal val="visible"/>
                                      </p:to>
                                    </p:set>
                                  </p:childTnLst>
                                </p:cTn>
                              </p:par>
                            </p:childTnLst>
                          </p:cTn>
                        </p:par>
                        <p:par>
                          <p:cTn id="22" fill="hold">
                            <p:stCondLst>
                              <p:cond delay="7000"/>
                            </p:stCondLst>
                            <p:childTnLst>
                              <p:par>
                                <p:cTn id="23" presetID="1" presetClass="entr" presetSubtype="0" fill="hold" nodeType="afterEffect">
                                  <p:stCondLst>
                                    <p:cond delay="1000"/>
                                  </p:stCondLst>
                                  <p:childTnLst>
                                    <p:set>
                                      <p:cBhvr>
                                        <p:cTn id="24" dur="1" fill="hold">
                                          <p:stCondLst>
                                            <p:cond delay="0"/>
                                          </p:stCondLst>
                                        </p:cTn>
                                        <p:tgtEl>
                                          <p:spTgt spid="18"/>
                                        </p:tgtEl>
                                        <p:attrNameLst>
                                          <p:attrName>style.visibility</p:attrName>
                                        </p:attrNameLst>
                                      </p:cBhvr>
                                      <p:to>
                                        <p:strVal val="visible"/>
                                      </p:to>
                                    </p:set>
                                  </p:childTnLst>
                                </p:cTn>
                              </p:par>
                            </p:childTnLst>
                          </p:cTn>
                        </p:par>
                        <p:par>
                          <p:cTn id="25" fill="hold">
                            <p:stCondLst>
                              <p:cond delay="8000"/>
                            </p:stCondLst>
                            <p:childTnLst>
                              <p:par>
                                <p:cTn id="26" presetID="1" presetClass="entr" presetSubtype="0" fill="hold" nodeType="afterEffect">
                                  <p:stCondLst>
                                    <p:cond delay="100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9000"/>
                            </p:stCondLst>
                            <p:childTnLst>
                              <p:par>
                                <p:cTn id="29" presetID="1" presetClass="entr" presetSubtype="0" fill="hold" nodeType="afterEffect">
                                  <p:stCondLst>
                                    <p:cond delay="1000"/>
                                  </p:stCondLst>
                                  <p:childTnLst>
                                    <p:set>
                                      <p:cBhvr>
                                        <p:cTn id="30" dur="1" fill="hold">
                                          <p:stCondLst>
                                            <p:cond delay="0"/>
                                          </p:stCondLst>
                                        </p:cTn>
                                        <p:tgtEl>
                                          <p:spTgt spid="26"/>
                                        </p:tgtEl>
                                        <p:attrNameLst>
                                          <p:attrName>style.visibility</p:attrName>
                                        </p:attrNameLst>
                                      </p:cBhvr>
                                      <p:to>
                                        <p:strVal val="visible"/>
                                      </p:to>
                                    </p:set>
                                  </p:childTnLst>
                                </p:cTn>
                              </p:par>
                            </p:childTnLst>
                          </p:cTn>
                        </p:par>
                        <p:par>
                          <p:cTn id="31" fill="hold">
                            <p:stCondLst>
                              <p:cond delay="10000"/>
                            </p:stCondLst>
                            <p:childTnLst>
                              <p:par>
                                <p:cTn id="32" presetID="1" presetClass="entr" presetSubtype="0" fill="hold" nodeType="afterEffect">
                                  <p:stCondLst>
                                    <p:cond delay="100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11000"/>
                            </p:stCondLst>
                            <p:childTnLst>
                              <p:par>
                                <p:cTn id="35" presetID="1" presetClass="entr" presetSubtype="0" fill="hold" nodeType="afterEffect">
                                  <p:stCondLst>
                                    <p:cond delay="1000"/>
                                  </p:stCondLst>
                                  <p:childTnLst>
                                    <p:set>
                                      <p:cBhvr>
                                        <p:cTn id="36" dur="1" fill="hold">
                                          <p:stCondLst>
                                            <p:cond delay="0"/>
                                          </p:stCondLst>
                                        </p:cTn>
                                        <p:tgtEl>
                                          <p:spTgt spid="19"/>
                                        </p:tgtEl>
                                        <p:attrNameLst>
                                          <p:attrName>style.visibility</p:attrName>
                                        </p:attrNameLst>
                                      </p:cBhvr>
                                      <p:to>
                                        <p:strVal val="visible"/>
                                      </p:to>
                                    </p:set>
                                  </p:childTnLst>
                                </p:cTn>
                              </p:par>
                            </p:childTnLst>
                          </p:cTn>
                        </p:par>
                        <p:par>
                          <p:cTn id="37" fill="hold">
                            <p:stCondLst>
                              <p:cond delay="12000"/>
                            </p:stCondLst>
                            <p:childTnLst>
                              <p:par>
                                <p:cTn id="38" presetID="1" presetClass="entr" presetSubtype="0" fill="hold" nodeType="afterEffect">
                                  <p:stCondLst>
                                    <p:cond delay="2000"/>
                                  </p:stCondLst>
                                  <p:childTnLst>
                                    <p:set>
                                      <p:cBhvr>
                                        <p:cTn id="39" dur="1" fill="hold">
                                          <p:stCondLst>
                                            <p:cond delay="0"/>
                                          </p:stCondLst>
                                        </p:cTn>
                                        <p:tgtEl>
                                          <p:spTgt spid="12"/>
                                        </p:tgtEl>
                                        <p:attrNameLst>
                                          <p:attrName>style.visibility</p:attrName>
                                        </p:attrNameLst>
                                      </p:cBhvr>
                                      <p:to>
                                        <p:strVal val="visible"/>
                                      </p:to>
                                    </p:set>
                                  </p:childTnLst>
                                </p:cTn>
                              </p:par>
                            </p:childTnLst>
                          </p:cTn>
                        </p:par>
                        <p:par>
                          <p:cTn id="40" fill="hold">
                            <p:stCondLst>
                              <p:cond delay="14000"/>
                            </p:stCondLst>
                            <p:childTnLst>
                              <p:par>
                                <p:cTn id="41" presetID="1" presetClass="entr" presetSubtype="0" fill="hold" nodeType="afterEffect">
                                  <p:stCondLst>
                                    <p:cond delay="2000"/>
                                  </p:stCondLst>
                                  <p:childTnLst>
                                    <p:set>
                                      <p:cBhvr>
                                        <p:cTn id="42" dur="1" fill="hold">
                                          <p:stCondLst>
                                            <p:cond delay="0"/>
                                          </p:stCondLst>
                                        </p:cTn>
                                        <p:tgtEl>
                                          <p:spTgt spid="7"/>
                                        </p:tgtEl>
                                        <p:attrNameLst>
                                          <p:attrName>style.visibility</p:attrName>
                                        </p:attrNameLst>
                                      </p:cBhvr>
                                      <p:to>
                                        <p:strVal val="visible"/>
                                      </p:to>
                                    </p:set>
                                  </p:childTnLst>
                                </p:cTn>
                              </p:par>
                            </p:childTnLst>
                          </p:cTn>
                        </p:par>
                        <p:par>
                          <p:cTn id="43" fill="hold">
                            <p:stCondLst>
                              <p:cond delay="16000"/>
                            </p:stCondLst>
                            <p:childTnLst>
                              <p:par>
                                <p:cTn id="44" presetID="1" presetClass="entr" presetSubtype="0" fill="hold" nodeType="afterEffect">
                                  <p:stCondLst>
                                    <p:cond delay="2000"/>
                                  </p:stCondLst>
                                  <p:childTnLst>
                                    <p:set>
                                      <p:cBhvr>
                                        <p:cTn id="45" dur="1" fill="hold">
                                          <p:stCondLst>
                                            <p:cond delay="0"/>
                                          </p:stCondLst>
                                        </p:cTn>
                                        <p:tgtEl>
                                          <p:spTgt spid="25"/>
                                        </p:tgtEl>
                                        <p:attrNameLst>
                                          <p:attrName>style.visibility</p:attrName>
                                        </p:attrNameLst>
                                      </p:cBhvr>
                                      <p:to>
                                        <p:strVal val="visible"/>
                                      </p:to>
                                    </p:set>
                                  </p:childTnLst>
                                </p:cTn>
                              </p:par>
                            </p:childTnLst>
                          </p:cTn>
                        </p:par>
                        <p:par>
                          <p:cTn id="46" fill="hold">
                            <p:stCondLst>
                              <p:cond delay="18000"/>
                            </p:stCondLst>
                            <p:childTnLst>
                              <p:par>
                                <p:cTn id="47" presetID="1" presetClass="entr" presetSubtype="0" fill="hold" nodeType="afterEffect">
                                  <p:stCondLst>
                                    <p:cond delay="2000"/>
                                  </p:stCondLst>
                                  <p:childTnLst>
                                    <p:set>
                                      <p:cBhvr>
                                        <p:cTn id="48" dur="1" fill="hold">
                                          <p:stCondLst>
                                            <p:cond delay="0"/>
                                          </p:stCondLst>
                                        </p:cTn>
                                        <p:tgtEl>
                                          <p:spTgt spid="24"/>
                                        </p:tgtEl>
                                        <p:attrNameLst>
                                          <p:attrName>style.visibility</p:attrName>
                                        </p:attrNameLst>
                                      </p:cBhvr>
                                      <p:to>
                                        <p:strVal val="visible"/>
                                      </p:to>
                                    </p:set>
                                  </p:childTnLst>
                                </p:cTn>
                              </p:par>
                            </p:childTnLst>
                          </p:cTn>
                        </p:par>
                        <p:par>
                          <p:cTn id="49" fill="hold">
                            <p:stCondLst>
                              <p:cond delay="20000"/>
                            </p:stCondLst>
                            <p:childTnLst>
                              <p:par>
                                <p:cTn id="50" presetID="1" presetClass="entr" presetSubtype="0" fill="hold" nodeType="afterEffect">
                                  <p:stCondLst>
                                    <p:cond delay="2000"/>
                                  </p:stCondLst>
                                  <p:childTnLst>
                                    <p:set>
                                      <p:cBhvr>
                                        <p:cTn id="51" dur="1" fill="hold">
                                          <p:stCondLst>
                                            <p:cond delay="0"/>
                                          </p:stCondLst>
                                        </p:cTn>
                                        <p:tgtEl>
                                          <p:spTgt spid="11"/>
                                        </p:tgtEl>
                                        <p:attrNameLst>
                                          <p:attrName>style.visibility</p:attrName>
                                        </p:attrNameLst>
                                      </p:cBhvr>
                                      <p:to>
                                        <p:strVal val="visible"/>
                                      </p:to>
                                    </p:set>
                                  </p:childTnLst>
                                </p:cTn>
                              </p:par>
                            </p:childTnLst>
                          </p:cTn>
                        </p:par>
                        <p:par>
                          <p:cTn id="52" fill="hold">
                            <p:stCondLst>
                              <p:cond delay="22000"/>
                            </p:stCondLst>
                            <p:childTnLst>
                              <p:par>
                                <p:cTn id="53" presetID="1" presetClass="entr" presetSubtype="0" fill="hold" nodeType="afterEffect">
                                  <p:stCondLst>
                                    <p:cond delay="3500"/>
                                  </p:stCondLst>
                                  <p:childTnLst>
                                    <p:set>
                                      <p:cBhvr>
                                        <p:cTn id="54" dur="1" fill="hold">
                                          <p:stCondLst>
                                            <p:cond delay="0"/>
                                          </p:stCondLst>
                                        </p:cTn>
                                        <p:tgtEl>
                                          <p:spTgt spid="14"/>
                                        </p:tgtEl>
                                        <p:attrNameLst>
                                          <p:attrName>style.visibility</p:attrName>
                                        </p:attrNameLst>
                                      </p:cBhvr>
                                      <p:to>
                                        <p:strVal val="visible"/>
                                      </p:to>
                                    </p:set>
                                  </p:childTnLst>
                                </p:cTn>
                              </p:par>
                            </p:childTnLst>
                          </p:cTn>
                        </p:par>
                        <p:par>
                          <p:cTn id="55" fill="hold">
                            <p:stCondLst>
                              <p:cond delay="25500"/>
                            </p:stCondLst>
                            <p:childTnLst>
                              <p:par>
                                <p:cTn id="56" presetID="8" presetClass="emph" presetSubtype="0" fill="hold" nodeType="afterEffect">
                                  <p:stCondLst>
                                    <p:cond delay="2500"/>
                                  </p:stCondLst>
                                  <p:childTnLst>
                                    <p:animRot by="21600000">
                                      <p:cBhvr>
                                        <p:cTn id="57" dur="2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4" descr="A picture containing food, drawing&#10;&#10;Description generated with very high confidence">
            <a:extLst>
              <a:ext uri="{FF2B5EF4-FFF2-40B4-BE49-F238E27FC236}">
                <a16:creationId xmlns:a16="http://schemas.microsoft.com/office/drawing/2014/main" id="{B5142ACA-8648-409F-AA08-E1478046758A}"/>
              </a:ext>
            </a:extLst>
          </p:cNvPr>
          <p:cNvPicPr>
            <a:picLocks noChangeAspect="1"/>
          </p:cNvPicPr>
          <p:nvPr/>
        </p:nvPicPr>
        <p:blipFill>
          <a:blip r:embed="rId3"/>
          <a:stretch>
            <a:fillRect/>
          </a:stretch>
        </p:blipFill>
        <p:spPr>
          <a:xfrm>
            <a:off x="365760" y="3313171"/>
            <a:ext cx="1503680" cy="1524000"/>
          </a:xfrm>
          <a:prstGeom prst="rect">
            <a:avLst/>
          </a:prstGeom>
        </p:spPr>
      </p:pic>
      <p:sp>
        <p:nvSpPr>
          <p:cNvPr id="4" name="Slide Number Placeholder 3"/>
          <p:cNvSpPr>
            <a:spLocks noGrp="1"/>
          </p:cNvSpPr>
          <p:nvPr>
            <p:ph type="sldNum" sz="quarter" idx="12"/>
          </p:nvPr>
        </p:nvSpPr>
        <p:spPr/>
        <p:txBody>
          <a:bodyPr/>
          <a:lstStyle/>
          <a:p>
            <a:fld id="{5E9B17D8-68A5-8A4C-9A5A-916968DB0419}" type="slidenum">
              <a:rPr lang="en-US" smtClean="0"/>
              <a:t>6</a:t>
            </a:fld>
            <a:endParaRPr lang="en-US"/>
          </a:p>
        </p:txBody>
      </p:sp>
      <p:sp>
        <p:nvSpPr>
          <p:cNvPr id="13" name="TextBox 12">
            <a:extLst>
              <a:ext uri="{FF2B5EF4-FFF2-40B4-BE49-F238E27FC236}">
                <a16:creationId xmlns:a16="http://schemas.microsoft.com/office/drawing/2014/main" id="{DBF347AF-A9BA-4FD8-99A5-14CA7C40531D}"/>
              </a:ext>
            </a:extLst>
          </p:cNvPr>
          <p:cNvSpPr txBox="1"/>
          <p:nvPr/>
        </p:nvSpPr>
        <p:spPr>
          <a:xfrm>
            <a:off x="1686560" y="3648678"/>
            <a:ext cx="1010873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Conventions:</a:t>
            </a:r>
            <a:r>
              <a:rPr lang="en-US" sz="2800">
                <a:solidFill>
                  <a:srgbClr val="483C46"/>
                </a:solidFill>
                <a:latin typeface="Avenir Next LT Pro"/>
              </a:rPr>
              <a:t> Practical guides.​</a:t>
            </a:r>
          </a:p>
        </p:txBody>
      </p:sp>
    </p:spTree>
    <p:extLst>
      <p:ext uri="{BB962C8B-B14F-4D97-AF65-F5344CB8AC3E}">
        <p14:creationId xmlns:p14="http://schemas.microsoft.com/office/powerpoint/2010/main" val="2511324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953936" y="2399771"/>
            <a:ext cx="4002304" cy="3847427"/>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latin typeface="Avenir Next LT Pro"/>
              </a:rPr>
              <a:t>SOM Corp</a:t>
            </a:r>
            <a:endParaRPr lang="en-US" sz="1400" dirty="0">
              <a:latin typeface="Avenir Next LT Pro"/>
            </a:endParaRPr>
          </a:p>
        </p:txBody>
      </p:sp>
      <p:sp>
        <p:nvSpPr>
          <p:cNvPr id="16" name="TextBox 15"/>
          <p:cNvSpPr txBox="1"/>
          <p:nvPr/>
        </p:nvSpPr>
        <p:spPr>
          <a:xfrm>
            <a:off x="4180493" y="6523345"/>
            <a:ext cx="4888155" cy="307777"/>
          </a:xfrm>
          <a:prstGeom prst="rect">
            <a:avLst/>
          </a:prstGeom>
          <a:noFill/>
        </p:spPr>
        <p:txBody>
          <a:bodyPr wrap="square" rtlCol="0">
            <a:spAutoFit/>
          </a:bodyPr>
          <a:lstStyle/>
          <a:p>
            <a:r>
              <a:rPr lang="en-US" sz="1400">
                <a:latin typeface="Avenir Next LT Pro"/>
              </a:rPr>
              <a:t>Source: SOM Professor Shyam Sunder</a:t>
            </a:r>
          </a:p>
        </p:txBody>
      </p:sp>
      <p:cxnSp>
        <p:nvCxnSpPr>
          <p:cNvPr id="18" name="Straight Arrow Connector 17"/>
          <p:cNvCxnSpPr/>
          <p:nvPr/>
        </p:nvCxnSpPr>
        <p:spPr>
          <a:xfrm>
            <a:off x="5782007" y="1610947"/>
            <a:ext cx="0" cy="6669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cxnSpLocks/>
          </p:cNvCxnSpPr>
          <p:nvPr/>
        </p:nvCxnSpPr>
        <p:spPr>
          <a:xfrm flipV="1">
            <a:off x="5955383" y="1610947"/>
            <a:ext cx="0" cy="660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cxnSpLocks/>
          </p:cNvCxnSpPr>
          <p:nvPr/>
        </p:nvCxnSpPr>
        <p:spPr>
          <a:xfrm>
            <a:off x="29210356" y="14548357"/>
            <a:ext cx="26629095" cy="877809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394817" y="1758609"/>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sp>
        <p:nvSpPr>
          <p:cNvPr id="43" name="Oval 42">
            <a:extLst>
              <a:ext uri="{FF2B5EF4-FFF2-40B4-BE49-F238E27FC236}">
                <a16:creationId xmlns:a16="http://schemas.microsoft.com/office/drawing/2014/main" id="{53DE92C2-C8F1-47DD-98FE-9DEDE2C81FA7}"/>
              </a:ext>
            </a:extLst>
          </p:cNvPr>
          <p:cNvSpPr/>
          <p:nvPr/>
        </p:nvSpPr>
        <p:spPr>
          <a:xfrm>
            <a:off x="5056613" y="7438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Money Providers</a:t>
            </a:r>
          </a:p>
        </p:txBody>
      </p:sp>
      <p:sp>
        <p:nvSpPr>
          <p:cNvPr id="44" name="Oval 43">
            <a:extLst>
              <a:ext uri="{FF2B5EF4-FFF2-40B4-BE49-F238E27FC236}">
                <a16:creationId xmlns:a16="http://schemas.microsoft.com/office/drawing/2014/main" id="{0E9A1D84-BFE9-4D02-AC53-E7B1CE87A179}"/>
              </a:ext>
            </a:extLst>
          </p:cNvPr>
          <p:cNvSpPr/>
          <p:nvPr/>
        </p:nvSpPr>
        <p:spPr>
          <a:xfrm>
            <a:off x="8003847" y="101490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t>Managers</a:t>
            </a:r>
          </a:p>
        </p:txBody>
      </p:sp>
      <p:sp>
        <p:nvSpPr>
          <p:cNvPr id="50" name="Oval 49">
            <a:extLst>
              <a:ext uri="{FF2B5EF4-FFF2-40B4-BE49-F238E27FC236}">
                <a16:creationId xmlns:a16="http://schemas.microsoft.com/office/drawing/2014/main" id="{1EAC0625-A291-4444-BF86-AAB9F2D58BB7}"/>
              </a:ext>
            </a:extLst>
          </p:cNvPr>
          <p:cNvSpPr/>
          <p:nvPr/>
        </p:nvSpPr>
        <p:spPr>
          <a:xfrm>
            <a:off x="8955049" y="3583112"/>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Employees</a:t>
            </a:r>
          </a:p>
        </p:txBody>
      </p:sp>
      <p:sp>
        <p:nvSpPr>
          <p:cNvPr id="59" name="Oval 58">
            <a:extLst>
              <a:ext uri="{FF2B5EF4-FFF2-40B4-BE49-F238E27FC236}">
                <a16:creationId xmlns:a16="http://schemas.microsoft.com/office/drawing/2014/main" id="{FB444828-91DF-432E-B628-95F8BE051F18}"/>
              </a:ext>
            </a:extLst>
          </p:cNvPr>
          <p:cNvSpPr/>
          <p:nvPr/>
        </p:nvSpPr>
        <p:spPr>
          <a:xfrm>
            <a:off x="1841621" y="5159715"/>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Suppliers</a:t>
            </a:r>
          </a:p>
        </p:txBody>
      </p:sp>
      <p:sp>
        <p:nvSpPr>
          <p:cNvPr id="72" name="Oval 71">
            <a:extLst>
              <a:ext uri="{FF2B5EF4-FFF2-40B4-BE49-F238E27FC236}">
                <a16:creationId xmlns:a16="http://schemas.microsoft.com/office/drawing/2014/main" id="{9C96A383-4942-4261-AE25-13BAC8F921C6}"/>
              </a:ext>
            </a:extLst>
          </p:cNvPr>
          <p:cNvSpPr/>
          <p:nvPr/>
        </p:nvSpPr>
        <p:spPr>
          <a:xfrm>
            <a:off x="1466158" y="3233211"/>
            <a:ext cx="1606488" cy="1465160"/>
          </a:xfrm>
          <a:prstGeom prst="ellipse">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Government</a:t>
            </a:r>
          </a:p>
        </p:txBody>
      </p:sp>
      <p:sp>
        <p:nvSpPr>
          <p:cNvPr id="100" name="Oval 99">
            <a:extLst>
              <a:ext uri="{FF2B5EF4-FFF2-40B4-BE49-F238E27FC236}">
                <a16:creationId xmlns:a16="http://schemas.microsoft.com/office/drawing/2014/main" id="{85A9A108-4F45-49BB-AC03-99346552ECE4}"/>
              </a:ext>
            </a:extLst>
          </p:cNvPr>
          <p:cNvSpPr/>
          <p:nvPr/>
        </p:nvSpPr>
        <p:spPr>
          <a:xfrm>
            <a:off x="1841621" y="652899"/>
            <a:ext cx="2162340" cy="2211419"/>
          </a:xfrm>
          <a:prstGeom prst="ellipse">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Customers</a:t>
            </a:r>
            <a:endParaRPr lang="en-US"/>
          </a:p>
        </p:txBody>
      </p:sp>
      <p:sp>
        <p:nvSpPr>
          <p:cNvPr id="17" name="TextBox 16">
            <a:extLst>
              <a:ext uri="{FF2B5EF4-FFF2-40B4-BE49-F238E27FC236}">
                <a16:creationId xmlns:a16="http://schemas.microsoft.com/office/drawing/2014/main" id="{6C1D5B45-B917-41EB-9AD9-BED49FBE396E}"/>
              </a:ext>
            </a:extLst>
          </p:cNvPr>
          <p:cNvSpPr txBox="1"/>
          <p:nvPr/>
        </p:nvSpPr>
        <p:spPr>
          <a:xfrm rot="19080000">
            <a:off x="6121638" y="1329025"/>
            <a:ext cx="2423675" cy="492443"/>
          </a:xfrm>
          <a:prstGeom prst="rect">
            <a:avLst/>
          </a:prstGeom>
          <a:noFill/>
        </p:spPr>
        <p:txBody>
          <a:bodyPr wrap="square" rtlCol="0" anchor="t">
            <a:spAutoFit/>
          </a:bodyPr>
          <a:lstStyle/>
          <a:p>
            <a:r>
              <a:rPr lang="en-US" sz="1300">
                <a:solidFill>
                  <a:srgbClr val="000000"/>
                </a:solidFill>
                <a:latin typeface="Avenir Next LT Pro"/>
              </a:rPr>
              <a:t>Principal &amp; Interest Payments</a:t>
            </a:r>
          </a:p>
          <a:p>
            <a:pPr algn="ctr"/>
            <a:r>
              <a:rPr lang="en-US" sz="1300" b="1">
                <a:solidFill>
                  <a:srgbClr val="000000"/>
                </a:solidFill>
                <a:latin typeface="Avenir Next LT Pro"/>
              </a:rPr>
              <a:t>LENDERS</a:t>
            </a:r>
          </a:p>
        </p:txBody>
      </p:sp>
      <p:sp>
        <p:nvSpPr>
          <p:cNvPr id="19" name="TextBox 18">
            <a:extLst>
              <a:ext uri="{FF2B5EF4-FFF2-40B4-BE49-F238E27FC236}">
                <a16:creationId xmlns:a16="http://schemas.microsoft.com/office/drawing/2014/main" id="{4ABDB609-1D8A-4308-A5E6-B931FA6A1605}"/>
              </a:ext>
            </a:extLst>
          </p:cNvPr>
          <p:cNvSpPr txBox="1"/>
          <p:nvPr/>
        </p:nvSpPr>
        <p:spPr>
          <a:xfrm rot="19068021">
            <a:off x="5824907" y="1025508"/>
            <a:ext cx="2399035" cy="461665"/>
          </a:xfrm>
          <a:prstGeom prst="rect">
            <a:avLst/>
          </a:prstGeom>
          <a:noFill/>
        </p:spPr>
        <p:txBody>
          <a:bodyPr wrap="square" rtlCol="0" anchor="t">
            <a:spAutoFit/>
          </a:bodyPr>
          <a:lstStyle/>
          <a:p>
            <a:r>
              <a:rPr lang="en-US" sz="1200">
                <a:solidFill>
                  <a:srgbClr val="000000"/>
                </a:solidFill>
                <a:latin typeface="Avenir Next LT Pro"/>
              </a:rPr>
              <a:t>Dividends &amp; </a:t>
            </a:r>
            <a:r>
              <a:rPr lang="en-US" sz="1200">
                <a:solidFill>
                  <a:srgbClr val="000000"/>
                </a:solidFill>
                <a:ea typeface="+mn-lt"/>
                <a:cs typeface="+mn-lt"/>
              </a:rPr>
              <a:t>O</a:t>
            </a:r>
            <a:r>
              <a:rPr lang="en-US" sz="1200">
                <a:solidFill>
                  <a:srgbClr val="000000"/>
                </a:solidFill>
                <a:latin typeface="Avenir Next LT Pro"/>
              </a:rPr>
              <a:t>wnership Claims</a:t>
            </a:r>
          </a:p>
          <a:p>
            <a:pPr algn="ctr"/>
            <a:r>
              <a:rPr lang="en-US" sz="1200" b="1">
                <a:solidFill>
                  <a:srgbClr val="000000"/>
                </a:solidFill>
                <a:latin typeface="Avenir Next LT Pro"/>
              </a:rPr>
              <a:t>OWNERS</a:t>
            </a:r>
            <a:endParaRPr lang="en-US" b="1">
              <a:solidFill>
                <a:srgbClr val="000000"/>
              </a:solidFill>
              <a:latin typeface="Calibri" panose="020F0502020204030204"/>
              <a:cs typeface="Calibri" panose="020F0502020204030204"/>
            </a:endParaRPr>
          </a:p>
        </p:txBody>
      </p:sp>
      <p:cxnSp>
        <p:nvCxnSpPr>
          <p:cNvPr id="22" name="Straight Arrow Connector 21">
            <a:extLst>
              <a:ext uri="{FF2B5EF4-FFF2-40B4-BE49-F238E27FC236}">
                <a16:creationId xmlns:a16="http://schemas.microsoft.com/office/drawing/2014/main" id="{664AA916-06F8-4B95-9D36-B0596CD2293E}"/>
              </a:ext>
            </a:extLst>
          </p:cNvPr>
          <p:cNvCxnSpPr/>
          <p:nvPr/>
        </p:nvCxnSpPr>
        <p:spPr>
          <a:xfrm rot="3127788">
            <a:off x="7761472" y="2167184"/>
            <a:ext cx="0" cy="6669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4931D21-D085-4FF0-8DD1-D0C7FFB6F8A6}"/>
              </a:ext>
            </a:extLst>
          </p:cNvPr>
          <p:cNvCxnSpPr>
            <a:cxnSpLocks/>
          </p:cNvCxnSpPr>
          <p:nvPr/>
        </p:nvCxnSpPr>
        <p:spPr>
          <a:xfrm rot="3127788" flipV="1">
            <a:off x="7870313" y="2305226"/>
            <a:ext cx="0" cy="660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17F159B-F827-4A73-99D4-AC764859C7E2}"/>
              </a:ext>
            </a:extLst>
          </p:cNvPr>
          <p:cNvSpPr txBox="1"/>
          <p:nvPr/>
        </p:nvSpPr>
        <p:spPr>
          <a:xfrm rot="19287229">
            <a:off x="7094758" y="1937822"/>
            <a:ext cx="1106393" cy="461665"/>
          </a:xfrm>
          <a:prstGeom prst="rect">
            <a:avLst/>
          </a:prstGeom>
          <a:noFill/>
        </p:spPr>
        <p:txBody>
          <a:bodyPr wrap="square" rtlCol="0" anchor="t">
            <a:spAutoFit/>
          </a:bodyPr>
          <a:lstStyle>
            <a:defPPr>
              <a:defRPr lang="en-US"/>
            </a:defPPr>
            <a:lvl1pPr>
              <a:defRPr sz="1200">
                <a:solidFill>
                  <a:schemeClr val="bg2">
                    <a:lumMod val="75000"/>
                  </a:schemeClr>
                </a:solidFill>
                <a:latin typeface="Avenir Next LT Pro"/>
              </a:defRPr>
            </a:lvl1pPr>
          </a:lstStyle>
          <a:p>
            <a:r>
              <a:rPr lang="en-US">
                <a:solidFill>
                  <a:srgbClr val="000000"/>
                </a:solidFill>
              </a:rPr>
              <a:t>Managerial</a:t>
            </a:r>
          </a:p>
          <a:p>
            <a:r>
              <a:rPr lang="en-US">
                <a:solidFill>
                  <a:srgbClr val="000000"/>
                </a:solidFill>
              </a:rPr>
              <a:t>Services</a:t>
            </a:r>
          </a:p>
        </p:txBody>
      </p:sp>
      <p:sp>
        <p:nvSpPr>
          <p:cNvPr id="26" name="TextBox 25">
            <a:extLst>
              <a:ext uri="{FF2B5EF4-FFF2-40B4-BE49-F238E27FC236}">
                <a16:creationId xmlns:a16="http://schemas.microsoft.com/office/drawing/2014/main" id="{12D8D785-C4B8-4757-80D2-206E4CE2A5BC}"/>
              </a:ext>
            </a:extLst>
          </p:cNvPr>
          <p:cNvSpPr txBox="1"/>
          <p:nvPr/>
        </p:nvSpPr>
        <p:spPr>
          <a:xfrm rot="20878139">
            <a:off x="7601508" y="2640058"/>
            <a:ext cx="2423675" cy="461665"/>
          </a:xfrm>
          <a:prstGeom prst="rect">
            <a:avLst/>
          </a:prstGeom>
          <a:noFill/>
        </p:spPr>
        <p:txBody>
          <a:bodyPr wrap="square" rtlCol="0" anchor="t">
            <a:spAutoFit/>
          </a:bodyPr>
          <a:lstStyle>
            <a:defPPr>
              <a:defRPr lang="en-US"/>
            </a:defPPr>
            <a:lvl1pPr>
              <a:defRPr sz="1200">
                <a:solidFill>
                  <a:schemeClr val="bg2">
                    <a:lumMod val="75000"/>
                  </a:schemeClr>
                </a:solidFill>
                <a:latin typeface="Avenir Next LT Pro"/>
              </a:defRPr>
            </a:lvl1pPr>
          </a:lstStyle>
          <a:p>
            <a:r>
              <a:rPr lang="en-US">
                <a:solidFill>
                  <a:srgbClr val="000000"/>
                </a:solidFill>
              </a:rPr>
              <a:t>Salary, bonus, incentive payments, equity awards</a:t>
            </a:r>
          </a:p>
        </p:txBody>
      </p:sp>
      <p:sp>
        <p:nvSpPr>
          <p:cNvPr id="4" name="TextBox 3">
            <a:extLst>
              <a:ext uri="{FF2B5EF4-FFF2-40B4-BE49-F238E27FC236}">
                <a16:creationId xmlns:a16="http://schemas.microsoft.com/office/drawing/2014/main" id="{757D882E-50C2-4A2C-BDDE-F56CFDEDC5E2}"/>
              </a:ext>
            </a:extLst>
          </p:cNvPr>
          <p:cNvSpPr txBox="1"/>
          <p:nvPr/>
        </p:nvSpPr>
        <p:spPr>
          <a:xfrm>
            <a:off x="7865538" y="4666937"/>
            <a:ext cx="1402948" cy="307777"/>
          </a:xfrm>
          <a:prstGeom prst="rect">
            <a:avLst/>
          </a:prstGeom>
          <a:noFill/>
        </p:spPr>
        <p:txBody>
          <a:bodyPr wrap="none" rtlCol="0" anchor="t">
            <a:spAutoFit/>
          </a:bodyPr>
          <a:lstStyle/>
          <a:p>
            <a:r>
              <a:rPr lang="en-US" sz="1400">
                <a:solidFill>
                  <a:srgbClr val="000000"/>
                </a:solidFill>
                <a:latin typeface="Avenir Next LT Pro"/>
              </a:rPr>
              <a:t>Salary &amp; bonus</a:t>
            </a:r>
          </a:p>
        </p:txBody>
      </p:sp>
      <p:sp>
        <p:nvSpPr>
          <p:cNvPr id="6" name="TextBox 5">
            <a:extLst>
              <a:ext uri="{FF2B5EF4-FFF2-40B4-BE49-F238E27FC236}">
                <a16:creationId xmlns:a16="http://schemas.microsoft.com/office/drawing/2014/main" id="{EE00A463-DB1F-4C56-AB94-F85CF0153002}"/>
              </a:ext>
            </a:extLst>
          </p:cNvPr>
          <p:cNvSpPr txBox="1"/>
          <p:nvPr/>
        </p:nvSpPr>
        <p:spPr>
          <a:xfrm>
            <a:off x="8311213" y="4456450"/>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cxnSp>
        <p:nvCxnSpPr>
          <p:cNvPr id="7" name="Straight Arrow Connector 6">
            <a:extLst>
              <a:ext uri="{FF2B5EF4-FFF2-40B4-BE49-F238E27FC236}">
                <a16:creationId xmlns:a16="http://schemas.microsoft.com/office/drawing/2014/main" id="{88E40D5D-D5FB-4EE4-8BB2-FC1701F5E24D}"/>
              </a:ext>
            </a:extLst>
          </p:cNvPr>
          <p:cNvCxnSpPr>
            <a:cxnSpLocks/>
          </p:cNvCxnSpPr>
          <p:nvPr/>
        </p:nvCxnSpPr>
        <p:spPr>
          <a:xfrm>
            <a:off x="8112333" y="4439818"/>
            <a:ext cx="68662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1BD0067-29F0-4627-97AB-778A56900CD1}"/>
              </a:ext>
            </a:extLst>
          </p:cNvPr>
          <p:cNvCxnSpPr>
            <a:cxnSpLocks/>
          </p:cNvCxnSpPr>
          <p:nvPr/>
        </p:nvCxnSpPr>
        <p:spPr>
          <a:xfrm flipH="1">
            <a:off x="8058537" y="4242518"/>
            <a:ext cx="6866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1">
            <a:extLst>
              <a:ext uri="{FF2B5EF4-FFF2-40B4-BE49-F238E27FC236}">
                <a16:creationId xmlns:a16="http://schemas.microsoft.com/office/drawing/2014/main" id="{84F27887-D82D-4E3D-8713-1499011F5FEB}"/>
              </a:ext>
            </a:extLst>
          </p:cNvPr>
          <p:cNvSpPr txBox="1"/>
          <p:nvPr/>
        </p:nvSpPr>
        <p:spPr>
          <a:xfrm>
            <a:off x="8066881" y="3855798"/>
            <a:ext cx="659155" cy="307777"/>
          </a:xfrm>
          <a:prstGeom prst="rect">
            <a:avLst/>
          </a:prstGeom>
          <a:noFill/>
        </p:spPr>
        <p:txBody>
          <a:bodyPr wrap="none"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rgbClr val="000000"/>
                </a:solidFill>
                <a:latin typeface="Avenir Next LT Pro"/>
              </a:rPr>
              <a:t>Labor</a:t>
            </a:r>
          </a:p>
        </p:txBody>
      </p:sp>
      <p:sp>
        <p:nvSpPr>
          <p:cNvPr id="2" name="Oval 1">
            <a:extLst>
              <a:ext uri="{FF2B5EF4-FFF2-40B4-BE49-F238E27FC236}">
                <a16:creationId xmlns:a16="http://schemas.microsoft.com/office/drawing/2014/main" id="{8CEF93F2-74D0-47AD-8104-894CFADE0A8D}"/>
              </a:ext>
            </a:extLst>
          </p:cNvPr>
          <p:cNvSpPr/>
          <p:nvPr/>
        </p:nvSpPr>
        <p:spPr>
          <a:xfrm>
            <a:off x="8957054" y="3585117"/>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Employees</a:t>
            </a:r>
            <a:endParaRPr lang="en-US"/>
          </a:p>
        </p:txBody>
      </p:sp>
      <p:sp>
        <p:nvSpPr>
          <p:cNvPr id="3" name="TextBox 2">
            <a:extLst>
              <a:ext uri="{FF2B5EF4-FFF2-40B4-BE49-F238E27FC236}">
                <a16:creationId xmlns:a16="http://schemas.microsoft.com/office/drawing/2014/main" id="{3195BCFF-A0C5-4B71-AF73-25D0141266F1}"/>
              </a:ext>
            </a:extLst>
          </p:cNvPr>
          <p:cNvSpPr txBox="1"/>
          <p:nvPr/>
        </p:nvSpPr>
        <p:spPr>
          <a:xfrm rot="20456451">
            <a:off x="3776442" y="5665889"/>
            <a:ext cx="288862" cy="307777"/>
          </a:xfrm>
          <a:prstGeom prst="rect">
            <a:avLst/>
          </a:prstGeom>
          <a:noFill/>
        </p:spPr>
        <p:txBody>
          <a:bodyPr wrap="none" rtlCol="0" anchor="t">
            <a:spAutoFit/>
          </a:bodyPr>
          <a:lstStyle/>
          <a:p>
            <a:r>
              <a:rPr lang="en-US" sz="1400">
                <a:solidFill>
                  <a:srgbClr val="000000"/>
                </a:solidFill>
                <a:latin typeface="Avenir Next LT Pro"/>
              </a:rPr>
              <a:t>$</a:t>
            </a:r>
          </a:p>
        </p:txBody>
      </p:sp>
      <p:cxnSp>
        <p:nvCxnSpPr>
          <p:cNvPr id="10" name="Straight Arrow Connector 9">
            <a:extLst>
              <a:ext uri="{FF2B5EF4-FFF2-40B4-BE49-F238E27FC236}">
                <a16:creationId xmlns:a16="http://schemas.microsoft.com/office/drawing/2014/main" id="{2E40F88A-68EC-4777-A72C-1FE371E8BA31}"/>
              </a:ext>
            </a:extLst>
          </p:cNvPr>
          <p:cNvCxnSpPr>
            <a:cxnSpLocks/>
          </p:cNvCxnSpPr>
          <p:nvPr/>
        </p:nvCxnSpPr>
        <p:spPr>
          <a:xfrm flipV="1">
            <a:off x="3443436" y="5297162"/>
            <a:ext cx="678802" cy="28078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D9B967-3F59-40DA-8225-D26BB9E21C5B}"/>
              </a:ext>
            </a:extLst>
          </p:cNvPr>
          <p:cNvCxnSpPr>
            <a:cxnSpLocks/>
          </p:cNvCxnSpPr>
          <p:nvPr/>
        </p:nvCxnSpPr>
        <p:spPr>
          <a:xfrm flipH="1">
            <a:off x="3499362" y="5443836"/>
            <a:ext cx="652256" cy="2928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EF9BD0A-CEFD-4DCF-AF08-56E79AF466AB}"/>
              </a:ext>
            </a:extLst>
          </p:cNvPr>
          <p:cNvSpPr txBox="1"/>
          <p:nvPr/>
        </p:nvSpPr>
        <p:spPr>
          <a:xfrm>
            <a:off x="2504109" y="4867126"/>
            <a:ext cx="1729924" cy="307777"/>
          </a:xfrm>
          <a:prstGeom prst="rect">
            <a:avLst/>
          </a:prstGeom>
          <a:noFill/>
        </p:spPr>
        <p:txBody>
          <a:bodyPr wrap="square" rtlCol="0" anchor="t">
            <a:spAutoFit/>
          </a:bodyPr>
          <a:lstStyle/>
          <a:p>
            <a:r>
              <a:rPr lang="en-US" sz="1400">
                <a:solidFill>
                  <a:srgbClr val="000000"/>
                </a:solidFill>
                <a:latin typeface="Avenir Next LT Pro"/>
              </a:rPr>
              <a:t>Goods &amp;Services </a:t>
            </a:r>
            <a:endParaRPr lang="en-US">
              <a:solidFill>
                <a:srgbClr val="000000"/>
              </a:solidFill>
              <a:latin typeface="Calibri" panose="020F0502020204030204"/>
              <a:cs typeface="Calibri" panose="020F0502020204030204"/>
            </a:endParaRPr>
          </a:p>
        </p:txBody>
      </p:sp>
      <p:sp>
        <p:nvSpPr>
          <p:cNvPr id="13" name="Oval 12">
            <a:extLst>
              <a:ext uri="{FF2B5EF4-FFF2-40B4-BE49-F238E27FC236}">
                <a16:creationId xmlns:a16="http://schemas.microsoft.com/office/drawing/2014/main" id="{8FDA8C06-D6A2-46B4-A56F-B4354CD07649}"/>
              </a:ext>
            </a:extLst>
          </p:cNvPr>
          <p:cNvSpPr/>
          <p:nvPr/>
        </p:nvSpPr>
        <p:spPr>
          <a:xfrm>
            <a:off x="1823574" y="5181773"/>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Suppliers</a:t>
            </a:r>
            <a:endParaRPr lang="en-US"/>
          </a:p>
        </p:txBody>
      </p:sp>
      <p:sp>
        <p:nvSpPr>
          <p:cNvPr id="9" name="TextBox 8">
            <a:extLst>
              <a:ext uri="{FF2B5EF4-FFF2-40B4-BE49-F238E27FC236}">
                <a16:creationId xmlns:a16="http://schemas.microsoft.com/office/drawing/2014/main" id="{B7F4F351-2038-4B2C-82D0-EAAB476465B3}"/>
              </a:ext>
            </a:extLst>
          </p:cNvPr>
          <p:cNvSpPr txBox="1"/>
          <p:nvPr/>
        </p:nvSpPr>
        <p:spPr>
          <a:xfrm>
            <a:off x="3155275" y="3513966"/>
            <a:ext cx="783548" cy="307777"/>
          </a:xfrm>
          <a:prstGeom prst="rect">
            <a:avLst/>
          </a:prstGeom>
          <a:noFill/>
        </p:spPr>
        <p:txBody>
          <a:bodyPr wrap="none" rtlCol="0" anchor="t">
            <a:spAutoFit/>
          </a:bodyPr>
          <a:lstStyle/>
          <a:p>
            <a:r>
              <a:rPr lang="en-US" sz="1400">
                <a:solidFill>
                  <a:srgbClr val="000000"/>
                </a:solidFill>
                <a:latin typeface="Avenir Next LT Pro"/>
              </a:rPr>
              <a:t>Taxes $</a:t>
            </a:r>
          </a:p>
        </p:txBody>
      </p:sp>
      <p:sp>
        <p:nvSpPr>
          <p:cNvPr id="14" name="TextBox 13">
            <a:extLst>
              <a:ext uri="{FF2B5EF4-FFF2-40B4-BE49-F238E27FC236}">
                <a16:creationId xmlns:a16="http://schemas.microsoft.com/office/drawing/2014/main" id="{08B1B855-4D42-43F8-998D-A174EC50B00E}"/>
              </a:ext>
            </a:extLst>
          </p:cNvPr>
          <p:cNvSpPr txBox="1"/>
          <p:nvPr/>
        </p:nvSpPr>
        <p:spPr>
          <a:xfrm>
            <a:off x="2744667" y="4467377"/>
            <a:ext cx="1248483" cy="307777"/>
          </a:xfrm>
          <a:prstGeom prst="rect">
            <a:avLst/>
          </a:prstGeom>
          <a:noFill/>
        </p:spPr>
        <p:txBody>
          <a:bodyPr wrap="none" rtlCol="0" anchor="t">
            <a:spAutoFit/>
          </a:bodyPr>
          <a:lstStyle/>
          <a:p>
            <a:r>
              <a:rPr lang="en-US" sz="1400">
                <a:solidFill>
                  <a:srgbClr val="000000"/>
                </a:solidFill>
                <a:latin typeface="Avenir Next LT Pro"/>
              </a:rPr>
              <a:t>Public goods</a:t>
            </a:r>
          </a:p>
        </p:txBody>
      </p:sp>
      <p:cxnSp>
        <p:nvCxnSpPr>
          <p:cNvPr id="15" name="Straight Arrow Connector 14">
            <a:extLst>
              <a:ext uri="{FF2B5EF4-FFF2-40B4-BE49-F238E27FC236}">
                <a16:creationId xmlns:a16="http://schemas.microsoft.com/office/drawing/2014/main" id="{A1218194-BE7E-4273-A819-9DD11A44003E}"/>
              </a:ext>
            </a:extLst>
          </p:cNvPr>
          <p:cNvCxnSpPr>
            <a:cxnSpLocks/>
          </p:cNvCxnSpPr>
          <p:nvPr/>
        </p:nvCxnSpPr>
        <p:spPr>
          <a:xfrm>
            <a:off x="3221681" y="4045284"/>
            <a:ext cx="702029" cy="610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71DAA99-5DEC-4350-8F4C-1A8320ECC8E7}"/>
              </a:ext>
            </a:extLst>
          </p:cNvPr>
          <p:cNvCxnSpPr>
            <a:cxnSpLocks/>
          </p:cNvCxnSpPr>
          <p:nvPr/>
        </p:nvCxnSpPr>
        <p:spPr>
          <a:xfrm flipH="1" flipV="1">
            <a:off x="3209718" y="3844925"/>
            <a:ext cx="676862" cy="8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92F640A2-4FD7-4DEC-83FB-FC077B82A9A0}"/>
              </a:ext>
            </a:extLst>
          </p:cNvPr>
          <p:cNvSpPr/>
          <p:nvPr/>
        </p:nvSpPr>
        <p:spPr>
          <a:xfrm>
            <a:off x="1458137" y="3235216"/>
            <a:ext cx="1606488" cy="1465160"/>
          </a:xfrm>
          <a:prstGeom prst="ellipse">
            <a:avLst/>
          </a:prstGeom>
          <a:solidFill>
            <a:srgbClr val="006BA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Government</a:t>
            </a:r>
            <a:endParaRPr lang="en-US"/>
          </a:p>
        </p:txBody>
      </p:sp>
      <p:cxnSp>
        <p:nvCxnSpPr>
          <p:cNvPr id="29" name="Straight Arrow Connector 28">
            <a:extLst>
              <a:ext uri="{FF2B5EF4-FFF2-40B4-BE49-F238E27FC236}">
                <a16:creationId xmlns:a16="http://schemas.microsoft.com/office/drawing/2014/main" id="{A5DFC6EA-175F-43DE-AA33-56FEF90E49F9}"/>
              </a:ext>
            </a:extLst>
          </p:cNvPr>
          <p:cNvCxnSpPr>
            <a:cxnSpLocks/>
          </p:cNvCxnSpPr>
          <p:nvPr/>
        </p:nvCxnSpPr>
        <p:spPr>
          <a:xfrm>
            <a:off x="3926785" y="2548091"/>
            <a:ext cx="545262" cy="356496"/>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B63FE671-5D73-4BEF-B60A-05F6135E3884}"/>
              </a:ext>
            </a:extLst>
          </p:cNvPr>
          <p:cNvSpPr txBox="1"/>
          <p:nvPr/>
        </p:nvSpPr>
        <p:spPr>
          <a:xfrm rot="2100000">
            <a:off x="3858137" y="2753205"/>
            <a:ext cx="288862" cy="307777"/>
          </a:xfrm>
          <a:prstGeom prst="rect">
            <a:avLst/>
          </a:prstGeom>
          <a:noFill/>
        </p:spPr>
        <p:txBody>
          <a:bodyPr wrap="none" rtlCol="0" anchor="t">
            <a:spAutoFit/>
          </a:bodyPr>
          <a:lstStyle/>
          <a:p>
            <a:r>
              <a:rPr lang="en-US" sz="1400">
                <a:solidFill>
                  <a:srgbClr val="483C46"/>
                </a:solidFill>
                <a:latin typeface="Avenir Next LT Pro"/>
              </a:rPr>
              <a:t>$</a:t>
            </a:r>
          </a:p>
        </p:txBody>
      </p:sp>
      <p:sp>
        <p:nvSpPr>
          <p:cNvPr id="31" name="TextBox 30">
            <a:extLst>
              <a:ext uri="{FF2B5EF4-FFF2-40B4-BE49-F238E27FC236}">
                <a16:creationId xmlns:a16="http://schemas.microsoft.com/office/drawing/2014/main" id="{DC84091B-9899-4B84-A31E-558C0F027D36}"/>
              </a:ext>
            </a:extLst>
          </p:cNvPr>
          <p:cNvSpPr txBox="1"/>
          <p:nvPr/>
        </p:nvSpPr>
        <p:spPr>
          <a:xfrm rot="2055280">
            <a:off x="4033958" y="2140193"/>
            <a:ext cx="1022450" cy="523220"/>
          </a:xfrm>
          <a:prstGeom prst="rect">
            <a:avLst/>
          </a:prstGeom>
          <a:noFill/>
        </p:spPr>
        <p:txBody>
          <a:bodyPr wrap="square" rtlCol="0" anchor="t">
            <a:spAutoFit/>
          </a:bodyPr>
          <a:lstStyle/>
          <a:p>
            <a:r>
              <a:rPr lang="en-US" sz="1400">
                <a:solidFill>
                  <a:srgbClr val="483C46"/>
                </a:solidFill>
                <a:latin typeface="Avenir Next LT Pro"/>
              </a:rPr>
              <a:t>Goods &amp;</a:t>
            </a:r>
          </a:p>
          <a:p>
            <a:r>
              <a:rPr lang="en-US" sz="1400">
                <a:solidFill>
                  <a:srgbClr val="483C46"/>
                </a:solidFill>
                <a:latin typeface="Avenir Next LT Pro"/>
              </a:rPr>
              <a:t>Services</a:t>
            </a:r>
            <a:endParaRPr lang="en-US">
              <a:solidFill>
                <a:srgbClr val="483C46"/>
              </a:solidFill>
              <a:cs typeface="Calibri"/>
            </a:endParaRPr>
          </a:p>
        </p:txBody>
      </p:sp>
      <p:sp>
        <p:nvSpPr>
          <p:cNvPr id="32" name="Oval 31">
            <a:extLst>
              <a:ext uri="{FF2B5EF4-FFF2-40B4-BE49-F238E27FC236}">
                <a16:creationId xmlns:a16="http://schemas.microsoft.com/office/drawing/2014/main" id="{33AAB294-C595-4A8A-B9F1-A3B034988D82}"/>
              </a:ext>
            </a:extLst>
          </p:cNvPr>
          <p:cNvSpPr/>
          <p:nvPr/>
        </p:nvSpPr>
        <p:spPr>
          <a:xfrm>
            <a:off x="1835008" y="645812"/>
            <a:ext cx="2162340" cy="2211419"/>
          </a:xfrm>
          <a:prstGeom prst="ellipse">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ea typeface="+mn-lt"/>
                <a:cs typeface="+mn-lt"/>
              </a:rPr>
              <a:t>Customers</a:t>
            </a:r>
            <a:endParaRPr lang="en-US"/>
          </a:p>
        </p:txBody>
      </p:sp>
      <p:cxnSp>
        <p:nvCxnSpPr>
          <p:cNvPr id="33" name="Straight Arrow Connector 32">
            <a:extLst>
              <a:ext uri="{FF2B5EF4-FFF2-40B4-BE49-F238E27FC236}">
                <a16:creationId xmlns:a16="http://schemas.microsoft.com/office/drawing/2014/main" id="{816838A6-3067-4D31-AC5D-CF597A28A988}"/>
              </a:ext>
            </a:extLst>
          </p:cNvPr>
          <p:cNvCxnSpPr>
            <a:cxnSpLocks/>
          </p:cNvCxnSpPr>
          <p:nvPr/>
        </p:nvCxnSpPr>
        <p:spPr>
          <a:xfrm flipH="1" flipV="1">
            <a:off x="3961870" y="2387996"/>
            <a:ext cx="572842" cy="386819"/>
          </a:xfrm>
          <a:prstGeom prst="straightConnector1">
            <a:avLst/>
          </a:prstGeom>
          <a:ln>
            <a:solidFill>
              <a:schemeClr val="accent6">
                <a:lumMod val="7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9044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4C10-54AF-41BF-9D96-7E1A8FA83F25}"/>
              </a:ext>
            </a:extLst>
          </p:cNvPr>
          <p:cNvSpPr>
            <a:spLocks noGrp="1"/>
          </p:cNvSpPr>
          <p:nvPr>
            <p:ph type="title"/>
          </p:nvPr>
        </p:nvSpPr>
        <p:spPr/>
        <p:txBody>
          <a:bodyPr/>
          <a:lstStyle/>
          <a:p>
            <a:r>
              <a:rPr lang="en-US" dirty="0"/>
              <a:t>We start with transactions, and then …</a:t>
            </a:r>
          </a:p>
        </p:txBody>
      </p:sp>
    </p:spTree>
    <p:extLst>
      <p:ext uri="{BB962C8B-B14F-4D97-AF65-F5344CB8AC3E}">
        <p14:creationId xmlns:p14="http://schemas.microsoft.com/office/powerpoint/2010/main" val="2386417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descr="A picture containing food&#10;&#10;Description generated with very high confidence">
            <a:extLst>
              <a:ext uri="{FF2B5EF4-FFF2-40B4-BE49-F238E27FC236}">
                <a16:creationId xmlns:a16="http://schemas.microsoft.com/office/drawing/2014/main" id="{C35DC992-9A41-486A-A972-B96A5AC94332}"/>
              </a:ext>
            </a:extLst>
          </p:cNvPr>
          <p:cNvPicPr>
            <a:picLocks noChangeAspect="1"/>
          </p:cNvPicPr>
          <p:nvPr/>
        </p:nvPicPr>
        <p:blipFill>
          <a:blip r:embed="rId3"/>
          <a:stretch>
            <a:fillRect/>
          </a:stretch>
        </p:blipFill>
        <p:spPr>
          <a:xfrm>
            <a:off x="358203" y="4850798"/>
            <a:ext cx="1503680" cy="1524000"/>
          </a:xfrm>
          <a:prstGeom prst="rect">
            <a:avLst/>
          </a:prstGeom>
        </p:spPr>
      </p:pic>
      <p:sp>
        <p:nvSpPr>
          <p:cNvPr id="4" name="Slide Number Placeholder 3"/>
          <p:cNvSpPr>
            <a:spLocks noGrp="1"/>
          </p:cNvSpPr>
          <p:nvPr>
            <p:ph type="sldNum" sz="quarter" idx="12"/>
          </p:nvPr>
        </p:nvSpPr>
        <p:spPr/>
        <p:txBody>
          <a:bodyPr/>
          <a:lstStyle/>
          <a:p>
            <a:fld id="{5E9B17D8-68A5-8A4C-9A5A-916968DB0419}" type="slidenum">
              <a:rPr lang="en-US" smtClean="0"/>
              <a:t>9</a:t>
            </a:fld>
            <a:endParaRPr lang="en-US"/>
          </a:p>
        </p:txBody>
      </p:sp>
      <p:sp>
        <p:nvSpPr>
          <p:cNvPr id="11" name="TextBox 10">
            <a:extLst>
              <a:ext uri="{FF2B5EF4-FFF2-40B4-BE49-F238E27FC236}">
                <a16:creationId xmlns:a16="http://schemas.microsoft.com/office/drawing/2014/main" id="{58595D58-2FA2-498B-9645-5A854DA97421}"/>
              </a:ext>
            </a:extLst>
          </p:cNvPr>
          <p:cNvSpPr txBox="1"/>
          <p:nvPr/>
        </p:nvSpPr>
        <p:spPr>
          <a:xfrm>
            <a:off x="1656080" y="5028276"/>
            <a:ext cx="96473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Context: </a:t>
            </a:r>
            <a:r>
              <a:rPr lang="en-US" sz="2800">
                <a:solidFill>
                  <a:srgbClr val="483C46"/>
                </a:solidFill>
                <a:latin typeface="Avenir Next LT Pro"/>
              </a:rPr>
              <a:t>Social/economic/political setting.​</a:t>
            </a:r>
          </a:p>
        </p:txBody>
      </p:sp>
    </p:spTree>
    <p:extLst>
      <p:ext uri="{BB962C8B-B14F-4D97-AF65-F5344CB8AC3E}">
        <p14:creationId xmlns:p14="http://schemas.microsoft.com/office/powerpoint/2010/main" val="14695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descr="A picture containing food&#10;&#10;Description generated with very high confidence">
            <a:extLst>
              <a:ext uri="{FF2B5EF4-FFF2-40B4-BE49-F238E27FC236}">
                <a16:creationId xmlns:a16="http://schemas.microsoft.com/office/drawing/2014/main" id="{C35DC992-9A41-486A-A972-B96A5AC94332}"/>
              </a:ext>
            </a:extLst>
          </p:cNvPr>
          <p:cNvPicPr>
            <a:picLocks noChangeAspect="1"/>
          </p:cNvPicPr>
          <p:nvPr/>
        </p:nvPicPr>
        <p:blipFill>
          <a:blip r:embed="rId3"/>
          <a:stretch>
            <a:fillRect/>
          </a:stretch>
        </p:blipFill>
        <p:spPr>
          <a:xfrm>
            <a:off x="358203" y="4850798"/>
            <a:ext cx="1503680" cy="1524000"/>
          </a:xfrm>
          <a:prstGeom prst="rect">
            <a:avLst/>
          </a:prstGeom>
        </p:spPr>
      </p:pic>
      <p:pic>
        <p:nvPicPr>
          <p:cNvPr id="14" name="Picture 14" descr="A picture containing food, drawing&#10;&#10;Description generated with very high confidence">
            <a:extLst>
              <a:ext uri="{FF2B5EF4-FFF2-40B4-BE49-F238E27FC236}">
                <a16:creationId xmlns:a16="http://schemas.microsoft.com/office/drawing/2014/main" id="{B5142ACA-8648-409F-AA08-E1478046758A}"/>
              </a:ext>
            </a:extLst>
          </p:cNvPr>
          <p:cNvPicPr>
            <a:picLocks noChangeAspect="1"/>
          </p:cNvPicPr>
          <p:nvPr/>
        </p:nvPicPr>
        <p:blipFill>
          <a:blip r:embed="rId4"/>
          <a:stretch>
            <a:fillRect/>
          </a:stretch>
        </p:blipFill>
        <p:spPr>
          <a:xfrm>
            <a:off x="365760" y="3313171"/>
            <a:ext cx="1503680" cy="1524000"/>
          </a:xfrm>
          <a:prstGeom prst="rect">
            <a:avLst/>
          </a:prstGeom>
        </p:spPr>
      </p:pic>
      <p:sp>
        <p:nvSpPr>
          <p:cNvPr id="2" name="Title 1"/>
          <p:cNvSpPr>
            <a:spLocks noGrp="1"/>
          </p:cNvSpPr>
          <p:nvPr>
            <p:ph type="title"/>
          </p:nvPr>
        </p:nvSpPr>
        <p:spPr>
          <a:xfrm>
            <a:off x="198120" y="90805"/>
            <a:ext cx="10515600" cy="1325563"/>
          </a:xfrm>
        </p:spPr>
        <p:txBody>
          <a:bodyPr/>
          <a:lstStyle/>
          <a:p>
            <a:r>
              <a:rPr lang="en-US" dirty="0">
                <a:solidFill>
                  <a:srgbClr val="483C46"/>
                </a:solidFill>
                <a:latin typeface="Avenir Next LT Pro"/>
              </a:rPr>
              <a:t>Framework</a:t>
            </a:r>
          </a:p>
        </p:txBody>
      </p:sp>
      <p:pic>
        <p:nvPicPr>
          <p:cNvPr id="9" name="Picture 9" descr="A close up of a sign&#10;&#10;Description generated with very high confidence">
            <a:extLst>
              <a:ext uri="{FF2B5EF4-FFF2-40B4-BE49-F238E27FC236}">
                <a16:creationId xmlns:a16="http://schemas.microsoft.com/office/drawing/2014/main" id="{4FCAA7C9-682E-440F-B3CC-1CBC17C88324}"/>
              </a:ext>
            </a:extLst>
          </p:cNvPr>
          <p:cNvPicPr>
            <a:picLocks noChangeAspect="1"/>
          </p:cNvPicPr>
          <p:nvPr/>
        </p:nvPicPr>
        <p:blipFill>
          <a:blip r:embed="rId5"/>
          <a:stretch>
            <a:fillRect/>
          </a:stretch>
        </p:blipFill>
        <p:spPr>
          <a:xfrm>
            <a:off x="366915" y="1859049"/>
            <a:ext cx="1498600" cy="1529080"/>
          </a:xfrm>
          <a:prstGeom prst="rect">
            <a:avLst/>
          </a:prstGeom>
        </p:spPr>
      </p:pic>
      <p:sp>
        <p:nvSpPr>
          <p:cNvPr id="3" name="Content Placeholder 2"/>
          <p:cNvSpPr>
            <a:spLocks noGrp="1"/>
          </p:cNvSpPr>
          <p:nvPr>
            <p:ph idx="1"/>
          </p:nvPr>
        </p:nvSpPr>
        <p:spPr>
          <a:xfrm>
            <a:off x="1686560" y="2213090"/>
            <a:ext cx="9652000" cy="1003157"/>
          </a:xfrm>
        </p:spPr>
        <p:txBody>
          <a:bodyPr vert="horz" lIns="91440" tIns="45720" rIns="91440" bIns="45720" rtlCol="0" anchor="t">
            <a:normAutofit/>
          </a:bodyPr>
          <a:lstStyle/>
          <a:p>
            <a:pPr marL="0" indent="0">
              <a:buNone/>
            </a:pPr>
            <a:r>
              <a:rPr lang="en-US" b="1">
                <a:solidFill>
                  <a:srgbClr val="483C46"/>
                </a:solidFill>
                <a:latin typeface="Avenir Next LT Pro"/>
              </a:rPr>
              <a:t>Aspirations</a:t>
            </a:r>
            <a:r>
              <a:rPr lang="en-US">
                <a:solidFill>
                  <a:srgbClr val="483C46"/>
                </a:solidFill>
                <a:latin typeface="Avenir Next LT Pro"/>
              </a:rPr>
              <a:t>: Show value and how it changes.</a:t>
            </a:r>
            <a:endParaRPr lang="en-US">
              <a:solidFill>
                <a:srgbClr val="483C46"/>
              </a:solidFill>
              <a:cs typeface="Calibri"/>
            </a:endParaRPr>
          </a:p>
        </p:txBody>
      </p:sp>
      <p:sp>
        <p:nvSpPr>
          <p:cNvPr id="4" name="Slide Number Placeholder 3"/>
          <p:cNvSpPr>
            <a:spLocks noGrp="1"/>
          </p:cNvSpPr>
          <p:nvPr>
            <p:ph type="sldNum" sz="quarter" idx="12"/>
          </p:nvPr>
        </p:nvSpPr>
        <p:spPr/>
        <p:txBody>
          <a:bodyPr/>
          <a:lstStyle/>
          <a:p>
            <a:fld id="{5E9B17D8-68A5-8A4C-9A5A-916968DB0419}" type="slidenum">
              <a:rPr lang="en-US" smtClean="0"/>
              <a:t>10</a:t>
            </a:fld>
            <a:endParaRPr lang="en-US"/>
          </a:p>
        </p:txBody>
      </p:sp>
      <p:sp>
        <p:nvSpPr>
          <p:cNvPr id="11" name="TextBox 10">
            <a:extLst>
              <a:ext uri="{FF2B5EF4-FFF2-40B4-BE49-F238E27FC236}">
                <a16:creationId xmlns:a16="http://schemas.microsoft.com/office/drawing/2014/main" id="{58595D58-2FA2-498B-9645-5A854DA97421}"/>
              </a:ext>
            </a:extLst>
          </p:cNvPr>
          <p:cNvSpPr txBox="1"/>
          <p:nvPr/>
        </p:nvSpPr>
        <p:spPr>
          <a:xfrm>
            <a:off x="1656080" y="5028276"/>
            <a:ext cx="96473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Context: </a:t>
            </a:r>
            <a:r>
              <a:rPr lang="en-US" sz="2800">
                <a:solidFill>
                  <a:srgbClr val="483C46"/>
                </a:solidFill>
                <a:latin typeface="Avenir Next LT Pro"/>
              </a:rPr>
              <a:t>Social/economic/political setting.​</a:t>
            </a:r>
          </a:p>
        </p:txBody>
      </p:sp>
      <p:sp>
        <p:nvSpPr>
          <p:cNvPr id="13" name="TextBox 12">
            <a:extLst>
              <a:ext uri="{FF2B5EF4-FFF2-40B4-BE49-F238E27FC236}">
                <a16:creationId xmlns:a16="http://schemas.microsoft.com/office/drawing/2014/main" id="{DBF347AF-A9BA-4FD8-99A5-14CA7C40531D}"/>
              </a:ext>
            </a:extLst>
          </p:cNvPr>
          <p:cNvSpPr txBox="1"/>
          <p:nvPr/>
        </p:nvSpPr>
        <p:spPr>
          <a:xfrm>
            <a:off x="1686560" y="3648678"/>
            <a:ext cx="1010873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solidFill>
                  <a:srgbClr val="483C46"/>
                </a:solidFill>
                <a:latin typeface="Avenir Next LT Pro"/>
              </a:rPr>
              <a:t>Conventions:</a:t>
            </a:r>
            <a:r>
              <a:rPr lang="en-US" sz="2800">
                <a:solidFill>
                  <a:srgbClr val="483C46"/>
                </a:solidFill>
                <a:latin typeface="Avenir Next LT Pro"/>
              </a:rPr>
              <a:t> Practical guides.​</a:t>
            </a:r>
          </a:p>
        </p:txBody>
      </p:sp>
    </p:spTree>
    <p:extLst>
      <p:ext uri="{BB962C8B-B14F-4D97-AF65-F5344CB8AC3E}">
        <p14:creationId xmlns:p14="http://schemas.microsoft.com/office/powerpoint/2010/main" val="4048288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84C700C3C22764281B606E6BB0BE512" ma:contentTypeVersion="7" ma:contentTypeDescription="Create a new document." ma:contentTypeScope="" ma:versionID="a94dcb7068accf2b99f2aee193947cae">
  <xsd:schema xmlns:xsd="http://www.w3.org/2001/XMLSchema" xmlns:xs="http://www.w3.org/2001/XMLSchema" xmlns:p="http://schemas.microsoft.com/office/2006/metadata/properties" xmlns:ns3="7d9b4326-e95a-4a9d-acda-83174bf33825" xmlns:ns4="ec22c7d8-208f-4baf-a907-919315f360ac" targetNamespace="http://schemas.microsoft.com/office/2006/metadata/properties" ma:root="true" ma:fieldsID="441e276b2eb532472e6c16ee8cd6cffc" ns3:_="" ns4:_="">
    <xsd:import namespace="7d9b4326-e95a-4a9d-acda-83174bf33825"/>
    <xsd:import namespace="ec22c7d8-208f-4baf-a907-919315f360a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9b4326-e95a-4a9d-acda-83174bf338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c22c7d8-208f-4baf-a907-919315f360a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7E6EEE-FBDB-475D-B4B5-316AFBDF365A}">
  <ds:schemaRefs>
    <ds:schemaRef ds:uri="http://purl.org/dc/dcmitype/"/>
    <ds:schemaRef ds:uri="http://purl.org/dc/elements/1.1/"/>
    <ds:schemaRef ds:uri="http://schemas.microsoft.com/office/2006/documentManagement/types"/>
    <ds:schemaRef ds:uri="http://schemas.openxmlformats.org/package/2006/metadata/core-properties"/>
    <ds:schemaRef ds:uri="ec22c7d8-208f-4baf-a907-919315f360ac"/>
    <ds:schemaRef ds:uri="http://purl.org/dc/terms/"/>
    <ds:schemaRef ds:uri="http://schemas.microsoft.com/office/infopath/2007/PartnerControls"/>
    <ds:schemaRef ds:uri="7d9b4326-e95a-4a9d-acda-83174bf33825"/>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C93A8ADC-86FA-4F29-B20F-3FFC8BDCD3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9b4326-e95a-4a9d-acda-83174bf33825"/>
    <ds:schemaRef ds:uri="ec22c7d8-208f-4baf-a907-919315f360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A124DD-2552-4D05-A6AA-F78BC8B34A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1720</TotalTime>
  <Words>1064</Words>
  <Application>Microsoft Office PowerPoint</Application>
  <PresentationFormat>Widescreen</PresentationFormat>
  <Paragraphs>146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vt:lpstr>
      <vt:lpstr>Calibri</vt:lpstr>
      <vt:lpstr>Calibri Light</vt:lpstr>
      <vt:lpstr>Office Theme</vt:lpstr>
      <vt:lpstr>Framework – Part 2</vt:lpstr>
      <vt:lpstr>PowerPoint Presentation</vt:lpstr>
      <vt:lpstr>Keep these in mind about accounting</vt:lpstr>
      <vt:lpstr>PowerPoint Presentation</vt:lpstr>
      <vt:lpstr>VALUE is an abstract concept</vt:lpstr>
      <vt:lpstr>PowerPoint Presentation</vt:lpstr>
      <vt:lpstr>PowerPoint Presentation</vt:lpstr>
      <vt:lpstr>We start with transactions, and then …</vt:lpstr>
      <vt:lpstr>PowerPoint Presentation</vt:lpstr>
      <vt:lpstr>Framework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Antle, Rick</dc:creator>
  <cp:lastModifiedBy>Antle, Rick</cp:lastModifiedBy>
  <cp:revision>11</cp:revision>
  <cp:lastPrinted>2020-03-08T19:53:07Z</cp:lastPrinted>
  <dcterms:created xsi:type="dcterms:W3CDTF">2020-02-13T20:03:41Z</dcterms:created>
  <dcterms:modified xsi:type="dcterms:W3CDTF">2020-03-08T20:01:28Z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0x010100A84C700C3C22764281B606E6BB0BE512</vt:lpwstr>
  </property>
</Properties>
</file>