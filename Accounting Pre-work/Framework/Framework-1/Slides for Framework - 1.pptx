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73" r:id="rId7"/>
    <p:sldId id="270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A6"/>
    <a:srgbClr val="483C46"/>
    <a:srgbClr val="224870"/>
    <a:srgbClr val="24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22D51-8CBB-4B15-9983-0FB42127E955}" v="303" dt="2020-02-22T20:53:01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26" y="9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30" d="100"/>
          <a:sy n="130" d="100"/>
        </p:scale>
        <p:origin x="3042" y="14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B57EF908-FF38-4F15-B5B0-20FC3326DF66}"/>
    <pc:docChg chg="undo custSel delSld modSld">
      <pc:chgData name="Antle, Rick" userId="c2afbbd2-30e4-4c8e-8af5-81913178ace3" providerId="ADAL" clId="{B57EF908-FF38-4F15-B5B0-20FC3326DF66}" dt="2020-02-20T22:55:16.283" v="2298" actId="20577"/>
      <pc:docMkLst>
        <pc:docMk/>
      </pc:docMkLst>
      <pc:sldChg chg="modSp">
        <pc:chgData name="Antle, Rick" userId="c2afbbd2-30e4-4c8e-8af5-81913178ace3" providerId="ADAL" clId="{B57EF908-FF38-4F15-B5B0-20FC3326DF66}" dt="2020-02-20T22:00:12.072" v="22" actId="20577"/>
        <pc:sldMkLst>
          <pc:docMk/>
          <pc:sldMk cId="3604780475" sldId="256"/>
        </pc:sldMkLst>
        <pc:spChg chg="mod">
          <ac:chgData name="Antle, Rick" userId="c2afbbd2-30e4-4c8e-8af5-81913178ace3" providerId="ADAL" clId="{B57EF908-FF38-4F15-B5B0-20FC3326DF66}" dt="2020-02-20T22:00:12.072" v="22" actId="20577"/>
          <ac:spMkLst>
            <pc:docMk/>
            <pc:sldMk cId="3604780475" sldId="256"/>
            <ac:spMk id="4" creationId="{6D715DF8-4477-431C-A280-84827C252C39}"/>
          </ac:spMkLst>
        </pc:spChg>
      </pc:sldChg>
      <pc:sldChg chg="del">
        <pc:chgData name="Antle, Rick" userId="c2afbbd2-30e4-4c8e-8af5-81913178ace3" providerId="ADAL" clId="{B57EF908-FF38-4F15-B5B0-20FC3326DF66}" dt="2020-02-20T22:00:33.882" v="23" actId="47"/>
        <pc:sldMkLst>
          <pc:docMk/>
          <pc:sldMk cId="771280463" sldId="257"/>
        </pc:sldMkLst>
      </pc:sldChg>
      <pc:sldChg chg="del">
        <pc:chgData name="Antle, Rick" userId="c2afbbd2-30e4-4c8e-8af5-81913178ace3" providerId="ADAL" clId="{B57EF908-FF38-4F15-B5B0-20FC3326DF66}" dt="2020-02-20T22:00:33.882" v="23" actId="47"/>
        <pc:sldMkLst>
          <pc:docMk/>
          <pc:sldMk cId="557295040" sldId="258"/>
        </pc:sldMkLst>
      </pc:sldChg>
      <pc:sldChg chg="modNotes">
        <pc:chgData name="Antle, Rick" userId="c2afbbd2-30e4-4c8e-8af5-81913178ace3" providerId="ADAL" clId="{B57EF908-FF38-4F15-B5B0-20FC3326DF66}" dt="2020-02-20T22:35:10.764" v="579" actId="6549"/>
        <pc:sldMkLst>
          <pc:docMk/>
          <pc:sldMk cId="595522535" sldId="270"/>
        </pc:sldMkLst>
      </pc:sldChg>
      <pc:sldChg chg="modSp modNotes">
        <pc:chgData name="Antle, Rick" userId="c2afbbd2-30e4-4c8e-8af5-81913178ace3" providerId="ADAL" clId="{B57EF908-FF38-4F15-B5B0-20FC3326DF66}" dt="2020-02-20T22:28:32.836" v="255" actId="20577"/>
        <pc:sldMkLst>
          <pc:docMk/>
          <pc:sldMk cId="3264022524" sldId="273"/>
        </pc:sldMkLst>
        <pc:spChg chg="mod">
          <ac:chgData name="Antle, Rick" userId="c2afbbd2-30e4-4c8e-8af5-81913178ace3" providerId="ADAL" clId="{B57EF908-FF38-4F15-B5B0-20FC3326DF66}" dt="2020-02-20T22:25:07.341" v="148" actId="20577"/>
          <ac:spMkLst>
            <pc:docMk/>
            <pc:sldMk cId="3264022524" sldId="273"/>
            <ac:spMk id="5" creationId="{00000000-0000-0000-0000-000000000000}"/>
          </ac:spMkLst>
        </pc:spChg>
      </pc:sldChg>
      <pc:sldChg chg="del">
        <pc:chgData name="Antle, Rick" userId="c2afbbd2-30e4-4c8e-8af5-81913178ace3" providerId="ADAL" clId="{B57EF908-FF38-4F15-B5B0-20FC3326DF66}" dt="2020-02-20T22:00:33.882" v="23" actId="47"/>
        <pc:sldMkLst>
          <pc:docMk/>
          <pc:sldMk cId="618991816" sldId="277"/>
        </pc:sldMkLst>
      </pc:sldChg>
      <pc:sldChg chg="modNotes">
        <pc:chgData name="Antle, Rick" userId="c2afbbd2-30e4-4c8e-8af5-81913178ace3" providerId="ADAL" clId="{B57EF908-FF38-4F15-B5B0-20FC3326DF66}" dt="2020-02-20T22:23:28.713" v="112" actId="113"/>
        <pc:sldMkLst>
          <pc:docMk/>
          <pc:sldMk cId="1996492233" sldId="278"/>
        </pc:sldMkLst>
      </pc:sldChg>
      <pc:sldChg chg="del modNotes">
        <pc:chgData name="Antle, Rick" userId="c2afbbd2-30e4-4c8e-8af5-81913178ace3" providerId="ADAL" clId="{B57EF908-FF38-4F15-B5B0-20FC3326DF66}" dt="2020-02-20T22:51:56.539" v="2046" actId="47"/>
        <pc:sldMkLst>
          <pc:docMk/>
          <pc:sldMk cId="992819582" sldId="279"/>
        </pc:sldMkLst>
      </pc:sldChg>
      <pc:sldChg chg="del modNotes">
        <pc:chgData name="Antle, Rick" userId="c2afbbd2-30e4-4c8e-8af5-81913178ace3" providerId="ADAL" clId="{B57EF908-FF38-4F15-B5B0-20FC3326DF66}" dt="2020-02-20T22:51:56.539" v="2046" actId="47"/>
        <pc:sldMkLst>
          <pc:docMk/>
          <pc:sldMk cId="3693428185" sldId="280"/>
        </pc:sldMkLst>
      </pc:sldChg>
      <pc:sldChg chg="del modNotes">
        <pc:chgData name="Antle, Rick" userId="c2afbbd2-30e4-4c8e-8af5-81913178ace3" providerId="ADAL" clId="{B57EF908-FF38-4F15-B5B0-20FC3326DF66}" dt="2020-02-20T22:51:56.539" v="2046" actId="47"/>
        <pc:sldMkLst>
          <pc:docMk/>
          <pc:sldMk cId="2748539965" sldId="281"/>
        </pc:sldMkLst>
      </pc:sldChg>
      <pc:sldChg chg="del modNotes">
        <pc:chgData name="Antle, Rick" userId="c2afbbd2-30e4-4c8e-8af5-81913178ace3" providerId="ADAL" clId="{B57EF908-FF38-4F15-B5B0-20FC3326DF66}" dt="2020-02-20T22:51:56.539" v="2046" actId="47"/>
        <pc:sldMkLst>
          <pc:docMk/>
          <pc:sldMk cId="273415726" sldId="282"/>
        </pc:sldMkLst>
      </pc:sldChg>
      <pc:sldChg chg="del modNotes">
        <pc:chgData name="Antle, Rick" userId="c2afbbd2-30e4-4c8e-8af5-81913178ace3" providerId="ADAL" clId="{B57EF908-FF38-4F15-B5B0-20FC3326DF66}" dt="2020-02-20T22:52:07.801" v="2047" actId="47"/>
        <pc:sldMkLst>
          <pc:docMk/>
          <pc:sldMk cId="691816092" sldId="283"/>
        </pc:sldMkLst>
      </pc:sldChg>
      <pc:sldChg chg="modNotes">
        <pc:chgData name="Antle, Rick" userId="c2afbbd2-30e4-4c8e-8af5-81913178ace3" providerId="ADAL" clId="{B57EF908-FF38-4F15-B5B0-20FC3326DF66}" dt="2020-02-20T22:38:17.803" v="689" actId="20577"/>
        <pc:sldMkLst>
          <pc:docMk/>
          <pc:sldMk cId="132203643" sldId="286"/>
        </pc:sldMkLst>
      </pc:sldChg>
      <pc:sldChg chg="modNotes">
        <pc:chgData name="Antle, Rick" userId="c2afbbd2-30e4-4c8e-8af5-81913178ace3" providerId="ADAL" clId="{B57EF908-FF38-4F15-B5B0-20FC3326DF66}" dt="2020-02-20T22:41:21.922" v="969" actId="20577"/>
        <pc:sldMkLst>
          <pc:docMk/>
          <pc:sldMk cId="798224240" sldId="287"/>
        </pc:sldMkLst>
      </pc:sldChg>
      <pc:sldChg chg="modNotes">
        <pc:chgData name="Antle, Rick" userId="c2afbbd2-30e4-4c8e-8af5-81913178ace3" providerId="ADAL" clId="{B57EF908-FF38-4F15-B5B0-20FC3326DF66}" dt="2020-02-20T22:44:22.425" v="1259" actId="20577"/>
        <pc:sldMkLst>
          <pc:docMk/>
          <pc:sldMk cId="1611691824" sldId="288"/>
        </pc:sldMkLst>
      </pc:sldChg>
      <pc:sldChg chg="modNotes">
        <pc:chgData name="Antle, Rick" userId="c2afbbd2-30e4-4c8e-8af5-81913178ace3" providerId="ADAL" clId="{B57EF908-FF38-4F15-B5B0-20FC3326DF66}" dt="2020-02-20T22:48:00.589" v="1685" actId="20577"/>
        <pc:sldMkLst>
          <pc:docMk/>
          <pc:sldMk cId="4145374485" sldId="289"/>
        </pc:sldMkLst>
      </pc:sldChg>
      <pc:sldChg chg="modNotes">
        <pc:chgData name="Antle, Rick" userId="c2afbbd2-30e4-4c8e-8af5-81913178ace3" providerId="ADAL" clId="{B57EF908-FF38-4F15-B5B0-20FC3326DF66}" dt="2020-02-20T22:50:00.370" v="2041" actId="20577"/>
        <pc:sldMkLst>
          <pc:docMk/>
          <pc:sldMk cId="86509749" sldId="290"/>
        </pc:sldMkLst>
      </pc:sldChg>
      <pc:sldChg chg="addSp modAnim modNotes">
        <pc:chgData name="Antle, Rick" userId="c2afbbd2-30e4-4c8e-8af5-81913178ace3" providerId="ADAL" clId="{B57EF908-FF38-4F15-B5B0-20FC3326DF66}" dt="2020-02-20T22:55:16.283" v="2298" actId="20577"/>
        <pc:sldMkLst>
          <pc:docMk/>
          <pc:sldMk cId="4062712377" sldId="291"/>
        </pc:sldMkLst>
        <pc:spChg chg="add">
          <ac:chgData name="Antle, Rick" userId="c2afbbd2-30e4-4c8e-8af5-81913178ace3" providerId="ADAL" clId="{B57EF908-FF38-4F15-B5B0-20FC3326DF66}" dt="2020-02-20T22:52:13.313" v="2048"/>
          <ac:spMkLst>
            <pc:docMk/>
            <pc:sldMk cId="4062712377" sldId="291"/>
            <ac:spMk id="40" creationId="{BE59C136-56F1-42A5-9DDE-FE3FE846351E}"/>
          </ac:spMkLst>
        </pc:spChg>
      </pc:sldChg>
    </pc:docChg>
  </pc:docChgLst>
  <pc:docChgLst>
    <pc:chgData name="Antle, Rick" userId="c2afbbd2-30e4-4c8e-8af5-81913178ace3" providerId="ADAL" clId="{55422D51-8CBB-4B15-9983-0FB42127E955}"/>
    <pc:docChg chg="custSel modSld modNotesMaster">
      <pc:chgData name="Antle, Rick" userId="c2afbbd2-30e4-4c8e-8af5-81913178ace3" providerId="ADAL" clId="{55422D51-8CBB-4B15-9983-0FB42127E955}" dt="2020-03-08T20:02:45.179" v="375" actId="20577"/>
      <pc:docMkLst>
        <pc:docMk/>
      </pc:docMkLst>
      <pc:sldChg chg="modSp">
        <pc:chgData name="Antle, Rick" userId="c2afbbd2-30e4-4c8e-8af5-81913178ace3" providerId="ADAL" clId="{55422D51-8CBB-4B15-9983-0FB42127E955}" dt="2020-03-08T20:02:45.179" v="375" actId="20577"/>
        <pc:sldMkLst>
          <pc:docMk/>
          <pc:sldMk cId="3604780475" sldId="256"/>
        </pc:sldMkLst>
        <pc:spChg chg="mod">
          <ac:chgData name="Antle, Rick" userId="c2afbbd2-30e4-4c8e-8af5-81913178ace3" providerId="ADAL" clId="{55422D51-8CBB-4B15-9983-0FB42127E955}" dt="2020-03-08T20:02:45.179" v="375" actId="20577"/>
          <ac:spMkLst>
            <pc:docMk/>
            <pc:sldMk cId="3604780475" sldId="256"/>
            <ac:spMk id="2" creationId="{F8AA5610-50E7-4F70-960A-E63ECC443FC9}"/>
          </ac:spMkLst>
        </pc:spChg>
      </pc:sldChg>
      <pc:sldChg chg="modSp modAnim">
        <pc:chgData name="Antle, Rick" userId="c2afbbd2-30e4-4c8e-8af5-81913178ace3" providerId="ADAL" clId="{55422D51-8CBB-4B15-9983-0FB42127E955}" dt="2020-02-22T20:21:15.054" v="167"/>
        <pc:sldMkLst>
          <pc:docMk/>
          <pc:sldMk cId="595522535" sldId="270"/>
        </pc:sldMkLst>
        <pc:spChg chg="mod">
          <ac:chgData name="Antle, Rick" userId="c2afbbd2-30e4-4c8e-8af5-81913178ace3" providerId="ADAL" clId="{55422D51-8CBB-4B15-9983-0FB42127E955}" dt="2020-02-22T20:08:07.338" v="133" actId="1038"/>
          <ac:spMkLst>
            <pc:docMk/>
            <pc:sldMk cId="595522535" sldId="270"/>
            <ac:spMk id="109" creationId="{00000000-0000-0000-0000-000000000000}"/>
          </ac:spMkLst>
        </pc:spChg>
      </pc:sldChg>
      <pc:sldChg chg="modAnim modNotes">
        <pc:chgData name="Antle, Rick" userId="c2afbbd2-30e4-4c8e-8af5-81913178ace3" providerId="ADAL" clId="{55422D51-8CBB-4B15-9983-0FB42127E955}" dt="2020-02-22T19:44:31.554" v="19"/>
        <pc:sldMkLst>
          <pc:docMk/>
          <pc:sldMk cId="1996492233" sldId="278"/>
        </pc:sldMkLst>
      </pc:sldChg>
      <pc:sldChg chg="modAnim">
        <pc:chgData name="Antle, Rick" userId="c2afbbd2-30e4-4c8e-8af5-81913178ace3" providerId="ADAL" clId="{55422D51-8CBB-4B15-9983-0FB42127E955}" dt="2020-02-22T20:14:43.522" v="160"/>
        <pc:sldMkLst>
          <pc:docMk/>
          <pc:sldMk cId="132203643" sldId="286"/>
        </pc:sldMkLst>
      </pc:sldChg>
      <pc:sldChg chg="modAnim">
        <pc:chgData name="Antle, Rick" userId="c2afbbd2-30e4-4c8e-8af5-81913178ace3" providerId="ADAL" clId="{55422D51-8CBB-4B15-9983-0FB42127E955}" dt="2020-02-22T20:33:06.406" v="210"/>
        <pc:sldMkLst>
          <pc:docMk/>
          <pc:sldMk cId="798224240" sldId="287"/>
        </pc:sldMkLst>
      </pc:sldChg>
      <pc:sldChg chg="modSp modAnim">
        <pc:chgData name="Antle, Rick" userId="c2afbbd2-30e4-4c8e-8af5-81913178ace3" providerId="ADAL" clId="{55422D51-8CBB-4B15-9983-0FB42127E955}" dt="2020-02-22T20:41:17.707" v="288" actId="1076"/>
        <pc:sldMkLst>
          <pc:docMk/>
          <pc:sldMk cId="1611691824" sldId="288"/>
        </pc:sldMkLst>
        <pc:spChg chg="mod">
          <ac:chgData name="Antle, Rick" userId="c2afbbd2-30e4-4c8e-8af5-81913178ace3" providerId="ADAL" clId="{55422D51-8CBB-4B15-9983-0FB42127E955}" dt="2020-02-22T20:41:17.707" v="288" actId="1076"/>
          <ac:spMkLst>
            <pc:docMk/>
            <pc:sldMk cId="1611691824" sldId="288"/>
            <ac:spMk id="14" creationId="{0B2F4997-2DB0-4F18-A998-A3EB4B01D45F}"/>
          </ac:spMkLst>
        </pc:spChg>
      </pc:sldChg>
      <pc:sldChg chg="modAnim">
        <pc:chgData name="Antle, Rick" userId="c2afbbd2-30e4-4c8e-8af5-81913178ace3" providerId="ADAL" clId="{55422D51-8CBB-4B15-9983-0FB42127E955}" dt="2020-02-22T20:47:49.567" v="332"/>
        <pc:sldMkLst>
          <pc:docMk/>
          <pc:sldMk cId="4145374485" sldId="289"/>
        </pc:sldMkLst>
      </pc:sldChg>
      <pc:sldChg chg="modAnim">
        <pc:chgData name="Antle, Rick" userId="c2afbbd2-30e4-4c8e-8af5-81913178ace3" providerId="ADAL" clId="{55422D51-8CBB-4B15-9983-0FB42127E955}" dt="2020-02-22T20:53:01.790" v="365"/>
        <pc:sldMkLst>
          <pc:docMk/>
          <pc:sldMk cId="86509749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78A2D-15A6-4860-B147-0D4CDA13C022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33438F4-0C4E-4F2F-B88F-7E3FE8DC6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9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9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040" y="4473892"/>
            <a:ext cx="5608320" cy="3796952"/>
          </a:xfrm>
        </p:spPr>
        <p:txBody>
          <a:bodyPr/>
          <a:lstStyle/>
          <a:p>
            <a:r>
              <a:rPr lang="en-US" sz="1800" dirty="0"/>
              <a:t>Accounting begins with the </a:t>
            </a:r>
            <a:r>
              <a:rPr lang="en-US" sz="1800" b="1" dirty="0"/>
              <a:t>identification </a:t>
            </a:r>
            <a:r>
              <a:rPr lang="en-US" sz="1800" dirty="0"/>
              <a:t>of an </a:t>
            </a:r>
            <a:r>
              <a:rPr lang="en-US" sz="1800" b="1" dirty="0"/>
              <a:t>entity </a:t>
            </a:r>
            <a:r>
              <a:rPr lang="en-US" sz="1800" dirty="0"/>
              <a:t>about which the accounting is to be done </a:t>
            </a:r>
          </a:p>
          <a:p>
            <a:endParaRPr lang="en-US" sz="1800" dirty="0"/>
          </a:p>
          <a:p>
            <a:r>
              <a:rPr lang="en-US" sz="1800" dirty="0"/>
              <a:t>The entity could be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an individual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partnership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limited liability company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Corporation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nonprofit or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sz="1800" dirty="0"/>
              <a:t>a government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Let's call the entity we're going to talk about today SOM Corp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To accomplish its objectives SOM Corp must interact with a variety of outside parties.</a:t>
            </a:r>
          </a:p>
          <a:p>
            <a:endParaRPr lang="en-US" sz="1800" dirty="0"/>
          </a:p>
          <a:p>
            <a:r>
              <a:rPr lang="en-US" sz="1800" dirty="0"/>
              <a:t>We will think of these interactions as transactions in which each side gets and gives up things of value </a:t>
            </a:r>
          </a:p>
          <a:p>
            <a:endParaRPr lang="en-US" sz="1800" dirty="0"/>
          </a:p>
          <a:p>
            <a:r>
              <a:rPr lang="en-US" sz="1800" dirty="0"/>
              <a:t>Let's go through several examples of transactions and what is exchanged in them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6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One of the first things SOM Corp needs to accomplish its purpose is money</a:t>
            </a:r>
          </a:p>
          <a:p>
            <a:endParaRPr lang="en-US" sz="1800" dirty="0"/>
          </a:p>
          <a:p>
            <a:r>
              <a:rPr lang="en-US" sz="1800" dirty="0"/>
              <a:t>SOM Corp gets money by making promises. </a:t>
            </a:r>
          </a:p>
          <a:p>
            <a:endParaRPr lang="en-US" sz="1800" dirty="0"/>
          </a:p>
          <a:p>
            <a:r>
              <a:rPr lang="en-US" sz="1800" dirty="0"/>
              <a:t>If the promises are dividends and ownership claims we call those promises equity and call their holders owners.</a:t>
            </a:r>
          </a:p>
          <a:p>
            <a:endParaRPr lang="en-US" sz="1800" dirty="0"/>
          </a:p>
          <a:p>
            <a:r>
              <a:rPr lang="en-US" sz="1800" dirty="0"/>
              <a:t>If the promises are principle and interest payments, we call them debt and we call their holders lenders.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2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Corp also needs the services of people.</a:t>
            </a:r>
          </a:p>
          <a:p>
            <a:r>
              <a:rPr lang="en-US" sz="1800" dirty="0"/>
              <a:t>
Employees provide SOM Corp their labor in exchange for money, typically in the form of salaries and bonuses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84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Corp probably also needs a variety of other goods and services such as computers, legal advice, transportation, office furniture, and so on.</a:t>
            </a:r>
          </a:p>
          <a:p>
            <a:endParaRPr lang="en-US" sz="1800" dirty="0"/>
          </a:p>
          <a:p>
            <a:r>
              <a:rPr lang="en-US" sz="1800" dirty="0"/>
              <a:t>We call those who provides these goods and services Suppliers, who typically receive money from SOM Corp in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12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SOM Corp also interacts with a variety of governments – local, state and federal in the US.</a:t>
            </a:r>
          </a:p>
          <a:p>
            <a:endParaRPr lang="en-US" sz="1800" dirty="0"/>
          </a:p>
          <a:p>
            <a:r>
              <a:rPr lang="en-US" sz="1800" dirty="0"/>
              <a:t>SOM Corp enjoys public goods provided by governments. Public goods include national defense, roads, police protection, etc.</a:t>
            </a:r>
          </a:p>
          <a:p>
            <a:endParaRPr lang="en-US" sz="1800" dirty="0"/>
          </a:p>
          <a:p>
            <a:r>
              <a:rPr lang="en-US" sz="1800" dirty="0"/>
              <a:t>In exchange, SOM Corp pays taxes.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00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All the parties we have talked about so far provide SOM Corp with inputs – i.e., resources required to accomplish its objectives.</a:t>
            </a:r>
          </a:p>
          <a:p>
            <a:endParaRPr lang="en-US" sz="1800" dirty="0"/>
          </a:p>
          <a:p>
            <a:r>
              <a:rPr lang="en-US" sz="1800" dirty="0"/>
              <a:t>Of course, SOM Corp also needs  someone or some things that use its outputs – i.e., customers.</a:t>
            </a:r>
          </a:p>
          <a:p>
            <a:endParaRPr lang="en-US" sz="1800" dirty="0"/>
          </a:p>
          <a:p>
            <a:r>
              <a:rPr lang="en-US" sz="1800" dirty="0"/>
              <a:t>Customers receive the goods and services produced by SOM Corp and, in exchange, they give SOM Corp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52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Finally, someone has to oversee and manage all these transactions. That is, SOM Corp needs to have Managers that provide managerial services. Managers are compensated for their services in a variety of ways, including salaries, bonuses, incentive payments and equity awards.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6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vert="horz" lIns="93177" tIns="46589" rIns="93177" bIns="46589" rtlCol="0"/>
          <a:lstStyle/>
          <a:p>
            <a:r>
              <a:rPr lang="en-US" sz="1800" dirty="0"/>
              <a:t>One function of accounting systems is simply to keep track of all this. </a:t>
            </a:r>
          </a:p>
          <a:p>
            <a:endParaRPr lang="en-US" sz="1800" dirty="0"/>
          </a:p>
          <a:p>
            <a:r>
              <a:rPr lang="en-US" sz="1800" dirty="0"/>
              <a:t>In a modern economy, however, accounting does more than just keep track of what is going on. It aspires to do more.</a:t>
            </a:r>
          </a:p>
          <a:p>
            <a:endParaRPr lang="en-US" sz="1800" dirty="0"/>
          </a:p>
          <a:p>
            <a:r>
              <a:rPr lang="en-US" sz="1800" dirty="0"/>
              <a:t>That is the subject of </a:t>
            </a:r>
            <a:r>
              <a:rPr lang="en-US" sz="1800"/>
              <a:t>the next video.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438F4-0C4E-4F2F-B88F-7E3FE8DC6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8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5D2-A2DD-4F13-A170-E7162B57E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B102-D250-49C8-A73C-B2B5D830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BD6C-6956-450B-9C00-9ABD2C0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9DD-4EE0-4294-888D-D454373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6CC7-042B-4902-AF33-8EAEEAF4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174D-5771-4715-AA9B-B72A46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49-8F9B-4BA6-92A7-95C07CF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A17-3718-4E42-B558-2C012F4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903F-BF60-4D30-857E-B7CC72BF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2FB4-E62C-4BCA-ABE1-3D4B36CB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849-8965-4A79-BC11-FD4BFF1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8C2FA-14DB-47BF-A171-63281D6F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130A-59F9-42C1-BDDF-27C4992E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56ED-738A-4E63-AEFA-73C8198F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56EC-9513-431E-83F4-8606F4C1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2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6A9-1E49-456E-9B2C-B92BB68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F4D3-4FD2-425B-9309-04366A76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D000-2356-4822-8F7E-DD30A882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61EC-DD5A-4081-AEE5-28E7B446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CED6-D894-4078-973D-BEDE6A5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FDD36-E660-4BC9-B489-F808CAAC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2AD-F16E-49E9-8F82-B6EFAE9A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36C2-33F4-49BA-8806-609C4F76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8EFE-09C8-4715-99BA-5C6BD547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8E4AC-E218-41A4-B255-9461183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3D351-906B-4A56-B4E1-48E3AF70E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B3DB0-66C0-405A-BA65-40B8E27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D817C-041C-435B-87BC-67342FF4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96BA2-1924-4439-970D-CAD2838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CF2C-C828-4D37-B6D9-9BF64D9E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039F-7A99-4E6F-87E8-FC540C24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A833D-746A-475B-A573-1256AC0D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423E-ABD3-4FAA-80EF-AF7CF4E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49F91-8513-407B-BCA0-810127D0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F3C8-F2B2-4E6B-AB4D-6791F0F1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0F53-ADEF-4CBD-9C8A-F6D9BEF7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E0F7-424C-47E4-9BC9-337EB063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890D-BF92-44E6-A1B4-5A126654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FA8F7-3172-4714-9CAD-78EF7A37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CD6A-D3A0-45A8-BCFA-174B3E3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DAE-6D9F-4553-A3A0-70E082A2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3F6-2113-4A2A-902A-19CC19F5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FB04-9BF3-497C-B561-E31A2414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98CC3-908B-4509-86AE-F893D4B62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8D4D-9015-4FBA-BA42-EAE86BDE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B172-4137-45A3-A7ED-94D9431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28FA-4755-4C6B-8E27-D3E8894F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16C9-0682-43D5-A08D-00AB7578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9AB-8F5E-43D9-B044-C1423C8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CC20-302A-484A-8671-0A56CAF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264E-7CDF-4C9C-8C41-6DDDE82C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0D0-535A-4C21-AAF8-008BCB0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CCD1-6457-4DA3-9EB0-91F46421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4138-E220-4EE6-BD3E-07A9040BD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94CE-A273-45B2-AE4C-2FE95A56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5361-150E-42D2-AE21-A4E2E15B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E6A5-CDFC-425C-991B-5535886E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09D-EA81-49E9-88B0-46CFC86C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DD2F4-8E5B-44DC-9845-45F6D448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B99E-7542-4520-9048-BFF5F1F7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85F-17AE-4714-AA3D-EE847CD86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4516-32BA-49D3-B2FF-89F72C53AC6E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9DF-303F-4085-90F7-A215D788C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66F5-B0DC-4A19-AD3C-6033BB08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610-50E7-4F70-960A-E63ECC443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Framework – Part 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715DF8-4477-431C-A280-84827C252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Entity and Transactions</a:t>
            </a:r>
          </a:p>
        </p:txBody>
      </p:sp>
    </p:spTree>
    <p:extLst>
      <p:ext uri="{BB962C8B-B14F-4D97-AF65-F5344CB8AC3E}">
        <p14:creationId xmlns:p14="http://schemas.microsoft.com/office/powerpoint/2010/main" val="36047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D1DF1-7C65-4C22-BCA3-CB5C3FB6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351" y="354478"/>
            <a:ext cx="4421187" cy="3074522"/>
          </a:xfrm>
        </p:spPr>
        <p:txBody>
          <a:bodyPr/>
          <a:lstStyle/>
          <a:p>
            <a:r>
              <a:rPr lang="en-US" dirty="0"/>
              <a:t>Individual</a:t>
            </a:r>
          </a:p>
          <a:p>
            <a:r>
              <a:rPr lang="en-US" dirty="0"/>
              <a:t>Partnership</a:t>
            </a:r>
          </a:p>
          <a:p>
            <a:r>
              <a:rPr lang="en-US" dirty="0"/>
              <a:t>Limited Liability Company</a:t>
            </a:r>
          </a:p>
          <a:p>
            <a:r>
              <a:rPr lang="en-US" dirty="0"/>
              <a:t>Corporation</a:t>
            </a:r>
          </a:p>
          <a:p>
            <a:r>
              <a:rPr lang="en-US" dirty="0"/>
              <a:t>Non-Profit</a:t>
            </a:r>
          </a:p>
          <a:p>
            <a:r>
              <a:rPr lang="en-US" dirty="0"/>
              <a:t>Government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57CEB7-2C7C-40DF-B209-C2A5C6C4260D}"/>
              </a:ext>
            </a:extLst>
          </p:cNvPr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9964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120246-3B0D-4A21-8033-DD454A53C337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9CCFB6-CEB2-4AB9-A08D-56EA2A74BF99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</p:spTree>
    <p:extLst>
      <p:ext uri="{BB962C8B-B14F-4D97-AF65-F5344CB8AC3E}">
        <p14:creationId xmlns:p14="http://schemas.microsoft.com/office/powerpoint/2010/main" val="326402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483C46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483C46"/>
                </a:solidFill>
                <a:latin typeface="Avenir Next LT Pro"/>
              </a:rPr>
              <a:t>OWNERS</a:t>
            </a:r>
            <a:endParaRPr lang="en-US" b="1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131051">
            <a:off x="7450460" y="2158204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latin typeface="Avenir Next LT Pro"/>
              </a:rPr>
              <a:t>P</a:t>
            </a:r>
            <a:r>
              <a:rPr lang="en-US" sz="1400" dirty="0">
                <a:solidFill>
                  <a:srgbClr val="483C46"/>
                </a:solidFill>
                <a:latin typeface="Avenir Next LT Pro"/>
              </a:rPr>
              <a:t>rincipal</a:t>
            </a:r>
            <a:r>
              <a:rPr lang="en-US" sz="1300" dirty="0"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11C10B-9FD3-4BB7-A01F-AB94159D023F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B83D41-37B8-4E68-A9B2-EC466C6BC138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rgbClr val="006B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1264D9-94C1-459E-9DE5-5F80FD911F4D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59552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0"/>
                            </p:stCondLst>
                            <p:childTnLst>
                              <p:par>
                                <p:cTn id="19" presetID="1" presetClass="exit" presetSubtype="0" fill="hold" grpId="1" nodeType="after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108" grpId="0"/>
      <p:bldP spid="108" grpId="1"/>
      <p:bldP spid="1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0F7286-4519-4B8D-A619-23EBCF0F210F}"/>
              </a:ext>
            </a:extLst>
          </p:cNvPr>
          <p:cNvSpPr/>
          <p:nvPr/>
        </p:nvSpPr>
        <p:spPr>
          <a:xfrm>
            <a:off x="4885867" y="63550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98598B-14DC-4CCB-8469-74B53C01504C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13220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9F879E-FDAD-4FAC-BCCB-2366A676C584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36097-41D3-4F3F-BBF3-DC4033931D73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E886FD-AE59-437B-9B6D-B8368C2DD910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221B39-17AC-4829-9EE1-72718F81E450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9C69C9-AA5D-4ED1-88D5-9FB0476B9864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FF88D0-4A1A-4765-AFFA-5778724164FB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76F4DB-CDFE-4939-A984-70D2244CBFDE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 dirty="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45C55E-05F1-47B8-957C-F32A15ED2C8B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</p:spTree>
    <p:extLst>
      <p:ext uri="{BB962C8B-B14F-4D97-AF65-F5344CB8AC3E}">
        <p14:creationId xmlns:p14="http://schemas.microsoft.com/office/powerpoint/2010/main" val="7982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3176463" y="4124817"/>
            <a:ext cx="722698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Public </a:t>
            </a:r>
          </a:p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B978E7-58CD-4A62-97B6-2AEFBF0A66A2}"/>
              </a:ext>
            </a:extLst>
          </p:cNvPr>
          <p:cNvSpPr/>
          <p:nvPr/>
        </p:nvSpPr>
        <p:spPr>
          <a:xfrm>
            <a:off x="4885867" y="48609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49E92-00DC-4C80-9B3E-48B4A517AB90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FFB6C6-EF46-4774-A914-D603C1E3D532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4E687F-23A8-43A5-B77F-D84FFBEF740D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1551895-80E8-444D-AA7D-C089E58EED7C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6E47B4-DA64-4DFF-A6CF-4D738A031C2B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74C213-78DF-4EEA-83BF-DDA6EC24CA23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E810F-E908-4411-B6E1-FFD7F7CB49C0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30E92F-DBC7-40F6-9DA8-5934BC09EAE8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F126F2-33CE-4B4D-889D-E2E1E6810191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CBF670-3EB3-4E29-A192-FC5DCB0340FA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CF142C1-095D-4800-B182-1D1464112843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207AAA4-E952-4AF4-8D56-A971918FFCA8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42C2EE9-43E0-4CC2-8F04-B3F8A01A5E68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AD1B63-E44D-4219-8587-270A3114F1E9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C3C459-691C-4A0D-9C27-21DC0A6E37FC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97E06A8-590C-4138-81BC-F8EF14531FEE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745091-A2C2-405E-AC72-36F22E4465C8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D56BA8A-8833-4D4F-8691-5C0F356F9822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93F20C-9A65-4765-8E96-75A0F5A7B7B2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2CE9B1-9A13-40D5-A75D-5689B3FB8A7E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F50E9C-D97F-41B9-8420-78D2D9F3EE1E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FAF254-2C72-4D20-957E-84B2A6EB908F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559FAB4-E3A0-47A8-BDAA-0BFE98C99058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711A174-2075-4EEC-A034-172B6A54B88B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42E681B-4BB1-48A6-9ED1-15D480C01C4F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48580E-7911-485C-A028-F9E74A7AD0E8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2B9615A-76DE-4355-B1C1-76038ECD9179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202FE29-5FB1-41E1-9001-060161AA662C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7ABDF81-2588-48E9-9303-2B98F0E2EBB5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9CEEF97-9D73-41FB-A0C7-BB69A056643F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4885867" y="33668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Services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C28C3C-46A1-4D0E-B11D-CBA1A242A5A6}"/>
              </a:ext>
            </a:extLst>
          </p:cNvPr>
          <p:cNvCxnSpPr>
            <a:cxnSpLocks/>
          </p:cNvCxnSpPr>
          <p:nvPr/>
        </p:nvCxnSpPr>
        <p:spPr>
          <a:xfrm flipH="1" flipV="1">
            <a:off x="5963159" y="1556518"/>
            <a:ext cx="15551" cy="7618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260E2-1FF1-46D7-8595-CFDD6776A612}"/>
              </a:ext>
            </a:extLst>
          </p:cNvPr>
          <p:cNvCxnSpPr>
            <a:cxnSpLocks/>
          </p:cNvCxnSpPr>
          <p:nvPr/>
        </p:nvCxnSpPr>
        <p:spPr>
          <a:xfrm>
            <a:off x="5683241" y="1634154"/>
            <a:ext cx="7777" cy="731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555B9A-1A97-486F-9239-66FC51A479F3}"/>
              </a:ext>
            </a:extLst>
          </p:cNvPr>
          <p:cNvSpPr txBox="1"/>
          <p:nvPr/>
        </p:nvSpPr>
        <p:spPr>
          <a:xfrm rot="60000">
            <a:off x="6091736" y="1251361"/>
            <a:ext cx="109406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 dirty="0">
                <a:solidFill>
                  <a:srgbClr val="483C46"/>
                </a:solidFill>
              </a:rPr>
              <a:t>Salary, bonus, incentive payments, equity awards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10096-6ECB-44A9-BE53-C1BBF58137DE}"/>
              </a:ext>
            </a:extLst>
          </p:cNvPr>
          <p:cNvSpPr txBox="1"/>
          <p:nvPr/>
        </p:nvSpPr>
        <p:spPr>
          <a:xfrm rot="21540000">
            <a:off x="4723371" y="1573254"/>
            <a:ext cx="10053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 dirty="0">
                <a:solidFill>
                  <a:srgbClr val="483C46"/>
                </a:solidFill>
              </a:rPr>
              <a:t>Managerial</a:t>
            </a:r>
          </a:p>
          <a:p>
            <a:r>
              <a:rPr lang="en-US" dirty="0">
                <a:solidFill>
                  <a:srgbClr val="483C46"/>
                </a:solidFill>
              </a:rPr>
              <a:t>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687DB-722C-4605-87A9-98A9DD192B28}"/>
              </a:ext>
            </a:extLst>
          </p:cNvPr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D8D8D8"/>
                </a:solidFill>
                <a:latin typeface="Avenir Next LT Pro"/>
              </a:rPr>
              <a:t>$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3CDE19-2023-4948-9313-69371DD881AD}"/>
              </a:ext>
            </a:extLst>
          </p:cNvPr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381D48-139A-45E2-AD16-B04985A3EA46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F120A-58E2-41C7-A8EA-6F8E2ACAE450}"/>
              </a:ext>
            </a:extLst>
          </p:cNvPr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D8D8D8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D8D8D8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D8D8D8"/>
                </a:solidFill>
                <a:latin typeface="Avenir Next LT Pro"/>
              </a:rPr>
              <a:t>OWNERS</a:t>
            </a:r>
            <a:endParaRPr lang="en-US" b="1">
              <a:solidFill>
                <a:srgbClr val="D8D8D8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CEA987F-9E80-4CC3-9E12-977666D4D898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Next LT Pro"/>
              </a:rPr>
              <a:t>Money Providers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7564A-09AB-48F4-8D99-AA8FE85A344A}"/>
              </a:ext>
            </a:extLst>
          </p:cNvPr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D8D8D8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D8D8D8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D8D8D8"/>
                </a:solidFill>
                <a:latin typeface="Avenir Next LT Pro"/>
              </a:rPr>
              <a:t>LENDERS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4A98FD-F13B-4AB1-A3F5-680786CA72AB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C8FDD9-55A7-4FA9-BA2C-05E2927D5D05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3564522-9913-400C-B02E-482A433FBC03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39B4EC-25AC-4CAF-8536-6DCC985DF90F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297ABEC-50B6-421B-9894-DD0B0C2D387C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890D46A-5D42-4392-AC73-FAEE4DA5DC46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0842BC-7DC4-424D-BFA8-35C80FA18D98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DA08EF2-418E-4DCE-A9F2-C9AFA331DCA6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53FF424-291F-453A-A1F1-1CB690FB6AD3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D10F7A2-A86E-4868-B667-9F3431002D83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BC237D7-3467-4833-8EC1-6AC230607556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1D0151-6095-42D9-9A3A-CAC65E140AD6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EE476-F7A0-46EE-90C2-C1DB5A495D5A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tx2">
                    <a:lumMod val="20000"/>
                    <a:lumOff val="80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7E70E6-44C6-4CA4-8A31-71FBEDBB6E87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C5EAC6-07EB-47DA-8A5C-1071FCC3B34B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57282D4-1344-4BC3-807D-3E13EAA46228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SOM Corp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37109" y="2023048"/>
            <a:ext cx="482081" cy="604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84266" y="2046302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7415727" y="2132556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Dividends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 &amp; </a:t>
            </a:r>
            <a:r>
              <a:rPr lang="en-US" sz="1200">
                <a:solidFill>
                  <a:srgbClr val="483C46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483C46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483C46"/>
                </a:solidFill>
                <a:latin typeface="Avenir Next LT Pro"/>
              </a:rPr>
              <a:t>OWNERS</a:t>
            </a:r>
            <a:endParaRPr lang="en-US" b="1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7681469" y="2379585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Principal</a:t>
            </a:r>
            <a:r>
              <a:rPr lang="en-US" sz="1300">
                <a:solidFill>
                  <a:srgbClr val="483C46"/>
                </a:solidFill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>
                <a:solidFill>
                  <a:srgbClr val="483C46"/>
                </a:solidFill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7529225" y="579794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4885867" y="41139"/>
            <a:ext cx="1606488" cy="1465160"/>
          </a:xfrm>
          <a:prstGeom prst="ellipse">
            <a:avLst/>
          </a:prstGeom>
          <a:solidFill>
            <a:srgbClr val="006BA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64241-992A-41AC-899A-F37C6FC9CCE7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D32F39-50F6-4F83-8A9D-27B0E8A87F0A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F4D6E7-3BAE-407D-A70F-038A66A4C78D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D6AA6-77AE-4686-93A2-892E9AA6FED6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50737-7F09-45C4-8F58-7678297D2402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06724-F919-4F47-9B29-6F6F565F192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037B98-91B1-478E-A8C3-17F74761864B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D5B7C1-C7D3-4013-9BC9-C1714A9581DA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EFF43D-F5FA-4424-A2F7-E8BDB21F666A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642658-8E67-44DD-BB82-BB230100B5E2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30DDF-4FEB-47E7-B4AA-6AAA305403A4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2F4997-2DB0-4F18-A998-A3EB4B01D45F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2CBECA-B099-4CDD-B73F-E90AEE32DD9A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A2327-E3A6-4B6D-887D-6B06F8F4D052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C3BDA2E-485F-4273-967E-F9C46891065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14699B-3877-4ED6-A857-5BC3EFD319F5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6287AB-4FCC-499A-A231-63443B55FF82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1F19D-FFB3-4CF8-945E-17E78CFF9235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405A42-E726-4B85-8986-3BC1575CC5E4}"/>
              </a:ext>
            </a:extLst>
          </p:cNvPr>
          <p:cNvSpPr/>
          <p:nvPr/>
        </p:nvSpPr>
        <p:spPr>
          <a:xfrm>
            <a:off x="1831898" y="64270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BB87F0-0ED0-4022-90DC-1D72250C9E81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C28C3C-46A1-4D0E-B11D-CBA1A242A5A6}"/>
              </a:ext>
            </a:extLst>
          </p:cNvPr>
          <p:cNvCxnSpPr>
            <a:cxnSpLocks/>
          </p:cNvCxnSpPr>
          <p:nvPr/>
        </p:nvCxnSpPr>
        <p:spPr>
          <a:xfrm flipH="1" flipV="1">
            <a:off x="5963159" y="1556518"/>
            <a:ext cx="15551" cy="7618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5260E2-1FF1-46D7-8595-CFDD6776A612}"/>
              </a:ext>
            </a:extLst>
          </p:cNvPr>
          <p:cNvCxnSpPr>
            <a:cxnSpLocks/>
          </p:cNvCxnSpPr>
          <p:nvPr/>
        </p:nvCxnSpPr>
        <p:spPr>
          <a:xfrm>
            <a:off x="5683241" y="1634154"/>
            <a:ext cx="7777" cy="731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555B9A-1A97-486F-9239-66FC51A479F3}"/>
              </a:ext>
            </a:extLst>
          </p:cNvPr>
          <p:cNvSpPr txBox="1"/>
          <p:nvPr/>
        </p:nvSpPr>
        <p:spPr>
          <a:xfrm rot="60000">
            <a:off x="6091736" y="1251361"/>
            <a:ext cx="109406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483C46"/>
                </a:solidFill>
              </a:rPr>
              <a:t>Salary, bonus, incentive payments, equity awards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10096-6ECB-44A9-BE53-C1BBF58137DE}"/>
              </a:ext>
            </a:extLst>
          </p:cNvPr>
          <p:cNvSpPr txBox="1"/>
          <p:nvPr/>
        </p:nvSpPr>
        <p:spPr>
          <a:xfrm rot="21540000">
            <a:off x="4723371" y="1573254"/>
            <a:ext cx="10053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483C46"/>
                </a:solidFill>
              </a:rPr>
              <a:t>Managerial</a:t>
            </a:r>
          </a:p>
          <a:p>
            <a:r>
              <a:rPr lang="en-US">
                <a:solidFill>
                  <a:srgbClr val="483C46"/>
                </a:solidFill>
              </a:rPr>
              <a:t>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1DDDCB-4F74-4F66-805C-C75A9E05B036}"/>
              </a:ext>
            </a:extLst>
          </p:cNvPr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35349F-E3FD-4C4F-BB2E-7C653BA21CE0}"/>
              </a:ext>
            </a:extLst>
          </p:cNvPr>
          <p:cNvCxnSpPr>
            <a:cxnSpLocks/>
          </p:cNvCxnSpPr>
          <p:nvPr/>
        </p:nvCxnSpPr>
        <p:spPr>
          <a:xfrm flipV="1">
            <a:off x="7557139" y="2069701"/>
            <a:ext cx="528734" cy="629698"/>
          </a:xfrm>
          <a:prstGeom prst="straightConnector1">
            <a:avLst/>
          </a:prstGeom>
          <a:ln>
            <a:solidFill>
              <a:srgbClr val="006B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E59C136-56F1-42A5-9DDE-FE3FE846351E}"/>
              </a:ext>
            </a:extLst>
          </p:cNvPr>
          <p:cNvSpPr txBox="1"/>
          <p:nvPr/>
        </p:nvSpPr>
        <p:spPr>
          <a:xfrm>
            <a:off x="8992236" y="145724"/>
            <a:ext cx="315834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solidFill>
                  <a:srgbClr val="483C46"/>
                </a:solidFill>
                <a:latin typeface="Avenir Next LT Pro"/>
              </a:rPr>
              <a:t>Accounting systems keep track of all this!!!</a:t>
            </a:r>
          </a:p>
        </p:txBody>
      </p:sp>
    </p:spTree>
    <p:extLst>
      <p:ext uri="{BB962C8B-B14F-4D97-AF65-F5344CB8AC3E}">
        <p14:creationId xmlns:p14="http://schemas.microsoft.com/office/powerpoint/2010/main" val="406271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7" ma:contentTypeDescription="Create a new document." ma:contentTypeScope="" ma:versionID="a94dcb7068accf2b99f2aee193947cae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441e276b2eb532472e6c16ee8cd6cffc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A124DD-2552-4D05-A6AA-F78BC8B34A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3A8ADC-86FA-4F29-B20F-3FFC8BDCD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7E6EEE-FBDB-475D-B4B5-316AFBDF365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788</Words>
  <Application>Microsoft Office PowerPoint</Application>
  <PresentationFormat>Widescreen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Calibri</vt:lpstr>
      <vt:lpstr>Calibri Light</vt:lpstr>
      <vt:lpstr>Office Theme</vt:lpstr>
      <vt:lpstr>Framework – Part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2</cp:revision>
  <cp:lastPrinted>2020-02-22T19:10:30Z</cp:lastPrinted>
  <dcterms:created xsi:type="dcterms:W3CDTF">2020-02-13T20:03:41Z</dcterms:created>
  <dcterms:modified xsi:type="dcterms:W3CDTF">2020-03-08T20:02:48Z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