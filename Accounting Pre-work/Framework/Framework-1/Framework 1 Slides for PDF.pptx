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78" r:id="rId6"/>
    <p:sldId id="273" r:id="rId7"/>
    <p:sldId id="270" r:id="rId8"/>
    <p:sldId id="286" r:id="rId9"/>
    <p:sldId id="287" r:id="rId10"/>
    <p:sldId id="288" r:id="rId11"/>
    <p:sldId id="289" r:id="rId12"/>
    <p:sldId id="290" r:id="rId13"/>
    <p:sldId id="291" r:id="rId1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BA6"/>
    <a:srgbClr val="483C46"/>
    <a:srgbClr val="224870"/>
    <a:srgbClr val="243A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87" d="100"/>
          <a:sy n="187" d="100"/>
        </p:scale>
        <p:origin x="132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30" d="100"/>
          <a:sy n="130" d="100"/>
        </p:scale>
        <p:origin x="3042" y="14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B52E8FDB-9754-4649-BA54-88A920531B85}"/>
    <pc:docChg chg="modSld">
      <pc:chgData name="Antle, Rick" userId="c2afbbd2-30e4-4c8e-8af5-81913178ace3" providerId="ADAL" clId="{B52E8FDB-9754-4649-BA54-88A920531B85}" dt="2020-04-29T18:39:35.582" v="0" actId="1076"/>
      <pc:docMkLst>
        <pc:docMk/>
      </pc:docMkLst>
      <pc:sldChg chg="modSp">
        <pc:chgData name="Antle, Rick" userId="c2afbbd2-30e4-4c8e-8af5-81913178ace3" providerId="ADAL" clId="{B52E8FDB-9754-4649-BA54-88A920531B85}" dt="2020-04-29T18:39:35.582" v="0" actId="1076"/>
        <pc:sldMkLst>
          <pc:docMk/>
          <pc:sldMk cId="595522535" sldId="270"/>
        </pc:sldMkLst>
        <pc:spChg chg="mod">
          <ac:chgData name="Antle, Rick" userId="c2afbbd2-30e4-4c8e-8af5-81913178ace3" providerId="ADAL" clId="{B52E8FDB-9754-4649-BA54-88A920531B85}" dt="2020-04-29T18:39:35.582" v="0" actId="1076"/>
          <ac:spMkLst>
            <pc:docMk/>
            <pc:sldMk cId="595522535" sldId="270"/>
            <ac:spMk id="10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278A2D-15A6-4860-B147-0D4CDA13C022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33438F4-0C4E-4F2F-B88F-7E3FE8DC6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95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91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040" y="4473892"/>
            <a:ext cx="5608320" cy="3796952"/>
          </a:xfrm>
        </p:spPr>
        <p:txBody>
          <a:bodyPr/>
          <a:lstStyle/>
          <a:p>
            <a:r>
              <a:rPr lang="en-US" sz="1800" dirty="0"/>
              <a:t>Accounting begins with the </a:t>
            </a:r>
            <a:r>
              <a:rPr lang="en-US" sz="1800" b="1" dirty="0"/>
              <a:t>identification </a:t>
            </a:r>
            <a:r>
              <a:rPr lang="en-US" sz="1800" dirty="0"/>
              <a:t>of an </a:t>
            </a:r>
            <a:r>
              <a:rPr lang="en-US" sz="1800" b="1" dirty="0"/>
              <a:t>entity </a:t>
            </a:r>
            <a:r>
              <a:rPr lang="en-US" sz="1800" dirty="0"/>
              <a:t>about which the accounting is to be done </a:t>
            </a:r>
          </a:p>
          <a:p>
            <a:endParaRPr lang="en-US" sz="1800" dirty="0"/>
          </a:p>
          <a:p>
            <a:r>
              <a:rPr lang="en-US" sz="1800" dirty="0"/>
              <a:t>The entity could be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an individual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 partnership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 limited liability company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 Corporation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 nonprofit or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 government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endParaRPr lang="en-US" sz="1800" dirty="0"/>
          </a:p>
          <a:p>
            <a:r>
              <a:rPr lang="en-US" sz="1800" dirty="0"/>
              <a:t>Let's call the entity we're going to talk about today SOM Corp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9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To accomplish its objectives SOM Corp must interact with a variety of outside parties.</a:t>
            </a:r>
          </a:p>
          <a:p>
            <a:endParaRPr lang="en-US" sz="1800" dirty="0"/>
          </a:p>
          <a:p>
            <a:r>
              <a:rPr lang="en-US" sz="1800" dirty="0"/>
              <a:t>We will think of these interactions as transactions in which each side gets and gives up things of value </a:t>
            </a:r>
          </a:p>
          <a:p>
            <a:endParaRPr lang="en-US" sz="1800" dirty="0"/>
          </a:p>
          <a:p>
            <a:r>
              <a:rPr lang="en-US" sz="1800" dirty="0"/>
              <a:t>Let's go through several examples of transactions and what is exchanged in them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66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One of the first things SOM Corp needs to accomplish its purpose is money</a:t>
            </a:r>
          </a:p>
          <a:p>
            <a:endParaRPr lang="en-US" sz="1800" dirty="0"/>
          </a:p>
          <a:p>
            <a:r>
              <a:rPr lang="en-US" sz="1800" dirty="0"/>
              <a:t>SOM Corp gets money by making promises. </a:t>
            </a:r>
          </a:p>
          <a:p>
            <a:endParaRPr lang="en-US" sz="1800" dirty="0"/>
          </a:p>
          <a:p>
            <a:r>
              <a:rPr lang="en-US" sz="1800" dirty="0"/>
              <a:t>If the promises are dividends and ownership claims we call those promises equity and call their holders owners.</a:t>
            </a:r>
          </a:p>
          <a:p>
            <a:endParaRPr lang="en-US" sz="1800" dirty="0"/>
          </a:p>
          <a:p>
            <a:r>
              <a:rPr lang="en-US" sz="1800" dirty="0"/>
              <a:t>If the promises are principle and interest payments, we call them debt and we call their holders lenders.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926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SOM Corp also needs the services of people.</a:t>
            </a:r>
          </a:p>
          <a:p>
            <a:r>
              <a:rPr lang="en-US" sz="1800" dirty="0"/>
              <a:t>
Employees provide SOM Corp their labor in exchange for money, typically in the form of salaries and bonuses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84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SOM Corp probably also needs a variety of other goods and services such as computers, legal advice, transportation, office furniture, and so on.</a:t>
            </a:r>
          </a:p>
          <a:p>
            <a:endParaRPr lang="en-US" sz="1800" dirty="0"/>
          </a:p>
          <a:p>
            <a:r>
              <a:rPr lang="en-US" sz="1800" dirty="0"/>
              <a:t>We call those who provides these goods and services Suppliers, who typically receive money from SOM Corp in exchange.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12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SOM Corp also interacts with a variety of governments – local, state and federal in the US.</a:t>
            </a:r>
          </a:p>
          <a:p>
            <a:endParaRPr lang="en-US" sz="1800" dirty="0"/>
          </a:p>
          <a:p>
            <a:r>
              <a:rPr lang="en-US" sz="1800" dirty="0"/>
              <a:t>SOM Corp enjoys public goods provided by governments. Public goods include national defense, roads, police protection, etc.</a:t>
            </a:r>
          </a:p>
          <a:p>
            <a:endParaRPr lang="en-US" sz="1800" dirty="0"/>
          </a:p>
          <a:p>
            <a:r>
              <a:rPr lang="en-US" sz="1800" dirty="0"/>
              <a:t>In exchange, SOM Corp pays taxes.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200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All the parties we have talked about so far provide SOM Corp with inputs – i.e., resources required to accomplish its objectives.</a:t>
            </a:r>
          </a:p>
          <a:p>
            <a:endParaRPr lang="en-US" sz="1800" dirty="0"/>
          </a:p>
          <a:p>
            <a:r>
              <a:rPr lang="en-US" sz="1800" dirty="0"/>
              <a:t>Of course, SOM Corp also needs  someone or some things that use its outputs – i.e., customers.</a:t>
            </a:r>
          </a:p>
          <a:p>
            <a:endParaRPr lang="en-US" sz="1800" dirty="0"/>
          </a:p>
          <a:p>
            <a:r>
              <a:rPr lang="en-US" sz="1800" dirty="0"/>
              <a:t>Customers receive the goods and services produced by SOM Corp and, in exchange, they give SOM Corp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52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Finally, someone has to oversee and manage all these transactions. That is, SOM Corp needs to have Managers that provide managerial services. Managers are compensated for their services in a variety of ways, including salaries, bonuses, incentive payments and equity awards.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56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One function of accounting systems is simply to keep track of all this. </a:t>
            </a:r>
          </a:p>
          <a:p>
            <a:endParaRPr lang="en-US" sz="1800" dirty="0"/>
          </a:p>
          <a:p>
            <a:r>
              <a:rPr lang="en-US" sz="1800" dirty="0"/>
              <a:t>In a modern economy, however, accounting does more than just keep track of what is going on. It aspires to do more.</a:t>
            </a:r>
          </a:p>
          <a:p>
            <a:endParaRPr lang="en-US" sz="1800" dirty="0"/>
          </a:p>
          <a:p>
            <a:r>
              <a:rPr lang="en-US" sz="1800" dirty="0"/>
              <a:t>That is the subject of </a:t>
            </a:r>
            <a:r>
              <a:rPr lang="en-US" sz="1800"/>
              <a:t>the next video.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8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D5D2-A2DD-4F13-A170-E7162B57E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1B102-D250-49C8-A73C-B2B5D830B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EBD6C-6956-450B-9C00-9ABD2C0B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679DD-4EE0-4294-888D-D454373A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C6CC7-042B-4902-AF33-8EAEEAF4B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3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D174D-5771-4715-AA9B-B72A46DE8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5D749-8F9B-4BA6-92A7-95C07CF87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B7A17-3718-4E42-B558-2C012F469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E903F-BF60-4D30-857E-B7CC72BF3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72FB4-E62C-4BCA-ABE1-3D4B36CB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96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46849-8965-4A79-BC11-FD4BFF191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8C2FA-14DB-47BF-A171-63281D6F3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A130A-59F9-42C1-BDDF-27C4992E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556ED-738A-4E63-AEFA-73C8198F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F56EC-9513-431E-83F4-8606F4C1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20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E06A9-1E49-456E-9B2C-B92BB683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7F4D3-4FD2-425B-9309-04366A765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DD000-2356-4822-8F7E-DD30A882F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C61EC-DD5A-4081-AEE5-28E7B4465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CCED6-D894-4078-973D-BEDE6A55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FDD36-E660-4BC9-B489-F808CAAC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34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542AD-F16E-49E9-8F82-B6EFAE9A8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C36C2-33F4-49BA-8806-609C4F765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38EFE-09C8-4715-99BA-5C6BD5473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F8E4AC-E218-41A4-B255-946118339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F3D351-906B-4A56-B4E1-48E3AF70E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B3DB0-66C0-405A-BA65-40B8E27B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ED817C-041C-435B-87BC-67342FF4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96BA2-1924-4439-970D-CAD28383C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34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5CF2C-C828-4D37-B6D9-9BF64D9E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7039F-7A99-4E6F-87E8-FC540C24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A833D-746A-475B-A573-1256AC0DB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0423E-ABD3-4FAA-80EF-AF7CF4E7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61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49F91-8513-407B-BCA0-810127D09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1F3C8-F2B2-4E6B-AB4D-6791F0F1F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D0F53-ADEF-4CBD-9C8A-F6D9BEF75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7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8E0F7-424C-47E4-9BC9-337EB063A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E890D-BF92-44E6-A1B4-5A1266541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FA8F7-3172-4714-9CAD-78EF7A37C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FCD6A-D3A0-45A8-BCFA-174B3E36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07DAE-6D9F-4553-A3A0-70E082A23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403F6-2113-4A2A-902A-19CC19F5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89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FB04-9BF3-497C-B561-E31A24146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F98CC3-908B-4509-86AE-F893D4B62A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08D4D-9015-4FBA-BA42-EAE86BDEF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3B172-4137-45A3-A7ED-94D94314C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928FA-4755-4C6B-8E27-D3E8894F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816C9-0682-43D5-A08D-00AB7578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9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79AB-8F5E-43D9-B044-C1423C836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BCC20-302A-484A-8671-0A56CAFD3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F264E-7CDF-4C9C-8C41-6DDDE82C2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1A0D0-535A-4C21-AAF8-008BCB05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1CCD1-6457-4DA3-9EB0-91F46421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934138-E220-4EE6-BD3E-07A9040BD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C94CE-A273-45B2-AE4C-2FE95A561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B5361-150E-42D2-AE21-A4E2E15B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5E6A5-CDFC-425C-991B-5535886EA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9109D-EA81-49E9-88B0-46CFC86C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24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8DD2F4-8E5B-44DC-9845-45F6D448B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9B99E-7542-4520-9048-BFF5F1F7C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6185F-17AE-4714-AA3D-EE847CD86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44516-32BA-49D3-B2FF-89F72C53AC6E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7D9DF-303F-4085-90F7-A215D788C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866F5-B0DC-4A19-AD3C-6033BB081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67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A5610-50E7-4F70-960A-E63ECC443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>
                <a:solidFill>
                  <a:srgbClr val="483C46"/>
                </a:solidFill>
                <a:latin typeface="Avenir Next LT Pro"/>
              </a:rPr>
              <a:t>Framework – Part 1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D715DF8-4477-431C-A280-84827C252C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Entity and Transactions</a:t>
            </a:r>
          </a:p>
        </p:txBody>
      </p:sp>
    </p:spTree>
    <p:extLst>
      <p:ext uri="{BB962C8B-B14F-4D97-AF65-F5344CB8AC3E}">
        <p14:creationId xmlns:p14="http://schemas.microsoft.com/office/powerpoint/2010/main" val="360478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4094848" y="1649000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Entity</a:t>
            </a:r>
          </a:p>
          <a:p>
            <a:pPr algn="ctr"/>
            <a:endParaRPr lang="en-US" sz="1400" dirty="0">
              <a:latin typeface="Avenir Next LT Pro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D1DF1-7C65-4C22-BCA3-CB5C3FB65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351" y="354478"/>
            <a:ext cx="4421187" cy="3074522"/>
          </a:xfrm>
        </p:spPr>
        <p:txBody>
          <a:bodyPr/>
          <a:lstStyle/>
          <a:p>
            <a:r>
              <a:rPr lang="en-US" dirty="0"/>
              <a:t>Individual</a:t>
            </a:r>
          </a:p>
          <a:p>
            <a:r>
              <a:rPr lang="en-US" dirty="0"/>
              <a:t>Partnership</a:t>
            </a:r>
          </a:p>
          <a:p>
            <a:r>
              <a:rPr lang="en-US" dirty="0"/>
              <a:t>Limited Liability Company</a:t>
            </a:r>
          </a:p>
          <a:p>
            <a:r>
              <a:rPr lang="en-US" dirty="0"/>
              <a:t>Corporation</a:t>
            </a:r>
          </a:p>
          <a:p>
            <a:r>
              <a:rPr lang="en-US" dirty="0"/>
              <a:t>Non-Profit</a:t>
            </a:r>
          </a:p>
          <a:p>
            <a:r>
              <a:rPr lang="en-US" dirty="0"/>
              <a:t>Government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57CEB7-2C7C-40DF-B209-C2A5C6C4260D}"/>
              </a:ext>
            </a:extLst>
          </p:cNvPr>
          <p:cNvSpPr/>
          <p:nvPr/>
        </p:nvSpPr>
        <p:spPr>
          <a:xfrm>
            <a:off x="4094848" y="1649000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</a:p>
          <a:p>
            <a:pPr algn="ctr"/>
            <a:endParaRPr lang="en-US" sz="1400" dirty="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199649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120246-3B0D-4A21-8033-DD454A53C337}"/>
              </a:ext>
            </a:extLst>
          </p:cNvPr>
          <p:cNvSpPr/>
          <p:nvPr/>
        </p:nvSpPr>
        <p:spPr>
          <a:xfrm>
            <a:off x="4885867" y="33668"/>
            <a:ext cx="1606488" cy="1465160"/>
          </a:xfrm>
          <a:prstGeom prst="ellipse">
            <a:avLst/>
          </a:prstGeom>
          <a:solidFill>
            <a:srgbClr val="006BA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19CCFB6-CEB2-4AB9-A08D-56EA2A74BF99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Avenir Next LT Pro"/>
              </a:rPr>
              <a:t>Money Providers</a:t>
            </a:r>
          </a:p>
        </p:txBody>
      </p:sp>
    </p:spTree>
    <p:extLst>
      <p:ext uri="{BB962C8B-B14F-4D97-AF65-F5344CB8AC3E}">
        <p14:creationId xmlns:p14="http://schemas.microsoft.com/office/powerpoint/2010/main" val="3264022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483C46"/>
                </a:solidFill>
                <a:latin typeface="Avenir Next LT Pro"/>
              </a:rPr>
              <a:t>$</a:t>
            </a:r>
          </a:p>
        </p:txBody>
      </p:sp>
      <p:sp>
        <p:nvSpPr>
          <p:cNvPr id="108" name="TextBox 107"/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483C46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483C46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483C46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483C46"/>
                </a:solidFill>
                <a:latin typeface="Avenir Next LT Pro"/>
              </a:rPr>
              <a:t>OWNERS</a:t>
            </a:r>
            <a:endParaRPr lang="en-US" b="1">
              <a:solidFill>
                <a:srgbClr val="483C4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9" name="TextBox 108"/>
          <p:cNvSpPr txBox="1"/>
          <p:nvPr/>
        </p:nvSpPr>
        <p:spPr>
          <a:xfrm rot="19131051">
            <a:off x="7685444" y="2500464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dirty="0">
                <a:latin typeface="Avenir Next LT Pro"/>
              </a:rPr>
              <a:t>P</a:t>
            </a:r>
            <a:r>
              <a:rPr lang="en-US" sz="1400" dirty="0">
                <a:solidFill>
                  <a:srgbClr val="483C46"/>
                </a:solidFill>
                <a:latin typeface="Avenir Next LT Pro"/>
              </a:rPr>
              <a:t>rincipal</a:t>
            </a:r>
            <a:r>
              <a:rPr lang="en-US" sz="1300" dirty="0"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 dirty="0">
                <a:latin typeface="Avenir Next LT Pro"/>
              </a:rPr>
              <a:t>LENDERS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Avenir Next LT Pro"/>
              </a:rPr>
              <a:t>Money Providers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C11C10B-9FD3-4BB7-A01F-AB94159D023F}"/>
              </a:ext>
            </a:extLst>
          </p:cNvPr>
          <p:cNvSpPr/>
          <p:nvPr/>
        </p:nvSpPr>
        <p:spPr>
          <a:xfrm>
            <a:off x="4885867" y="33668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6B83D41-37B8-4E68-A9B2-EC466C6BC138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rgbClr val="006BA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1264D9-94C1-459E-9DE5-5F80FD911F4D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</p:spTree>
    <p:extLst>
      <p:ext uri="{BB962C8B-B14F-4D97-AF65-F5344CB8AC3E}">
        <p14:creationId xmlns:p14="http://schemas.microsoft.com/office/powerpoint/2010/main" val="595522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500"/>
                            </p:stCondLst>
                            <p:childTnLst>
                              <p:par>
                                <p:cTn id="19" presetID="1" presetClass="exit" presetSubtype="0" fill="hold" grpId="1" nodeType="after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75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108" grpId="0"/>
      <p:bldP spid="108" grpId="1"/>
      <p:bldP spid="10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/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D8D8D8"/>
                </a:solidFill>
                <a:latin typeface="Avenir Next LT Pro"/>
              </a:rPr>
              <a:t>$</a:t>
            </a:r>
          </a:p>
        </p:txBody>
      </p:sp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D8D8D8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D8D8D8"/>
                </a:solidFill>
                <a:latin typeface="Avenir Next LT Pro"/>
              </a:rPr>
              <a:t>OWNERS</a:t>
            </a:r>
            <a:endParaRPr lang="en-US" b="1">
              <a:solidFill>
                <a:srgbClr val="D8D8D8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venir Next LT Pro"/>
              </a:rPr>
              <a:t>Money Providers</a:t>
            </a:r>
          </a:p>
        </p:txBody>
      </p:sp>
      <p:sp>
        <p:nvSpPr>
          <p:cNvPr id="109" name="TextBox 108"/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Principal</a:t>
            </a:r>
            <a:r>
              <a:rPr lang="en-US" sz="1300">
                <a:solidFill>
                  <a:srgbClr val="D8D8D8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>
                <a:solidFill>
                  <a:srgbClr val="D8D8D8"/>
                </a:solidFill>
                <a:latin typeface="Avenir Next LT Pro"/>
              </a:rPr>
              <a:t>LENDERS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864241-992A-41AC-899A-F37C6FC9CCE7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DD32F39-50F6-4F83-8A9D-27B0E8A87F0A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CF4D6E7-3BAE-407D-A70F-038A66A4C78D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1D6AA6-77AE-4686-93A2-892E9AA6FED6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Labor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A50737-7F09-45C4-8F58-7678297D2402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10F7286-4519-4B8D-A619-23EBCF0F210F}"/>
              </a:ext>
            </a:extLst>
          </p:cNvPr>
          <p:cNvSpPr/>
          <p:nvPr/>
        </p:nvSpPr>
        <p:spPr>
          <a:xfrm>
            <a:off x="4885867" y="63550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98598B-14DC-4CCB-8469-74B53C01504C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</p:spTree>
    <p:extLst>
      <p:ext uri="{BB962C8B-B14F-4D97-AF65-F5344CB8AC3E}">
        <p14:creationId xmlns:p14="http://schemas.microsoft.com/office/powerpoint/2010/main" val="13220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864241-992A-41AC-899A-F37C6FC9CCE7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DD32F39-50F6-4F83-8A9D-27B0E8A87F0A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CF4D6E7-3BAE-407D-A70F-038A66A4C78D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1D6AA6-77AE-4686-93A2-892E9AA6FED6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Labor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A50737-7F09-45C4-8F58-7678297D2402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06724-F919-4F47-9B29-6F6F565F1921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Avenir Next LT Pro"/>
              </a:rPr>
              <a:t>$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037B98-91B1-478E-A8C3-17F74761864B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D5B7C1-C7D3-4013-9BC9-C1714A9581DA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7EFF43D-F5FA-4424-A2F7-E8BDB21F666A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Goods &amp;Services </a:t>
            </a:r>
            <a:endParaRPr lang="en-US">
              <a:solidFill>
                <a:srgbClr val="483C4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642658-8E67-44DD-BB82-BB230100B5E2}"/>
              </a:ext>
            </a:extLst>
          </p:cNvPr>
          <p:cNvSpPr/>
          <p:nvPr/>
        </p:nvSpPr>
        <p:spPr>
          <a:xfrm>
            <a:off x="1833600" y="517174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9F879E-FDAD-4FAC-BCCB-2366A676C584}"/>
              </a:ext>
            </a:extLst>
          </p:cNvPr>
          <p:cNvSpPr/>
          <p:nvPr/>
        </p:nvSpPr>
        <p:spPr>
          <a:xfrm>
            <a:off x="4885867" y="33668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D36097-41D3-4F3F-BBF3-DC4033931D73}"/>
              </a:ext>
            </a:extLst>
          </p:cNvPr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D8D8D8"/>
                </a:solidFill>
                <a:latin typeface="Avenir Next LT Pro"/>
              </a:rPr>
              <a:t>$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AE886FD-AE59-437B-9B6D-B8368C2DD910}"/>
              </a:ext>
            </a:extLst>
          </p:cNvPr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E221B39-17AC-4829-9EE1-72718F81E450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C9C69C9-AA5D-4ED1-88D5-9FB0476B9864}"/>
              </a:ext>
            </a:extLst>
          </p:cNvPr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D8D8D8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D8D8D8"/>
                </a:solidFill>
                <a:latin typeface="Avenir Next LT Pro"/>
              </a:rPr>
              <a:t>OWNERS</a:t>
            </a:r>
            <a:endParaRPr lang="en-US" b="1">
              <a:solidFill>
                <a:srgbClr val="D8D8D8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3FF88D0-4A1A-4765-AFFA-5778724164FB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venir Next LT Pro"/>
              </a:rPr>
              <a:t>Money Providers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76F4DB-CDFE-4939-A984-70D2244CBFDE}"/>
              </a:ext>
            </a:extLst>
          </p:cNvPr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dirty="0">
                <a:solidFill>
                  <a:srgbClr val="D8D8D8"/>
                </a:solidFill>
                <a:latin typeface="Avenir Next LT Pro"/>
              </a:rPr>
              <a:t>Principal</a:t>
            </a:r>
            <a:r>
              <a:rPr lang="en-US" sz="1300" dirty="0">
                <a:solidFill>
                  <a:srgbClr val="D8D8D8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 dirty="0">
                <a:solidFill>
                  <a:srgbClr val="D8D8D8"/>
                </a:solidFill>
                <a:latin typeface="Avenir Next LT Pro"/>
              </a:rPr>
              <a:t>LENDERS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45C55E-05F1-47B8-957C-F32A15ED2C8B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</p:spTree>
    <p:extLst>
      <p:ext uri="{BB962C8B-B14F-4D97-AF65-F5344CB8AC3E}">
        <p14:creationId xmlns:p14="http://schemas.microsoft.com/office/powerpoint/2010/main" val="79822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06724-F919-4F47-9B29-6F6F565F1921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$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037B98-91B1-478E-A8C3-17F74761864B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D5B7C1-C7D3-4013-9BC9-C1714A9581DA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7EFF43D-F5FA-4424-A2F7-E8BDB21F666A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Goods &amp;Services </a:t>
            </a:r>
            <a:endParaRPr lang="en-US">
              <a:solidFill>
                <a:schemeClr val="tx2">
                  <a:lumMod val="20000"/>
                  <a:lumOff val="80000"/>
                </a:schemeClr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642658-8E67-44DD-BB82-BB230100B5E2}"/>
              </a:ext>
            </a:extLst>
          </p:cNvPr>
          <p:cNvSpPr/>
          <p:nvPr/>
        </p:nvSpPr>
        <p:spPr>
          <a:xfrm>
            <a:off x="1833600" y="517174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230DDF-4FEB-47E7-B4AA-6AAA305403A4}"/>
              </a:ext>
            </a:extLst>
          </p:cNvPr>
          <p:cNvSpPr txBox="1"/>
          <p:nvPr/>
        </p:nvSpPr>
        <p:spPr>
          <a:xfrm>
            <a:off x="3155275" y="3513966"/>
            <a:ext cx="7835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Taxes 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2F4997-2DB0-4F18-A998-A3EB4B01D45F}"/>
              </a:ext>
            </a:extLst>
          </p:cNvPr>
          <p:cNvSpPr txBox="1"/>
          <p:nvPr/>
        </p:nvSpPr>
        <p:spPr>
          <a:xfrm>
            <a:off x="3176463" y="4124817"/>
            <a:ext cx="722698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dirty="0">
                <a:solidFill>
                  <a:srgbClr val="483C46"/>
                </a:solidFill>
                <a:latin typeface="Avenir Next LT Pro"/>
              </a:rPr>
              <a:t>Public </a:t>
            </a:r>
          </a:p>
          <a:p>
            <a:r>
              <a:rPr lang="en-US" sz="1400" dirty="0">
                <a:solidFill>
                  <a:srgbClr val="483C46"/>
                </a:solidFill>
                <a:latin typeface="Avenir Next LT Pro"/>
              </a:rPr>
              <a:t>goods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2CBECA-B099-4CDD-B73F-E90AEE32DD9A}"/>
              </a:ext>
            </a:extLst>
          </p:cNvPr>
          <p:cNvCxnSpPr>
            <a:cxnSpLocks/>
          </p:cNvCxnSpPr>
          <p:nvPr/>
        </p:nvCxnSpPr>
        <p:spPr>
          <a:xfrm>
            <a:off x="3221681" y="4045284"/>
            <a:ext cx="702029" cy="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9A2327-E3A6-4B6D-887D-6B06F8F4D052}"/>
              </a:ext>
            </a:extLst>
          </p:cNvPr>
          <p:cNvCxnSpPr>
            <a:cxnSpLocks/>
          </p:cNvCxnSpPr>
          <p:nvPr/>
        </p:nvCxnSpPr>
        <p:spPr>
          <a:xfrm flipH="1" flipV="1">
            <a:off x="3209718" y="3844925"/>
            <a:ext cx="676862" cy="8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C3BDA2E-485F-4273-967E-F9C468910650}"/>
              </a:ext>
            </a:extLst>
          </p:cNvPr>
          <p:cNvSpPr/>
          <p:nvPr/>
        </p:nvSpPr>
        <p:spPr>
          <a:xfrm>
            <a:off x="1458137" y="3235216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DB978E7-58CD-4A62-97B6-2AEFBF0A66A2}"/>
              </a:ext>
            </a:extLst>
          </p:cNvPr>
          <p:cNvSpPr/>
          <p:nvPr/>
        </p:nvSpPr>
        <p:spPr>
          <a:xfrm>
            <a:off x="4885867" y="48609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249E92-00DC-4C80-9B3E-48B4A517AB90}"/>
              </a:ext>
            </a:extLst>
          </p:cNvPr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D8D8D8"/>
                </a:solidFill>
                <a:latin typeface="Avenir Next LT Pro"/>
              </a:rPr>
              <a:t>$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8FFB6C6-EF46-4774-A914-D603C1E3D532}"/>
              </a:ext>
            </a:extLst>
          </p:cNvPr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84E687F-23A8-43A5-B77F-D84FFBEF740D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1551895-80E8-444D-AA7D-C089E58EED7C}"/>
              </a:ext>
            </a:extLst>
          </p:cNvPr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D8D8D8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D8D8D8"/>
                </a:solidFill>
                <a:latin typeface="Avenir Next LT Pro"/>
              </a:rPr>
              <a:t>OWNERS</a:t>
            </a:r>
            <a:endParaRPr lang="en-US" b="1">
              <a:solidFill>
                <a:srgbClr val="D8D8D8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6E47B4-DA64-4DFF-A6CF-4D738A031C2B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venir Next LT Pro"/>
              </a:rPr>
              <a:t>Money Providers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74C213-78DF-4EEA-83BF-DDA6EC24CA23}"/>
              </a:ext>
            </a:extLst>
          </p:cNvPr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Principal</a:t>
            </a:r>
            <a:r>
              <a:rPr lang="en-US" sz="1300">
                <a:solidFill>
                  <a:srgbClr val="D8D8D8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>
                <a:solidFill>
                  <a:srgbClr val="D8D8D8"/>
                </a:solidFill>
                <a:latin typeface="Avenir Next LT Pro"/>
              </a:rPr>
              <a:t>LENDERS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8E810F-E908-4411-B6E1-FFD7F7CB49C0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30E92F-DBC7-40F6-9DA8-5934BC09EAE8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8F126F2-33CE-4B4D-889D-E2E1E6810191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8CBF670-3EB3-4E29-A192-FC5DCB0340FA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CF142C1-095D-4800-B182-1D1464112843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Labor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207AAA4-E952-4AF4-8D56-A971918FFCA8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9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230DDF-4FEB-47E7-B4AA-6AAA305403A4}"/>
              </a:ext>
            </a:extLst>
          </p:cNvPr>
          <p:cNvSpPr txBox="1"/>
          <p:nvPr/>
        </p:nvSpPr>
        <p:spPr>
          <a:xfrm>
            <a:off x="3155275" y="3513966"/>
            <a:ext cx="7835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Taxes 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2F4997-2DB0-4F18-A998-A3EB4B01D45F}"/>
              </a:ext>
            </a:extLst>
          </p:cNvPr>
          <p:cNvSpPr txBox="1"/>
          <p:nvPr/>
        </p:nvSpPr>
        <p:spPr>
          <a:xfrm>
            <a:off x="2744667" y="4467377"/>
            <a:ext cx="1248483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Public goods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2CBECA-B099-4CDD-B73F-E90AEE32DD9A}"/>
              </a:ext>
            </a:extLst>
          </p:cNvPr>
          <p:cNvCxnSpPr>
            <a:cxnSpLocks/>
          </p:cNvCxnSpPr>
          <p:nvPr/>
        </p:nvCxnSpPr>
        <p:spPr>
          <a:xfrm>
            <a:off x="3221681" y="4045284"/>
            <a:ext cx="702029" cy="6105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9A2327-E3A6-4B6D-887D-6B06F8F4D052}"/>
              </a:ext>
            </a:extLst>
          </p:cNvPr>
          <p:cNvCxnSpPr>
            <a:cxnSpLocks/>
          </p:cNvCxnSpPr>
          <p:nvPr/>
        </p:nvCxnSpPr>
        <p:spPr>
          <a:xfrm flipH="1" flipV="1">
            <a:off x="3209718" y="3844925"/>
            <a:ext cx="676862" cy="846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C3BDA2E-485F-4273-967E-F9C468910650}"/>
              </a:ext>
            </a:extLst>
          </p:cNvPr>
          <p:cNvSpPr/>
          <p:nvPr/>
        </p:nvSpPr>
        <p:spPr>
          <a:xfrm>
            <a:off x="1458137" y="3235216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214699B-3877-4ED6-A857-5BC3EFD319F5}"/>
              </a:ext>
            </a:extLst>
          </p:cNvPr>
          <p:cNvCxnSpPr>
            <a:cxnSpLocks/>
          </p:cNvCxnSpPr>
          <p:nvPr/>
        </p:nvCxnSpPr>
        <p:spPr>
          <a:xfrm>
            <a:off x="3926785" y="2548091"/>
            <a:ext cx="545262" cy="3564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B6287AB-4FCC-499A-A231-63443B55FF82}"/>
              </a:ext>
            </a:extLst>
          </p:cNvPr>
          <p:cNvSpPr txBox="1"/>
          <p:nvPr/>
        </p:nvSpPr>
        <p:spPr>
          <a:xfrm rot="2100000">
            <a:off x="3858137" y="2753205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$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01F19D-FFB3-4CF8-945E-17E78CFF9235}"/>
              </a:ext>
            </a:extLst>
          </p:cNvPr>
          <p:cNvSpPr txBox="1"/>
          <p:nvPr/>
        </p:nvSpPr>
        <p:spPr>
          <a:xfrm rot="2055280">
            <a:off x="4033958" y="2140193"/>
            <a:ext cx="102245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Goods &amp;</a:t>
            </a:r>
          </a:p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Services</a:t>
            </a:r>
            <a:endParaRPr lang="en-US">
              <a:solidFill>
                <a:srgbClr val="483C46"/>
              </a:solidFill>
              <a:cs typeface="Calibri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F405A42-E726-4B85-8986-3BC1575CC5E4}"/>
              </a:ext>
            </a:extLst>
          </p:cNvPr>
          <p:cNvSpPr/>
          <p:nvPr/>
        </p:nvSpPr>
        <p:spPr>
          <a:xfrm>
            <a:off x="1831898" y="642702"/>
            <a:ext cx="2162340" cy="221141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BB87F0-0ED0-4022-90DC-1D72250C9E81}"/>
              </a:ext>
            </a:extLst>
          </p:cNvPr>
          <p:cNvCxnSpPr>
            <a:cxnSpLocks/>
          </p:cNvCxnSpPr>
          <p:nvPr/>
        </p:nvCxnSpPr>
        <p:spPr>
          <a:xfrm flipH="1" flipV="1">
            <a:off x="3961870" y="2387996"/>
            <a:ext cx="572842" cy="38681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A42C2EE9-43E0-4CC2-8F04-B3F8A01A5E68}"/>
              </a:ext>
            </a:extLst>
          </p:cNvPr>
          <p:cNvSpPr/>
          <p:nvPr/>
        </p:nvSpPr>
        <p:spPr>
          <a:xfrm>
            <a:off x="4885867" y="33668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AD1B63-E44D-4219-8587-270A3114F1E9}"/>
              </a:ext>
            </a:extLst>
          </p:cNvPr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D8D8D8"/>
                </a:solidFill>
                <a:latin typeface="Avenir Next LT Pro"/>
              </a:rPr>
              <a:t>$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DC3C459-691C-4A0D-9C27-21DC0A6E37FC}"/>
              </a:ext>
            </a:extLst>
          </p:cNvPr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97E06A8-590C-4138-81BC-F8EF14531FEE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F745091-A2C2-405E-AC72-36F22E4465C8}"/>
              </a:ext>
            </a:extLst>
          </p:cNvPr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D8D8D8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D8D8D8"/>
                </a:solidFill>
                <a:latin typeface="Avenir Next LT Pro"/>
              </a:rPr>
              <a:t>OWNERS</a:t>
            </a:r>
            <a:endParaRPr lang="en-US" b="1">
              <a:solidFill>
                <a:srgbClr val="D8D8D8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D56BA8A-8833-4D4F-8691-5C0F356F9822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venir Next LT Pro"/>
              </a:rPr>
              <a:t>Money Providers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993F20C-9A65-4765-8E96-75A0F5A7B7B2}"/>
              </a:ext>
            </a:extLst>
          </p:cNvPr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Principal</a:t>
            </a:r>
            <a:r>
              <a:rPr lang="en-US" sz="1300">
                <a:solidFill>
                  <a:srgbClr val="D8D8D8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>
                <a:solidFill>
                  <a:srgbClr val="D8D8D8"/>
                </a:solidFill>
                <a:latin typeface="Avenir Next LT Pro"/>
              </a:rPr>
              <a:t>LENDERS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02CE9B1-9A13-40D5-A75D-5689B3FB8A7E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F50E9C-D97F-41B9-8420-78D2D9F3EE1E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8FAF254-2C72-4D20-957E-84B2A6EB908F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559FAB4-E3A0-47A8-BDAA-0BFE98C99058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711A174-2075-4EEC-A034-172B6A54B88B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Labor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42E681B-4BB1-48A6-9ED1-15D480C01C4F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548580E-7911-485C-A028-F9E74A7AD0E8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$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2B9615A-76DE-4355-B1C1-76038ECD9179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202FE29-5FB1-41E1-9001-060161AA662C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97ABDF81-2588-48E9-9303-2B98F0E2EBB5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Goods &amp;Services </a:t>
            </a:r>
            <a:endParaRPr lang="en-US">
              <a:solidFill>
                <a:schemeClr val="tx2">
                  <a:lumMod val="20000"/>
                  <a:lumOff val="80000"/>
                </a:schemeClr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9CEEF97-9D73-41FB-A0C7-BB69A056643F}"/>
              </a:ext>
            </a:extLst>
          </p:cNvPr>
          <p:cNvSpPr/>
          <p:nvPr/>
        </p:nvSpPr>
        <p:spPr>
          <a:xfrm>
            <a:off x="1833600" y="517174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7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0E9A1D84-BFE9-4D02-AC53-E7B1CE87A179}"/>
              </a:ext>
            </a:extLst>
          </p:cNvPr>
          <p:cNvSpPr/>
          <p:nvPr/>
        </p:nvSpPr>
        <p:spPr>
          <a:xfrm>
            <a:off x="4885867" y="33668"/>
            <a:ext cx="1606488" cy="1465160"/>
          </a:xfrm>
          <a:prstGeom prst="ellipse">
            <a:avLst/>
          </a:prstGeom>
          <a:solidFill>
            <a:srgbClr val="006BA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214699B-3877-4ED6-A857-5BC3EFD319F5}"/>
              </a:ext>
            </a:extLst>
          </p:cNvPr>
          <p:cNvCxnSpPr>
            <a:cxnSpLocks/>
          </p:cNvCxnSpPr>
          <p:nvPr/>
        </p:nvCxnSpPr>
        <p:spPr>
          <a:xfrm>
            <a:off x="3926785" y="2548091"/>
            <a:ext cx="545262" cy="356496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B6287AB-4FCC-499A-A231-63443B55FF82}"/>
              </a:ext>
            </a:extLst>
          </p:cNvPr>
          <p:cNvSpPr txBox="1"/>
          <p:nvPr/>
        </p:nvSpPr>
        <p:spPr>
          <a:xfrm rot="2100000">
            <a:off x="3858137" y="2753205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$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01F19D-FFB3-4CF8-945E-17E78CFF9235}"/>
              </a:ext>
            </a:extLst>
          </p:cNvPr>
          <p:cNvSpPr txBox="1"/>
          <p:nvPr/>
        </p:nvSpPr>
        <p:spPr>
          <a:xfrm rot="2055280">
            <a:off x="4033958" y="2140193"/>
            <a:ext cx="102245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Goods &amp;</a:t>
            </a:r>
          </a:p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Services</a:t>
            </a:r>
            <a:endParaRPr lang="en-US">
              <a:solidFill>
                <a:schemeClr val="tx2">
                  <a:lumMod val="20000"/>
                  <a:lumOff val="80000"/>
                </a:schemeClr>
              </a:solidFill>
              <a:cs typeface="Calibri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F405A42-E726-4B85-8986-3BC1575CC5E4}"/>
              </a:ext>
            </a:extLst>
          </p:cNvPr>
          <p:cNvSpPr/>
          <p:nvPr/>
        </p:nvSpPr>
        <p:spPr>
          <a:xfrm>
            <a:off x="1831898" y="64270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BB87F0-0ED0-4022-90DC-1D72250C9E81}"/>
              </a:ext>
            </a:extLst>
          </p:cNvPr>
          <p:cNvCxnSpPr>
            <a:cxnSpLocks/>
          </p:cNvCxnSpPr>
          <p:nvPr/>
        </p:nvCxnSpPr>
        <p:spPr>
          <a:xfrm flipH="1" flipV="1">
            <a:off x="3961870" y="2387996"/>
            <a:ext cx="572842" cy="386819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C28C3C-46A1-4D0E-B11D-CBA1A242A5A6}"/>
              </a:ext>
            </a:extLst>
          </p:cNvPr>
          <p:cNvCxnSpPr>
            <a:cxnSpLocks/>
          </p:cNvCxnSpPr>
          <p:nvPr/>
        </p:nvCxnSpPr>
        <p:spPr>
          <a:xfrm flipH="1" flipV="1">
            <a:off x="5963159" y="1556518"/>
            <a:ext cx="15551" cy="7618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55260E2-1FF1-46D7-8595-CFDD6776A612}"/>
              </a:ext>
            </a:extLst>
          </p:cNvPr>
          <p:cNvCxnSpPr>
            <a:cxnSpLocks/>
          </p:cNvCxnSpPr>
          <p:nvPr/>
        </p:nvCxnSpPr>
        <p:spPr>
          <a:xfrm>
            <a:off x="5683241" y="1634154"/>
            <a:ext cx="7777" cy="731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8555B9A-1A97-486F-9239-66FC51A479F3}"/>
              </a:ext>
            </a:extLst>
          </p:cNvPr>
          <p:cNvSpPr txBox="1"/>
          <p:nvPr/>
        </p:nvSpPr>
        <p:spPr>
          <a:xfrm rot="60000">
            <a:off x="6091736" y="1251361"/>
            <a:ext cx="1094064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 dirty="0">
                <a:solidFill>
                  <a:srgbClr val="483C46"/>
                </a:solidFill>
              </a:rPr>
              <a:t>Salary, bonus, incentive payments, equity awards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F10096-6ECB-44A9-BE53-C1BBF58137DE}"/>
              </a:ext>
            </a:extLst>
          </p:cNvPr>
          <p:cNvSpPr txBox="1"/>
          <p:nvPr/>
        </p:nvSpPr>
        <p:spPr>
          <a:xfrm rot="21540000">
            <a:off x="4723371" y="1573254"/>
            <a:ext cx="1005312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 dirty="0">
                <a:solidFill>
                  <a:srgbClr val="483C46"/>
                </a:solidFill>
              </a:rPr>
              <a:t>Managerial</a:t>
            </a:r>
          </a:p>
          <a:p>
            <a:r>
              <a:rPr lang="en-US" dirty="0">
                <a:solidFill>
                  <a:srgbClr val="483C46"/>
                </a:solidFill>
              </a:rPr>
              <a:t>Services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6687DB-722C-4605-87A9-98A9DD192B28}"/>
              </a:ext>
            </a:extLst>
          </p:cNvPr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D8D8D8"/>
                </a:solidFill>
                <a:latin typeface="Avenir Next LT Pro"/>
              </a:rPr>
              <a:t>$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3CDE19-2023-4948-9313-69371DD881AD}"/>
              </a:ext>
            </a:extLst>
          </p:cNvPr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2381D48-139A-45E2-AD16-B04985A3EA46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1FF120A-58E2-41C7-A8EA-6F8E2ACAE450}"/>
              </a:ext>
            </a:extLst>
          </p:cNvPr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D8D8D8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D8D8D8"/>
                </a:solidFill>
                <a:latin typeface="Avenir Next LT Pro"/>
              </a:rPr>
              <a:t>OWNERS</a:t>
            </a:r>
            <a:endParaRPr lang="en-US" b="1">
              <a:solidFill>
                <a:srgbClr val="D8D8D8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CEA987F-9E80-4CC3-9E12-977666D4D898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venir Next LT Pro"/>
              </a:rPr>
              <a:t>Money Providers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37564A-09AB-48F4-8D99-AA8FE85A344A}"/>
              </a:ext>
            </a:extLst>
          </p:cNvPr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Principal</a:t>
            </a:r>
            <a:r>
              <a:rPr lang="en-US" sz="1300">
                <a:solidFill>
                  <a:srgbClr val="D8D8D8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>
                <a:solidFill>
                  <a:srgbClr val="D8D8D8"/>
                </a:solidFill>
                <a:latin typeface="Avenir Next LT Pro"/>
              </a:rPr>
              <a:t>LENDERS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4A98FD-F13B-4AB1-A3F5-680786CA72AB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C8FDD9-55A7-4FA9-BA2C-05E2927D5D05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3564522-9913-400C-B02E-482A433FBC03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F39B4EC-25AC-4CAF-8536-6DCC985DF90F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297ABEC-50B6-421B-9894-DD0B0C2D387C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Labor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890D46A-5D42-4392-AC73-FAEE4DA5DC46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0842BC-7DC4-424D-BFA8-35C80FA18D98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$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DA08EF2-418E-4DCE-A9F2-C9AFA331DCA6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53FF424-291F-453A-A1F1-1CB690FB6AD3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D10F7A2-A86E-4868-B667-9F3431002D83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Goods &amp;Services </a:t>
            </a:r>
            <a:endParaRPr lang="en-US">
              <a:solidFill>
                <a:schemeClr val="tx2">
                  <a:lumMod val="20000"/>
                  <a:lumOff val="80000"/>
                </a:schemeClr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BC237D7-3467-4833-8EC1-6AC230607556}"/>
              </a:ext>
            </a:extLst>
          </p:cNvPr>
          <p:cNvSpPr/>
          <p:nvPr/>
        </p:nvSpPr>
        <p:spPr>
          <a:xfrm>
            <a:off x="1833600" y="517174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1D0151-6095-42D9-9A3A-CAC65E140AD6}"/>
              </a:ext>
            </a:extLst>
          </p:cNvPr>
          <p:cNvSpPr txBox="1"/>
          <p:nvPr/>
        </p:nvSpPr>
        <p:spPr>
          <a:xfrm>
            <a:off x="3155275" y="3513966"/>
            <a:ext cx="7835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Taxes $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EE476-F7A0-46EE-90C2-C1DB5A495D5A}"/>
              </a:ext>
            </a:extLst>
          </p:cNvPr>
          <p:cNvSpPr txBox="1"/>
          <p:nvPr/>
        </p:nvSpPr>
        <p:spPr>
          <a:xfrm>
            <a:off x="2744667" y="4467377"/>
            <a:ext cx="1248483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Public goods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07E70E6-44C6-4CA4-8A31-71FBEDBB6E87}"/>
              </a:ext>
            </a:extLst>
          </p:cNvPr>
          <p:cNvCxnSpPr>
            <a:cxnSpLocks/>
          </p:cNvCxnSpPr>
          <p:nvPr/>
        </p:nvCxnSpPr>
        <p:spPr>
          <a:xfrm>
            <a:off x="3221681" y="4045284"/>
            <a:ext cx="702029" cy="6105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7C5EAC6-07EB-47DA-8A5C-1071FCC3B34B}"/>
              </a:ext>
            </a:extLst>
          </p:cNvPr>
          <p:cNvCxnSpPr>
            <a:cxnSpLocks/>
          </p:cNvCxnSpPr>
          <p:nvPr/>
        </p:nvCxnSpPr>
        <p:spPr>
          <a:xfrm flipH="1" flipV="1">
            <a:off x="3209718" y="3844925"/>
            <a:ext cx="676862" cy="846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457282D4-1344-4BC3-807D-3E13EAA46228}"/>
              </a:ext>
            </a:extLst>
          </p:cNvPr>
          <p:cNvSpPr/>
          <p:nvPr/>
        </p:nvSpPr>
        <p:spPr>
          <a:xfrm>
            <a:off x="1458137" y="3235216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483C46"/>
                </a:solidFill>
                <a:latin typeface="Avenir Next LT Pro"/>
              </a:rPr>
              <a:t>$</a:t>
            </a:r>
          </a:p>
        </p:txBody>
      </p:sp>
      <p:sp>
        <p:nvSpPr>
          <p:cNvPr id="108" name="TextBox 107"/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483C46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483C46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483C46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483C46"/>
                </a:solidFill>
                <a:latin typeface="Avenir Next LT Pro"/>
              </a:rPr>
              <a:t>OWNERS</a:t>
            </a:r>
            <a:endParaRPr lang="en-US" b="1">
              <a:solidFill>
                <a:srgbClr val="483C4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9" name="TextBox 108"/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Principal</a:t>
            </a:r>
            <a:r>
              <a:rPr lang="en-US" sz="1300">
                <a:solidFill>
                  <a:srgbClr val="483C46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>
                <a:solidFill>
                  <a:srgbClr val="483C46"/>
                </a:solidFill>
                <a:latin typeface="Avenir Next LT Pro"/>
              </a:rPr>
              <a:t>LENDERS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Avenir Next LT Pro"/>
              </a:rPr>
              <a:t>Money Providers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E9A1D84-BFE9-4D02-AC53-E7B1CE87A179}"/>
              </a:ext>
            </a:extLst>
          </p:cNvPr>
          <p:cNvSpPr/>
          <p:nvPr/>
        </p:nvSpPr>
        <p:spPr>
          <a:xfrm>
            <a:off x="4885867" y="41139"/>
            <a:ext cx="1606488" cy="1465160"/>
          </a:xfrm>
          <a:prstGeom prst="ellipse">
            <a:avLst/>
          </a:prstGeom>
          <a:solidFill>
            <a:srgbClr val="006BA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864241-992A-41AC-899A-F37C6FC9CCE7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DD32F39-50F6-4F83-8A9D-27B0E8A87F0A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CF4D6E7-3BAE-407D-A70F-038A66A4C78D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1D6AA6-77AE-4686-93A2-892E9AA6FED6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Labor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A50737-7F09-45C4-8F58-7678297D2402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06724-F919-4F47-9B29-6F6F565F1921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Avenir Next LT Pro"/>
              </a:rPr>
              <a:t>$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037B98-91B1-478E-A8C3-17F74761864B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D5B7C1-C7D3-4013-9BC9-C1714A9581DA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7EFF43D-F5FA-4424-A2F7-E8BDB21F666A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Goods &amp;Services </a:t>
            </a:r>
            <a:endParaRPr lang="en-US">
              <a:solidFill>
                <a:srgbClr val="483C4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642658-8E67-44DD-BB82-BB230100B5E2}"/>
              </a:ext>
            </a:extLst>
          </p:cNvPr>
          <p:cNvSpPr/>
          <p:nvPr/>
        </p:nvSpPr>
        <p:spPr>
          <a:xfrm>
            <a:off x="1833600" y="517174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230DDF-4FEB-47E7-B4AA-6AAA305403A4}"/>
              </a:ext>
            </a:extLst>
          </p:cNvPr>
          <p:cNvSpPr txBox="1"/>
          <p:nvPr/>
        </p:nvSpPr>
        <p:spPr>
          <a:xfrm>
            <a:off x="3155275" y="3513966"/>
            <a:ext cx="7835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Taxes 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2F4997-2DB0-4F18-A998-A3EB4B01D45F}"/>
              </a:ext>
            </a:extLst>
          </p:cNvPr>
          <p:cNvSpPr txBox="1"/>
          <p:nvPr/>
        </p:nvSpPr>
        <p:spPr>
          <a:xfrm>
            <a:off x="2744667" y="4467377"/>
            <a:ext cx="1248483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Public goods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2CBECA-B099-4CDD-B73F-E90AEE32DD9A}"/>
              </a:ext>
            </a:extLst>
          </p:cNvPr>
          <p:cNvCxnSpPr>
            <a:cxnSpLocks/>
          </p:cNvCxnSpPr>
          <p:nvPr/>
        </p:nvCxnSpPr>
        <p:spPr>
          <a:xfrm>
            <a:off x="3221681" y="4045284"/>
            <a:ext cx="702029" cy="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9A2327-E3A6-4B6D-887D-6B06F8F4D052}"/>
              </a:ext>
            </a:extLst>
          </p:cNvPr>
          <p:cNvCxnSpPr>
            <a:cxnSpLocks/>
          </p:cNvCxnSpPr>
          <p:nvPr/>
        </p:nvCxnSpPr>
        <p:spPr>
          <a:xfrm flipH="1" flipV="1">
            <a:off x="3209718" y="3844925"/>
            <a:ext cx="676862" cy="8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C3BDA2E-485F-4273-967E-F9C468910650}"/>
              </a:ext>
            </a:extLst>
          </p:cNvPr>
          <p:cNvSpPr/>
          <p:nvPr/>
        </p:nvSpPr>
        <p:spPr>
          <a:xfrm>
            <a:off x="1458137" y="3235216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214699B-3877-4ED6-A857-5BC3EFD319F5}"/>
              </a:ext>
            </a:extLst>
          </p:cNvPr>
          <p:cNvCxnSpPr>
            <a:cxnSpLocks/>
          </p:cNvCxnSpPr>
          <p:nvPr/>
        </p:nvCxnSpPr>
        <p:spPr>
          <a:xfrm>
            <a:off x="3926785" y="2548091"/>
            <a:ext cx="545262" cy="3564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B6287AB-4FCC-499A-A231-63443B55FF82}"/>
              </a:ext>
            </a:extLst>
          </p:cNvPr>
          <p:cNvSpPr txBox="1"/>
          <p:nvPr/>
        </p:nvSpPr>
        <p:spPr>
          <a:xfrm rot="2100000">
            <a:off x="3858137" y="2753205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$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01F19D-FFB3-4CF8-945E-17E78CFF9235}"/>
              </a:ext>
            </a:extLst>
          </p:cNvPr>
          <p:cNvSpPr txBox="1"/>
          <p:nvPr/>
        </p:nvSpPr>
        <p:spPr>
          <a:xfrm rot="2055280">
            <a:off x="4033958" y="2140193"/>
            <a:ext cx="102245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Goods &amp;</a:t>
            </a:r>
          </a:p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Services</a:t>
            </a:r>
            <a:endParaRPr lang="en-US">
              <a:solidFill>
                <a:srgbClr val="483C46"/>
              </a:solidFill>
              <a:cs typeface="Calibri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F405A42-E726-4B85-8986-3BC1575CC5E4}"/>
              </a:ext>
            </a:extLst>
          </p:cNvPr>
          <p:cNvSpPr/>
          <p:nvPr/>
        </p:nvSpPr>
        <p:spPr>
          <a:xfrm>
            <a:off x="1831898" y="642702"/>
            <a:ext cx="2162340" cy="221141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BB87F0-0ED0-4022-90DC-1D72250C9E81}"/>
              </a:ext>
            </a:extLst>
          </p:cNvPr>
          <p:cNvCxnSpPr>
            <a:cxnSpLocks/>
          </p:cNvCxnSpPr>
          <p:nvPr/>
        </p:nvCxnSpPr>
        <p:spPr>
          <a:xfrm flipH="1" flipV="1">
            <a:off x="3961870" y="2387996"/>
            <a:ext cx="572842" cy="38681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C28C3C-46A1-4D0E-B11D-CBA1A242A5A6}"/>
              </a:ext>
            </a:extLst>
          </p:cNvPr>
          <p:cNvCxnSpPr>
            <a:cxnSpLocks/>
          </p:cNvCxnSpPr>
          <p:nvPr/>
        </p:nvCxnSpPr>
        <p:spPr>
          <a:xfrm flipH="1" flipV="1">
            <a:off x="5963159" y="1556518"/>
            <a:ext cx="15551" cy="7618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55260E2-1FF1-46D7-8595-CFDD6776A612}"/>
              </a:ext>
            </a:extLst>
          </p:cNvPr>
          <p:cNvCxnSpPr>
            <a:cxnSpLocks/>
          </p:cNvCxnSpPr>
          <p:nvPr/>
        </p:nvCxnSpPr>
        <p:spPr>
          <a:xfrm>
            <a:off x="5683241" y="1634154"/>
            <a:ext cx="7777" cy="731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8555B9A-1A97-486F-9239-66FC51A479F3}"/>
              </a:ext>
            </a:extLst>
          </p:cNvPr>
          <p:cNvSpPr txBox="1"/>
          <p:nvPr/>
        </p:nvSpPr>
        <p:spPr>
          <a:xfrm rot="60000">
            <a:off x="6091736" y="1251361"/>
            <a:ext cx="1094064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>
                <a:solidFill>
                  <a:srgbClr val="483C46"/>
                </a:solidFill>
              </a:rPr>
              <a:t>Salary, bonus, incentive payments, equity awards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F10096-6ECB-44A9-BE53-C1BBF58137DE}"/>
              </a:ext>
            </a:extLst>
          </p:cNvPr>
          <p:cNvSpPr txBox="1"/>
          <p:nvPr/>
        </p:nvSpPr>
        <p:spPr>
          <a:xfrm rot="21540000">
            <a:off x="4723371" y="1573254"/>
            <a:ext cx="1005312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>
                <a:solidFill>
                  <a:srgbClr val="483C46"/>
                </a:solidFill>
              </a:rPr>
              <a:t>Managerial</a:t>
            </a:r>
          </a:p>
          <a:p>
            <a:r>
              <a:rPr lang="en-US">
                <a:solidFill>
                  <a:srgbClr val="483C46"/>
                </a:solidFill>
              </a:rPr>
              <a:t>Services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1DDDCB-4F74-4F66-805C-C75A9E05B036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535349F-E3FD-4C4F-BB2E-7C653BA21CE0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rgbClr val="006BA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E59C136-56F1-42A5-9DDE-FE3FE846351E}"/>
              </a:ext>
            </a:extLst>
          </p:cNvPr>
          <p:cNvSpPr txBox="1"/>
          <p:nvPr/>
        </p:nvSpPr>
        <p:spPr>
          <a:xfrm>
            <a:off x="8992236" y="145724"/>
            <a:ext cx="3158346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b="1" dirty="0">
                <a:solidFill>
                  <a:srgbClr val="483C46"/>
                </a:solidFill>
                <a:latin typeface="Avenir Next LT Pro"/>
              </a:rPr>
              <a:t>Accounting systems keep track of all this!!!</a:t>
            </a:r>
          </a:p>
        </p:txBody>
      </p:sp>
    </p:spTree>
    <p:extLst>
      <p:ext uri="{BB962C8B-B14F-4D97-AF65-F5344CB8AC3E}">
        <p14:creationId xmlns:p14="http://schemas.microsoft.com/office/powerpoint/2010/main" val="406271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4C700C3C22764281B606E6BB0BE512" ma:contentTypeVersion="7" ma:contentTypeDescription="Create a new document." ma:contentTypeScope="" ma:versionID="a94dcb7068accf2b99f2aee193947cae">
  <xsd:schema xmlns:xsd="http://www.w3.org/2001/XMLSchema" xmlns:xs="http://www.w3.org/2001/XMLSchema" xmlns:p="http://schemas.microsoft.com/office/2006/metadata/properties" xmlns:ns3="7d9b4326-e95a-4a9d-acda-83174bf33825" xmlns:ns4="ec22c7d8-208f-4baf-a907-919315f360ac" targetNamespace="http://schemas.microsoft.com/office/2006/metadata/properties" ma:root="true" ma:fieldsID="441e276b2eb532472e6c16ee8cd6cffc" ns3:_="" ns4:_="">
    <xsd:import namespace="7d9b4326-e95a-4a9d-acda-83174bf33825"/>
    <xsd:import namespace="ec22c7d8-208f-4baf-a907-919315f360a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9b4326-e95a-4a9d-acda-83174bf338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22c7d8-208f-4baf-a907-919315f360a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3A8ADC-86FA-4F29-B20F-3FFC8BDCD3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9b4326-e95a-4a9d-acda-83174bf33825"/>
    <ds:schemaRef ds:uri="ec22c7d8-208f-4baf-a907-919315f360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A124DD-2552-4D05-A6AA-F78BC8B34A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7E6EEE-FBDB-475D-B4B5-316AFBDF365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788</Words>
  <Application>Microsoft Office PowerPoint</Application>
  <PresentationFormat>Widescreen</PresentationFormat>
  <Paragraphs>222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Avenir Next LT Pro</vt:lpstr>
      <vt:lpstr>Calibri</vt:lpstr>
      <vt:lpstr>Calibri Light</vt:lpstr>
      <vt:lpstr>Office Theme</vt:lpstr>
      <vt:lpstr>Framework – Part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Antle, Rick</dc:creator>
  <cp:lastModifiedBy>Antle, Rick</cp:lastModifiedBy>
  <cp:revision>3</cp:revision>
  <cp:lastPrinted>2020-02-22T19:10:30Z</cp:lastPrinted>
  <dcterms:created xsi:type="dcterms:W3CDTF">2020-02-13T20:03:41Z</dcterms:created>
  <dcterms:modified xsi:type="dcterms:W3CDTF">2020-04-29T18:39:46Z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0x010100A84C700C3C22764281B606E6BB0BE512</vt:lpwstr>
  </property>
</Properties>
</file>