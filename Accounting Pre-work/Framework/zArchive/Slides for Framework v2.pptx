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78" r:id="rId6"/>
    <p:sldId id="258" r:id="rId7"/>
    <p:sldId id="284" r:id="rId8"/>
    <p:sldId id="270" r:id="rId9"/>
    <p:sldId id="276" r:id="rId10"/>
    <p:sldId id="279" r:id="rId11"/>
    <p:sldId id="280" r:id="rId12"/>
    <p:sldId id="281" r:id="rId13"/>
    <p:sldId id="282" r:id="rId14"/>
    <p:sldId id="283" r:id="rId15"/>
    <p:sldId id="257" r:id="rId16"/>
    <p:sldId id="2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83C46"/>
    <a:srgbClr val="006BA6"/>
    <a:srgbClr val="224870"/>
    <a:srgbClr val="243A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7D024D-57BB-45EC-982E-E70745C8BEE2}" v="21" dt="2020-02-19T19:25:10.3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619" autoAdjust="0"/>
  </p:normalViewPr>
  <p:slideViewPr>
    <p:cSldViewPr snapToGrid="0" showGuides="1">
      <p:cViewPr>
        <p:scale>
          <a:sx n="100" d="100"/>
          <a:sy n="100" d="100"/>
        </p:scale>
        <p:origin x="204" y="1656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B57EF908-FF38-4F15-B5B0-20FC3326DF66}"/>
    <pc:docChg chg="undo custSel addSld delSld modSld sldOrd">
      <pc:chgData name="Antle, Rick" userId="c2afbbd2-30e4-4c8e-8af5-81913178ace3" providerId="ADAL" clId="{B57EF908-FF38-4F15-B5B0-20FC3326DF66}" dt="2020-02-19T19:25:10.392" v="349" actId="20577"/>
      <pc:docMkLst>
        <pc:docMk/>
      </pc:docMkLst>
      <pc:sldChg chg="modSp ord">
        <pc:chgData name="Antle, Rick" userId="c2afbbd2-30e4-4c8e-8af5-81913178ace3" providerId="ADAL" clId="{B57EF908-FF38-4F15-B5B0-20FC3326DF66}" dt="2020-02-19T19:25:10.392" v="349" actId="20577"/>
        <pc:sldMkLst>
          <pc:docMk/>
          <pc:sldMk cId="557295040" sldId="258"/>
        </pc:sldMkLst>
        <pc:spChg chg="mod">
          <ac:chgData name="Antle, Rick" userId="c2afbbd2-30e4-4c8e-8af5-81913178ace3" providerId="ADAL" clId="{B57EF908-FF38-4F15-B5B0-20FC3326DF66}" dt="2020-02-19T19:25:10.392" v="349" actId="20577"/>
          <ac:spMkLst>
            <pc:docMk/>
            <pc:sldMk cId="557295040" sldId="258"/>
            <ac:spMk id="3" creationId="{00000000-0000-0000-0000-000000000000}"/>
          </ac:spMkLst>
        </pc:spChg>
      </pc:sldChg>
      <pc:sldChg chg="addSp delSp modSp del">
        <pc:chgData name="Antle, Rick" userId="c2afbbd2-30e4-4c8e-8af5-81913178ace3" providerId="ADAL" clId="{B57EF908-FF38-4F15-B5B0-20FC3326DF66}" dt="2020-02-19T19:19:07.896" v="318" actId="47"/>
        <pc:sldMkLst>
          <pc:docMk/>
          <pc:sldMk cId="3264022524" sldId="273"/>
        </pc:sldMkLst>
        <pc:spChg chg="add del mod">
          <ac:chgData name="Antle, Rick" userId="c2afbbd2-30e4-4c8e-8af5-81913178ace3" providerId="ADAL" clId="{B57EF908-FF38-4F15-B5B0-20FC3326DF66}" dt="2020-02-19T19:00:45.726" v="4"/>
          <ac:spMkLst>
            <pc:docMk/>
            <pc:sldMk cId="3264022524" sldId="273"/>
            <ac:spMk id="2" creationId="{AAB0FBE2-E4C3-4A04-B085-3CE68C031FCB}"/>
          </ac:spMkLst>
        </pc:spChg>
        <pc:spChg chg="del mod">
          <ac:chgData name="Antle, Rick" userId="c2afbbd2-30e4-4c8e-8af5-81913178ace3" providerId="ADAL" clId="{B57EF908-FF38-4F15-B5B0-20FC3326DF66}" dt="2020-02-19T19:06:20.971" v="73" actId="478"/>
          <ac:spMkLst>
            <pc:docMk/>
            <pc:sldMk cId="3264022524" sldId="273"/>
            <ac:spMk id="5" creationId="{00000000-0000-0000-0000-000000000000}"/>
          </ac:spMkLst>
        </pc:spChg>
        <pc:spChg chg="add del mod">
          <ac:chgData name="Antle, Rick" userId="c2afbbd2-30e4-4c8e-8af5-81913178ace3" providerId="ADAL" clId="{B57EF908-FF38-4F15-B5B0-20FC3326DF66}" dt="2020-02-19T19:18:41.155" v="317" actId="478"/>
          <ac:spMkLst>
            <pc:docMk/>
            <pc:sldMk cId="3264022524" sldId="273"/>
            <ac:spMk id="6" creationId="{B1E838A5-0112-41BB-A705-66E5986A18C9}"/>
          </ac:spMkLst>
        </pc:spChg>
        <pc:spChg chg="add mod">
          <ac:chgData name="Antle, Rick" userId="c2afbbd2-30e4-4c8e-8af5-81913178ace3" providerId="ADAL" clId="{B57EF908-FF38-4F15-B5B0-20FC3326DF66}" dt="2020-02-19T19:10:08.383" v="128" actId="1076"/>
          <ac:spMkLst>
            <pc:docMk/>
            <pc:sldMk cId="3264022524" sldId="273"/>
            <ac:spMk id="12" creationId="{0913F30F-6C99-4277-9379-A06A1EF2488D}"/>
          </ac:spMkLst>
        </pc:spChg>
        <pc:spChg chg="mod">
          <ac:chgData name="Antle, Rick" userId="c2afbbd2-30e4-4c8e-8af5-81913178ace3" providerId="ADAL" clId="{B57EF908-FF38-4F15-B5B0-20FC3326DF66}" dt="2020-02-19T19:05:42.179" v="72" actId="1076"/>
          <ac:spMkLst>
            <pc:docMk/>
            <pc:sldMk cId="3264022524" sldId="273"/>
            <ac:spMk id="16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9T19:14:14.364" v="270" actId="1076"/>
          <ac:spMkLst>
            <pc:docMk/>
            <pc:sldMk cId="3264022524" sldId="273"/>
            <ac:spMk id="43" creationId="{53DE92C2-C8F1-47DD-98FE-9DEDE2C81FA7}"/>
          </ac:spMkLst>
        </pc:spChg>
        <pc:spChg chg="mod">
          <ac:chgData name="Antle, Rick" userId="c2afbbd2-30e4-4c8e-8af5-81913178ace3" providerId="ADAL" clId="{B57EF908-FF38-4F15-B5B0-20FC3326DF66}" dt="2020-02-19T19:14:29.730" v="281" actId="1037"/>
          <ac:spMkLst>
            <pc:docMk/>
            <pc:sldMk cId="3264022524" sldId="273"/>
            <ac:spMk id="44" creationId="{0E9A1D84-BFE9-4D02-AC53-E7B1CE87A179}"/>
          </ac:spMkLst>
        </pc:spChg>
        <pc:spChg chg="mod">
          <ac:chgData name="Antle, Rick" userId="c2afbbd2-30e4-4c8e-8af5-81913178ace3" providerId="ADAL" clId="{B57EF908-FF38-4F15-B5B0-20FC3326DF66}" dt="2020-02-19T19:18:32.163" v="316" actId="1038"/>
          <ac:spMkLst>
            <pc:docMk/>
            <pc:sldMk cId="3264022524" sldId="273"/>
            <ac:spMk id="50" creationId="{1EAC0625-A291-4444-BF86-AAB9F2D58BB7}"/>
          </ac:spMkLst>
        </pc:spChg>
        <pc:spChg chg="mod">
          <ac:chgData name="Antle, Rick" userId="c2afbbd2-30e4-4c8e-8af5-81913178ace3" providerId="ADAL" clId="{B57EF908-FF38-4F15-B5B0-20FC3326DF66}" dt="2020-02-19T19:14:44.162" v="301" actId="1036"/>
          <ac:spMkLst>
            <pc:docMk/>
            <pc:sldMk cId="3264022524" sldId="273"/>
            <ac:spMk id="59" creationId="{FB444828-91DF-432E-B628-95F8BE051F18}"/>
          </ac:spMkLst>
        </pc:spChg>
        <pc:spChg chg="mod">
          <ac:chgData name="Antle, Rick" userId="c2afbbd2-30e4-4c8e-8af5-81913178ace3" providerId="ADAL" clId="{B57EF908-FF38-4F15-B5B0-20FC3326DF66}" dt="2020-02-19T19:11:09.907" v="140" actId="1076"/>
          <ac:spMkLst>
            <pc:docMk/>
            <pc:sldMk cId="3264022524" sldId="273"/>
            <ac:spMk id="72" creationId="{9C96A383-4942-4261-AE25-13BAC8F921C6}"/>
          </ac:spMkLst>
        </pc:spChg>
        <pc:spChg chg="mod">
          <ac:chgData name="Antle, Rick" userId="c2afbbd2-30e4-4c8e-8af5-81913178ace3" providerId="ADAL" clId="{B57EF908-FF38-4F15-B5B0-20FC3326DF66}" dt="2020-02-19T19:10:49.688" v="136" actId="1076"/>
          <ac:spMkLst>
            <pc:docMk/>
            <pc:sldMk cId="3264022524" sldId="273"/>
            <ac:spMk id="100" creationId="{85A9A108-4F45-49BB-AC03-99346552ECE4}"/>
          </ac:spMkLst>
        </pc:spChg>
        <pc:cxnChg chg="add del mod">
          <ac:chgData name="Antle, Rick" userId="c2afbbd2-30e4-4c8e-8af5-81913178ace3" providerId="ADAL" clId="{B57EF908-FF38-4F15-B5B0-20FC3326DF66}" dt="2020-02-19T19:07:47.021" v="90" actId="478"/>
          <ac:cxnSpMkLst>
            <pc:docMk/>
            <pc:sldMk cId="3264022524" sldId="273"/>
            <ac:cxnSpMk id="4" creationId="{48B9FA24-E03C-41BB-A9F3-BB12D74D94EF}"/>
          </ac:cxnSpMkLst>
        </pc:cxnChg>
      </pc:sldChg>
      <pc:sldChg chg="modSp">
        <pc:chgData name="Antle, Rick" userId="c2afbbd2-30e4-4c8e-8af5-81913178ace3" providerId="ADAL" clId="{B57EF908-FF38-4F15-B5B0-20FC3326DF66}" dt="2020-02-19T19:19:57.282" v="332" actId="1035"/>
        <pc:sldMkLst>
          <pc:docMk/>
          <pc:sldMk cId="273415726" sldId="282"/>
        </pc:sldMkLst>
        <pc:spChg chg="mod">
          <ac:chgData name="Antle, Rick" userId="c2afbbd2-30e4-4c8e-8af5-81913178ace3" providerId="ADAL" clId="{B57EF908-FF38-4F15-B5B0-20FC3326DF66}" dt="2020-02-19T19:19:57.282" v="332" actId="1035"/>
          <ac:spMkLst>
            <pc:docMk/>
            <pc:sldMk cId="273415726" sldId="282"/>
            <ac:spMk id="32" creationId="{33AAB294-C595-4A8A-B9F1-A3B034988D82}"/>
          </ac:spMkLst>
        </pc:spChg>
      </pc:sldChg>
      <pc:sldChg chg="delSp modSp add delAnim">
        <pc:chgData name="Antle, Rick" userId="c2afbbd2-30e4-4c8e-8af5-81913178ace3" providerId="ADAL" clId="{B57EF908-FF38-4F15-B5B0-20FC3326DF66}" dt="2020-02-19T19:20:00.710" v="333" actId="108"/>
        <pc:sldMkLst>
          <pc:docMk/>
          <pc:sldMk cId="23647514" sldId="284"/>
        </pc:sldMkLst>
        <pc:spChg chg="mod">
          <ac:chgData name="Antle, Rick" userId="c2afbbd2-30e4-4c8e-8af5-81913178ace3" providerId="ADAL" clId="{B57EF908-FF38-4F15-B5B0-20FC3326DF66}" dt="2020-02-19T19:19:41.836" v="326" actId="108"/>
          <ac:spMkLst>
            <pc:docMk/>
            <pc:sldMk cId="23647514" sldId="284"/>
            <ac:spMk id="44" creationId="{0E9A1D84-BFE9-4D02-AC53-E7B1CE87A179}"/>
          </ac:spMkLst>
        </pc:spChg>
        <pc:spChg chg="mod">
          <ac:chgData name="Antle, Rick" userId="c2afbbd2-30e4-4c8e-8af5-81913178ace3" providerId="ADAL" clId="{B57EF908-FF38-4F15-B5B0-20FC3326DF66}" dt="2020-02-19T19:19:42.605" v="327" actId="108"/>
          <ac:spMkLst>
            <pc:docMk/>
            <pc:sldMk cId="23647514" sldId="284"/>
            <ac:spMk id="50" creationId="{1EAC0625-A291-4444-BF86-AAB9F2D58BB7}"/>
          </ac:spMkLst>
        </pc:spChg>
        <pc:spChg chg="mod">
          <ac:chgData name="Antle, Rick" userId="c2afbbd2-30e4-4c8e-8af5-81913178ace3" providerId="ADAL" clId="{B57EF908-FF38-4F15-B5B0-20FC3326DF66}" dt="2020-02-19T19:19:43.497" v="328" actId="108"/>
          <ac:spMkLst>
            <pc:docMk/>
            <pc:sldMk cId="23647514" sldId="284"/>
            <ac:spMk id="59" creationId="{FB444828-91DF-432E-B628-95F8BE051F18}"/>
          </ac:spMkLst>
        </pc:spChg>
        <pc:spChg chg="mod">
          <ac:chgData name="Antle, Rick" userId="c2afbbd2-30e4-4c8e-8af5-81913178ace3" providerId="ADAL" clId="{B57EF908-FF38-4F15-B5B0-20FC3326DF66}" dt="2020-02-19T19:19:44.369" v="329" actId="108"/>
          <ac:spMkLst>
            <pc:docMk/>
            <pc:sldMk cId="23647514" sldId="284"/>
            <ac:spMk id="72" creationId="{9C96A383-4942-4261-AE25-13BAC8F921C6}"/>
          </ac:spMkLst>
        </pc:spChg>
        <pc:spChg chg="del">
          <ac:chgData name="Antle, Rick" userId="c2afbbd2-30e4-4c8e-8af5-81913178ace3" providerId="ADAL" clId="{B57EF908-FF38-4F15-B5B0-20FC3326DF66}" dt="2020-02-19T19:19:26.926" v="320" actId="478"/>
          <ac:spMkLst>
            <pc:docMk/>
            <pc:sldMk cId="23647514" sldId="284"/>
            <ac:spMk id="75" creationId="{00000000-0000-0000-0000-000000000000}"/>
          </ac:spMkLst>
        </pc:spChg>
        <pc:spChg chg="mod">
          <ac:chgData name="Antle, Rick" userId="c2afbbd2-30e4-4c8e-8af5-81913178ace3" providerId="ADAL" clId="{B57EF908-FF38-4F15-B5B0-20FC3326DF66}" dt="2020-02-19T19:20:00.710" v="333" actId="108"/>
          <ac:spMkLst>
            <pc:docMk/>
            <pc:sldMk cId="23647514" sldId="284"/>
            <ac:spMk id="100" creationId="{85A9A108-4F45-49BB-AC03-99346552ECE4}"/>
          </ac:spMkLst>
        </pc:spChg>
        <pc:spChg chg="del mod">
          <ac:chgData name="Antle, Rick" userId="c2afbbd2-30e4-4c8e-8af5-81913178ace3" providerId="ADAL" clId="{B57EF908-FF38-4F15-B5B0-20FC3326DF66}" dt="2020-02-19T19:19:33.330" v="324" actId="478"/>
          <ac:spMkLst>
            <pc:docMk/>
            <pc:sldMk cId="23647514" sldId="284"/>
            <ac:spMk id="108" creationId="{00000000-0000-0000-0000-000000000000}"/>
          </ac:spMkLst>
        </pc:spChg>
        <pc:spChg chg="del">
          <ac:chgData name="Antle, Rick" userId="c2afbbd2-30e4-4c8e-8af5-81913178ace3" providerId="ADAL" clId="{B57EF908-FF38-4F15-B5B0-20FC3326DF66}" dt="2020-02-19T19:19:34.619" v="325" actId="478"/>
          <ac:spMkLst>
            <pc:docMk/>
            <pc:sldMk cId="23647514" sldId="284"/>
            <ac:spMk id="109" creationId="{00000000-0000-0000-0000-000000000000}"/>
          </ac:spMkLst>
        </pc:spChg>
        <pc:cxnChg chg="del">
          <ac:chgData name="Antle, Rick" userId="c2afbbd2-30e4-4c8e-8af5-81913178ace3" providerId="ADAL" clId="{B57EF908-FF38-4F15-B5B0-20FC3326DF66}" dt="2020-02-19T19:19:29.307" v="321" actId="478"/>
          <ac:cxnSpMkLst>
            <pc:docMk/>
            <pc:sldMk cId="23647514" sldId="284"/>
            <ac:cxnSpMk id="18" creationId="{00000000-0000-0000-0000-000000000000}"/>
          </ac:cxnSpMkLst>
        </pc:cxnChg>
        <pc:cxnChg chg="del">
          <ac:chgData name="Antle, Rick" userId="c2afbbd2-30e4-4c8e-8af5-81913178ace3" providerId="ADAL" clId="{B57EF908-FF38-4F15-B5B0-20FC3326DF66}" dt="2020-02-19T19:19:30.212" v="322" actId="478"/>
          <ac:cxnSpMkLst>
            <pc:docMk/>
            <pc:sldMk cId="23647514" sldId="284"/>
            <ac:cxnSpMk id="21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2D5D2-A2DD-4F13-A170-E7162B57EC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B1B102-D250-49C8-A73C-B2B5D830B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BD6C-6956-450B-9C00-9ABD2C0B9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679DD-4EE0-4294-888D-D454373A8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C6CC7-042B-4902-AF33-8EAEEAF4B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30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174D-5771-4715-AA9B-B72A46DE8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D749-8F9B-4BA6-92A7-95C07CF87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7A17-3718-4E42-B558-2C012F469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8E903F-BF60-4D30-857E-B7CC72BF3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72FB4-E62C-4BCA-ABE1-3D4B36CB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2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46849-8965-4A79-BC11-FD4BFF191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58C2FA-14DB-47BF-A171-63281D6F3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AA130A-59F9-42C1-BDDF-27C4992E3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556ED-738A-4E63-AEFA-73C8198F2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F56EC-9513-431E-83F4-8606F4C1D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20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E06A9-1E49-456E-9B2C-B92BB6832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7F4D3-4FD2-425B-9309-04366A765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DD000-2356-4822-8F7E-DD30A882F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C61EC-DD5A-4081-AEE5-28E7B4465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CCED6-D894-4078-973D-BEDE6A55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FDD36-E660-4BC9-B489-F808CAAC0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34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542AD-F16E-49E9-8F82-B6EFAE9A8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36C2-33F4-49BA-8806-609C4F765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38EFE-09C8-4715-99BA-5C6BD547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F8E4AC-E218-41A4-B255-946118339F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F3D351-906B-4A56-B4E1-48E3AF70E1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1B3DB0-66C0-405A-BA65-40B8E27B5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ED817C-041C-435B-87BC-67342FF41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96BA2-1924-4439-970D-CAD28383C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4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CF2C-C828-4D37-B6D9-9BF64D9EC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7039F-7A99-4E6F-87E8-FC540C24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A833D-746A-475B-A573-1256AC0DB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50423E-ABD3-4FAA-80EF-AF7CF4E7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612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B49F91-8513-407B-BCA0-810127D09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1F3C8-F2B2-4E6B-AB4D-6791F0F1F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D0F53-ADEF-4CBD-9C8A-F6D9BEF75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7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8E0F7-424C-47E4-9BC9-337EB063A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E890D-BF92-44E6-A1B4-5A1266541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FA8F7-3172-4714-9CAD-78EF7A37C4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FCD6A-D3A0-45A8-BCFA-174B3E36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007DAE-6D9F-4553-A3A0-70E082A2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403F6-2113-4A2A-902A-19CC19F5F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189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8FB04-9BF3-497C-B561-E31A24146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F98CC3-908B-4509-86AE-F893D4B62A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08D4D-9015-4FBA-BA42-EAE86BDEF6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3B172-4137-45A3-A7ED-94D94314C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7928FA-4755-4C6B-8E27-D3E8894F7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2816C9-0682-43D5-A08D-00AB7578D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95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79AB-8F5E-43D9-B044-C1423C836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7BCC20-302A-484A-8671-0A56CAFD3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F264E-7CDF-4C9C-8C41-6DDDE82C2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1A0D0-535A-4C21-AAF8-008BCB05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1CCD1-6457-4DA3-9EB0-91F46421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2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934138-E220-4EE6-BD3E-07A9040BD1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C94CE-A273-45B2-AE4C-2FE95A561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5361-150E-42D2-AE21-A4E2E15B0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E6A5-CDFC-425C-991B-5535886EA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9109D-EA81-49E9-88B0-46CFC86C6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2247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8DD2F4-8E5B-44DC-9845-45F6D448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9B99E-7542-4520-9048-BFF5F1F7C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6185F-17AE-4714-AA3D-EE847CD86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844516-32BA-49D3-B2FF-89F72C53AC6E}" type="datetimeFigureOut">
              <a:rPr lang="en-US" smtClean="0"/>
              <a:t>2/18/2020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7D9DF-303F-4085-90F7-A215D788C4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866F5-B0DC-4A19-AD3C-6033BB0811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475CF-8A57-480B-85B3-F948A0C86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674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A5610-50E7-4F70-960A-E63ECC443F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en-US">
                <a:solidFill>
                  <a:srgbClr val="483C46"/>
                </a:solidFill>
                <a:latin typeface="Avenir Next LT Pro"/>
              </a:rPr>
              <a:t>Framework</a:t>
            </a:r>
            <a:endParaRPr lang="en-US" dirty="0">
              <a:solidFill>
                <a:srgbClr val="483C46"/>
              </a:solidFill>
              <a:latin typeface="Avenir Next LT Pro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D715DF8-4477-431C-A280-84827C252C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78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4094848" y="1649000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Entity</a:t>
            </a:r>
          </a:p>
          <a:p>
            <a:pPr algn="ctr"/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7D1DF1-7C65-4C22-BCA3-CB5C3FB6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351" y="354478"/>
            <a:ext cx="4421187" cy="3074522"/>
          </a:xfrm>
        </p:spPr>
        <p:txBody>
          <a:bodyPr/>
          <a:lstStyle/>
          <a:p>
            <a:r>
              <a:rPr lang="en-US" dirty="0"/>
              <a:t>Individual</a:t>
            </a:r>
          </a:p>
          <a:p>
            <a:r>
              <a:rPr lang="en-US" dirty="0"/>
              <a:t>Partnership</a:t>
            </a:r>
          </a:p>
          <a:p>
            <a:r>
              <a:rPr lang="en-US" dirty="0"/>
              <a:t>Limited Liability Company</a:t>
            </a:r>
          </a:p>
          <a:p>
            <a:r>
              <a:rPr lang="en-US" dirty="0"/>
              <a:t>Corporation</a:t>
            </a:r>
          </a:p>
          <a:p>
            <a:r>
              <a:rPr lang="en-US" dirty="0"/>
              <a:t>Non-Profit</a:t>
            </a:r>
          </a:p>
          <a:p>
            <a:r>
              <a:rPr lang="en-US" dirty="0"/>
              <a:t>Government</a:t>
            </a:r>
          </a:p>
        </p:txBody>
      </p:sp>
    </p:spTree>
    <p:extLst>
      <p:ext uri="{BB962C8B-B14F-4D97-AF65-F5344CB8AC3E}">
        <p14:creationId xmlns:p14="http://schemas.microsoft.com/office/powerpoint/2010/main" val="199649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40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8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 descr="A picture containing food&#10;&#10;Description generated with very high confidence">
            <a:extLst>
              <a:ext uri="{FF2B5EF4-FFF2-40B4-BE49-F238E27FC236}">
                <a16:creationId xmlns:a16="http://schemas.microsoft.com/office/drawing/2014/main" id="{C35DC992-9A41-486A-A972-B96A5AC94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203" y="4850798"/>
            <a:ext cx="1503680" cy="1524000"/>
          </a:xfrm>
          <a:prstGeom prst="rect">
            <a:avLst/>
          </a:prstGeom>
        </p:spPr>
      </p:pic>
      <p:pic>
        <p:nvPicPr>
          <p:cNvPr id="14" name="Picture 14" descr="A picture containing food, drawing&#10;&#10;Description generated with very high confidence">
            <a:extLst>
              <a:ext uri="{FF2B5EF4-FFF2-40B4-BE49-F238E27FC236}">
                <a16:creationId xmlns:a16="http://schemas.microsoft.com/office/drawing/2014/main" id="{B5142ACA-8648-409F-AA08-E14780467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313171"/>
            <a:ext cx="1503680" cy="1524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" y="9080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Three things that are important to keep in mind about accounting</a:t>
            </a:r>
          </a:p>
        </p:txBody>
      </p:sp>
      <p:pic>
        <p:nvPicPr>
          <p:cNvPr id="9" name="Picture 9" descr="A close up of a sign&#10;&#10;Description generated with very high confidence">
            <a:extLst>
              <a:ext uri="{FF2B5EF4-FFF2-40B4-BE49-F238E27FC236}">
                <a16:creationId xmlns:a16="http://schemas.microsoft.com/office/drawing/2014/main" id="{4FCAA7C9-682E-440F-B3CC-1CBC17C883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15" y="1859049"/>
            <a:ext cx="1498600" cy="152908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6560" y="2213090"/>
            <a:ext cx="9652000" cy="100315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483C46"/>
                </a:solidFill>
                <a:latin typeface="Avenir Next LT Pro"/>
              </a:rPr>
              <a:t>Aspirations</a:t>
            </a:r>
            <a:r>
              <a:rPr lang="en-US" dirty="0">
                <a:solidFill>
                  <a:srgbClr val="483C46"/>
                </a:solidFill>
                <a:latin typeface="Avenir Next LT Pro"/>
              </a:rPr>
              <a:t>: </a:t>
            </a:r>
            <a:r>
              <a:rPr lang="en-US">
                <a:solidFill>
                  <a:srgbClr val="483C46"/>
                </a:solidFill>
                <a:latin typeface="Avenir Next LT Pro"/>
              </a:rPr>
              <a:t>Show value </a:t>
            </a:r>
            <a:r>
              <a:rPr lang="en-US" dirty="0">
                <a:solidFill>
                  <a:srgbClr val="483C46"/>
                </a:solidFill>
                <a:latin typeface="Avenir Next LT Pro"/>
              </a:rPr>
              <a:t>and how it changes.</a:t>
            </a:r>
            <a:endParaRPr lang="en-US" dirty="0">
              <a:solidFill>
                <a:srgbClr val="483C46"/>
              </a:solidFill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B17D8-68A5-8A4C-9A5A-916968DB0419}" type="slidenum">
              <a:rPr lang="en-US" smtClean="0"/>
              <a:t>3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595D58-2FA2-498B-9645-5A854DA97421}"/>
              </a:ext>
            </a:extLst>
          </p:cNvPr>
          <p:cNvSpPr txBox="1"/>
          <p:nvPr/>
        </p:nvSpPr>
        <p:spPr>
          <a:xfrm>
            <a:off x="1656080" y="5028276"/>
            <a:ext cx="9647381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solidFill>
                  <a:srgbClr val="483C46"/>
                </a:solidFill>
                <a:latin typeface="Avenir Next LT Pro"/>
              </a:rPr>
              <a:t>Context: </a:t>
            </a:r>
            <a:r>
              <a:rPr lang="en-US" sz="2800" dirty="0">
                <a:solidFill>
                  <a:srgbClr val="483C46"/>
                </a:solidFill>
                <a:latin typeface="Avenir Next LT Pro"/>
              </a:rPr>
              <a:t>Social/economic/political setting.​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F347AF-A9BA-4FD8-99A5-14CA7C40531D}"/>
              </a:ext>
            </a:extLst>
          </p:cNvPr>
          <p:cNvSpPr txBox="1"/>
          <p:nvPr/>
        </p:nvSpPr>
        <p:spPr>
          <a:xfrm>
            <a:off x="1686560" y="3648678"/>
            <a:ext cx="1010873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dirty="0">
                <a:solidFill>
                  <a:srgbClr val="483C46"/>
                </a:solidFill>
                <a:latin typeface="Avenir Next LT Pro"/>
              </a:rPr>
              <a:t>Conventions:</a:t>
            </a:r>
            <a:r>
              <a:rPr lang="en-US" sz="2800" dirty="0">
                <a:solidFill>
                  <a:srgbClr val="483C46"/>
                </a:solidFill>
                <a:latin typeface="Avenir Next LT Pro"/>
              </a:rPr>
              <a:t> Practical guides.​</a:t>
            </a:r>
          </a:p>
        </p:txBody>
      </p:sp>
    </p:spTree>
    <p:extLst>
      <p:ext uri="{BB962C8B-B14F-4D97-AF65-F5344CB8AC3E}">
        <p14:creationId xmlns:p14="http://schemas.microsoft.com/office/powerpoint/2010/main" val="55729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  <p:bldP spid="11" grpId="0"/>
      <p:bldP spid="13" grpId="0"/>
      <p:bldP spid="1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Entity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Customers</a:t>
            </a:r>
          </a:p>
        </p:txBody>
      </p:sp>
    </p:spTree>
    <p:extLst>
      <p:ext uri="{BB962C8B-B14F-4D97-AF65-F5344CB8AC3E}">
        <p14:creationId xmlns:p14="http://schemas.microsoft.com/office/powerpoint/2010/main" val="23647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Entity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30008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b="1" dirty="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108" name="TextBox 107"/>
          <p:cNvSpPr txBox="1"/>
          <p:nvPr/>
        </p:nvSpPr>
        <p:spPr>
          <a:xfrm rot="19068021">
            <a:off x="5813972" y="981781"/>
            <a:ext cx="2483414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Dividends</a:t>
            </a:r>
            <a:r>
              <a:rPr lang="en-US" sz="1200" dirty="0">
                <a:solidFill>
                  <a:srgbClr val="483C46"/>
                </a:solidFill>
                <a:latin typeface="Avenir Next LT Pro"/>
              </a:rPr>
              <a:t> &amp; </a:t>
            </a:r>
            <a:r>
              <a:rPr lang="en-US" sz="1200" dirty="0">
                <a:solidFill>
                  <a:srgbClr val="483C46"/>
                </a:solidFill>
                <a:ea typeface="+mn-lt"/>
                <a:cs typeface="+mn-lt"/>
              </a:rPr>
              <a:t>O</a:t>
            </a:r>
            <a:r>
              <a:rPr lang="en-US" sz="1200" dirty="0">
                <a:solidFill>
                  <a:srgbClr val="483C46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 dirty="0">
                <a:solidFill>
                  <a:srgbClr val="483C46"/>
                </a:solidFill>
                <a:latin typeface="Avenir Next LT Pro"/>
              </a:rPr>
              <a:t>OWNERS</a:t>
            </a:r>
            <a:endParaRPr lang="en-US" b="1" dirty="0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09" name="TextBox 108"/>
          <p:cNvSpPr txBox="1"/>
          <p:nvPr/>
        </p:nvSpPr>
        <p:spPr>
          <a:xfrm rot="19080000">
            <a:off x="6079714" y="1228810"/>
            <a:ext cx="242367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 dirty="0">
                <a:latin typeface="Avenir Next LT Pro"/>
              </a:rPr>
              <a:t>P</a:t>
            </a:r>
            <a:r>
              <a:rPr lang="en-US" sz="1400" dirty="0">
                <a:solidFill>
                  <a:srgbClr val="483C46"/>
                </a:solidFill>
                <a:latin typeface="Avenir Next LT Pro"/>
              </a:rPr>
              <a:t>rincipal</a:t>
            </a:r>
            <a:r>
              <a:rPr lang="en-US" sz="1300" dirty="0">
                <a:latin typeface="Avenir Next LT Pro"/>
              </a:rPr>
              <a:t> &amp; Interest Payments</a:t>
            </a:r>
          </a:p>
          <a:p>
            <a:pPr algn="ctr"/>
            <a:r>
              <a:rPr lang="en-US" sz="1300" b="1" dirty="0">
                <a:latin typeface="Avenir Next LT Pro"/>
              </a:rPr>
              <a:t>LENDERS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Customers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52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108" grpId="0"/>
      <p:bldP spid="108" grpId="1"/>
      <p:bldP spid="1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Avenir Next LT Pro"/>
              </a:rPr>
              <a:t>Entity</a:t>
            </a:r>
            <a:endParaRPr lang="en-US" sz="1400" dirty="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dirty="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41621" y="652899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Customers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D5B45-B917-41EB-9AD9-BED49FBE396E}"/>
              </a:ext>
            </a:extLst>
          </p:cNvPr>
          <p:cNvSpPr txBox="1"/>
          <p:nvPr/>
        </p:nvSpPr>
        <p:spPr>
          <a:xfrm rot="19080000">
            <a:off x="6031401" y="1258841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 dirty="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Principal &amp; Interest Payments</a:t>
            </a:r>
          </a:p>
          <a:p>
            <a:pPr algn="ctr"/>
            <a:r>
              <a:rPr lang="en-US" sz="1300" b="1" dirty="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LENDERS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DB609-1D8A-4308-A5E6-B931FA6A1605}"/>
              </a:ext>
            </a:extLst>
          </p:cNvPr>
          <p:cNvSpPr txBox="1"/>
          <p:nvPr/>
        </p:nvSpPr>
        <p:spPr>
          <a:xfrm rot="19068021">
            <a:off x="5824907" y="1025508"/>
            <a:ext cx="239903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Dividends &amp; 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O</a:t>
            </a:r>
            <a:r>
              <a:rPr lang="en-US" sz="1200" dirty="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 dirty="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OWNERS</a:t>
            </a:r>
            <a:endParaRPr lang="en-US" b="1" dirty="0">
              <a:solidFill>
                <a:schemeClr val="bg2">
                  <a:lumMod val="75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4AA916-06F8-4B95-9D36-B0596CD2293E}"/>
              </a:ext>
            </a:extLst>
          </p:cNvPr>
          <p:cNvCxnSpPr/>
          <p:nvPr/>
        </p:nvCxnSpPr>
        <p:spPr>
          <a:xfrm rot="3127788">
            <a:off x="7761472" y="2167184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931D21-D085-4FF0-8DD1-D0C7FFB6F8A6}"/>
              </a:ext>
            </a:extLst>
          </p:cNvPr>
          <p:cNvCxnSpPr>
            <a:cxnSpLocks/>
          </p:cNvCxnSpPr>
          <p:nvPr/>
        </p:nvCxnSpPr>
        <p:spPr>
          <a:xfrm rot="3127788" flipV="1">
            <a:off x="7870313" y="2305226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7F159B-F827-4A73-99D4-AC764859C7E2}"/>
              </a:ext>
            </a:extLst>
          </p:cNvPr>
          <p:cNvSpPr txBox="1"/>
          <p:nvPr/>
        </p:nvSpPr>
        <p:spPr>
          <a:xfrm rot="19287229">
            <a:off x="7094758" y="1907045"/>
            <a:ext cx="1106393" cy="52322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Managerial</a:t>
            </a:r>
          </a:p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8D785-C4B8-4757-80D2-206E4CE2A5BC}"/>
              </a:ext>
            </a:extLst>
          </p:cNvPr>
          <p:cNvSpPr txBox="1"/>
          <p:nvPr/>
        </p:nvSpPr>
        <p:spPr>
          <a:xfrm rot="20878139">
            <a:off x="7601508" y="2624669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 dirty="0">
                <a:latin typeface="Avenir Next LT Pro"/>
              </a:rPr>
              <a:t>Salary, bonus, incentive payments, equity awards</a:t>
            </a:r>
          </a:p>
        </p:txBody>
      </p:sp>
    </p:spTree>
    <p:extLst>
      <p:ext uri="{BB962C8B-B14F-4D97-AF65-F5344CB8AC3E}">
        <p14:creationId xmlns:p14="http://schemas.microsoft.com/office/powerpoint/2010/main" val="1164823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Avenir Next LT Pro"/>
              </a:rPr>
              <a:t>Entity</a:t>
            </a:r>
            <a:endParaRPr lang="en-US" sz="140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41621" y="652899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D5B45-B917-41EB-9AD9-BED49FBE396E}"/>
              </a:ext>
            </a:extLst>
          </p:cNvPr>
          <p:cNvSpPr txBox="1"/>
          <p:nvPr/>
        </p:nvSpPr>
        <p:spPr>
          <a:xfrm rot="19080000">
            <a:off x="6121638" y="1329025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Principal &amp; Interest Payments</a:t>
            </a:r>
          </a:p>
          <a:p>
            <a:pPr algn="ctr"/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LENDERS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DB609-1D8A-4308-A5E6-B931FA6A1605}"/>
              </a:ext>
            </a:extLst>
          </p:cNvPr>
          <p:cNvSpPr txBox="1"/>
          <p:nvPr/>
        </p:nvSpPr>
        <p:spPr>
          <a:xfrm rot="19068021">
            <a:off x="5824907" y="1025508"/>
            <a:ext cx="239903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Dividends &amp; 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OWNERS</a:t>
            </a:r>
            <a:endParaRPr lang="en-US" b="1">
              <a:solidFill>
                <a:schemeClr val="bg2">
                  <a:lumMod val="75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4AA916-06F8-4B95-9D36-B0596CD2293E}"/>
              </a:ext>
            </a:extLst>
          </p:cNvPr>
          <p:cNvCxnSpPr/>
          <p:nvPr/>
        </p:nvCxnSpPr>
        <p:spPr>
          <a:xfrm rot="3127788">
            <a:off x="7761472" y="2167184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931D21-D085-4FF0-8DD1-D0C7FFB6F8A6}"/>
              </a:ext>
            </a:extLst>
          </p:cNvPr>
          <p:cNvCxnSpPr>
            <a:cxnSpLocks/>
          </p:cNvCxnSpPr>
          <p:nvPr/>
        </p:nvCxnSpPr>
        <p:spPr>
          <a:xfrm rot="3127788" flipV="1">
            <a:off x="7870313" y="2305226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7F159B-F827-4A73-99D4-AC764859C7E2}"/>
              </a:ext>
            </a:extLst>
          </p:cNvPr>
          <p:cNvSpPr txBox="1"/>
          <p:nvPr/>
        </p:nvSpPr>
        <p:spPr>
          <a:xfrm rot="19287229">
            <a:off x="7094758" y="1907045"/>
            <a:ext cx="110639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Managerial</a:t>
            </a:r>
          </a:p>
          <a:p>
            <a:r>
              <a:rPr lang="en-US"/>
              <a:t>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8D785-C4B8-4757-80D2-206E4CE2A5BC}"/>
              </a:ext>
            </a:extLst>
          </p:cNvPr>
          <p:cNvSpPr txBox="1"/>
          <p:nvPr/>
        </p:nvSpPr>
        <p:spPr>
          <a:xfrm rot="20878139">
            <a:off x="7601508" y="2624669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Salary, bonus, incentive payments, equity awards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882E-50C2-4A2C-BDDE-F56CFDEDC5E2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Salary &amp; bonus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E40D5D-D5FB-4EE4-8BB2-FC1701F5E24D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BD0067-29F0-4627-97AB-778A56900CD1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">
            <a:extLst>
              <a:ext uri="{FF2B5EF4-FFF2-40B4-BE49-F238E27FC236}">
                <a16:creationId xmlns:a16="http://schemas.microsoft.com/office/drawing/2014/main" id="{84F27887-D82D-4E3D-8713-1499011F5FEB}"/>
              </a:ext>
            </a:extLst>
          </p:cNvPr>
          <p:cNvSpPr txBox="1"/>
          <p:nvPr/>
        </p:nvSpPr>
        <p:spPr>
          <a:xfrm>
            <a:off x="8136456" y="3836091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483C46"/>
                </a:solidFill>
                <a:latin typeface="Avenir Next LT Pro"/>
              </a:rPr>
              <a:t>Labor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EF93F2-74D0-47AD-8104-894CFADE0A8D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19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Avenir Next LT Pro"/>
              </a:rPr>
              <a:t>Entity</a:t>
            </a:r>
            <a:endParaRPr lang="en-US" sz="140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41621" y="652899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D5B45-B917-41EB-9AD9-BED49FBE396E}"/>
              </a:ext>
            </a:extLst>
          </p:cNvPr>
          <p:cNvSpPr txBox="1"/>
          <p:nvPr/>
        </p:nvSpPr>
        <p:spPr>
          <a:xfrm rot="19080000">
            <a:off x="6121638" y="1329025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Principal &amp; Interest Payments</a:t>
            </a:r>
          </a:p>
          <a:p>
            <a:pPr algn="ctr"/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LENDERS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DB609-1D8A-4308-A5E6-B931FA6A1605}"/>
              </a:ext>
            </a:extLst>
          </p:cNvPr>
          <p:cNvSpPr txBox="1"/>
          <p:nvPr/>
        </p:nvSpPr>
        <p:spPr>
          <a:xfrm rot="19068021">
            <a:off x="5824907" y="1025508"/>
            <a:ext cx="239903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Dividends &amp; 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OWNERS</a:t>
            </a:r>
            <a:endParaRPr lang="en-US" b="1">
              <a:solidFill>
                <a:schemeClr val="bg2">
                  <a:lumMod val="75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4AA916-06F8-4B95-9D36-B0596CD2293E}"/>
              </a:ext>
            </a:extLst>
          </p:cNvPr>
          <p:cNvCxnSpPr/>
          <p:nvPr/>
        </p:nvCxnSpPr>
        <p:spPr>
          <a:xfrm rot="3127788">
            <a:off x="7761472" y="2167184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931D21-D085-4FF0-8DD1-D0C7FFB6F8A6}"/>
              </a:ext>
            </a:extLst>
          </p:cNvPr>
          <p:cNvCxnSpPr>
            <a:cxnSpLocks/>
          </p:cNvCxnSpPr>
          <p:nvPr/>
        </p:nvCxnSpPr>
        <p:spPr>
          <a:xfrm rot="3127788" flipV="1">
            <a:off x="7870313" y="2305226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7F159B-F827-4A73-99D4-AC764859C7E2}"/>
              </a:ext>
            </a:extLst>
          </p:cNvPr>
          <p:cNvSpPr txBox="1"/>
          <p:nvPr/>
        </p:nvSpPr>
        <p:spPr>
          <a:xfrm rot="19287229">
            <a:off x="7094758" y="1907045"/>
            <a:ext cx="110639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Managerial</a:t>
            </a:r>
          </a:p>
          <a:p>
            <a:r>
              <a:rPr lang="en-US"/>
              <a:t>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8D785-C4B8-4757-80D2-206E4CE2A5BC}"/>
              </a:ext>
            </a:extLst>
          </p:cNvPr>
          <p:cNvSpPr txBox="1"/>
          <p:nvPr/>
        </p:nvSpPr>
        <p:spPr>
          <a:xfrm rot="20878139">
            <a:off x="7601508" y="2624669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Salary, bonus, incentive payments, equity awards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882E-50C2-4A2C-BDDE-F56CFDEDC5E2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Salary &amp; bonus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A463-DB1F-4C56-AB94-F85CF0153002}"/>
              </a:ext>
            </a:extLst>
          </p:cNvPr>
          <p:cNvSpPr txBox="1"/>
          <p:nvPr/>
        </p:nvSpPr>
        <p:spPr>
          <a:xfrm>
            <a:off x="8311213" y="4456450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E40D5D-D5FB-4EE4-8BB2-FC1701F5E24D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BD0067-29F0-4627-97AB-778A56900CD1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">
            <a:extLst>
              <a:ext uri="{FF2B5EF4-FFF2-40B4-BE49-F238E27FC236}">
                <a16:creationId xmlns:a16="http://schemas.microsoft.com/office/drawing/2014/main" id="{84F27887-D82D-4E3D-8713-1499011F5FEB}"/>
              </a:ext>
            </a:extLst>
          </p:cNvPr>
          <p:cNvSpPr txBox="1"/>
          <p:nvPr/>
        </p:nvSpPr>
        <p:spPr>
          <a:xfrm>
            <a:off x="8066881" y="3855798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EF93F2-74D0-47AD-8104-894CFADE0A8D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Employees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5BCFF-A0C5-4B71-AF73-25D0141266F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Avenir Next LT Pro"/>
              </a:rPr>
              <a:t>$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0F88A-68EC-4777-A72C-1FE371E8BA31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D9B967-3F59-40DA-8225-D26BB9E21C5B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F9BD0A-CEFD-4DCF-AF08-56E79AF466AB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483C46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DA8C06-D6A2-46B4-A56F-B4354CD07649}"/>
              </a:ext>
            </a:extLst>
          </p:cNvPr>
          <p:cNvSpPr/>
          <p:nvPr/>
        </p:nvSpPr>
        <p:spPr>
          <a:xfrm>
            <a:off x="1833600" y="517174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28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Avenir Next LT Pro"/>
              </a:rPr>
              <a:t>Entity</a:t>
            </a:r>
            <a:endParaRPr lang="en-US" sz="140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venir Next LT Pro"/>
              </a:rPr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41621" y="652899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D5B45-B917-41EB-9AD9-BED49FBE396E}"/>
              </a:ext>
            </a:extLst>
          </p:cNvPr>
          <p:cNvSpPr txBox="1"/>
          <p:nvPr/>
        </p:nvSpPr>
        <p:spPr>
          <a:xfrm rot="19080000">
            <a:off x="6121638" y="1329025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Principal &amp; Interest Payments</a:t>
            </a:r>
          </a:p>
          <a:p>
            <a:pPr algn="ctr"/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LENDERS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DB609-1D8A-4308-A5E6-B931FA6A1605}"/>
              </a:ext>
            </a:extLst>
          </p:cNvPr>
          <p:cNvSpPr txBox="1"/>
          <p:nvPr/>
        </p:nvSpPr>
        <p:spPr>
          <a:xfrm rot="19068021">
            <a:off x="5824907" y="1025508"/>
            <a:ext cx="239903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Dividends &amp; 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OWNERS</a:t>
            </a:r>
            <a:endParaRPr lang="en-US" b="1">
              <a:solidFill>
                <a:schemeClr val="bg2">
                  <a:lumMod val="75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4AA916-06F8-4B95-9D36-B0596CD2293E}"/>
              </a:ext>
            </a:extLst>
          </p:cNvPr>
          <p:cNvCxnSpPr/>
          <p:nvPr/>
        </p:nvCxnSpPr>
        <p:spPr>
          <a:xfrm rot="3127788">
            <a:off x="7761472" y="2167184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931D21-D085-4FF0-8DD1-D0C7FFB6F8A6}"/>
              </a:ext>
            </a:extLst>
          </p:cNvPr>
          <p:cNvCxnSpPr>
            <a:cxnSpLocks/>
          </p:cNvCxnSpPr>
          <p:nvPr/>
        </p:nvCxnSpPr>
        <p:spPr>
          <a:xfrm rot="3127788" flipV="1">
            <a:off x="7870313" y="2305226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7F159B-F827-4A73-99D4-AC764859C7E2}"/>
              </a:ext>
            </a:extLst>
          </p:cNvPr>
          <p:cNvSpPr txBox="1"/>
          <p:nvPr/>
        </p:nvSpPr>
        <p:spPr>
          <a:xfrm rot="19287229">
            <a:off x="7094758" y="1907045"/>
            <a:ext cx="110639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Managerial</a:t>
            </a:r>
          </a:p>
          <a:p>
            <a:r>
              <a:rPr lang="en-US"/>
              <a:t>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8D785-C4B8-4757-80D2-206E4CE2A5BC}"/>
              </a:ext>
            </a:extLst>
          </p:cNvPr>
          <p:cNvSpPr txBox="1"/>
          <p:nvPr/>
        </p:nvSpPr>
        <p:spPr>
          <a:xfrm rot="20878139">
            <a:off x="7601508" y="2624669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Salary, bonus, incentive payments, equity awards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882E-50C2-4A2C-BDDE-F56CFDEDC5E2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Salary &amp; bonus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A463-DB1F-4C56-AB94-F85CF0153002}"/>
              </a:ext>
            </a:extLst>
          </p:cNvPr>
          <p:cNvSpPr txBox="1"/>
          <p:nvPr/>
        </p:nvSpPr>
        <p:spPr>
          <a:xfrm>
            <a:off x="8311213" y="4456450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E40D5D-D5FB-4EE4-8BB2-FC1701F5E24D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BD0067-29F0-4627-97AB-778A56900CD1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">
            <a:extLst>
              <a:ext uri="{FF2B5EF4-FFF2-40B4-BE49-F238E27FC236}">
                <a16:creationId xmlns:a16="http://schemas.microsoft.com/office/drawing/2014/main" id="{84F27887-D82D-4E3D-8713-1499011F5FEB}"/>
              </a:ext>
            </a:extLst>
          </p:cNvPr>
          <p:cNvSpPr txBox="1"/>
          <p:nvPr/>
        </p:nvSpPr>
        <p:spPr>
          <a:xfrm>
            <a:off x="8066881" y="3855798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EF93F2-74D0-47AD-8104-894CFADE0A8D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Employees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5BCFF-A0C5-4B71-AF73-25D0141266F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0F88A-68EC-4777-A72C-1FE371E8BA31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D9B967-3F59-40DA-8225-D26BB9E21C5B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F9BD0A-CEFD-4DCF-AF08-56E79AF466AB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bg1">
                  <a:lumMod val="85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DA8C06-D6A2-46B4-A56F-B4354CD07649}"/>
              </a:ext>
            </a:extLst>
          </p:cNvPr>
          <p:cNvSpPr/>
          <p:nvPr/>
        </p:nvSpPr>
        <p:spPr>
          <a:xfrm>
            <a:off x="1823574" y="5181773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latin typeface="Avenir Next LT Pro"/>
              </a:rPr>
              <a:t>Suppliers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4F351-2038-4B2C-82D0-EAAB476465B3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1B855-4D42-43F8-998D-A174EC50B00E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218194-BE7E-4273-A819-9DD11A44003E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1DAA99-5DEC-4350-8F4C-1A8320ECC8E7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2F640A2-4FD7-4DEC-83FB-FC077B82A9A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539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Avenir Next LT Pro"/>
              </a:rPr>
              <a:t>Entity</a:t>
            </a:r>
            <a:endParaRPr lang="en-US" sz="1400">
              <a:latin typeface="Avenir Next LT Pro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$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41621" y="652899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D5B45-B917-41EB-9AD9-BED49FBE396E}"/>
              </a:ext>
            </a:extLst>
          </p:cNvPr>
          <p:cNvSpPr txBox="1"/>
          <p:nvPr/>
        </p:nvSpPr>
        <p:spPr>
          <a:xfrm rot="19080000">
            <a:off x="6121638" y="1329025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Principal &amp; Interest Payments</a:t>
            </a:r>
          </a:p>
          <a:p>
            <a:pPr algn="ctr"/>
            <a:r>
              <a:rPr lang="en-US" sz="13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LENDERS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DB609-1D8A-4308-A5E6-B931FA6A1605}"/>
              </a:ext>
            </a:extLst>
          </p:cNvPr>
          <p:cNvSpPr txBox="1"/>
          <p:nvPr/>
        </p:nvSpPr>
        <p:spPr>
          <a:xfrm rot="19068021">
            <a:off x="5824907" y="1025508"/>
            <a:ext cx="239903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Dividends &amp; 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chemeClr val="bg2">
                    <a:lumMod val="75000"/>
                  </a:schemeClr>
                </a:solidFill>
                <a:latin typeface="Avenir Next LT Pro"/>
              </a:rPr>
              <a:t>OWNERS</a:t>
            </a:r>
            <a:endParaRPr lang="en-US" b="1">
              <a:solidFill>
                <a:schemeClr val="bg2">
                  <a:lumMod val="75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4AA916-06F8-4B95-9D36-B0596CD2293E}"/>
              </a:ext>
            </a:extLst>
          </p:cNvPr>
          <p:cNvCxnSpPr/>
          <p:nvPr/>
        </p:nvCxnSpPr>
        <p:spPr>
          <a:xfrm rot="3127788">
            <a:off x="7761472" y="2167184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931D21-D085-4FF0-8DD1-D0C7FFB6F8A6}"/>
              </a:ext>
            </a:extLst>
          </p:cNvPr>
          <p:cNvCxnSpPr>
            <a:cxnSpLocks/>
          </p:cNvCxnSpPr>
          <p:nvPr/>
        </p:nvCxnSpPr>
        <p:spPr>
          <a:xfrm rot="3127788" flipV="1">
            <a:off x="7870313" y="2305226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7F159B-F827-4A73-99D4-AC764859C7E2}"/>
              </a:ext>
            </a:extLst>
          </p:cNvPr>
          <p:cNvSpPr txBox="1"/>
          <p:nvPr/>
        </p:nvSpPr>
        <p:spPr>
          <a:xfrm rot="19287229">
            <a:off x="7094758" y="1907045"/>
            <a:ext cx="110639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Managerial</a:t>
            </a:r>
          </a:p>
          <a:p>
            <a:r>
              <a:rPr lang="en-US"/>
              <a:t>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8D785-C4B8-4757-80D2-206E4CE2A5BC}"/>
              </a:ext>
            </a:extLst>
          </p:cNvPr>
          <p:cNvSpPr txBox="1"/>
          <p:nvPr/>
        </p:nvSpPr>
        <p:spPr>
          <a:xfrm rot="20878139">
            <a:off x="7601508" y="2624669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/>
              <a:t>Salary, bonus, incentive payments, equity awards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882E-50C2-4A2C-BDDE-F56CFDEDC5E2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Salary &amp; bonus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A463-DB1F-4C56-AB94-F85CF0153002}"/>
              </a:ext>
            </a:extLst>
          </p:cNvPr>
          <p:cNvSpPr txBox="1"/>
          <p:nvPr/>
        </p:nvSpPr>
        <p:spPr>
          <a:xfrm>
            <a:off x="8311213" y="4456450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E40D5D-D5FB-4EE4-8BB2-FC1701F5E24D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BD0067-29F0-4627-97AB-778A56900CD1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">
            <a:extLst>
              <a:ext uri="{FF2B5EF4-FFF2-40B4-BE49-F238E27FC236}">
                <a16:creationId xmlns:a16="http://schemas.microsoft.com/office/drawing/2014/main" id="{84F27887-D82D-4E3D-8713-1499011F5FEB}"/>
              </a:ext>
            </a:extLst>
          </p:cNvPr>
          <p:cNvSpPr txBox="1"/>
          <p:nvPr/>
        </p:nvSpPr>
        <p:spPr>
          <a:xfrm>
            <a:off x="8066881" y="3855798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Labor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EF93F2-74D0-47AD-8104-894CFADE0A8D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Employees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5BCFF-A0C5-4B71-AF73-25D0141266F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$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0F88A-68EC-4777-A72C-1FE371E8BA31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D9B967-3F59-40DA-8225-D26BB9E21C5B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F9BD0A-CEFD-4DCF-AF08-56E79AF466AB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Goods &amp;Services </a:t>
            </a:r>
            <a:endParaRPr lang="en-US">
              <a:solidFill>
                <a:schemeClr val="bg1">
                  <a:lumMod val="85000"/>
                </a:schemeClr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DA8C06-D6A2-46B4-A56F-B4354CD07649}"/>
              </a:ext>
            </a:extLst>
          </p:cNvPr>
          <p:cNvSpPr/>
          <p:nvPr/>
        </p:nvSpPr>
        <p:spPr>
          <a:xfrm>
            <a:off x="1823574" y="5181773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Suppliers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4F351-2038-4B2C-82D0-EAAB476465B3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1B855-4D42-43F8-998D-A174EC50B00E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chemeClr val="bg1">
                    <a:lumMod val="85000"/>
                  </a:schemeClr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218194-BE7E-4273-A819-9DD11A44003E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1DAA99-5DEC-4350-8F4C-1A8320ECC8E7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2F640A2-4FD7-4DEC-83FB-FC077B82A9A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Government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DFC6EA-175F-43DE-AA33-56FEF90E49F9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63FE671-5D73-4BEF-B60A-05F6135E3884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4091B-9899-4B84-A31E-558C0F027D36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AAB294-C595-4A8A-B9F1-A3B034988D82}"/>
              </a:ext>
            </a:extLst>
          </p:cNvPr>
          <p:cNvSpPr/>
          <p:nvPr/>
        </p:nvSpPr>
        <p:spPr>
          <a:xfrm>
            <a:off x="1835008" y="617237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6838A6-3067-4D31-AC5D-CF597A28A988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1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/>
          <p:cNvSpPr/>
          <p:nvPr/>
        </p:nvSpPr>
        <p:spPr>
          <a:xfrm>
            <a:off x="3953936" y="2399771"/>
            <a:ext cx="4002304" cy="3847427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>
                <a:latin typeface="Avenir Next LT Pro"/>
              </a:rPr>
              <a:t>Entity</a:t>
            </a:r>
            <a:endParaRPr lang="en-US" sz="1400">
              <a:latin typeface="Avenir Next LT Pr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80493" y="6523345"/>
            <a:ext cx="48881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latin typeface="Avenir Next LT Pro"/>
              </a:rPr>
              <a:t>Source: SOM Professor Shyam Sunder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782007" y="1610947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cxnSpLocks/>
          </p:cNvCxnSpPr>
          <p:nvPr/>
        </p:nvCxnSpPr>
        <p:spPr>
          <a:xfrm flipV="1">
            <a:off x="5955383" y="1610947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</p:cNvCxnSpPr>
          <p:nvPr/>
        </p:nvCxnSpPr>
        <p:spPr>
          <a:xfrm>
            <a:off x="29210356" y="14548357"/>
            <a:ext cx="26629095" cy="87780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5394817" y="175860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$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3DE92C2-C8F1-47DD-98FE-9DEDE2C81FA7}"/>
              </a:ext>
            </a:extLst>
          </p:cNvPr>
          <p:cNvSpPr/>
          <p:nvPr/>
        </p:nvSpPr>
        <p:spPr>
          <a:xfrm>
            <a:off x="5056613" y="7438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Money Providers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E9A1D84-BFE9-4D02-AC53-E7B1CE87A179}"/>
              </a:ext>
            </a:extLst>
          </p:cNvPr>
          <p:cNvSpPr/>
          <p:nvPr/>
        </p:nvSpPr>
        <p:spPr>
          <a:xfrm>
            <a:off x="8003847" y="101490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Managers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EAC0625-A291-4444-BF86-AAB9F2D58BB7}"/>
              </a:ext>
            </a:extLst>
          </p:cNvPr>
          <p:cNvSpPr/>
          <p:nvPr/>
        </p:nvSpPr>
        <p:spPr>
          <a:xfrm>
            <a:off x="8955049" y="3583112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Employees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FB444828-91DF-432E-B628-95F8BE051F18}"/>
              </a:ext>
            </a:extLst>
          </p:cNvPr>
          <p:cNvSpPr/>
          <p:nvPr/>
        </p:nvSpPr>
        <p:spPr>
          <a:xfrm>
            <a:off x="1841621" y="5159715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9C96A383-4942-4261-AE25-13BAC8F921C6}"/>
              </a:ext>
            </a:extLst>
          </p:cNvPr>
          <p:cNvSpPr/>
          <p:nvPr/>
        </p:nvSpPr>
        <p:spPr>
          <a:xfrm>
            <a:off x="1466158" y="3233211"/>
            <a:ext cx="1606488" cy="146516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Government</a:t>
            </a:r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85A9A108-4F45-49BB-AC03-99346552ECE4}"/>
              </a:ext>
            </a:extLst>
          </p:cNvPr>
          <p:cNvSpPr/>
          <p:nvPr/>
        </p:nvSpPr>
        <p:spPr>
          <a:xfrm>
            <a:off x="1841621" y="652899"/>
            <a:ext cx="2162340" cy="221141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Customers</a:t>
            </a:r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1D5B45-B917-41EB-9AD9-BED49FBE396E}"/>
              </a:ext>
            </a:extLst>
          </p:cNvPr>
          <p:cNvSpPr txBox="1"/>
          <p:nvPr/>
        </p:nvSpPr>
        <p:spPr>
          <a:xfrm rot="19080000">
            <a:off x="6121638" y="1329025"/>
            <a:ext cx="2423675" cy="4924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300">
                <a:solidFill>
                  <a:srgbClr val="000000"/>
                </a:solidFill>
                <a:latin typeface="Avenir Next LT Pro"/>
              </a:rPr>
              <a:t>Principal &amp; Interest Payments</a:t>
            </a:r>
          </a:p>
          <a:p>
            <a:pPr algn="ctr"/>
            <a:r>
              <a:rPr lang="en-US" sz="1300" b="1">
                <a:solidFill>
                  <a:srgbClr val="000000"/>
                </a:solidFill>
                <a:latin typeface="Avenir Next LT Pro"/>
              </a:rPr>
              <a:t>LENDERS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BDB609-1D8A-4308-A5E6-B931FA6A1605}"/>
              </a:ext>
            </a:extLst>
          </p:cNvPr>
          <p:cNvSpPr txBox="1"/>
          <p:nvPr/>
        </p:nvSpPr>
        <p:spPr>
          <a:xfrm rot="19068021">
            <a:off x="5824907" y="1025508"/>
            <a:ext cx="239903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200">
                <a:solidFill>
                  <a:srgbClr val="000000"/>
                </a:solidFill>
                <a:latin typeface="Avenir Next LT Pro"/>
              </a:rPr>
              <a:t>Dividends &amp; </a:t>
            </a:r>
            <a:r>
              <a:rPr lang="en-US" sz="1200">
                <a:solidFill>
                  <a:srgbClr val="000000"/>
                </a:solidFill>
                <a:ea typeface="+mn-lt"/>
                <a:cs typeface="+mn-lt"/>
              </a:rPr>
              <a:t>O</a:t>
            </a:r>
            <a:r>
              <a:rPr lang="en-US" sz="1200">
                <a:solidFill>
                  <a:srgbClr val="000000"/>
                </a:solidFill>
                <a:latin typeface="Avenir Next LT Pro"/>
              </a:rPr>
              <a:t>wnership Claims</a:t>
            </a:r>
          </a:p>
          <a:p>
            <a:pPr algn="ctr"/>
            <a:r>
              <a:rPr lang="en-US" sz="1200" b="1">
                <a:solidFill>
                  <a:srgbClr val="000000"/>
                </a:solidFill>
                <a:latin typeface="Avenir Next LT Pro"/>
              </a:rPr>
              <a:t>OWNERS</a:t>
            </a:r>
            <a:endParaRPr lang="en-US" b="1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64AA916-06F8-4B95-9D36-B0596CD2293E}"/>
              </a:ext>
            </a:extLst>
          </p:cNvPr>
          <p:cNvCxnSpPr/>
          <p:nvPr/>
        </p:nvCxnSpPr>
        <p:spPr>
          <a:xfrm rot="3127788">
            <a:off x="7761472" y="2167184"/>
            <a:ext cx="0" cy="66690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4931D21-D085-4FF0-8DD1-D0C7FFB6F8A6}"/>
              </a:ext>
            </a:extLst>
          </p:cNvPr>
          <p:cNvCxnSpPr>
            <a:cxnSpLocks/>
          </p:cNvCxnSpPr>
          <p:nvPr/>
        </p:nvCxnSpPr>
        <p:spPr>
          <a:xfrm rot="3127788" flipV="1">
            <a:off x="7870313" y="2305226"/>
            <a:ext cx="0" cy="6608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F17F159B-F827-4A73-99D4-AC764859C7E2}"/>
              </a:ext>
            </a:extLst>
          </p:cNvPr>
          <p:cNvSpPr txBox="1"/>
          <p:nvPr/>
        </p:nvSpPr>
        <p:spPr>
          <a:xfrm rot="19287229">
            <a:off x="7094758" y="1937822"/>
            <a:ext cx="1106393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Managerial</a:t>
            </a:r>
          </a:p>
          <a:p>
            <a:r>
              <a:rPr lang="en-US">
                <a:solidFill>
                  <a:srgbClr val="000000"/>
                </a:solidFill>
              </a:rPr>
              <a:t>Services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D8D785-C4B8-4757-80D2-206E4CE2A5BC}"/>
              </a:ext>
            </a:extLst>
          </p:cNvPr>
          <p:cNvSpPr txBox="1"/>
          <p:nvPr/>
        </p:nvSpPr>
        <p:spPr>
          <a:xfrm rot="20878139">
            <a:off x="7601508" y="2640058"/>
            <a:ext cx="2423675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200">
                <a:solidFill>
                  <a:schemeClr val="bg2">
                    <a:lumMod val="75000"/>
                  </a:schemeClr>
                </a:solidFill>
                <a:latin typeface="Avenir Next LT Pro"/>
              </a:defRPr>
            </a:lvl1pPr>
          </a:lstStyle>
          <a:p>
            <a:r>
              <a:rPr lang="en-US">
                <a:solidFill>
                  <a:srgbClr val="000000"/>
                </a:solidFill>
              </a:rPr>
              <a:t>Salary, bonus, incentive payments, equity awards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7D882E-50C2-4A2C-BDDE-F56CFDEDC5E2}"/>
              </a:ext>
            </a:extLst>
          </p:cNvPr>
          <p:cNvSpPr txBox="1"/>
          <p:nvPr/>
        </p:nvSpPr>
        <p:spPr>
          <a:xfrm>
            <a:off x="7865538" y="4666937"/>
            <a:ext cx="14029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Salary &amp; bonus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A463-DB1F-4C56-AB94-F85CF0153002}"/>
              </a:ext>
            </a:extLst>
          </p:cNvPr>
          <p:cNvSpPr txBox="1"/>
          <p:nvPr/>
        </p:nvSpPr>
        <p:spPr>
          <a:xfrm>
            <a:off x="8311213" y="4456450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$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8E40D5D-D5FB-4EE4-8BB2-FC1701F5E24D}"/>
              </a:ext>
            </a:extLst>
          </p:cNvPr>
          <p:cNvCxnSpPr>
            <a:cxnSpLocks/>
          </p:cNvCxnSpPr>
          <p:nvPr/>
        </p:nvCxnSpPr>
        <p:spPr>
          <a:xfrm>
            <a:off x="8112333" y="4439818"/>
            <a:ext cx="68662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BD0067-29F0-4627-97AB-778A56900CD1}"/>
              </a:ext>
            </a:extLst>
          </p:cNvPr>
          <p:cNvCxnSpPr>
            <a:cxnSpLocks/>
          </p:cNvCxnSpPr>
          <p:nvPr/>
        </p:nvCxnSpPr>
        <p:spPr>
          <a:xfrm flipH="1">
            <a:off x="8058537" y="4242518"/>
            <a:ext cx="686622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1">
            <a:extLst>
              <a:ext uri="{FF2B5EF4-FFF2-40B4-BE49-F238E27FC236}">
                <a16:creationId xmlns:a16="http://schemas.microsoft.com/office/drawing/2014/main" id="{84F27887-D82D-4E3D-8713-1499011F5FEB}"/>
              </a:ext>
            </a:extLst>
          </p:cNvPr>
          <p:cNvSpPr txBox="1"/>
          <p:nvPr/>
        </p:nvSpPr>
        <p:spPr>
          <a:xfrm>
            <a:off x="8066881" y="3855798"/>
            <a:ext cx="659155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Labor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CEF93F2-74D0-47AD-8104-894CFADE0A8D}"/>
              </a:ext>
            </a:extLst>
          </p:cNvPr>
          <p:cNvSpPr/>
          <p:nvPr/>
        </p:nvSpPr>
        <p:spPr>
          <a:xfrm>
            <a:off x="8957054" y="3585117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Employees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5BCFF-A0C5-4B71-AF73-25D0141266F1}"/>
              </a:ext>
            </a:extLst>
          </p:cNvPr>
          <p:cNvSpPr txBox="1"/>
          <p:nvPr/>
        </p:nvSpPr>
        <p:spPr>
          <a:xfrm rot="20456451">
            <a:off x="3776442" y="5665889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$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40F88A-68EC-4777-A72C-1FE371E8BA31}"/>
              </a:ext>
            </a:extLst>
          </p:cNvPr>
          <p:cNvCxnSpPr>
            <a:cxnSpLocks/>
          </p:cNvCxnSpPr>
          <p:nvPr/>
        </p:nvCxnSpPr>
        <p:spPr>
          <a:xfrm flipV="1">
            <a:off x="3443436" y="5297162"/>
            <a:ext cx="678802" cy="2807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BD9B967-3F59-40DA-8225-D26BB9E21C5B}"/>
              </a:ext>
            </a:extLst>
          </p:cNvPr>
          <p:cNvCxnSpPr>
            <a:cxnSpLocks/>
          </p:cNvCxnSpPr>
          <p:nvPr/>
        </p:nvCxnSpPr>
        <p:spPr>
          <a:xfrm flipH="1">
            <a:off x="3499362" y="5443836"/>
            <a:ext cx="652256" cy="2928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F9BD0A-CEFD-4DCF-AF08-56E79AF466AB}"/>
              </a:ext>
            </a:extLst>
          </p:cNvPr>
          <p:cNvSpPr txBox="1"/>
          <p:nvPr/>
        </p:nvSpPr>
        <p:spPr>
          <a:xfrm>
            <a:off x="2504109" y="4867126"/>
            <a:ext cx="1729924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Goods &amp;Services </a:t>
            </a:r>
            <a:endParaRPr lang="en-US">
              <a:solidFill>
                <a:srgbClr val="000000"/>
              </a:solidFill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DA8C06-D6A2-46B4-A56F-B4354CD07649}"/>
              </a:ext>
            </a:extLst>
          </p:cNvPr>
          <p:cNvSpPr/>
          <p:nvPr/>
        </p:nvSpPr>
        <p:spPr>
          <a:xfrm>
            <a:off x="1823574" y="5181773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ea typeface="+mn-lt"/>
                <a:cs typeface="+mn-lt"/>
              </a:rPr>
              <a:t>Suppliers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4F351-2038-4B2C-82D0-EAAB476465B3}"/>
              </a:ext>
            </a:extLst>
          </p:cNvPr>
          <p:cNvSpPr txBox="1"/>
          <p:nvPr/>
        </p:nvSpPr>
        <p:spPr>
          <a:xfrm>
            <a:off x="3155275" y="3513966"/>
            <a:ext cx="783548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Taxes $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B1B855-4D42-43F8-998D-A174EC50B00E}"/>
              </a:ext>
            </a:extLst>
          </p:cNvPr>
          <p:cNvSpPr txBox="1"/>
          <p:nvPr/>
        </p:nvSpPr>
        <p:spPr>
          <a:xfrm>
            <a:off x="2744667" y="4467377"/>
            <a:ext cx="1248483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000000"/>
                </a:solidFill>
                <a:latin typeface="Avenir Next LT Pro"/>
              </a:rPr>
              <a:t>Public goods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218194-BE7E-4273-A819-9DD11A44003E}"/>
              </a:ext>
            </a:extLst>
          </p:cNvPr>
          <p:cNvCxnSpPr>
            <a:cxnSpLocks/>
          </p:cNvCxnSpPr>
          <p:nvPr/>
        </p:nvCxnSpPr>
        <p:spPr>
          <a:xfrm>
            <a:off x="3221681" y="4045284"/>
            <a:ext cx="702029" cy="6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1DAA99-5DEC-4350-8F4C-1A8320ECC8E7}"/>
              </a:ext>
            </a:extLst>
          </p:cNvPr>
          <p:cNvCxnSpPr>
            <a:cxnSpLocks/>
          </p:cNvCxnSpPr>
          <p:nvPr/>
        </p:nvCxnSpPr>
        <p:spPr>
          <a:xfrm flipH="1" flipV="1">
            <a:off x="3209718" y="3844925"/>
            <a:ext cx="676862" cy="84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2F640A2-4FD7-4DEC-83FB-FC077B82A9A0}"/>
              </a:ext>
            </a:extLst>
          </p:cNvPr>
          <p:cNvSpPr/>
          <p:nvPr/>
        </p:nvSpPr>
        <p:spPr>
          <a:xfrm>
            <a:off x="1458137" y="3235216"/>
            <a:ext cx="1606488" cy="1465160"/>
          </a:xfrm>
          <a:prstGeom prst="ellipse">
            <a:avLst/>
          </a:prstGeom>
          <a:solidFill>
            <a:srgbClr val="006BA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Government</a:t>
            </a:r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5DFC6EA-175F-43DE-AA33-56FEF90E49F9}"/>
              </a:ext>
            </a:extLst>
          </p:cNvPr>
          <p:cNvCxnSpPr>
            <a:cxnSpLocks/>
          </p:cNvCxnSpPr>
          <p:nvPr/>
        </p:nvCxnSpPr>
        <p:spPr>
          <a:xfrm>
            <a:off x="3926785" y="2548091"/>
            <a:ext cx="545262" cy="35649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63FE671-5D73-4BEF-B60A-05F6135E3884}"/>
              </a:ext>
            </a:extLst>
          </p:cNvPr>
          <p:cNvSpPr txBox="1"/>
          <p:nvPr/>
        </p:nvSpPr>
        <p:spPr>
          <a:xfrm rot="2100000">
            <a:off x="3858137" y="2753205"/>
            <a:ext cx="288862" cy="307777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$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4091B-9899-4B84-A31E-558C0F027D36}"/>
              </a:ext>
            </a:extLst>
          </p:cNvPr>
          <p:cNvSpPr txBox="1"/>
          <p:nvPr/>
        </p:nvSpPr>
        <p:spPr>
          <a:xfrm rot="2055280">
            <a:off x="4033958" y="2140193"/>
            <a:ext cx="102245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Goods &amp;</a:t>
            </a:r>
          </a:p>
          <a:p>
            <a:r>
              <a:rPr lang="en-US" sz="1400">
                <a:solidFill>
                  <a:srgbClr val="483C46"/>
                </a:solidFill>
                <a:latin typeface="Avenir Next LT Pro"/>
              </a:rPr>
              <a:t>Services</a:t>
            </a:r>
            <a:endParaRPr lang="en-US">
              <a:solidFill>
                <a:srgbClr val="483C46"/>
              </a:solidFill>
              <a:cs typeface="Calibri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AAB294-C595-4A8A-B9F1-A3B034988D82}"/>
              </a:ext>
            </a:extLst>
          </p:cNvPr>
          <p:cNvSpPr/>
          <p:nvPr/>
        </p:nvSpPr>
        <p:spPr>
          <a:xfrm>
            <a:off x="1835008" y="645812"/>
            <a:ext cx="2162340" cy="2211419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ea typeface="+mn-lt"/>
                <a:cs typeface="+mn-lt"/>
              </a:rPr>
              <a:t>Customers</a:t>
            </a:r>
            <a:endParaRPr lang="en-US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16838A6-3067-4D31-AC5D-CF597A28A988}"/>
              </a:ext>
            </a:extLst>
          </p:cNvPr>
          <p:cNvCxnSpPr>
            <a:cxnSpLocks/>
          </p:cNvCxnSpPr>
          <p:nvPr/>
        </p:nvCxnSpPr>
        <p:spPr>
          <a:xfrm flipH="1" flipV="1">
            <a:off x="3961870" y="2387996"/>
            <a:ext cx="572842" cy="386819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692216-4C40-4116-911D-5ED415306389}"/>
              </a:ext>
            </a:extLst>
          </p:cNvPr>
          <p:cNvSpPr txBox="1"/>
          <p:nvPr/>
        </p:nvSpPr>
        <p:spPr>
          <a:xfrm>
            <a:off x="8992236" y="145724"/>
            <a:ext cx="3158346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000" b="1" dirty="0">
                <a:solidFill>
                  <a:srgbClr val="483C46"/>
                </a:solidFill>
                <a:latin typeface="Avenir Next LT Pro"/>
              </a:rPr>
              <a:t>Accounting systems keep track of all this!!!</a:t>
            </a:r>
          </a:p>
        </p:txBody>
      </p:sp>
    </p:spTree>
    <p:extLst>
      <p:ext uri="{BB962C8B-B14F-4D97-AF65-F5344CB8AC3E}">
        <p14:creationId xmlns:p14="http://schemas.microsoft.com/office/powerpoint/2010/main" val="69181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/>
              <a:pPr/>
              <a:t>12</a:t>
            </a:fld>
            <a:endParaRPr lang="en-US" sz="1867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15234" y="3154680"/>
            <a:ext cx="10771223" cy="523875"/>
            <a:chOff x="203" y="1558"/>
            <a:chExt cx="4789" cy="330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45"/>
              <a:ext cx="4368" cy="217"/>
              <a:chOff x="624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1209042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983906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8748609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" y="202565"/>
            <a:ext cx="8463280" cy="868363"/>
          </a:xfrm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Most Important Figure</a:t>
            </a:r>
          </a:p>
        </p:txBody>
      </p:sp>
      <p:sp>
        <p:nvSpPr>
          <p:cNvPr id="26" name="Text Box 45">
            <a:extLst>
              <a:ext uri="{FF2B5EF4-FFF2-40B4-BE49-F238E27FC236}">
                <a16:creationId xmlns:a16="http://schemas.microsoft.com/office/drawing/2014/main" id="{9FCB46BF-B218-4D8A-BE22-C5F5697D8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742" y="5444541"/>
            <a:ext cx="3412344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2429764" y="2452115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6311827" y="246037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10161522" y="237083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092" y="4845160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0919" y="4245779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24" name="Text Box 45">
            <a:extLst>
              <a:ext uri="{FF2B5EF4-FFF2-40B4-BE49-F238E27FC236}">
                <a16:creationId xmlns:a16="http://schemas.microsoft.com/office/drawing/2014/main" id="{57E822CA-44A5-4805-82CE-37EA52229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5447108"/>
            <a:ext cx="3412344" cy="83099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4837179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2956" y="4227250"/>
            <a:ext cx="2857592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2487922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6391236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54B40-FCFB-4CF8-B627-41DFB17F9F33}"/>
              </a:ext>
            </a:extLst>
          </p:cNvPr>
          <p:cNvSpPr txBox="1"/>
          <p:nvPr/>
        </p:nvSpPr>
        <p:spPr>
          <a:xfrm>
            <a:off x="7776764" y="375039"/>
            <a:ext cx="4152675" cy="701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483C46"/>
                </a:solidFill>
                <a:latin typeface="Avenir Next LT Pro"/>
                <a:ea typeface="+mj-ea"/>
                <a:cs typeface="+mj-cs"/>
              </a:defRPr>
            </a:lvl1pPr>
          </a:lstStyle>
          <a:p>
            <a:r>
              <a:rPr lang="en-US" dirty="0"/>
              <a:t>For-profit Entity</a:t>
            </a:r>
          </a:p>
        </p:txBody>
      </p:sp>
    </p:spTree>
    <p:extLst>
      <p:ext uri="{BB962C8B-B14F-4D97-AF65-F5344CB8AC3E}">
        <p14:creationId xmlns:p14="http://schemas.microsoft.com/office/powerpoint/2010/main" val="771280463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nimBg="1"/>
      <p:bldP spid="7185" grpId="0" animBg="1"/>
      <p:bldP spid="7183" grpId="0" animBg="1"/>
      <p:bldP spid="26" grpId="0"/>
      <p:bldP spid="3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5" grpId="0" animBg="1"/>
      <p:bldP spid="28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990575" indent="-380990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523962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2133547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743131" indent="-304792"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335271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3962301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4571886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5181470" indent="-304792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867"/>
              <a:pPr/>
              <a:t>13</a:t>
            </a:fld>
            <a:endParaRPr lang="en-US" sz="1867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15234" y="3154680"/>
            <a:ext cx="10771223" cy="523875"/>
            <a:chOff x="203" y="1558"/>
            <a:chExt cx="4789" cy="330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30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8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45"/>
              <a:ext cx="4368" cy="217"/>
              <a:chOff x="624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400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1209042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4983906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8748609" y="1748155"/>
            <a:ext cx="2789767" cy="584200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3200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45720" y="202565"/>
            <a:ext cx="8463280" cy="868363"/>
          </a:xfrm>
        </p:spPr>
        <p:txBody>
          <a:bodyPr/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Most Important Figure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2429764" y="2452115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6311827" y="246037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10161522" y="2370833"/>
            <a:ext cx="111760" cy="84328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8092" y="4845160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749" y="4266250"/>
            <a:ext cx="3340589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56" y="4837179"/>
            <a:ext cx="328324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1349" y="4308867"/>
            <a:ext cx="3530326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2487922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6391236" y="3844212"/>
            <a:ext cx="3882046" cy="3047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54B40-FCFB-4CF8-B627-41DFB17F9F33}"/>
              </a:ext>
            </a:extLst>
          </p:cNvPr>
          <p:cNvSpPr txBox="1"/>
          <p:nvPr/>
        </p:nvSpPr>
        <p:spPr>
          <a:xfrm>
            <a:off x="6660682" y="162337"/>
            <a:ext cx="5268757" cy="89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483C46"/>
                </a:solidFill>
                <a:latin typeface="Avenir Next LT Pro"/>
                <a:ea typeface="+mj-ea"/>
                <a:cs typeface="+mj-cs"/>
              </a:defRPr>
            </a:lvl1pPr>
          </a:lstStyle>
          <a:p>
            <a:r>
              <a:rPr lang="en-US" dirty="0"/>
              <a:t>Not-for-profit Entity</a:t>
            </a:r>
          </a:p>
        </p:txBody>
      </p:sp>
    </p:spTree>
    <p:extLst>
      <p:ext uri="{BB962C8B-B14F-4D97-AF65-F5344CB8AC3E}">
        <p14:creationId xmlns:p14="http://schemas.microsoft.com/office/powerpoint/2010/main" val="618991816"/>
      </p:ext>
    </p:extLst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5" grpId="0"/>
      <p:bldP spid="27" grpId="0"/>
      <p:bldP spid="5" grpId="0" animBg="1"/>
      <p:bldP spid="28" grpId="0" animBg="1"/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4C700C3C22764281B606E6BB0BE512" ma:contentTypeVersion="8" ma:contentTypeDescription="Create a new document." ma:contentTypeScope="" ma:versionID="744d163b7495f36b10aa7f3b5e350561">
  <xsd:schema xmlns:xsd="http://www.w3.org/2001/XMLSchema" xmlns:xs="http://www.w3.org/2001/XMLSchema" xmlns:p="http://schemas.microsoft.com/office/2006/metadata/properties" xmlns:ns3="7d9b4326-e95a-4a9d-acda-83174bf33825" xmlns:ns4="ec22c7d8-208f-4baf-a907-919315f360ac" targetNamespace="http://schemas.microsoft.com/office/2006/metadata/properties" ma:root="true" ma:fieldsID="16535074acbd5ddf28b74bb841bcea21" ns3:_="" ns4:_="">
    <xsd:import namespace="7d9b4326-e95a-4a9d-acda-83174bf33825"/>
    <xsd:import namespace="ec22c7d8-208f-4baf-a907-919315f360a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9b4326-e95a-4a9d-acda-83174bf33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22c7d8-208f-4baf-a907-919315f360a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EA124DD-2552-4D05-A6AA-F78BC8B34A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D7E6EEE-FBDB-475D-B4B5-316AFBDF365A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ec22c7d8-208f-4baf-a907-919315f360ac"/>
    <ds:schemaRef ds:uri="7d9b4326-e95a-4a9d-acda-83174bf33825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29B031E9-9D49-4016-AAB1-A0FF354BE4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d9b4326-e95a-4a9d-acda-83174bf33825"/>
    <ds:schemaRef ds:uri="ec22c7d8-208f-4baf-a907-919315f360a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7239</TotalTime>
  <Words>404</Words>
  <Application>Microsoft Office PowerPoint</Application>
  <PresentationFormat>Widescreen</PresentationFormat>
  <Paragraphs>198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Avenir Next LT Pro</vt:lpstr>
      <vt:lpstr>Calibri</vt:lpstr>
      <vt:lpstr>Calibri Light</vt:lpstr>
      <vt:lpstr>Times New Roman</vt:lpstr>
      <vt:lpstr>Office Theme</vt:lpstr>
      <vt:lpstr>Framework</vt:lpstr>
      <vt:lpstr>PowerPoint Presentation</vt:lpstr>
      <vt:lpstr>Three things that are important to keep in mind about accounting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Most Important Figure</vt:lpstr>
      <vt:lpstr>Most Important Figure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Antle, Rick</dc:creator>
  <cp:lastModifiedBy>Antle, Rick</cp:lastModifiedBy>
  <cp:revision>2</cp:revision>
  <dcterms:created xsi:type="dcterms:W3CDTF">2020-02-13T20:03:41Z</dcterms:created>
  <dcterms:modified xsi:type="dcterms:W3CDTF">2020-02-19T19:25:11Z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0x010100A84C700C3C22764281B606E6BB0BE512</vt:lpwstr>
  </property>
</Properties>
</file>