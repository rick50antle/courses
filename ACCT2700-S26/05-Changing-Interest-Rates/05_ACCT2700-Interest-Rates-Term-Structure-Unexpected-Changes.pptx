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7" r:id="rId2"/>
    <p:sldId id="258" r:id="rId3"/>
    <p:sldId id="259" r:id="rId4"/>
    <p:sldId id="282" r:id="rId5"/>
    <p:sldId id="283" r:id="rId6"/>
    <p:sldId id="285" r:id="rId7"/>
    <p:sldId id="260" r:id="rId8"/>
    <p:sldId id="286" r:id="rId9"/>
    <p:sldId id="271" r:id="rId10"/>
    <p:sldId id="277" r:id="rId11"/>
    <p:sldId id="288" r:id="rId12"/>
    <p:sldId id="289" r:id="rId13"/>
    <p:sldId id="290" r:id="rId14"/>
    <p:sldId id="291" r:id="rId15"/>
    <p:sldId id="270" r:id="rId16"/>
    <p:sldId id="292" r:id="rId17"/>
    <p:sldId id="287" r:id="rId18"/>
    <p:sldId id="268" r:id="rId19"/>
    <p:sldId id="281" r:id="rId20"/>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84"/>
    <p:restoredTop sz="94393"/>
  </p:normalViewPr>
  <p:slideViewPr>
    <p:cSldViewPr snapToGrid="0" snapToObjects="1">
      <p:cViewPr varScale="1">
        <p:scale>
          <a:sx n="136" d="100"/>
          <a:sy n="136" d="100"/>
        </p:scale>
        <p:origin x="372" y="372"/>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tle, Rick" userId="c2afbbd2-30e4-4c8e-8af5-81913178ace3" providerId="ADAL" clId="{D2077C41-23D2-40E5-A1B9-6D409EDDC81D}"/>
    <pc:docChg chg="custSel modSld">
      <pc:chgData name="Antle, Rick" userId="c2afbbd2-30e4-4c8e-8af5-81913178ace3" providerId="ADAL" clId="{D2077C41-23D2-40E5-A1B9-6D409EDDC81D}" dt="2026-01-25T22:07:48.301" v="1" actId="478"/>
      <pc:docMkLst>
        <pc:docMk/>
      </pc:docMkLst>
      <pc:sldChg chg="modSp mod">
        <pc:chgData name="Antle, Rick" userId="c2afbbd2-30e4-4c8e-8af5-81913178ace3" providerId="ADAL" clId="{D2077C41-23D2-40E5-A1B9-6D409EDDC81D}" dt="2026-01-25T22:07:27.537" v="0" actId="20577"/>
        <pc:sldMkLst>
          <pc:docMk/>
          <pc:sldMk cId="2044444066" sldId="257"/>
        </pc:sldMkLst>
        <pc:spChg chg="mod">
          <ac:chgData name="Antle, Rick" userId="c2afbbd2-30e4-4c8e-8af5-81913178ace3" providerId="ADAL" clId="{D2077C41-23D2-40E5-A1B9-6D409EDDC81D}" dt="2026-01-25T22:07:27.537" v="0" actId="20577"/>
          <ac:spMkLst>
            <pc:docMk/>
            <pc:sldMk cId="2044444066" sldId="257"/>
            <ac:spMk id="2" creationId="{00000000-0000-0000-0000-000000000000}"/>
          </ac:spMkLst>
        </pc:spChg>
      </pc:sldChg>
      <pc:sldChg chg="addSp delSp modSp mod">
        <pc:chgData name="Antle, Rick" userId="c2afbbd2-30e4-4c8e-8af5-81913178ace3" providerId="ADAL" clId="{D2077C41-23D2-40E5-A1B9-6D409EDDC81D}" dt="2026-01-25T22:07:48.301" v="1" actId="478"/>
        <pc:sldMkLst>
          <pc:docMk/>
          <pc:sldMk cId="466986481" sldId="270"/>
        </pc:sldMkLst>
        <pc:spChg chg="add mod">
          <ac:chgData name="Antle, Rick" userId="c2afbbd2-30e4-4c8e-8af5-81913178ace3" providerId="ADAL" clId="{D2077C41-23D2-40E5-A1B9-6D409EDDC81D}" dt="2026-01-25T22:07:48.301" v="1" actId="478"/>
          <ac:spMkLst>
            <pc:docMk/>
            <pc:sldMk cId="466986481" sldId="270"/>
            <ac:spMk id="5" creationId="{1DF6A22C-961C-0848-1EBC-248F35B5E66E}"/>
          </ac:spMkLst>
        </pc:spChg>
        <pc:picChg chg="del">
          <ac:chgData name="Antle, Rick" userId="c2afbbd2-30e4-4c8e-8af5-81913178ace3" providerId="ADAL" clId="{D2077C41-23D2-40E5-A1B9-6D409EDDC81D}" dt="2026-01-25T22:07:48.301" v="1" actId="478"/>
          <ac:picMkLst>
            <pc:docMk/>
            <pc:sldMk cId="466986481" sldId="270"/>
            <ac:picMk id="8" creationId="{5D903D27-9BA9-27B7-CE11-E53BA5D61AC5}"/>
          </ac:picMkLst>
        </pc:picChg>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1"/>
          <c:order val="1"/>
          <c:tx>
            <c:strRef>
              <c:f>Sheet1!$C$1</c:f>
              <c:strCache>
                <c:ptCount val="1"/>
                <c:pt idx="0">
                  <c:v>Interest Rate</c:v>
                </c:pt>
              </c:strCache>
            </c:strRef>
          </c:tx>
          <c:spPr>
            <a:ln w="25400" cap="rnd">
              <a:noFill/>
              <a:round/>
            </a:ln>
            <a:effectLst/>
          </c:spPr>
          <c:marker>
            <c:symbol val="circle"/>
            <c:size val="5"/>
            <c:spPr>
              <a:solidFill>
                <a:schemeClr val="accent2"/>
              </a:solidFill>
              <a:ln w="98425">
                <a:solidFill>
                  <a:schemeClr val="accent2"/>
                </a:solidFill>
              </a:ln>
              <a:effectLst/>
            </c:spPr>
          </c:marker>
          <c:yVal>
            <c:numRef>
              <c:f>Sheet1!$C$2:$C$22</c:f>
              <c:numCache>
                <c:formatCode>0%</c:formatCode>
                <c:ptCount val="21"/>
                <c:pt idx="0">
                  <c:v>0.05</c:v>
                </c:pt>
                <c:pt idx="1">
                  <c:v>0.05</c:v>
                </c:pt>
                <c:pt idx="2">
                  <c:v>0.05</c:v>
                </c:pt>
                <c:pt idx="3">
                  <c:v>0.1</c:v>
                </c:pt>
                <c:pt idx="4">
                  <c:v>0.1</c:v>
                </c:pt>
                <c:pt idx="5">
                  <c:v>0.1</c:v>
                </c:pt>
                <c:pt idx="6">
                  <c:v>0.15</c:v>
                </c:pt>
                <c:pt idx="7">
                  <c:v>0.15</c:v>
                </c:pt>
                <c:pt idx="8">
                  <c:v>0.15</c:v>
                </c:pt>
                <c:pt idx="9">
                  <c:v>0.15</c:v>
                </c:pt>
                <c:pt idx="10">
                  <c:v>0.15</c:v>
                </c:pt>
                <c:pt idx="11">
                  <c:v>0.15</c:v>
                </c:pt>
                <c:pt idx="12">
                  <c:v>0.05</c:v>
                </c:pt>
                <c:pt idx="13">
                  <c:v>0.05</c:v>
                </c:pt>
                <c:pt idx="14">
                  <c:v>0.05</c:v>
                </c:pt>
                <c:pt idx="15">
                  <c:v>0.02</c:v>
                </c:pt>
                <c:pt idx="16">
                  <c:v>0.02</c:v>
                </c:pt>
                <c:pt idx="17">
                  <c:v>0.02</c:v>
                </c:pt>
                <c:pt idx="18">
                  <c:v>0.02</c:v>
                </c:pt>
                <c:pt idx="19">
                  <c:v>0.02</c:v>
                </c:pt>
                <c:pt idx="20">
                  <c:v>0.02</c:v>
                </c:pt>
              </c:numCache>
            </c:numRef>
          </c:yVal>
          <c:smooth val="0"/>
          <c:extLst>
            <c:ext xmlns:c16="http://schemas.microsoft.com/office/drawing/2014/chart" uri="{C3380CC4-5D6E-409C-BE32-E72D297353CC}">
              <c16:uniqueId val="{00000001-8DBF-4ECB-8083-1EB7813CD653}"/>
            </c:ext>
          </c:extLst>
        </c:ser>
        <c:dLbls>
          <c:showLegendKey val="0"/>
          <c:showVal val="0"/>
          <c:showCatName val="0"/>
          <c:showSerName val="0"/>
          <c:showPercent val="0"/>
          <c:showBubbleSize val="0"/>
        </c:dLbls>
        <c:axId val="797366207"/>
        <c:axId val="797364767"/>
        <c:extLst>
          <c:ext xmlns:c15="http://schemas.microsoft.com/office/drawing/2012/chart" uri="{02D57815-91ED-43cb-92C2-25804820EDAC}">
            <c15:filteredScatterSeries>
              <c15:ser>
                <c:idx val="0"/>
                <c:order val="0"/>
                <c:tx>
                  <c:strRef>
                    <c:extLst>
                      <c:ext uri="{02D57815-91ED-43cb-92C2-25804820EDAC}">
                        <c15:formulaRef>
                          <c15:sqref>Sheet1!$B$1</c15:sqref>
                        </c15:formulaRef>
                      </c:ext>
                    </c:extLst>
                    <c:strCache>
                      <c:ptCount val="1"/>
                      <c:pt idx="0">
                        <c:v>Value</c:v>
                      </c:pt>
                    </c:strCache>
                  </c:strRef>
                </c:tx>
                <c:spPr>
                  <a:ln w="25400" cap="rnd">
                    <a:noFill/>
                    <a:round/>
                  </a:ln>
                  <a:effectLst/>
                </c:spPr>
                <c:marker>
                  <c:symbol val="circle"/>
                  <c:size val="5"/>
                  <c:spPr>
                    <a:solidFill>
                      <a:schemeClr val="accent1"/>
                    </a:solidFill>
                    <a:ln w="9525">
                      <a:solidFill>
                        <a:schemeClr val="accent1"/>
                      </a:solidFill>
                    </a:ln>
                    <a:effectLst/>
                  </c:spPr>
                </c:marker>
                <c:xVal>
                  <c:numRef>
                    <c:extLst>
                      <c:ext uri="{02D57815-91ED-43cb-92C2-25804820EDAC}">
                        <c15:formulaRef>
                          <c15:sqref>Sheet1!$A$2:$A$22</c15:sqref>
                        </c15:formulaRef>
                      </c:ext>
                    </c:extLst>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extLst>
                      <c:ext uri="{02D57815-91ED-43cb-92C2-25804820EDAC}">
                        <c15:formulaRef>
                          <c15:sqref>Sheet1!$B$2:$B$22</c15:sqref>
                        </c15:formulaRef>
                      </c:ext>
                    </c:extLst>
                    <c:numCache>
                      <c:formatCode>_("$"* #,##0_);_("$"* \(#,##0\);_("$"* "-"_);_(@_)</c:formatCode>
                      <c:ptCount val="21"/>
                      <c:pt idx="0">
                        <c:v>20</c:v>
                      </c:pt>
                      <c:pt idx="1">
                        <c:v>20</c:v>
                      </c:pt>
                      <c:pt idx="2">
                        <c:v>20</c:v>
                      </c:pt>
                      <c:pt idx="3">
                        <c:v>10</c:v>
                      </c:pt>
                      <c:pt idx="4">
                        <c:v>10</c:v>
                      </c:pt>
                      <c:pt idx="5">
                        <c:v>10</c:v>
                      </c:pt>
                      <c:pt idx="6">
                        <c:v>6.67</c:v>
                      </c:pt>
                      <c:pt idx="7">
                        <c:v>6.67</c:v>
                      </c:pt>
                      <c:pt idx="8">
                        <c:v>6.67</c:v>
                      </c:pt>
                      <c:pt idx="9">
                        <c:v>6.67</c:v>
                      </c:pt>
                      <c:pt idx="10">
                        <c:v>6.67</c:v>
                      </c:pt>
                      <c:pt idx="11">
                        <c:v>6.67</c:v>
                      </c:pt>
                      <c:pt idx="12">
                        <c:v>20</c:v>
                      </c:pt>
                      <c:pt idx="13">
                        <c:v>20</c:v>
                      </c:pt>
                      <c:pt idx="14">
                        <c:v>20</c:v>
                      </c:pt>
                      <c:pt idx="15">
                        <c:v>50</c:v>
                      </c:pt>
                      <c:pt idx="16">
                        <c:v>50</c:v>
                      </c:pt>
                      <c:pt idx="17">
                        <c:v>50</c:v>
                      </c:pt>
                      <c:pt idx="18">
                        <c:v>50</c:v>
                      </c:pt>
                      <c:pt idx="19">
                        <c:v>50</c:v>
                      </c:pt>
                      <c:pt idx="20">
                        <c:v>50</c:v>
                      </c:pt>
                    </c:numCache>
                  </c:numRef>
                </c:yVal>
                <c:smooth val="0"/>
                <c:extLst>
                  <c:ext xmlns:c16="http://schemas.microsoft.com/office/drawing/2014/chart" uri="{C3380CC4-5D6E-409C-BE32-E72D297353CC}">
                    <c16:uniqueId val="{00000000-8DBF-4ECB-8083-1EB7813CD653}"/>
                  </c:ext>
                </c:extLst>
              </c15:ser>
            </c15:filteredScatterSeries>
            <c15:filteredScatte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Series 3</c:v>
                      </c:pt>
                    </c:strCache>
                  </c:strRef>
                </c:tx>
                <c:spPr>
                  <a:ln w="25400" cap="rnd">
                    <a:noFill/>
                    <a:round/>
                  </a:ln>
                  <a:effectLst/>
                </c:spPr>
                <c:marker>
                  <c:symbol val="circle"/>
                  <c:size val="5"/>
                  <c:spPr>
                    <a:solidFill>
                      <a:schemeClr val="accent3"/>
                    </a:solidFill>
                    <a:ln w="9525">
                      <a:solidFill>
                        <a:schemeClr val="accent3"/>
                      </a:solidFill>
                    </a:ln>
                    <a:effectLst/>
                  </c:spPr>
                </c:marker>
                <c:xVal>
                  <c:numRef>
                    <c:extLst xmlns:c15="http://schemas.microsoft.com/office/drawing/2012/chart">
                      <c:ext xmlns:c15="http://schemas.microsoft.com/office/drawing/2012/chart" uri="{02D57815-91ED-43cb-92C2-25804820EDAC}">
                        <c15:formulaRef>
                          <c15:sqref>Sheet1!$A$2:$A$22</c15:sqref>
                        </c15:formulaRef>
                      </c:ext>
                    </c:extLst>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extLst xmlns:c15="http://schemas.microsoft.com/office/drawing/2012/chart">
                      <c:ext xmlns:c15="http://schemas.microsoft.com/office/drawing/2012/chart" uri="{02D57815-91ED-43cb-92C2-25804820EDAC}">
                        <c15:formulaRef>
                          <c15:sqref>Sheet1!$D$2:$D$22</c15:sqref>
                        </c15:formulaRef>
                      </c:ext>
                    </c:extLst>
                    <c:numCache>
                      <c:formatCode>General</c:formatCode>
                      <c:ptCount val="21"/>
                    </c:numCache>
                  </c:numRef>
                </c:yVal>
                <c:smooth val="0"/>
                <c:extLst xmlns:c15="http://schemas.microsoft.com/office/drawing/2012/chart">
                  <c:ext xmlns:c16="http://schemas.microsoft.com/office/drawing/2014/chart" uri="{C3380CC4-5D6E-409C-BE32-E72D297353CC}">
                    <c16:uniqueId val="{00000002-8DBF-4ECB-8083-1EB7813CD653}"/>
                  </c:ext>
                </c:extLst>
              </c15:ser>
            </c15:filteredScatterSeries>
          </c:ext>
        </c:extLst>
      </c:scatterChart>
      <c:valAx>
        <c:axId val="7973662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7364767"/>
        <c:crosses val="autoZero"/>
        <c:crossBetween val="midCat"/>
      </c:valAx>
      <c:valAx>
        <c:axId val="79736476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7366207"/>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640147127351666E-2"/>
          <c:y val="3.7906672552202265E-2"/>
          <c:w val="0.87187613261766284"/>
          <c:h val="0.8216839119811199"/>
        </c:manualLayout>
      </c:layout>
      <c:barChart>
        <c:barDir val="col"/>
        <c:grouping val="clustered"/>
        <c:varyColors val="0"/>
        <c:ser>
          <c:idx val="0"/>
          <c:order val="0"/>
          <c:tx>
            <c:strRef>
              <c:f>Sheet1!$B$1</c:f>
              <c:strCache>
                <c:ptCount val="1"/>
                <c:pt idx="0">
                  <c:v>Value</c:v>
                </c:pt>
              </c:strCache>
              <c:extLst xmlns:c15="http://schemas.microsoft.com/office/drawing/2012/chart"/>
            </c:strRef>
          </c:tx>
          <c:spPr>
            <a:solidFill>
              <a:schemeClr val="accent1"/>
            </a:solidFill>
            <a:ln w="25400">
              <a:noFill/>
            </a:ln>
            <a:effectLst/>
          </c:spPr>
          <c:invertIfNegative val="0"/>
          <c:cat>
            <c:numRef>
              <c:f>Sheet1!$A$2:$A$22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extLst xmlns:c15="http://schemas.microsoft.com/office/drawing/2012/chart"/>
            </c:numRef>
          </c:cat>
          <c:val>
            <c:numRef>
              <c:f>Sheet1!$B$2:$B$22</c:f>
              <c:numCache>
                <c:formatCode>_("$"* #,##0_);_("$"* \(#,##0\);_("$"* "-"_);_(@_)</c:formatCode>
                <c:ptCount val="21"/>
                <c:pt idx="0">
                  <c:v>20</c:v>
                </c:pt>
                <c:pt idx="1">
                  <c:v>20</c:v>
                </c:pt>
                <c:pt idx="2">
                  <c:v>20</c:v>
                </c:pt>
                <c:pt idx="3">
                  <c:v>10</c:v>
                </c:pt>
                <c:pt idx="4">
                  <c:v>10</c:v>
                </c:pt>
                <c:pt idx="5">
                  <c:v>10</c:v>
                </c:pt>
                <c:pt idx="6">
                  <c:v>6.67</c:v>
                </c:pt>
                <c:pt idx="7">
                  <c:v>6.67</c:v>
                </c:pt>
                <c:pt idx="8">
                  <c:v>6.67</c:v>
                </c:pt>
                <c:pt idx="9">
                  <c:v>6.67</c:v>
                </c:pt>
                <c:pt idx="10">
                  <c:v>6.67</c:v>
                </c:pt>
                <c:pt idx="11">
                  <c:v>6.67</c:v>
                </c:pt>
                <c:pt idx="12">
                  <c:v>20</c:v>
                </c:pt>
                <c:pt idx="13">
                  <c:v>20</c:v>
                </c:pt>
                <c:pt idx="14">
                  <c:v>20</c:v>
                </c:pt>
                <c:pt idx="15">
                  <c:v>50</c:v>
                </c:pt>
                <c:pt idx="16">
                  <c:v>50</c:v>
                </c:pt>
                <c:pt idx="17">
                  <c:v>50</c:v>
                </c:pt>
                <c:pt idx="18">
                  <c:v>50</c:v>
                </c:pt>
                <c:pt idx="19">
                  <c:v>50</c:v>
                </c:pt>
                <c:pt idx="20">
                  <c:v>50</c:v>
                </c:pt>
              </c:numCache>
              <c:extLst xmlns:c15="http://schemas.microsoft.com/office/drawing/2012/chart"/>
            </c:numRef>
          </c:val>
          <c:extLst xmlns:c15="http://schemas.microsoft.com/office/drawing/2012/chart">
            <c:ext xmlns:c16="http://schemas.microsoft.com/office/drawing/2014/chart" uri="{C3380CC4-5D6E-409C-BE32-E72D297353CC}">
              <c16:uniqueId val="{00000000-8DBF-4ECB-8083-1EB7813CD653}"/>
            </c:ext>
          </c:extLst>
        </c:ser>
        <c:dLbls>
          <c:showLegendKey val="0"/>
          <c:showVal val="0"/>
          <c:showCatName val="0"/>
          <c:showSerName val="0"/>
          <c:showPercent val="0"/>
          <c:showBubbleSize val="0"/>
        </c:dLbls>
        <c:gapWidth val="100"/>
        <c:axId val="797366207"/>
        <c:axId val="797364767"/>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Interest Rate</c:v>
                      </c:pt>
                    </c:strCache>
                  </c:strRef>
                </c:tx>
                <c:spPr>
                  <a:solidFill>
                    <a:schemeClr val="accent2"/>
                  </a:solidFill>
                  <a:ln w="25400">
                    <a:noFill/>
                  </a:ln>
                  <a:effectLst/>
                </c:spPr>
                <c:invertIfNegative val="0"/>
                <c:val>
                  <c:numRef>
                    <c:extLst>
                      <c:ext uri="{02D57815-91ED-43cb-92C2-25804820EDAC}">
                        <c15:formulaRef>
                          <c15:sqref>Sheet1!$C$2:$C$22</c15:sqref>
                        </c15:formulaRef>
                      </c:ext>
                    </c:extLst>
                    <c:numCache>
                      <c:formatCode>0%</c:formatCode>
                      <c:ptCount val="21"/>
                      <c:pt idx="0">
                        <c:v>0.05</c:v>
                      </c:pt>
                      <c:pt idx="1">
                        <c:v>0.05</c:v>
                      </c:pt>
                      <c:pt idx="2">
                        <c:v>0.05</c:v>
                      </c:pt>
                      <c:pt idx="3">
                        <c:v>0.05</c:v>
                      </c:pt>
                      <c:pt idx="4">
                        <c:v>0.1</c:v>
                      </c:pt>
                      <c:pt idx="5">
                        <c:v>0.1</c:v>
                      </c:pt>
                      <c:pt idx="6">
                        <c:v>0.1</c:v>
                      </c:pt>
                      <c:pt idx="7">
                        <c:v>0.15</c:v>
                      </c:pt>
                      <c:pt idx="8">
                        <c:v>0.15</c:v>
                      </c:pt>
                      <c:pt idx="9">
                        <c:v>0.15</c:v>
                      </c:pt>
                      <c:pt idx="10">
                        <c:v>0.15</c:v>
                      </c:pt>
                      <c:pt idx="11">
                        <c:v>0.15</c:v>
                      </c:pt>
                      <c:pt idx="12">
                        <c:v>0.15</c:v>
                      </c:pt>
                      <c:pt idx="13">
                        <c:v>0.05</c:v>
                      </c:pt>
                      <c:pt idx="14">
                        <c:v>0.05</c:v>
                      </c:pt>
                      <c:pt idx="15">
                        <c:v>0.05</c:v>
                      </c:pt>
                      <c:pt idx="16">
                        <c:v>0.02</c:v>
                      </c:pt>
                      <c:pt idx="17">
                        <c:v>0.02</c:v>
                      </c:pt>
                      <c:pt idx="18">
                        <c:v>0.02</c:v>
                      </c:pt>
                      <c:pt idx="19">
                        <c:v>0.02</c:v>
                      </c:pt>
                      <c:pt idx="20">
                        <c:v>0.02</c:v>
                      </c:pt>
                    </c:numCache>
                  </c:numRef>
                </c:val>
                <c:extLst>
                  <c:ext xmlns:c16="http://schemas.microsoft.com/office/drawing/2014/chart" uri="{C3380CC4-5D6E-409C-BE32-E72D297353CC}">
                    <c16:uniqueId val="{00000001-8DBF-4ECB-8083-1EB7813CD653}"/>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Series 3</c:v>
                      </c:pt>
                    </c:strCache>
                  </c:strRef>
                </c:tx>
                <c:spPr>
                  <a:solidFill>
                    <a:schemeClr val="accent3"/>
                  </a:solidFill>
                  <a:ln w="25400">
                    <a:noFill/>
                  </a:ln>
                  <a:effectLst/>
                </c:spPr>
                <c:invertIfNegative val="0"/>
                <c:cat>
                  <c:numRef>
                    <c:extLst xmlns:c15="http://schemas.microsoft.com/office/drawing/2012/chart">
                      <c:ext xmlns:c15="http://schemas.microsoft.com/office/drawing/2012/chart" uri="{02D57815-91ED-43cb-92C2-25804820EDAC}">
                        <c15:formulaRef>
                          <c15:sqref>Sheet1!$A$2:$A$22</c15:sqref>
                        </c15:formulaRef>
                      </c:ext>
                    </c:extLst>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extLst xmlns:c15="http://schemas.microsoft.com/office/drawing/2012/chart">
                      <c:ext xmlns:c15="http://schemas.microsoft.com/office/drawing/2012/chart" uri="{02D57815-91ED-43cb-92C2-25804820EDAC}">
                        <c15:formulaRef>
                          <c15:sqref>Sheet1!$D$2:$D$22</c15:sqref>
                        </c15:formulaRef>
                      </c:ext>
                    </c:extLst>
                    <c:numCache>
                      <c:formatCode>General</c:formatCode>
                      <c:ptCount val="21"/>
                    </c:numCache>
                  </c:numRef>
                </c:val>
                <c:extLst xmlns:c15="http://schemas.microsoft.com/office/drawing/2012/chart">
                  <c:ext xmlns:c16="http://schemas.microsoft.com/office/drawing/2014/chart" uri="{C3380CC4-5D6E-409C-BE32-E72D297353CC}">
                    <c16:uniqueId val="{00000002-8DBF-4ECB-8083-1EB7813CD653}"/>
                  </c:ext>
                </c:extLst>
              </c15:ser>
            </c15:filteredBarSeries>
          </c:ext>
        </c:extLst>
      </c:barChart>
      <c:catAx>
        <c:axId val="7973662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7364767"/>
        <c:crosses val="autoZero"/>
        <c:auto val="1"/>
        <c:lblAlgn val="ctr"/>
        <c:lblOffset val="100"/>
        <c:noMultiLvlLbl val="0"/>
      </c:catAx>
      <c:valAx>
        <c:axId val="797364767"/>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_);_(&quot;$&quot;* \(#,##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736620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1"/>
          <c:order val="1"/>
          <c:tx>
            <c:strRef>
              <c:f>Sheet1!$C$1</c:f>
              <c:strCache>
                <c:ptCount val="1"/>
                <c:pt idx="0">
                  <c:v>Interest Rate</c:v>
                </c:pt>
              </c:strCache>
            </c:strRef>
          </c:tx>
          <c:spPr>
            <a:ln w="25400" cap="rnd">
              <a:noFill/>
              <a:round/>
            </a:ln>
            <a:effectLst/>
          </c:spPr>
          <c:marker>
            <c:symbol val="circle"/>
            <c:size val="5"/>
            <c:spPr>
              <a:solidFill>
                <a:schemeClr val="accent2"/>
              </a:solidFill>
              <a:ln w="44450">
                <a:solidFill>
                  <a:schemeClr val="accent2"/>
                </a:solidFill>
              </a:ln>
              <a:effectLst/>
            </c:spPr>
          </c:marker>
          <c:yVal>
            <c:numRef>
              <c:f>Sheet1!$C$2:$C$22</c:f>
              <c:numCache>
                <c:formatCode>0%</c:formatCode>
                <c:ptCount val="21"/>
                <c:pt idx="0">
                  <c:v>0.05</c:v>
                </c:pt>
                <c:pt idx="1">
                  <c:v>0.05</c:v>
                </c:pt>
                <c:pt idx="2">
                  <c:v>0.05</c:v>
                </c:pt>
                <c:pt idx="3">
                  <c:v>0.1</c:v>
                </c:pt>
                <c:pt idx="4">
                  <c:v>0.1</c:v>
                </c:pt>
                <c:pt idx="5">
                  <c:v>0.1</c:v>
                </c:pt>
                <c:pt idx="6">
                  <c:v>0.15</c:v>
                </c:pt>
                <c:pt idx="7">
                  <c:v>0.15</c:v>
                </c:pt>
                <c:pt idx="8">
                  <c:v>0.15</c:v>
                </c:pt>
                <c:pt idx="9">
                  <c:v>0.15</c:v>
                </c:pt>
                <c:pt idx="10">
                  <c:v>0.15</c:v>
                </c:pt>
                <c:pt idx="11">
                  <c:v>0.15</c:v>
                </c:pt>
                <c:pt idx="12">
                  <c:v>0.05</c:v>
                </c:pt>
                <c:pt idx="13">
                  <c:v>0.05</c:v>
                </c:pt>
                <c:pt idx="14">
                  <c:v>0.05</c:v>
                </c:pt>
                <c:pt idx="15">
                  <c:v>0.02</c:v>
                </c:pt>
                <c:pt idx="16">
                  <c:v>0.02</c:v>
                </c:pt>
                <c:pt idx="17">
                  <c:v>0.02</c:v>
                </c:pt>
                <c:pt idx="18">
                  <c:v>0.02</c:v>
                </c:pt>
                <c:pt idx="19">
                  <c:v>0.02</c:v>
                </c:pt>
                <c:pt idx="20">
                  <c:v>0.02</c:v>
                </c:pt>
              </c:numCache>
            </c:numRef>
          </c:yVal>
          <c:smooth val="0"/>
          <c:extLst>
            <c:ext xmlns:c16="http://schemas.microsoft.com/office/drawing/2014/chart" uri="{C3380CC4-5D6E-409C-BE32-E72D297353CC}">
              <c16:uniqueId val="{00000000-05A7-4AA9-B59C-A96343E4FFED}"/>
            </c:ext>
          </c:extLst>
        </c:ser>
        <c:dLbls>
          <c:showLegendKey val="0"/>
          <c:showVal val="0"/>
          <c:showCatName val="0"/>
          <c:showSerName val="0"/>
          <c:showPercent val="0"/>
          <c:showBubbleSize val="0"/>
        </c:dLbls>
        <c:axId val="797366207"/>
        <c:axId val="797364767"/>
        <c:extLst>
          <c:ext xmlns:c15="http://schemas.microsoft.com/office/drawing/2012/chart" uri="{02D57815-91ED-43cb-92C2-25804820EDAC}">
            <c15:filteredScatterSeries>
              <c15:ser>
                <c:idx val="0"/>
                <c:order val="0"/>
                <c:tx>
                  <c:strRef>
                    <c:extLst>
                      <c:ext uri="{02D57815-91ED-43cb-92C2-25804820EDAC}">
                        <c15:formulaRef>
                          <c15:sqref>Sheet1!$B$1</c15:sqref>
                        </c15:formulaRef>
                      </c:ext>
                    </c:extLst>
                    <c:strCache>
                      <c:ptCount val="1"/>
                      <c:pt idx="0">
                        <c:v>Value</c:v>
                      </c:pt>
                    </c:strCache>
                  </c:strRef>
                </c:tx>
                <c:spPr>
                  <a:ln w="25400" cap="rnd">
                    <a:noFill/>
                    <a:round/>
                  </a:ln>
                  <a:effectLst/>
                </c:spPr>
                <c:marker>
                  <c:symbol val="circle"/>
                  <c:size val="5"/>
                  <c:spPr>
                    <a:solidFill>
                      <a:schemeClr val="accent1"/>
                    </a:solidFill>
                    <a:ln w="9525">
                      <a:solidFill>
                        <a:schemeClr val="accent1"/>
                      </a:solidFill>
                    </a:ln>
                    <a:effectLst/>
                  </c:spPr>
                </c:marker>
                <c:xVal>
                  <c:numRef>
                    <c:extLst>
                      <c:ext uri="{02D57815-91ED-43cb-92C2-25804820EDAC}">
                        <c15:formulaRef>
                          <c15:sqref>Sheet1!$A$2:$A$22</c15:sqref>
                        </c15:formulaRef>
                      </c:ext>
                    </c:extLst>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extLst>
                      <c:ext uri="{02D57815-91ED-43cb-92C2-25804820EDAC}">
                        <c15:formulaRef>
                          <c15:sqref>Sheet1!$B$2:$B$22</c15:sqref>
                        </c15:formulaRef>
                      </c:ext>
                    </c:extLst>
                    <c:numCache>
                      <c:formatCode>_("$"* #,##0_);_("$"* \(#,##0\);_("$"* "-"_);_(@_)</c:formatCode>
                      <c:ptCount val="21"/>
                      <c:pt idx="0">
                        <c:v>20</c:v>
                      </c:pt>
                      <c:pt idx="1">
                        <c:v>20</c:v>
                      </c:pt>
                      <c:pt idx="2">
                        <c:v>20</c:v>
                      </c:pt>
                      <c:pt idx="3">
                        <c:v>10</c:v>
                      </c:pt>
                      <c:pt idx="4">
                        <c:v>10</c:v>
                      </c:pt>
                      <c:pt idx="5">
                        <c:v>10</c:v>
                      </c:pt>
                      <c:pt idx="6">
                        <c:v>6.67</c:v>
                      </c:pt>
                      <c:pt idx="7">
                        <c:v>6.67</c:v>
                      </c:pt>
                      <c:pt idx="8">
                        <c:v>6.67</c:v>
                      </c:pt>
                      <c:pt idx="9">
                        <c:v>6.67</c:v>
                      </c:pt>
                      <c:pt idx="10">
                        <c:v>6.67</c:v>
                      </c:pt>
                      <c:pt idx="11">
                        <c:v>6.67</c:v>
                      </c:pt>
                      <c:pt idx="12">
                        <c:v>20</c:v>
                      </c:pt>
                      <c:pt idx="13">
                        <c:v>20</c:v>
                      </c:pt>
                      <c:pt idx="14">
                        <c:v>20</c:v>
                      </c:pt>
                      <c:pt idx="15">
                        <c:v>50</c:v>
                      </c:pt>
                      <c:pt idx="16">
                        <c:v>50</c:v>
                      </c:pt>
                      <c:pt idx="17">
                        <c:v>50</c:v>
                      </c:pt>
                      <c:pt idx="18">
                        <c:v>50</c:v>
                      </c:pt>
                      <c:pt idx="19">
                        <c:v>50</c:v>
                      </c:pt>
                      <c:pt idx="20">
                        <c:v>50</c:v>
                      </c:pt>
                    </c:numCache>
                  </c:numRef>
                </c:yVal>
                <c:smooth val="0"/>
                <c:extLst>
                  <c:ext xmlns:c16="http://schemas.microsoft.com/office/drawing/2014/chart" uri="{C3380CC4-5D6E-409C-BE32-E72D297353CC}">
                    <c16:uniqueId val="{00000001-05A7-4AA9-B59C-A96343E4FFED}"/>
                  </c:ext>
                </c:extLst>
              </c15:ser>
            </c15:filteredScatterSeries>
            <c15:filteredScatte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Series 3</c:v>
                      </c:pt>
                    </c:strCache>
                  </c:strRef>
                </c:tx>
                <c:spPr>
                  <a:ln w="25400" cap="rnd">
                    <a:noFill/>
                    <a:round/>
                  </a:ln>
                  <a:effectLst/>
                </c:spPr>
                <c:marker>
                  <c:symbol val="circle"/>
                  <c:size val="5"/>
                  <c:spPr>
                    <a:solidFill>
                      <a:schemeClr val="accent3"/>
                    </a:solidFill>
                    <a:ln w="9525">
                      <a:solidFill>
                        <a:schemeClr val="accent3"/>
                      </a:solidFill>
                    </a:ln>
                    <a:effectLst/>
                  </c:spPr>
                </c:marker>
                <c:xVal>
                  <c:numRef>
                    <c:extLst xmlns:c15="http://schemas.microsoft.com/office/drawing/2012/chart">
                      <c:ext xmlns:c15="http://schemas.microsoft.com/office/drawing/2012/chart" uri="{02D57815-91ED-43cb-92C2-25804820EDAC}">
                        <c15:formulaRef>
                          <c15:sqref>Sheet1!$A$2:$A$22</c15:sqref>
                        </c15:formulaRef>
                      </c:ext>
                    </c:extLst>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extLst xmlns:c15="http://schemas.microsoft.com/office/drawing/2012/chart">
                      <c:ext xmlns:c15="http://schemas.microsoft.com/office/drawing/2012/chart" uri="{02D57815-91ED-43cb-92C2-25804820EDAC}">
                        <c15:formulaRef>
                          <c15:sqref>Sheet1!$D$2:$D$22</c15:sqref>
                        </c15:formulaRef>
                      </c:ext>
                    </c:extLst>
                    <c:numCache>
                      <c:formatCode>General</c:formatCode>
                      <c:ptCount val="21"/>
                    </c:numCache>
                  </c:numRef>
                </c:yVal>
                <c:smooth val="0"/>
                <c:extLst xmlns:c15="http://schemas.microsoft.com/office/drawing/2012/chart">
                  <c:ext xmlns:c16="http://schemas.microsoft.com/office/drawing/2014/chart" uri="{C3380CC4-5D6E-409C-BE32-E72D297353CC}">
                    <c16:uniqueId val="{00000002-05A7-4AA9-B59C-A96343E4FFED}"/>
                  </c:ext>
                </c:extLst>
              </c15:ser>
            </c15:filteredScatterSeries>
          </c:ext>
        </c:extLst>
      </c:scatterChart>
      <c:valAx>
        <c:axId val="7973662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7364767"/>
        <c:crosses val="autoZero"/>
        <c:crossBetween val="midCat"/>
      </c:valAx>
      <c:valAx>
        <c:axId val="797364767"/>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7366207"/>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640147127351666E-2"/>
          <c:y val="3.7906672552202265E-2"/>
          <c:w val="0.87187613261766284"/>
          <c:h val="0.8216839119811199"/>
        </c:manualLayout>
      </c:layout>
      <c:barChart>
        <c:barDir val="col"/>
        <c:grouping val="clustered"/>
        <c:varyColors val="0"/>
        <c:ser>
          <c:idx val="0"/>
          <c:order val="0"/>
          <c:tx>
            <c:strRef>
              <c:f>Sheet1!$B$1</c:f>
              <c:strCache>
                <c:ptCount val="1"/>
                <c:pt idx="0">
                  <c:v>Value</c:v>
                </c:pt>
              </c:strCache>
              <c:extLst xmlns:c15="http://schemas.microsoft.com/office/drawing/2012/chart"/>
            </c:strRef>
          </c:tx>
          <c:spPr>
            <a:solidFill>
              <a:schemeClr val="accent1"/>
            </a:solidFill>
            <a:ln w="25400">
              <a:noFill/>
            </a:ln>
            <a:effectLst/>
          </c:spPr>
          <c:invertIfNegative val="0"/>
          <c:cat>
            <c:numRef>
              <c:f>Sheet1!$A$2:$A$22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extLst xmlns:c15="http://schemas.microsoft.com/office/drawing/2012/chart"/>
            </c:numRef>
          </c:cat>
          <c:val>
            <c:numRef>
              <c:f>Sheet1!$B$2:$B$22</c:f>
              <c:numCache>
                <c:formatCode>_("$"* #,##0_);_("$"* \(#,##0\);_("$"* "-"_);_(@_)</c:formatCode>
                <c:ptCount val="21"/>
                <c:pt idx="0">
                  <c:v>20</c:v>
                </c:pt>
                <c:pt idx="1">
                  <c:v>20</c:v>
                </c:pt>
                <c:pt idx="2">
                  <c:v>20</c:v>
                </c:pt>
                <c:pt idx="3">
                  <c:v>10</c:v>
                </c:pt>
                <c:pt idx="4">
                  <c:v>10</c:v>
                </c:pt>
                <c:pt idx="5">
                  <c:v>10</c:v>
                </c:pt>
                <c:pt idx="6">
                  <c:v>6.67</c:v>
                </c:pt>
                <c:pt idx="7">
                  <c:v>6.67</c:v>
                </c:pt>
                <c:pt idx="8">
                  <c:v>6.67</c:v>
                </c:pt>
                <c:pt idx="9">
                  <c:v>6.67</c:v>
                </c:pt>
                <c:pt idx="10">
                  <c:v>6.67</c:v>
                </c:pt>
                <c:pt idx="11">
                  <c:v>6.67</c:v>
                </c:pt>
                <c:pt idx="12">
                  <c:v>20</c:v>
                </c:pt>
                <c:pt idx="13">
                  <c:v>20</c:v>
                </c:pt>
                <c:pt idx="14">
                  <c:v>20</c:v>
                </c:pt>
                <c:pt idx="15">
                  <c:v>50</c:v>
                </c:pt>
                <c:pt idx="16">
                  <c:v>50</c:v>
                </c:pt>
                <c:pt idx="17">
                  <c:v>50</c:v>
                </c:pt>
                <c:pt idx="18">
                  <c:v>50</c:v>
                </c:pt>
                <c:pt idx="19">
                  <c:v>50</c:v>
                </c:pt>
                <c:pt idx="20">
                  <c:v>50</c:v>
                </c:pt>
              </c:numCache>
              <c:extLst xmlns:c15="http://schemas.microsoft.com/office/drawing/2012/chart"/>
            </c:numRef>
          </c:val>
          <c:extLst xmlns:c15="http://schemas.microsoft.com/office/drawing/2012/chart">
            <c:ext xmlns:c16="http://schemas.microsoft.com/office/drawing/2014/chart" uri="{C3380CC4-5D6E-409C-BE32-E72D297353CC}">
              <c16:uniqueId val="{00000000-53B2-4D15-B6B7-89A520CB8FA9}"/>
            </c:ext>
          </c:extLst>
        </c:ser>
        <c:dLbls>
          <c:showLegendKey val="0"/>
          <c:showVal val="0"/>
          <c:showCatName val="0"/>
          <c:showSerName val="0"/>
          <c:showPercent val="0"/>
          <c:showBubbleSize val="0"/>
        </c:dLbls>
        <c:gapWidth val="100"/>
        <c:axId val="797366207"/>
        <c:axId val="797364767"/>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Interest Rate</c:v>
                      </c:pt>
                    </c:strCache>
                  </c:strRef>
                </c:tx>
                <c:spPr>
                  <a:solidFill>
                    <a:schemeClr val="accent2"/>
                  </a:solidFill>
                  <a:ln w="25400">
                    <a:noFill/>
                  </a:ln>
                  <a:effectLst/>
                </c:spPr>
                <c:invertIfNegative val="0"/>
                <c:val>
                  <c:numRef>
                    <c:extLst>
                      <c:ext uri="{02D57815-91ED-43cb-92C2-25804820EDAC}">
                        <c15:formulaRef>
                          <c15:sqref>Sheet1!$C$2:$C$22</c15:sqref>
                        </c15:formulaRef>
                      </c:ext>
                    </c:extLst>
                    <c:numCache>
                      <c:formatCode>0%</c:formatCode>
                      <c:ptCount val="21"/>
                      <c:pt idx="0">
                        <c:v>0.05</c:v>
                      </c:pt>
                      <c:pt idx="1">
                        <c:v>0.05</c:v>
                      </c:pt>
                      <c:pt idx="2">
                        <c:v>0.05</c:v>
                      </c:pt>
                      <c:pt idx="3">
                        <c:v>0.05</c:v>
                      </c:pt>
                      <c:pt idx="4">
                        <c:v>0.1</c:v>
                      </c:pt>
                      <c:pt idx="5">
                        <c:v>0.1</c:v>
                      </c:pt>
                      <c:pt idx="6">
                        <c:v>0.1</c:v>
                      </c:pt>
                      <c:pt idx="7">
                        <c:v>0.15</c:v>
                      </c:pt>
                      <c:pt idx="8">
                        <c:v>0.15</c:v>
                      </c:pt>
                      <c:pt idx="9">
                        <c:v>0.15</c:v>
                      </c:pt>
                      <c:pt idx="10">
                        <c:v>0.15</c:v>
                      </c:pt>
                      <c:pt idx="11">
                        <c:v>0.15</c:v>
                      </c:pt>
                      <c:pt idx="12">
                        <c:v>0.15</c:v>
                      </c:pt>
                      <c:pt idx="13">
                        <c:v>0.05</c:v>
                      </c:pt>
                      <c:pt idx="14">
                        <c:v>0.05</c:v>
                      </c:pt>
                      <c:pt idx="15">
                        <c:v>0.05</c:v>
                      </c:pt>
                      <c:pt idx="16">
                        <c:v>0.02</c:v>
                      </c:pt>
                      <c:pt idx="17">
                        <c:v>0.02</c:v>
                      </c:pt>
                      <c:pt idx="18">
                        <c:v>0.02</c:v>
                      </c:pt>
                      <c:pt idx="19">
                        <c:v>0.02</c:v>
                      </c:pt>
                      <c:pt idx="20">
                        <c:v>0.02</c:v>
                      </c:pt>
                    </c:numCache>
                  </c:numRef>
                </c:val>
                <c:extLst>
                  <c:ext xmlns:c16="http://schemas.microsoft.com/office/drawing/2014/chart" uri="{C3380CC4-5D6E-409C-BE32-E72D297353CC}">
                    <c16:uniqueId val="{00000001-53B2-4D15-B6B7-89A520CB8FA9}"/>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Series 3</c:v>
                      </c:pt>
                    </c:strCache>
                  </c:strRef>
                </c:tx>
                <c:spPr>
                  <a:solidFill>
                    <a:schemeClr val="accent3"/>
                  </a:solidFill>
                  <a:ln w="25400">
                    <a:noFill/>
                  </a:ln>
                  <a:effectLst/>
                </c:spPr>
                <c:invertIfNegative val="0"/>
                <c:cat>
                  <c:numRef>
                    <c:extLst xmlns:c15="http://schemas.microsoft.com/office/drawing/2012/chart">
                      <c:ext xmlns:c15="http://schemas.microsoft.com/office/drawing/2012/chart" uri="{02D57815-91ED-43cb-92C2-25804820EDAC}">
                        <c15:formulaRef>
                          <c15:sqref>Sheet1!$A$2:$A$22</c15:sqref>
                        </c15:formulaRef>
                      </c:ext>
                    </c:extLst>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extLst xmlns:c15="http://schemas.microsoft.com/office/drawing/2012/chart">
                      <c:ext xmlns:c15="http://schemas.microsoft.com/office/drawing/2012/chart" uri="{02D57815-91ED-43cb-92C2-25804820EDAC}">
                        <c15:formulaRef>
                          <c15:sqref>Sheet1!$D$2:$D$22</c15:sqref>
                        </c15:formulaRef>
                      </c:ext>
                    </c:extLst>
                    <c:numCache>
                      <c:formatCode>General</c:formatCode>
                      <c:ptCount val="21"/>
                    </c:numCache>
                  </c:numRef>
                </c:val>
                <c:extLst xmlns:c15="http://schemas.microsoft.com/office/drawing/2012/chart">
                  <c:ext xmlns:c16="http://schemas.microsoft.com/office/drawing/2014/chart" uri="{C3380CC4-5D6E-409C-BE32-E72D297353CC}">
                    <c16:uniqueId val="{00000002-53B2-4D15-B6B7-89A520CB8FA9}"/>
                  </c:ext>
                </c:extLst>
              </c15:ser>
            </c15:filteredBarSeries>
          </c:ext>
        </c:extLst>
      </c:barChart>
      <c:catAx>
        <c:axId val="7973662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7364767"/>
        <c:crosses val="autoZero"/>
        <c:auto val="1"/>
        <c:lblAlgn val="ctr"/>
        <c:lblOffset val="100"/>
        <c:noMultiLvlLbl val="0"/>
      </c:catAx>
      <c:valAx>
        <c:axId val="797364767"/>
        <c:scaling>
          <c:orientation val="minMax"/>
        </c:scaling>
        <c:delete val="0"/>
        <c:axPos val="l"/>
        <c:majorGridlines>
          <c:spPr>
            <a:ln w="9525" cap="flat" cmpd="sng" algn="ctr">
              <a:solidFill>
                <a:schemeClr val="tx1">
                  <a:lumMod val="15000"/>
                  <a:lumOff val="85000"/>
                </a:schemeClr>
              </a:solidFill>
              <a:round/>
            </a:ln>
            <a:effectLst/>
          </c:spPr>
        </c:majorGridlines>
        <c:numFmt formatCode="_(&quot;$&quot;* #,##0_);_(&quot;$&quot;* \(#,##0\);_(&quot;$&quot;* &quot;-&quot;_);_(@_)"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736620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1"/>
          <c:order val="1"/>
          <c:tx>
            <c:strRef>
              <c:f>Sheet1!$C$1</c:f>
              <c:strCache>
                <c:ptCount val="1"/>
                <c:pt idx="0">
                  <c:v>Interest Rate</c:v>
                </c:pt>
              </c:strCache>
            </c:strRef>
          </c:tx>
          <c:spPr>
            <a:ln w="25400" cap="rnd">
              <a:noFill/>
              <a:round/>
            </a:ln>
            <a:effectLst/>
          </c:spPr>
          <c:marker>
            <c:symbol val="circle"/>
            <c:size val="5"/>
            <c:spPr>
              <a:solidFill>
                <a:schemeClr val="accent2"/>
              </a:solidFill>
              <a:ln w="44450">
                <a:solidFill>
                  <a:schemeClr val="accent2"/>
                </a:solidFill>
              </a:ln>
              <a:effectLst/>
            </c:spPr>
          </c:marker>
          <c:yVal>
            <c:numRef>
              <c:f>Sheet1!$C$2:$C$22</c:f>
              <c:numCache>
                <c:formatCode>0.0%</c:formatCode>
                <c:ptCount val="21"/>
                <c:pt idx="0">
                  <c:v>0.05</c:v>
                </c:pt>
                <c:pt idx="1">
                  <c:v>4.6666666666666669E-2</c:v>
                </c:pt>
                <c:pt idx="2">
                  <c:v>0.08</c:v>
                </c:pt>
                <c:pt idx="3">
                  <c:v>0.1</c:v>
                </c:pt>
                <c:pt idx="4">
                  <c:v>0.11</c:v>
                </c:pt>
                <c:pt idx="5">
                  <c:v>0.11333333333333333</c:v>
                </c:pt>
                <c:pt idx="6">
                  <c:v>0.10666666666666666</c:v>
                </c:pt>
                <c:pt idx="7">
                  <c:v>0.12666666666666665</c:v>
                </c:pt>
                <c:pt idx="8">
                  <c:v>0.14333333333333331</c:v>
                </c:pt>
                <c:pt idx="9">
                  <c:v>0.12666666666666665</c:v>
                </c:pt>
                <c:pt idx="10">
                  <c:v>9.6666666666666651E-2</c:v>
                </c:pt>
                <c:pt idx="11">
                  <c:v>8.3333333333333315E-2</c:v>
                </c:pt>
                <c:pt idx="12">
                  <c:v>6.9999999999999979E-2</c:v>
                </c:pt>
                <c:pt idx="13">
                  <c:v>8.3333333333333315E-2</c:v>
                </c:pt>
                <c:pt idx="14">
                  <c:v>0.10333333333333332</c:v>
                </c:pt>
                <c:pt idx="15">
                  <c:v>0.10333333333333332</c:v>
                </c:pt>
                <c:pt idx="16">
                  <c:v>0.11333333333333331</c:v>
                </c:pt>
                <c:pt idx="17">
                  <c:v>9.6666666666666651E-2</c:v>
                </c:pt>
                <c:pt idx="18">
                  <c:v>0.12666666666666665</c:v>
                </c:pt>
                <c:pt idx="19">
                  <c:v>0.13999999999999999</c:v>
                </c:pt>
                <c:pt idx="20">
                  <c:v>0.10999999999999999</c:v>
                </c:pt>
              </c:numCache>
            </c:numRef>
          </c:yVal>
          <c:smooth val="0"/>
          <c:extLst>
            <c:ext xmlns:c16="http://schemas.microsoft.com/office/drawing/2014/chart" uri="{C3380CC4-5D6E-409C-BE32-E72D297353CC}">
              <c16:uniqueId val="{00000000-05A7-4AA9-B59C-A96343E4FFED}"/>
            </c:ext>
          </c:extLst>
        </c:ser>
        <c:dLbls>
          <c:showLegendKey val="0"/>
          <c:showVal val="0"/>
          <c:showCatName val="0"/>
          <c:showSerName val="0"/>
          <c:showPercent val="0"/>
          <c:showBubbleSize val="0"/>
        </c:dLbls>
        <c:axId val="797366207"/>
        <c:axId val="797364767"/>
        <c:extLst>
          <c:ext xmlns:c15="http://schemas.microsoft.com/office/drawing/2012/chart" uri="{02D57815-91ED-43cb-92C2-25804820EDAC}">
            <c15:filteredScatterSeries>
              <c15:ser>
                <c:idx val="0"/>
                <c:order val="0"/>
                <c:tx>
                  <c:strRef>
                    <c:extLst>
                      <c:ext uri="{02D57815-91ED-43cb-92C2-25804820EDAC}">
                        <c15:formulaRef>
                          <c15:sqref>Sheet1!$B$1</c15:sqref>
                        </c15:formulaRef>
                      </c:ext>
                    </c:extLst>
                    <c:strCache>
                      <c:ptCount val="1"/>
                      <c:pt idx="0">
                        <c:v>Value</c:v>
                      </c:pt>
                    </c:strCache>
                  </c:strRef>
                </c:tx>
                <c:spPr>
                  <a:ln w="25400" cap="rnd">
                    <a:noFill/>
                    <a:round/>
                  </a:ln>
                  <a:effectLst/>
                </c:spPr>
                <c:marker>
                  <c:symbol val="circle"/>
                  <c:size val="5"/>
                  <c:spPr>
                    <a:solidFill>
                      <a:schemeClr val="accent1"/>
                    </a:solidFill>
                    <a:ln w="9525">
                      <a:solidFill>
                        <a:schemeClr val="accent1"/>
                      </a:solidFill>
                    </a:ln>
                    <a:effectLst/>
                  </c:spPr>
                </c:marker>
                <c:xVal>
                  <c:numRef>
                    <c:extLst>
                      <c:ext uri="{02D57815-91ED-43cb-92C2-25804820EDAC}">
                        <c15:formulaRef>
                          <c15:sqref>Sheet1!$A$2:$A$22</c15:sqref>
                        </c15:formulaRef>
                      </c:ext>
                    </c:extLst>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extLst>
                      <c:ext uri="{02D57815-91ED-43cb-92C2-25804820EDAC}">
                        <c15:formulaRef>
                          <c15:sqref>Sheet1!$B$2:$B$22</c15:sqref>
                        </c15:formulaRef>
                      </c:ext>
                    </c:extLst>
                    <c:numCache>
                      <c:formatCode>_("$"* #,##0_);_("$"* \(#,##0\);_("$"* "-"_);_(@_)</c:formatCode>
                      <c:ptCount val="21"/>
                      <c:pt idx="0">
                        <c:v>20</c:v>
                      </c:pt>
                      <c:pt idx="1">
                        <c:v>20</c:v>
                      </c:pt>
                      <c:pt idx="2">
                        <c:v>20</c:v>
                      </c:pt>
                      <c:pt idx="3">
                        <c:v>10</c:v>
                      </c:pt>
                      <c:pt idx="4">
                        <c:v>10</c:v>
                      </c:pt>
                      <c:pt idx="5">
                        <c:v>10</c:v>
                      </c:pt>
                      <c:pt idx="6">
                        <c:v>6.67</c:v>
                      </c:pt>
                      <c:pt idx="7">
                        <c:v>6.67</c:v>
                      </c:pt>
                      <c:pt idx="8">
                        <c:v>6.67</c:v>
                      </c:pt>
                      <c:pt idx="9">
                        <c:v>6.67</c:v>
                      </c:pt>
                      <c:pt idx="10">
                        <c:v>6.67</c:v>
                      </c:pt>
                      <c:pt idx="11">
                        <c:v>6.67</c:v>
                      </c:pt>
                      <c:pt idx="12">
                        <c:v>20</c:v>
                      </c:pt>
                      <c:pt idx="13">
                        <c:v>20</c:v>
                      </c:pt>
                      <c:pt idx="14">
                        <c:v>20</c:v>
                      </c:pt>
                      <c:pt idx="15">
                        <c:v>50</c:v>
                      </c:pt>
                      <c:pt idx="16">
                        <c:v>50</c:v>
                      </c:pt>
                      <c:pt idx="17">
                        <c:v>50</c:v>
                      </c:pt>
                      <c:pt idx="18">
                        <c:v>50</c:v>
                      </c:pt>
                      <c:pt idx="19">
                        <c:v>50</c:v>
                      </c:pt>
                      <c:pt idx="20">
                        <c:v>50</c:v>
                      </c:pt>
                    </c:numCache>
                  </c:numRef>
                </c:yVal>
                <c:smooth val="0"/>
                <c:extLst>
                  <c:ext xmlns:c16="http://schemas.microsoft.com/office/drawing/2014/chart" uri="{C3380CC4-5D6E-409C-BE32-E72D297353CC}">
                    <c16:uniqueId val="{00000001-05A7-4AA9-B59C-A96343E4FFED}"/>
                  </c:ext>
                </c:extLst>
              </c15:ser>
            </c15:filteredScatterSeries>
            <c15:filteredScatte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Series 3</c:v>
                      </c:pt>
                    </c:strCache>
                  </c:strRef>
                </c:tx>
                <c:spPr>
                  <a:ln w="25400" cap="rnd">
                    <a:noFill/>
                    <a:round/>
                  </a:ln>
                  <a:effectLst/>
                </c:spPr>
                <c:marker>
                  <c:symbol val="circle"/>
                  <c:size val="5"/>
                  <c:spPr>
                    <a:solidFill>
                      <a:schemeClr val="accent3"/>
                    </a:solidFill>
                    <a:ln w="9525">
                      <a:solidFill>
                        <a:schemeClr val="accent3"/>
                      </a:solidFill>
                    </a:ln>
                    <a:effectLst/>
                  </c:spPr>
                </c:marker>
                <c:xVal>
                  <c:numRef>
                    <c:extLst xmlns:c15="http://schemas.microsoft.com/office/drawing/2012/chart">
                      <c:ext xmlns:c15="http://schemas.microsoft.com/office/drawing/2012/chart" uri="{02D57815-91ED-43cb-92C2-25804820EDAC}">
                        <c15:formulaRef>
                          <c15:sqref>Sheet1!$A$2:$A$22</c15:sqref>
                        </c15:formulaRef>
                      </c:ext>
                    </c:extLst>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extLst xmlns:c15="http://schemas.microsoft.com/office/drawing/2012/chart">
                      <c:ext xmlns:c15="http://schemas.microsoft.com/office/drawing/2012/chart" uri="{02D57815-91ED-43cb-92C2-25804820EDAC}">
                        <c15:formulaRef>
                          <c15:sqref>Sheet1!$D$2:$D$22</c15:sqref>
                        </c15:formulaRef>
                      </c:ext>
                    </c:extLst>
                    <c:numCache>
                      <c:formatCode>General</c:formatCode>
                      <c:ptCount val="21"/>
                    </c:numCache>
                  </c:numRef>
                </c:yVal>
                <c:smooth val="0"/>
                <c:extLst xmlns:c15="http://schemas.microsoft.com/office/drawing/2012/chart">
                  <c:ext xmlns:c16="http://schemas.microsoft.com/office/drawing/2014/chart" uri="{C3380CC4-5D6E-409C-BE32-E72D297353CC}">
                    <c16:uniqueId val="{00000002-05A7-4AA9-B59C-A96343E4FFED}"/>
                  </c:ext>
                </c:extLst>
              </c15:ser>
            </c15:filteredScatterSeries>
          </c:ext>
        </c:extLst>
      </c:scatterChart>
      <c:valAx>
        <c:axId val="7973662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7364767"/>
        <c:crosses val="autoZero"/>
        <c:crossBetween val="midCat"/>
      </c:valAx>
      <c:valAx>
        <c:axId val="797364767"/>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7366207"/>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640147127351666E-2"/>
          <c:y val="3.7906672552202265E-2"/>
          <c:w val="0.87187613261766284"/>
          <c:h val="0.8216839119811199"/>
        </c:manualLayout>
      </c:layout>
      <c:barChart>
        <c:barDir val="col"/>
        <c:grouping val="clustered"/>
        <c:varyColors val="0"/>
        <c:ser>
          <c:idx val="0"/>
          <c:order val="0"/>
          <c:tx>
            <c:strRef>
              <c:f>Sheet1!$B$1</c:f>
              <c:strCache>
                <c:ptCount val="1"/>
                <c:pt idx="0">
                  <c:v>Value</c:v>
                </c:pt>
              </c:strCache>
              <c:extLst xmlns:c15="http://schemas.microsoft.com/office/drawing/2012/chart"/>
            </c:strRef>
          </c:tx>
          <c:spPr>
            <a:solidFill>
              <a:schemeClr val="accent1"/>
            </a:solidFill>
            <a:ln w="25400">
              <a:noFill/>
            </a:ln>
            <a:effectLst/>
          </c:spPr>
          <c:invertIfNegative val="0"/>
          <c:cat>
            <c:numRef>
              <c:f>Sheet1!$A$2:$A$22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extLst xmlns:c15="http://schemas.microsoft.com/office/drawing/2012/chart"/>
            </c:numRef>
          </c:cat>
          <c:val>
            <c:numRef>
              <c:f>Sheet1!$B$2:$B$22</c:f>
              <c:numCache>
                <c:formatCode>General</c:formatCode>
                <c:ptCount val="21"/>
                <c:pt idx="0">
                  <c:v>20</c:v>
                </c:pt>
                <c:pt idx="1">
                  <c:v>21.428571428571427</c:v>
                </c:pt>
                <c:pt idx="2">
                  <c:v>12.5</c:v>
                </c:pt>
                <c:pt idx="3">
                  <c:v>10</c:v>
                </c:pt>
                <c:pt idx="4">
                  <c:v>9.0909090909090899</c:v>
                </c:pt>
                <c:pt idx="5">
                  <c:v>8.8235294117647065</c:v>
                </c:pt>
                <c:pt idx="6">
                  <c:v>9.375</c:v>
                </c:pt>
                <c:pt idx="7">
                  <c:v>7.8947368421052646</c:v>
                </c:pt>
                <c:pt idx="8">
                  <c:v>6.9767441860465125</c:v>
                </c:pt>
                <c:pt idx="9">
                  <c:v>7.8947368421052646</c:v>
                </c:pt>
                <c:pt idx="10">
                  <c:v>10.344827586206899</c:v>
                </c:pt>
                <c:pt idx="11">
                  <c:v>12.000000000000002</c:v>
                </c:pt>
                <c:pt idx="12">
                  <c:v>14.28571428571429</c:v>
                </c:pt>
                <c:pt idx="13">
                  <c:v>12.000000000000002</c:v>
                </c:pt>
                <c:pt idx="14">
                  <c:v>9.67741935483871</c:v>
                </c:pt>
                <c:pt idx="15">
                  <c:v>9.67741935483871</c:v>
                </c:pt>
                <c:pt idx="16">
                  <c:v>8.8235294117647083</c:v>
                </c:pt>
                <c:pt idx="17">
                  <c:v>10.344827586206899</c:v>
                </c:pt>
                <c:pt idx="18">
                  <c:v>7.8947368421052646</c:v>
                </c:pt>
                <c:pt idx="19">
                  <c:v>7.1428571428571441</c:v>
                </c:pt>
                <c:pt idx="20">
                  <c:v>9.0909090909090917</c:v>
                </c:pt>
              </c:numCache>
              <c:extLst xmlns:c15="http://schemas.microsoft.com/office/drawing/2012/chart"/>
            </c:numRef>
          </c:val>
          <c:extLst xmlns:c15="http://schemas.microsoft.com/office/drawing/2012/chart">
            <c:ext xmlns:c16="http://schemas.microsoft.com/office/drawing/2014/chart" uri="{C3380CC4-5D6E-409C-BE32-E72D297353CC}">
              <c16:uniqueId val="{00000000-53B2-4D15-B6B7-89A520CB8FA9}"/>
            </c:ext>
          </c:extLst>
        </c:ser>
        <c:dLbls>
          <c:showLegendKey val="0"/>
          <c:showVal val="0"/>
          <c:showCatName val="0"/>
          <c:showSerName val="0"/>
          <c:showPercent val="0"/>
          <c:showBubbleSize val="0"/>
        </c:dLbls>
        <c:gapWidth val="100"/>
        <c:axId val="797366207"/>
        <c:axId val="797364767"/>
        <c:extLst>
          <c:ext xmlns:c15="http://schemas.microsoft.com/office/drawing/2012/chart" uri="{02D57815-91ED-43cb-92C2-25804820EDAC}">
            <c15:filteredBarSeries>
              <c15:ser>
                <c:idx val="1"/>
                <c:order val="1"/>
                <c:tx>
                  <c:strRef>
                    <c:extLst>
                      <c:ext uri="{02D57815-91ED-43cb-92C2-25804820EDAC}">
                        <c15:formulaRef>
                          <c15:sqref>Sheet1!$C$1</c15:sqref>
                        </c15:formulaRef>
                      </c:ext>
                    </c:extLst>
                    <c:strCache>
                      <c:ptCount val="1"/>
                      <c:pt idx="0">
                        <c:v>Interest Rate</c:v>
                      </c:pt>
                    </c:strCache>
                  </c:strRef>
                </c:tx>
                <c:spPr>
                  <a:solidFill>
                    <a:schemeClr val="accent2"/>
                  </a:solidFill>
                  <a:ln w="25400">
                    <a:noFill/>
                  </a:ln>
                  <a:effectLst/>
                </c:spPr>
                <c:invertIfNegative val="0"/>
                <c:val>
                  <c:numRef>
                    <c:extLst>
                      <c:ext uri="{02D57815-91ED-43cb-92C2-25804820EDAC}">
                        <c15:formulaRef>
                          <c15:sqref>Sheet1!$C$2:$C$22</c15:sqref>
                        </c15:formulaRef>
                      </c:ext>
                    </c:extLst>
                    <c:numCache>
                      <c:formatCode>0.0%</c:formatCode>
                      <c:ptCount val="21"/>
                      <c:pt idx="0">
                        <c:v>0.05</c:v>
                      </c:pt>
                      <c:pt idx="1">
                        <c:v>4.6666666666666669E-2</c:v>
                      </c:pt>
                      <c:pt idx="2">
                        <c:v>0.08</c:v>
                      </c:pt>
                      <c:pt idx="3">
                        <c:v>0.1</c:v>
                      </c:pt>
                      <c:pt idx="4">
                        <c:v>0.11</c:v>
                      </c:pt>
                      <c:pt idx="5">
                        <c:v>0.11333333333333333</c:v>
                      </c:pt>
                      <c:pt idx="6">
                        <c:v>0.10666666666666666</c:v>
                      </c:pt>
                      <c:pt idx="7">
                        <c:v>0.12666666666666665</c:v>
                      </c:pt>
                      <c:pt idx="8">
                        <c:v>0.14333333333333331</c:v>
                      </c:pt>
                      <c:pt idx="9">
                        <c:v>0.12666666666666665</c:v>
                      </c:pt>
                      <c:pt idx="10">
                        <c:v>9.6666666666666651E-2</c:v>
                      </c:pt>
                      <c:pt idx="11">
                        <c:v>8.3333333333333315E-2</c:v>
                      </c:pt>
                      <c:pt idx="12">
                        <c:v>6.9999999999999979E-2</c:v>
                      </c:pt>
                      <c:pt idx="13">
                        <c:v>8.3333333333333315E-2</c:v>
                      </c:pt>
                      <c:pt idx="14">
                        <c:v>0.10333333333333332</c:v>
                      </c:pt>
                      <c:pt idx="15">
                        <c:v>0.10333333333333332</c:v>
                      </c:pt>
                      <c:pt idx="16">
                        <c:v>0.11333333333333331</c:v>
                      </c:pt>
                      <c:pt idx="17">
                        <c:v>9.6666666666666651E-2</c:v>
                      </c:pt>
                      <c:pt idx="18">
                        <c:v>0.12666666666666665</c:v>
                      </c:pt>
                      <c:pt idx="19">
                        <c:v>0.13999999999999999</c:v>
                      </c:pt>
                      <c:pt idx="20">
                        <c:v>0.10999999999999999</c:v>
                      </c:pt>
                    </c:numCache>
                  </c:numRef>
                </c:val>
                <c:extLst>
                  <c:ext xmlns:c16="http://schemas.microsoft.com/office/drawing/2014/chart" uri="{C3380CC4-5D6E-409C-BE32-E72D297353CC}">
                    <c16:uniqueId val="{00000001-53B2-4D15-B6B7-89A520CB8FA9}"/>
                  </c:ext>
                </c:extLst>
              </c15:ser>
            </c15:filteredBarSeries>
            <c15:filteredBa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Series 3</c:v>
                      </c:pt>
                    </c:strCache>
                  </c:strRef>
                </c:tx>
                <c:spPr>
                  <a:solidFill>
                    <a:schemeClr val="accent3"/>
                  </a:solidFill>
                  <a:ln w="25400">
                    <a:noFill/>
                  </a:ln>
                  <a:effectLst/>
                </c:spPr>
                <c:invertIfNegative val="0"/>
                <c:cat>
                  <c:numRef>
                    <c:extLst xmlns:c15="http://schemas.microsoft.com/office/drawing/2012/chart">
                      <c:ext xmlns:c15="http://schemas.microsoft.com/office/drawing/2012/chart" uri="{02D57815-91ED-43cb-92C2-25804820EDAC}">
                        <c15:formulaRef>
                          <c15:sqref>Sheet1!$A$2:$A$22</c15:sqref>
                        </c15:formulaRef>
                      </c:ext>
                    </c:extLst>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extLst xmlns:c15="http://schemas.microsoft.com/office/drawing/2012/chart">
                      <c:ext xmlns:c15="http://schemas.microsoft.com/office/drawing/2012/chart" uri="{02D57815-91ED-43cb-92C2-25804820EDAC}">
                        <c15:formulaRef>
                          <c15:sqref>Sheet1!$D$2:$D$22</c15:sqref>
                        </c15:formulaRef>
                      </c:ext>
                    </c:extLst>
                    <c:numCache>
                      <c:formatCode>General</c:formatCode>
                      <c:ptCount val="21"/>
                    </c:numCache>
                  </c:numRef>
                </c:val>
                <c:extLst xmlns:c15="http://schemas.microsoft.com/office/drawing/2012/chart">
                  <c:ext xmlns:c16="http://schemas.microsoft.com/office/drawing/2014/chart" uri="{C3380CC4-5D6E-409C-BE32-E72D297353CC}">
                    <c16:uniqueId val="{00000002-53B2-4D15-B6B7-89A520CB8FA9}"/>
                  </c:ext>
                </c:extLst>
              </c15:ser>
            </c15:filteredBarSeries>
          </c:ext>
        </c:extLst>
      </c:barChart>
      <c:catAx>
        <c:axId val="7973662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7364767"/>
        <c:crosses val="autoZero"/>
        <c:auto val="1"/>
        <c:lblAlgn val="ctr"/>
        <c:lblOffset val="100"/>
        <c:noMultiLvlLbl val="0"/>
      </c:catAx>
      <c:valAx>
        <c:axId val="7973647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7366207"/>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lineMarker"/>
        <c:varyColors val="0"/>
        <c:ser>
          <c:idx val="1"/>
          <c:order val="1"/>
          <c:tx>
            <c:strRef>
              <c:f>Sheet1!$C$1</c:f>
              <c:strCache>
                <c:ptCount val="1"/>
                <c:pt idx="0">
                  <c:v>Interest Rate</c:v>
                </c:pt>
              </c:strCache>
            </c:strRef>
          </c:tx>
          <c:spPr>
            <a:ln w="25400" cap="rnd">
              <a:noFill/>
              <a:round/>
            </a:ln>
            <a:effectLst/>
          </c:spPr>
          <c:marker>
            <c:symbol val="circle"/>
            <c:size val="5"/>
            <c:spPr>
              <a:solidFill>
                <a:schemeClr val="accent2"/>
              </a:solidFill>
              <a:ln w="44450">
                <a:solidFill>
                  <a:schemeClr val="accent2"/>
                </a:solidFill>
              </a:ln>
              <a:effectLst/>
            </c:spPr>
          </c:marker>
          <c:yVal>
            <c:numRef>
              <c:f>Sheet1!$C$2:$C$22</c:f>
              <c:numCache>
                <c:formatCode>0.0%</c:formatCode>
                <c:ptCount val="21"/>
                <c:pt idx="0">
                  <c:v>0.05</c:v>
                </c:pt>
                <c:pt idx="1">
                  <c:v>4.6666666666666669E-2</c:v>
                </c:pt>
                <c:pt idx="2">
                  <c:v>0.08</c:v>
                </c:pt>
                <c:pt idx="3">
                  <c:v>0.1</c:v>
                </c:pt>
                <c:pt idx="4">
                  <c:v>0.11</c:v>
                </c:pt>
                <c:pt idx="5">
                  <c:v>0.11333333333333333</c:v>
                </c:pt>
                <c:pt idx="6">
                  <c:v>0.10666666666666666</c:v>
                </c:pt>
                <c:pt idx="7">
                  <c:v>0.12666666666666665</c:v>
                </c:pt>
                <c:pt idx="8">
                  <c:v>0.14333333333333331</c:v>
                </c:pt>
                <c:pt idx="9">
                  <c:v>0.12666666666666665</c:v>
                </c:pt>
                <c:pt idx="10">
                  <c:v>9.6666666666666651E-2</c:v>
                </c:pt>
                <c:pt idx="11">
                  <c:v>8.3333333333333315E-2</c:v>
                </c:pt>
                <c:pt idx="12">
                  <c:v>6.9999999999999979E-2</c:v>
                </c:pt>
                <c:pt idx="13">
                  <c:v>8.3333333333333315E-2</c:v>
                </c:pt>
                <c:pt idx="14">
                  <c:v>0.10333333333333332</c:v>
                </c:pt>
                <c:pt idx="15">
                  <c:v>0.10333333333333332</c:v>
                </c:pt>
                <c:pt idx="16">
                  <c:v>0.11333333333333331</c:v>
                </c:pt>
                <c:pt idx="17">
                  <c:v>9.6666666666666651E-2</c:v>
                </c:pt>
                <c:pt idx="18">
                  <c:v>0.12666666666666665</c:v>
                </c:pt>
                <c:pt idx="19">
                  <c:v>0.13999999999999999</c:v>
                </c:pt>
                <c:pt idx="20">
                  <c:v>0.10999999999999999</c:v>
                </c:pt>
              </c:numCache>
            </c:numRef>
          </c:yVal>
          <c:smooth val="0"/>
          <c:extLst>
            <c:ext xmlns:c16="http://schemas.microsoft.com/office/drawing/2014/chart" uri="{C3380CC4-5D6E-409C-BE32-E72D297353CC}">
              <c16:uniqueId val="{00000000-05A7-4AA9-B59C-A96343E4FFED}"/>
            </c:ext>
          </c:extLst>
        </c:ser>
        <c:dLbls>
          <c:showLegendKey val="0"/>
          <c:showVal val="0"/>
          <c:showCatName val="0"/>
          <c:showSerName val="0"/>
          <c:showPercent val="0"/>
          <c:showBubbleSize val="0"/>
        </c:dLbls>
        <c:axId val="797366207"/>
        <c:axId val="797364767"/>
        <c:extLst>
          <c:ext xmlns:c15="http://schemas.microsoft.com/office/drawing/2012/chart" uri="{02D57815-91ED-43cb-92C2-25804820EDAC}">
            <c15:filteredScatterSeries>
              <c15:ser>
                <c:idx val="0"/>
                <c:order val="0"/>
                <c:tx>
                  <c:strRef>
                    <c:extLst>
                      <c:ext uri="{02D57815-91ED-43cb-92C2-25804820EDAC}">
                        <c15:formulaRef>
                          <c15:sqref>Sheet1!$B$1</c15:sqref>
                        </c15:formulaRef>
                      </c:ext>
                    </c:extLst>
                    <c:strCache>
                      <c:ptCount val="1"/>
                      <c:pt idx="0">
                        <c:v>Value</c:v>
                      </c:pt>
                    </c:strCache>
                  </c:strRef>
                </c:tx>
                <c:spPr>
                  <a:ln w="25400" cap="rnd">
                    <a:noFill/>
                    <a:round/>
                  </a:ln>
                  <a:effectLst/>
                </c:spPr>
                <c:marker>
                  <c:symbol val="circle"/>
                  <c:size val="5"/>
                  <c:spPr>
                    <a:solidFill>
                      <a:schemeClr val="accent1"/>
                    </a:solidFill>
                    <a:ln w="9525">
                      <a:solidFill>
                        <a:schemeClr val="accent1"/>
                      </a:solidFill>
                    </a:ln>
                    <a:effectLst/>
                  </c:spPr>
                </c:marker>
                <c:xVal>
                  <c:numRef>
                    <c:extLst>
                      <c:ext uri="{02D57815-91ED-43cb-92C2-25804820EDAC}">
                        <c15:formulaRef>
                          <c15:sqref>Sheet1!$A$2:$A$22</c15:sqref>
                        </c15:formulaRef>
                      </c:ext>
                    </c:extLst>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extLst>
                      <c:ext uri="{02D57815-91ED-43cb-92C2-25804820EDAC}">
                        <c15:formulaRef>
                          <c15:sqref>Sheet1!$B$2:$B$22</c15:sqref>
                        </c15:formulaRef>
                      </c:ext>
                    </c:extLst>
                    <c:numCache>
                      <c:formatCode>_("$"* #,##0_);_("$"* \(#,##0\);_("$"* "-"_);_(@_)</c:formatCode>
                      <c:ptCount val="21"/>
                      <c:pt idx="0">
                        <c:v>20</c:v>
                      </c:pt>
                      <c:pt idx="1">
                        <c:v>20</c:v>
                      </c:pt>
                      <c:pt idx="2">
                        <c:v>20</c:v>
                      </c:pt>
                      <c:pt idx="3">
                        <c:v>10</c:v>
                      </c:pt>
                      <c:pt idx="4">
                        <c:v>10</c:v>
                      </c:pt>
                      <c:pt idx="5">
                        <c:v>10</c:v>
                      </c:pt>
                      <c:pt idx="6">
                        <c:v>6.67</c:v>
                      </c:pt>
                      <c:pt idx="7">
                        <c:v>6.67</c:v>
                      </c:pt>
                      <c:pt idx="8">
                        <c:v>6.67</c:v>
                      </c:pt>
                      <c:pt idx="9">
                        <c:v>6.67</c:v>
                      </c:pt>
                      <c:pt idx="10">
                        <c:v>6.67</c:v>
                      </c:pt>
                      <c:pt idx="11">
                        <c:v>6.67</c:v>
                      </c:pt>
                      <c:pt idx="12">
                        <c:v>20</c:v>
                      </c:pt>
                      <c:pt idx="13">
                        <c:v>20</c:v>
                      </c:pt>
                      <c:pt idx="14">
                        <c:v>20</c:v>
                      </c:pt>
                      <c:pt idx="15">
                        <c:v>50</c:v>
                      </c:pt>
                      <c:pt idx="16">
                        <c:v>50</c:v>
                      </c:pt>
                      <c:pt idx="17">
                        <c:v>50</c:v>
                      </c:pt>
                      <c:pt idx="18">
                        <c:v>50</c:v>
                      </c:pt>
                      <c:pt idx="19">
                        <c:v>50</c:v>
                      </c:pt>
                      <c:pt idx="20">
                        <c:v>50</c:v>
                      </c:pt>
                    </c:numCache>
                  </c:numRef>
                </c:yVal>
                <c:smooth val="0"/>
                <c:extLst>
                  <c:ext xmlns:c16="http://schemas.microsoft.com/office/drawing/2014/chart" uri="{C3380CC4-5D6E-409C-BE32-E72D297353CC}">
                    <c16:uniqueId val="{00000001-05A7-4AA9-B59C-A96343E4FFED}"/>
                  </c:ext>
                </c:extLst>
              </c15:ser>
            </c15:filteredScatterSeries>
            <c15:filteredScatter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Series 3</c:v>
                      </c:pt>
                    </c:strCache>
                  </c:strRef>
                </c:tx>
                <c:spPr>
                  <a:ln w="25400" cap="rnd">
                    <a:noFill/>
                    <a:round/>
                  </a:ln>
                  <a:effectLst/>
                </c:spPr>
                <c:marker>
                  <c:symbol val="circle"/>
                  <c:size val="5"/>
                  <c:spPr>
                    <a:solidFill>
                      <a:schemeClr val="accent3"/>
                    </a:solidFill>
                    <a:ln w="9525">
                      <a:solidFill>
                        <a:schemeClr val="accent3"/>
                      </a:solidFill>
                    </a:ln>
                    <a:effectLst/>
                  </c:spPr>
                </c:marker>
                <c:xVal>
                  <c:numRef>
                    <c:extLst xmlns:c15="http://schemas.microsoft.com/office/drawing/2012/chart">
                      <c:ext xmlns:c15="http://schemas.microsoft.com/office/drawing/2012/chart" uri="{02D57815-91ED-43cb-92C2-25804820EDAC}">
                        <c15:formulaRef>
                          <c15:sqref>Sheet1!$A$2:$A$22</c15:sqref>
                        </c15:formulaRef>
                      </c:ext>
                    </c:extLst>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xVal>
                <c:yVal>
                  <c:numRef>
                    <c:extLst xmlns:c15="http://schemas.microsoft.com/office/drawing/2012/chart">
                      <c:ext xmlns:c15="http://schemas.microsoft.com/office/drawing/2012/chart" uri="{02D57815-91ED-43cb-92C2-25804820EDAC}">
                        <c15:formulaRef>
                          <c15:sqref>Sheet1!$D$2:$D$22</c15:sqref>
                        </c15:formulaRef>
                      </c:ext>
                    </c:extLst>
                    <c:numCache>
                      <c:formatCode>General</c:formatCode>
                      <c:ptCount val="21"/>
                    </c:numCache>
                  </c:numRef>
                </c:yVal>
                <c:smooth val="0"/>
                <c:extLst xmlns:c15="http://schemas.microsoft.com/office/drawing/2012/chart">
                  <c:ext xmlns:c16="http://schemas.microsoft.com/office/drawing/2014/chart" uri="{C3380CC4-5D6E-409C-BE32-E72D297353CC}">
                    <c16:uniqueId val="{00000002-05A7-4AA9-B59C-A96343E4FFED}"/>
                  </c:ext>
                </c:extLst>
              </c15:ser>
            </c15:filteredScatterSeries>
          </c:ext>
        </c:extLst>
      </c:scatterChart>
      <c:valAx>
        <c:axId val="7973662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7364767"/>
        <c:crosses val="autoZero"/>
        <c:crossBetween val="midCat"/>
      </c:valAx>
      <c:valAx>
        <c:axId val="797364767"/>
        <c:scaling>
          <c:orientation val="minMax"/>
        </c:scaling>
        <c:delete val="0"/>
        <c:axPos val="l"/>
        <c:majorGridlines>
          <c:spPr>
            <a:ln w="9525" cap="flat" cmpd="sng" algn="ctr">
              <a:solidFill>
                <a:schemeClr val="tx1">
                  <a:lumMod val="15000"/>
                  <a:lumOff val="85000"/>
                </a:schemeClr>
              </a:solidFill>
              <a:round/>
            </a:ln>
            <a:effectLst/>
          </c:spPr>
        </c:majorGridlines>
        <c:numFmt formatCode="0.0%"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7366207"/>
        <c:crosses val="autoZero"/>
        <c:crossBetween val="midCat"/>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6640147127351666E-2"/>
          <c:y val="3.7906672552202265E-2"/>
          <c:w val="0.87187613261766284"/>
          <c:h val="0.8216839119811199"/>
        </c:manualLayout>
      </c:layout>
      <c:lineChart>
        <c:grouping val="standard"/>
        <c:varyColors val="0"/>
        <c:ser>
          <c:idx val="0"/>
          <c:order val="0"/>
          <c:tx>
            <c:strRef>
              <c:f>Sheet1!$B$1</c:f>
              <c:strCache>
                <c:ptCount val="1"/>
                <c:pt idx="0">
                  <c:v>Value</c:v>
                </c:pt>
              </c:strCache>
              <c:extLst xmlns:c15="http://schemas.microsoft.com/office/drawing/2012/chart"/>
            </c:strRef>
          </c:tx>
          <c:spPr>
            <a:ln w="28575" cap="rnd">
              <a:solidFill>
                <a:schemeClr val="accent1"/>
              </a:solidFill>
              <a:round/>
            </a:ln>
            <a:effectLst/>
          </c:spPr>
          <c:marker>
            <c:symbol val="square"/>
            <c:size val="5"/>
            <c:spPr>
              <a:solidFill>
                <a:schemeClr val="accent1"/>
              </a:solidFill>
              <a:ln w="9525">
                <a:solidFill>
                  <a:schemeClr val="accent1"/>
                </a:solidFill>
              </a:ln>
              <a:effectLst/>
            </c:spPr>
          </c:marker>
          <c:cat>
            <c:numRef>
              <c:f>Sheet1!$A$2:$A$22</c:f>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extLst xmlns:c15="http://schemas.microsoft.com/office/drawing/2012/chart"/>
            </c:numRef>
          </c:cat>
          <c:val>
            <c:numRef>
              <c:f>Sheet1!$B$2:$B$22</c:f>
              <c:numCache>
                <c:formatCode>General</c:formatCode>
                <c:ptCount val="21"/>
                <c:pt idx="0">
                  <c:v>20</c:v>
                </c:pt>
                <c:pt idx="1">
                  <c:v>21.428571428571427</c:v>
                </c:pt>
                <c:pt idx="2">
                  <c:v>12.5</c:v>
                </c:pt>
                <c:pt idx="3">
                  <c:v>10</c:v>
                </c:pt>
                <c:pt idx="4">
                  <c:v>9.0909090909090899</c:v>
                </c:pt>
                <c:pt idx="5">
                  <c:v>8.8235294117647065</c:v>
                </c:pt>
                <c:pt idx="6">
                  <c:v>9.375</c:v>
                </c:pt>
                <c:pt idx="7">
                  <c:v>7.8947368421052646</c:v>
                </c:pt>
                <c:pt idx="8">
                  <c:v>6.9767441860465125</c:v>
                </c:pt>
                <c:pt idx="9">
                  <c:v>7.8947368421052646</c:v>
                </c:pt>
                <c:pt idx="10">
                  <c:v>10.344827586206899</c:v>
                </c:pt>
                <c:pt idx="11">
                  <c:v>12.000000000000002</c:v>
                </c:pt>
                <c:pt idx="12">
                  <c:v>14.28571428571429</c:v>
                </c:pt>
                <c:pt idx="13">
                  <c:v>12.000000000000002</c:v>
                </c:pt>
                <c:pt idx="14">
                  <c:v>9.67741935483871</c:v>
                </c:pt>
                <c:pt idx="15">
                  <c:v>9.67741935483871</c:v>
                </c:pt>
                <c:pt idx="16">
                  <c:v>8.8235294117647083</c:v>
                </c:pt>
                <c:pt idx="17">
                  <c:v>10.344827586206899</c:v>
                </c:pt>
                <c:pt idx="18">
                  <c:v>7.8947368421052646</c:v>
                </c:pt>
                <c:pt idx="19">
                  <c:v>7.1428571428571441</c:v>
                </c:pt>
                <c:pt idx="20">
                  <c:v>9.0909090909090917</c:v>
                </c:pt>
              </c:numCache>
              <c:extLst xmlns:c15="http://schemas.microsoft.com/office/drawing/2012/chart"/>
            </c:numRef>
          </c:val>
          <c:smooth val="0"/>
          <c:extLst xmlns:c15="http://schemas.microsoft.com/office/drawing/2012/chart">
            <c:ext xmlns:c16="http://schemas.microsoft.com/office/drawing/2014/chart" uri="{C3380CC4-5D6E-409C-BE32-E72D297353CC}">
              <c16:uniqueId val="{00000000-53B2-4D15-B6B7-89A520CB8FA9}"/>
            </c:ext>
          </c:extLst>
        </c:ser>
        <c:dLbls>
          <c:showLegendKey val="0"/>
          <c:showVal val="0"/>
          <c:showCatName val="0"/>
          <c:showSerName val="0"/>
          <c:showPercent val="0"/>
          <c:showBubbleSize val="0"/>
        </c:dLbls>
        <c:marker val="1"/>
        <c:smooth val="0"/>
        <c:axId val="797366207"/>
        <c:axId val="797364767"/>
        <c:extLst>
          <c:ext xmlns:c15="http://schemas.microsoft.com/office/drawing/2012/chart" uri="{02D57815-91ED-43cb-92C2-25804820EDAC}">
            <c15:filteredLineSeries>
              <c15:ser>
                <c:idx val="1"/>
                <c:order val="1"/>
                <c:tx>
                  <c:strRef>
                    <c:extLst>
                      <c:ext uri="{02D57815-91ED-43cb-92C2-25804820EDAC}">
                        <c15:formulaRef>
                          <c15:sqref>Sheet1!$C$1</c15:sqref>
                        </c15:formulaRef>
                      </c:ext>
                    </c:extLst>
                    <c:strCache>
                      <c:ptCount val="1"/>
                      <c:pt idx="0">
                        <c:v>Interest Rate</c:v>
                      </c:pt>
                    </c:strCache>
                  </c:strRef>
                </c:tx>
                <c:spPr>
                  <a:ln w="28575" cap="rnd">
                    <a:solidFill>
                      <a:schemeClr val="accent2"/>
                    </a:solidFill>
                    <a:round/>
                  </a:ln>
                  <a:effectLst/>
                </c:spPr>
                <c:marker>
                  <c:symbol val="none"/>
                </c:marker>
                <c:val>
                  <c:numRef>
                    <c:extLst>
                      <c:ext uri="{02D57815-91ED-43cb-92C2-25804820EDAC}">
                        <c15:formulaRef>
                          <c15:sqref>Sheet1!$C$2:$C$22</c15:sqref>
                        </c15:formulaRef>
                      </c:ext>
                    </c:extLst>
                    <c:numCache>
                      <c:formatCode>0.0%</c:formatCode>
                      <c:ptCount val="21"/>
                      <c:pt idx="0">
                        <c:v>0.05</c:v>
                      </c:pt>
                      <c:pt idx="1">
                        <c:v>4.6666666666666669E-2</c:v>
                      </c:pt>
                      <c:pt idx="2">
                        <c:v>0.08</c:v>
                      </c:pt>
                      <c:pt idx="3">
                        <c:v>0.1</c:v>
                      </c:pt>
                      <c:pt idx="4">
                        <c:v>0.11</c:v>
                      </c:pt>
                      <c:pt idx="5">
                        <c:v>0.11333333333333333</c:v>
                      </c:pt>
                      <c:pt idx="6">
                        <c:v>0.10666666666666666</c:v>
                      </c:pt>
                      <c:pt idx="7">
                        <c:v>0.12666666666666665</c:v>
                      </c:pt>
                      <c:pt idx="8">
                        <c:v>0.14333333333333331</c:v>
                      </c:pt>
                      <c:pt idx="9">
                        <c:v>0.12666666666666665</c:v>
                      </c:pt>
                      <c:pt idx="10">
                        <c:v>9.6666666666666651E-2</c:v>
                      </c:pt>
                      <c:pt idx="11">
                        <c:v>8.3333333333333315E-2</c:v>
                      </c:pt>
                      <c:pt idx="12">
                        <c:v>6.9999999999999979E-2</c:v>
                      </c:pt>
                      <c:pt idx="13">
                        <c:v>8.3333333333333315E-2</c:v>
                      </c:pt>
                      <c:pt idx="14">
                        <c:v>0.10333333333333332</c:v>
                      </c:pt>
                      <c:pt idx="15">
                        <c:v>0.10333333333333332</c:v>
                      </c:pt>
                      <c:pt idx="16">
                        <c:v>0.11333333333333331</c:v>
                      </c:pt>
                      <c:pt idx="17">
                        <c:v>9.6666666666666651E-2</c:v>
                      </c:pt>
                      <c:pt idx="18">
                        <c:v>0.12666666666666665</c:v>
                      </c:pt>
                      <c:pt idx="19">
                        <c:v>0.13999999999999999</c:v>
                      </c:pt>
                      <c:pt idx="20">
                        <c:v>0.10999999999999999</c:v>
                      </c:pt>
                    </c:numCache>
                  </c:numRef>
                </c:val>
                <c:smooth val="0"/>
                <c:extLst>
                  <c:ext xmlns:c16="http://schemas.microsoft.com/office/drawing/2014/chart" uri="{C3380CC4-5D6E-409C-BE32-E72D297353CC}">
                    <c16:uniqueId val="{00000001-53B2-4D15-B6B7-89A520CB8FA9}"/>
                  </c:ext>
                </c:extLst>
              </c15:ser>
            </c15:filteredLineSeries>
            <c15:filteredLineSeries>
              <c15:ser>
                <c:idx val="2"/>
                <c:order val="2"/>
                <c:tx>
                  <c:strRef>
                    <c:extLst xmlns:c15="http://schemas.microsoft.com/office/drawing/2012/chart">
                      <c:ext xmlns:c15="http://schemas.microsoft.com/office/drawing/2012/chart" uri="{02D57815-91ED-43cb-92C2-25804820EDAC}">
                        <c15:formulaRef>
                          <c15:sqref>Sheet1!$D$1</c15:sqref>
                        </c15:formulaRef>
                      </c:ext>
                    </c:extLst>
                    <c:strCache>
                      <c:ptCount val="1"/>
                      <c:pt idx="0">
                        <c:v>Series 3</c:v>
                      </c:pt>
                    </c:strCache>
                  </c:strRef>
                </c:tx>
                <c:spPr>
                  <a:ln w="28575" cap="rnd">
                    <a:solidFill>
                      <a:schemeClr val="accent3"/>
                    </a:solidFill>
                    <a:round/>
                  </a:ln>
                  <a:effectLst/>
                </c:spPr>
                <c:marker>
                  <c:symbol val="none"/>
                </c:marker>
                <c:cat>
                  <c:numRef>
                    <c:extLst xmlns:c15="http://schemas.microsoft.com/office/drawing/2012/chart">
                      <c:ext xmlns:c15="http://schemas.microsoft.com/office/drawing/2012/chart" uri="{02D57815-91ED-43cb-92C2-25804820EDAC}">
                        <c15:formulaRef>
                          <c15:sqref>Sheet1!$A$2:$A$22</c15:sqref>
                        </c15:formulaRef>
                      </c:ext>
                    </c:extLst>
                    <c:numCache>
                      <c:formatCode>General</c:formatCode>
                      <c:ptCount val="21"/>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numCache>
                  </c:numRef>
                </c:cat>
                <c:val>
                  <c:numRef>
                    <c:extLst xmlns:c15="http://schemas.microsoft.com/office/drawing/2012/chart">
                      <c:ext xmlns:c15="http://schemas.microsoft.com/office/drawing/2012/chart" uri="{02D57815-91ED-43cb-92C2-25804820EDAC}">
                        <c15:formulaRef>
                          <c15:sqref>Sheet1!$D$2:$D$22</c15:sqref>
                        </c15:formulaRef>
                      </c:ext>
                    </c:extLst>
                    <c:numCache>
                      <c:formatCode>General</c:formatCode>
                      <c:ptCount val="21"/>
                    </c:numCache>
                  </c:numRef>
                </c:val>
                <c:smooth val="0"/>
                <c:extLst xmlns:c15="http://schemas.microsoft.com/office/drawing/2012/chart">
                  <c:ext xmlns:c16="http://schemas.microsoft.com/office/drawing/2014/chart" uri="{C3380CC4-5D6E-409C-BE32-E72D297353CC}">
                    <c16:uniqueId val="{00000002-53B2-4D15-B6B7-89A520CB8FA9}"/>
                  </c:ext>
                </c:extLst>
              </c15:ser>
            </c15:filteredLineSeries>
          </c:ext>
        </c:extLst>
      </c:lineChart>
      <c:catAx>
        <c:axId val="797366207"/>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7364767"/>
        <c:crosses val="autoZero"/>
        <c:auto val="1"/>
        <c:lblAlgn val="ctr"/>
        <c:lblOffset val="100"/>
        <c:noMultiLvlLbl val="0"/>
      </c:catAx>
      <c:valAx>
        <c:axId val="797364767"/>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crossAx val="797366207"/>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96F619-0C25-694D-9455-BA7BE3B9418E}" type="datetimeFigureOut">
              <a:rPr lang="en-US" smtClean="0"/>
              <a:t>1/25/2026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1ED543-3D66-E247-99EC-0E7F6910486D}" type="slidenum">
              <a:rPr lang="en-US" smtClean="0"/>
              <a:t>‹#›</a:t>
            </a:fld>
            <a:endParaRPr lang="en-US"/>
          </a:p>
        </p:txBody>
      </p:sp>
    </p:spTree>
    <p:extLst>
      <p:ext uri="{BB962C8B-B14F-4D97-AF65-F5344CB8AC3E}">
        <p14:creationId xmlns:p14="http://schemas.microsoft.com/office/powerpoint/2010/main" val="2462027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lvl1pPr>
              <a:defRPr>
                <a:solidFill>
                  <a:schemeClr val="bg1"/>
                </a:solidFill>
              </a:defRPr>
            </a:lvl1p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9EFDBCB5-4EBA-B044-B58F-654EAA50EE69}" type="datetimeFigureOut">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53200" y="4767263"/>
            <a:ext cx="1652954" cy="273844"/>
          </a:xfrm>
        </p:spPr>
        <p:txBody>
          <a:bodyPr/>
          <a:lstStyle/>
          <a:p>
            <a:fld id="{6023D0EC-80C4-8847-865B-F1D3B6DD8BFE}" type="slidenum">
              <a:rPr lang="en-US" smtClean="0"/>
              <a:t>‹#›</a:t>
            </a:fld>
            <a:endParaRPr lang="en-US"/>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510954" y="4576326"/>
            <a:ext cx="389792" cy="457810"/>
          </a:xfrm>
          <a:prstGeom prst="rect">
            <a:avLst/>
          </a:prstGeom>
        </p:spPr>
      </p:pic>
    </p:spTree>
    <p:extLst>
      <p:ext uri="{BB962C8B-B14F-4D97-AF65-F5344CB8AC3E}">
        <p14:creationId xmlns:p14="http://schemas.microsoft.com/office/powerpoint/2010/main" val="29855402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3" name="Content Placeholder 2"/>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FDBCB5-4EBA-B044-B58F-654EAA50EE69}" type="datetimeFigureOut">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6553200" y="4767263"/>
            <a:ext cx="1758462" cy="273844"/>
          </a:xfrm>
        </p:spPr>
        <p:txBody>
          <a:bodyPr/>
          <a:lstStyle/>
          <a:p>
            <a:fld id="{6023D0EC-80C4-8847-865B-F1D3B6DD8BFE}" type="slidenum">
              <a:rPr lang="en-US" smtClean="0"/>
              <a:t>‹#›</a:t>
            </a:fld>
            <a:endParaRPr lang="en-US"/>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510954" y="4576326"/>
            <a:ext cx="389792" cy="457810"/>
          </a:xfrm>
          <a:prstGeom prst="rect">
            <a:avLst/>
          </a:prstGeom>
        </p:spPr>
      </p:pic>
    </p:spTree>
    <p:extLst>
      <p:ext uri="{BB962C8B-B14F-4D97-AF65-F5344CB8AC3E}">
        <p14:creationId xmlns:p14="http://schemas.microsoft.com/office/powerpoint/2010/main" val="307187825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FDBCB5-4EBA-B044-B58F-654EAA50EE69}" type="datetimeFigureOut">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3D0EC-80C4-8847-865B-F1D3B6DD8BFE}" type="slidenum">
              <a:rPr lang="en-US" smtClean="0"/>
              <a:t>‹#›</a:t>
            </a:fld>
            <a:endParaRPr lang="en-US"/>
          </a:p>
        </p:txBody>
      </p:sp>
    </p:spTree>
    <p:extLst>
      <p:ext uri="{BB962C8B-B14F-4D97-AF65-F5344CB8AC3E}">
        <p14:creationId xmlns:p14="http://schemas.microsoft.com/office/powerpoint/2010/main" val="40265828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900113"/>
            <a:ext cx="4038600" cy="254555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EFDBCB5-4EBA-B044-B58F-654EAA50EE69}" type="datetimeFigureOut">
              <a:rPr lang="en-US" smtClean="0"/>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23D0EC-80C4-8847-865B-F1D3B6DD8BFE}" type="slidenum">
              <a:rPr lang="en-US" smtClean="0"/>
              <a:t>‹#›</a:t>
            </a:fld>
            <a:endParaRPr lang="en-US"/>
          </a:p>
        </p:txBody>
      </p:sp>
    </p:spTree>
    <p:extLst>
      <p:ext uri="{BB962C8B-B14F-4D97-AF65-F5344CB8AC3E}">
        <p14:creationId xmlns:p14="http://schemas.microsoft.com/office/powerpoint/2010/main" val="705924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05979"/>
            <a:ext cx="8229600" cy="85725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EFDBCB5-4EBA-B044-B58F-654EAA50EE69}" type="datetimeFigureOut">
              <a:rPr lang="en-US" smtClean="0"/>
              <a:t>1/25/2026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023D0EC-80C4-8847-865B-F1D3B6DD8BFE}" type="slidenum">
              <a:rPr lang="en-US" smtClean="0"/>
              <a:t>‹#›</a:t>
            </a:fld>
            <a:endParaRPr lang="en-US"/>
          </a:p>
        </p:txBody>
      </p:sp>
    </p:spTree>
    <p:extLst>
      <p:ext uri="{BB962C8B-B14F-4D97-AF65-F5344CB8AC3E}">
        <p14:creationId xmlns:p14="http://schemas.microsoft.com/office/powerpoint/2010/main" val="13902308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EFDBCB5-4EBA-B044-B58F-654EAA50EE69}" type="datetimeFigureOut">
              <a:rPr lang="en-US" smtClean="0"/>
              <a:t>1/25/2026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023D0EC-80C4-8847-865B-F1D3B6DD8BFE}" type="slidenum">
              <a:rPr lang="en-US" smtClean="0"/>
              <a:t>‹#›</a:t>
            </a:fld>
            <a:endParaRPr lang="en-US"/>
          </a:p>
        </p:txBody>
      </p:sp>
    </p:spTree>
    <p:extLst>
      <p:ext uri="{BB962C8B-B14F-4D97-AF65-F5344CB8AC3E}">
        <p14:creationId xmlns:p14="http://schemas.microsoft.com/office/powerpoint/2010/main" val="21686421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FDBCB5-4EBA-B044-B58F-654EAA50EE69}" type="datetimeFigureOut">
              <a:rPr lang="en-US" smtClean="0"/>
              <a:t>1/25/2026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6553200" y="4767263"/>
            <a:ext cx="1453662" cy="273844"/>
          </a:xfrm>
        </p:spPr>
        <p:txBody>
          <a:bodyPr/>
          <a:lstStyle/>
          <a:p>
            <a:fld id="{6023D0EC-80C4-8847-865B-F1D3B6DD8BFE}" type="slidenum">
              <a:rPr lang="en-US" smtClean="0"/>
              <a:t>‹#›</a:t>
            </a:fld>
            <a:endParaRPr lang="en-US"/>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510954" y="4576326"/>
            <a:ext cx="389792" cy="457810"/>
          </a:xfrm>
          <a:prstGeom prst="rect">
            <a:avLst/>
          </a:prstGeom>
        </p:spPr>
      </p:pic>
    </p:spTree>
    <p:extLst>
      <p:ext uri="{BB962C8B-B14F-4D97-AF65-F5344CB8AC3E}">
        <p14:creationId xmlns:p14="http://schemas.microsoft.com/office/powerpoint/2010/main" val="27915346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FDBCB5-4EBA-B044-B58F-654EAA50EE69}" type="datetimeFigureOut">
              <a:rPr lang="en-US" smtClean="0"/>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23D0EC-80C4-8847-865B-F1D3B6DD8BFE}" type="slidenum">
              <a:rPr lang="en-US" smtClean="0"/>
              <a:t>‹#›</a:t>
            </a:fld>
            <a:endParaRPr lang="en-US"/>
          </a:p>
        </p:txBody>
      </p:sp>
    </p:spTree>
    <p:extLst>
      <p:ext uri="{BB962C8B-B14F-4D97-AF65-F5344CB8AC3E}">
        <p14:creationId xmlns:p14="http://schemas.microsoft.com/office/powerpoint/2010/main" val="19361325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FDBCB5-4EBA-B044-B58F-654EAA50EE69}" type="datetimeFigureOut">
              <a:rPr lang="en-US" smtClean="0"/>
              <a:t>1/25/2026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023D0EC-80C4-8847-865B-F1D3B6DD8BFE}" type="slidenum">
              <a:rPr lang="en-US" smtClean="0"/>
              <a:t>‹#›</a:t>
            </a:fld>
            <a:endParaRPr lang="en-US"/>
          </a:p>
        </p:txBody>
      </p:sp>
    </p:spTree>
    <p:extLst>
      <p:ext uri="{BB962C8B-B14F-4D97-AF65-F5344CB8AC3E}">
        <p14:creationId xmlns:p14="http://schemas.microsoft.com/office/powerpoint/2010/main" val="11775678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FDBCB5-4EBA-B044-B58F-654EAA50EE69}" type="datetimeFigureOut">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3D0EC-80C4-8847-865B-F1D3B6DD8BFE}" type="slidenum">
              <a:rPr lang="en-US" smtClean="0"/>
              <a:t>‹#›</a:t>
            </a:fld>
            <a:endParaRPr lang="en-US"/>
          </a:p>
        </p:txBody>
      </p:sp>
    </p:spTree>
    <p:extLst>
      <p:ext uri="{BB962C8B-B14F-4D97-AF65-F5344CB8AC3E}">
        <p14:creationId xmlns:p14="http://schemas.microsoft.com/office/powerpoint/2010/main" val="20583137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54781"/>
            <a:ext cx="2057400" cy="32908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154781"/>
            <a:ext cx="6019800" cy="32908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FDBCB5-4EBA-B044-B58F-654EAA50EE69}" type="datetimeFigureOut">
              <a:rPr lang="en-US" smtClean="0"/>
              <a:t>1/25/2026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023D0EC-80C4-8847-865B-F1D3B6DD8BFE}" type="slidenum">
              <a:rPr lang="en-US" smtClean="0"/>
              <a:t>‹#›</a:t>
            </a:fld>
            <a:endParaRPr lang="en-US"/>
          </a:p>
        </p:txBody>
      </p:sp>
    </p:spTree>
    <p:extLst>
      <p:ext uri="{BB962C8B-B14F-4D97-AF65-F5344CB8AC3E}">
        <p14:creationId xmlns:p14="http://schemas.microsoft.com/office/powerpoint/2010/main" val="8648822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9EFDBCB5-4EBA-B044-B58F-654EAA50EE69}" type="datetimeFigureOut">
              <a:rPr lang="en-US" smtClean="0"/>
              <a:t>1/25/2026</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6023D0EC-80C4-8847-865B-F1D3B6DD8BFE}" type="slidenum">
              <a:rPr lang="en-US" smtClean="0"/>
              <a:t>‹#›</a:t>
            </a:fld>
            <a:endParaRPr lang="en-US"/>
          </a:p>
        </p:txBody>
      </p:sp>
    </p:spTree>
    <p:extLst>
      <p:ext uri="{BB962C8B-B14F-4D97-AF65-F5344CB8AC3E}">
        <p14:creationId xmlns:p14="http://schemas.microsoft.com/office/powerpoint/2010/main" val="80338890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22925" y="1645670"/>
            <a:ext cx="8471646" cy="1102519"/>
          </a:xfrm>
        </p:spPr>
        <p:txBody>
          <a:bodyPr>
            <a:normAutofit fontScale="90000"/>
          </a:bodyPr>
          <a:lstStyle/>
          <a:p>
            <a:r>
              <a:rPr lang="en-US" b="1" dirty="0">
                <a:solidFill>
                  <a:schemeClr val="tx1"/>
                </a:solidFill>
              </a:rPr>
              <a:t>ACCT 2700</a:t>
            </a:r>
            <a:br>
              <a:rPr lang="en-US" dirty="0">
                <a:solidFill>
                  <a:schemeClr val="tx1"/>
                </a:solidFill>
              </a:rPr>
            </a:br>
            <a:r>
              <a:rPr lang="en-US" dirty="0">
                <a:solidFill>
                  <a:schemeClr val="tx1"/>
                </a:solidFill>
              </a:rPr>
              <a:t>Foundations of Accounting &amp; Valuation</a:t>
            </a:r>
            <a:br>
              <a:rPr lang="en-US" dirty="0">
                <a:solidFill>
                  <a:schemeClr val="tx1"/>
                </a:solidFill>
              </a:rPr>
            </a:br>
            <a:endParaRPr lang="en-US" dirty="0">
              <a:solidFill>
                <a:schemeClr val="tx1"/>
              </a:solidFill>
            </a:endParaRPr>
          </a:p>
        </p:txBody>
      </p:sp>
      <p:sp>
        <p:nvSpPr>
          <p:cNvPr id="3" name="Subtitle 2"/>
          <p:cNvSpPr>
            <a:spLocks noGrp="1"/>
          </p:cNvSpPr>
          <p:nvPr>
            <p:ph type="subTitle" idx="1"/>
          </p:nvPr>
        </p:nvSpPr>
        <p:spPr>
          <a:xfrm>
            <a:off x="1666163" y="3400377"/>
            <a:ext cx="6400800" cy="1314450"/>
          </a:xfrm>
        </p:spPr>
        <p:txBody>
          <a:bodyPr>
            <a:normAutofit/>
          </a:bodyPr>
          <a:lstStyle/>
          <a:p>
            <a:r>
              <a:rPr lang="en-US" dirty="0">
                <a:solidFill>
                  <a:schemeClr val="tx1"/>
                </a:solidFill>
              </a:rPr>
              <a:t>Session 5: Compounding </a:t>
            </a:r>
            <a:r>
              <a:rPr lang="en-US">
                <a:solidFill>
                  <a:schemeClr val="tx1"/>
                </a:solidFill>
              </a:rPr>
              <a:t>Period and Value </a:t>
            </a:r>
            <a:r>
              <a:rPr lang="en-US" dirty="0">
                <a:solidFill>
                  <a:schemeClr val="tx1"/>
                </a:solidFill>
              </a:rPr>
              <a:t>Changes</a:t>
            </a:r>
          </a:p>
        </p:txBody>
      </p:sp>
    </p:spTree>
    <p:extLst>
      <p:ext uri="{BB962C8B-B14F-4D97-AF65-F5344CB8AC3E}">
        <p14:creationId xmlns:p14="http://schemas.microsoft.com/office/powerpoint/2010/main" val="20444440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Agenda</a:t>
            </a:r>
          </a:p>
        </p:txBody>
      </p:sp>
      <p:sp>
        <p:nvSpPr>
          <p:cNvPr id="3" name="Content Placeholder 2"/>
          <p:cNvSpPr>
            <a:spLocks noGrp="1"/>
          </p:cNvSpPr>
          <p:nvPr>
            <p:ph idx="1"/>
          </p:nvPr>
        </p:nvSpPr>
        <p:spPr/>
        <p:txBody>
          <a:bodyPr>
            <a:normAutofit fontScale="92500" lnSpcReduction="10000"/>
          </a:bodyPr>
          <a:lstStyle/>
          <a:p>
            <a:r>
              <a:rPr lang="en-US" dirty="0">
                <a:solidFill>
                  <a:schemeClr val="tx1"/>
                </a:solidFill>
              </a:rPr>
              <a:t>Go into more depth on value changes through time</a:t>
            </a:r>
          </a:p>
          <a:p>
            <a:r>
              <a:rPr lang="en-US" dirty="0">
                <a:solidFill>
                  <a:schemeClr val="tx1"/>
                </a:solidFill>
              </a:rPr>
              <a:t>Contrast constant interest rates vs changing interest rates</a:t>
            </a:r>
          </a:p>
          <a:p>
            <a:r>
              <a:rPr lang="en-US" dirty="0">
                <a:solidFill>
                  <a:schemeClr val="tx1"/>
                </a:solidFill>
              </a:rPr>
              <a:t>Good way to start thinking about risk</a:t>
            </a:r>
          </a:p>
          <a:p>
            <a:r>
              <a:rPr lang="en-US" dirty="0">
                <a:solidFill>
                  <a:schemeClr val="tx1"/>
                </a:solidFill>
              </a:rPr>
              <a:t>But first, review – compounding period and perpetuities</a:t>
            </a:r>
          </a:p>
        </p:txBody>
      </p:sp>
      <p:sp>
        <p:nvSpPr>
          <p:cNvPr id="5" name="Slide Number Placeholder 4"/>
          <p:cNvSpPr>
            <a:spLocks noGrp="1"/>
          </p:cNvSpPr>
          <p:nvPr>
            <p:ph type="sldNum" sz="quarter" idx="12"/>
          </p:nvPr>
        </p:nvSpPr>
        <p:spPr/>
        <p:txBody>
          <a:bodyPr/>
          <a:lstStyle/>
          <a:p>
            <a:fld id="{5E9B17D8-68A5-8A4C-9A5A-916968DB0419}" type="slidenum">
              <a:rPr lang="en-US" smtClean="0">
                <a:solidFill>
                  <a:schemeClr val="tx1"/>
                </a:solidFill>
              </a:rPr>
              <a:t>2</a:t>
            </a:fld>
            <a:endParaRPr lang="en-US">
              <a:solidFill>
                <a:schemeClr val="tx1"/>
              </a:solidFill>
            </a:endParaRPr>
          </a:p>
        </p:txBody>
      </p:sp>
    </p:spTree>
    <p:extLst>
      <p:ext uri="{BB962C8B-B14F-4D97-AF65-F5344CB8AC3E}">
        <p14:creationId xmlns:p14="http://schemas.microsoft.com/office/powerpoint/2010/main" val="35819545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Compounding Period</a:t>
            </a:r>
          </a:p>
        </p:txBody>
      </p:sp>
      <p:sp>
        <p:nvSpPr>
          <p:cNvPr id="3" name="Content Placeholder 2"/>
          <p:cNvSpPr>
            <a:spLocks noGrp="1"/>
          </p:cNvSpPr>
          <p:nvPr>
            <p:ph idx="1"/>
          </p:nvPr>
        </p:nvSpPr>
        <p:spPr/>
        <p:txBody>
          <a:bodyPr>
            <a:normAutofit fontScale="92500" lnSpcReduction="10000"/>
          </a:bodyPr>
          <a:lstStyle/>
          <a:p>
            <a:r>
              <a:rPr lang="en-US" dirty="0">
                <a:solidFill>
                  <a:schemeClr val="tx1"/>
                </a:solidFill>
              </a:rPr>
              <a:t>Often, bonds use semi-annual compounding</a:t>
            </a:r>
          </a:p>
          <a:p>
            <a:r>
              <a:rPr lang="en-US" dirty="0">
                <a:solidFill>
                  <a:schemeClr val="tx1"/>
                </a:solidFill>
              </a:rPr>
              <a:t>But the rate is traditionally quoted as an ‘annual’ rate</a:t>
            </a:r>
          </a:p>
          <a:p>
            <a:r>
              <a:rPr lang="en-US" dirty="0">
                <a:solidFill>
                  <a:schemeClr val="tx1"/>
                </a:solidFill>
              </a:rPr>
              <a:t>E.g., a 10% coupon bond compounded semi-annually pays 5% every 6 months.</a:t>
            </a:r>
          </a:p>
          <a:p>
            <a:r>
              <a:rPr lang="en-US" dirty="0">
                <a:solidFill>
                  <a:schemeClr val="tx1"/>
                </a:solidFill>
              </a:rPr>
              <a:t>You’ve done some of this in the exercises already. Any questions?</a:t>
            </a:r>
          </a:p>
        </p:txBody>
      </p:sp>
      <p:sp>
        <p:nvSpPr>
          <p:cNvPr id="4" name="Slide Number Placeholder 3"/>
          <p:cNvSpPr>
            <a:spLocks noGrp="1"/>
          </p:cNvSpPr>
          <p:nvPr>
            <p:ph type="sldNum" sz="quarter" idx="12"/>
          </p:nvPr>
        </p:nvSpPr>
        <p:spPr/>
        <p:txBody>
          <a:bodyPr/>
          <a:lstStyle/>
          <a:p>
            <a:fld id="{E3C1C79F-DD56-A542-8B9A-8A4BEA68A11F}" type="slidenum">
              <a:rPr lang="en-US" smtClean="0">
                <a:solidFill>
                  <a:schemeClr val="tx1"/>
                </a:solidFill>
              </a:rPr>
              <a:pPr/>
              <a:t>3</a:t>
            </a:fld>
            <a:endParaRPr lang="en-US" dirty="0">
              <a:solidFill>
                <a:schemeClr val="tx1"/>
              </a:solidFill>
            </a:endParaRPr>
          </a:p>
        </p:txBody>
      </p:sp>
    </p:spTree>
    <p:extLst>
      <p:ext uri="{BB962C8B-B14F-4D97-AF65-F5344CB8AC3E}">
        <p14:creationId xmlns:p14="http://schemas.microsoft.com/office/powerpoint/2010/main" val="27247843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0B55E-9349-4DDA-9197-683C6D70A160}"/>
              </a:ext>
            </a:extLst>
          </p:cNvPr>
          <p:cNvSpPr>
            <a:spLocks noGrp="1"/>
          </p:cNvSpPr>
          <p:nvPr>
            <p:ph type="title"/>
          </p:nvPr>
        </p:nvSpPr>
        <p:spPr/>
        <p:txBody>
          <a:bodyPr/>
          <a:lstStyle/>
          <a:p>
            <a:r>
              <a:rPr lang="en-US" dirty="0"/>
              <a:t>Compounding Period</a:t>
            </a:r>
          </a:p>
        </p:txBody>
      </p:sp>
      <p:sp>
        <p:nvSpPr>
          <p:cNvPr id="5" name="TextBox 4">
            <a:extLst>
              <a:ext uri="{FF2B5EF4-FFF2-40B4-BE49-F238E27FC236}">
                <a16:creationId xmlns:a16="http://schemas.microsoft.com/office/drawing/2014/main" id="{61318407-806A-47CE-91A2-2F5651897406}"/>
              </a:ext>
            </a:extLst>
          </p:cNvPr>
          <p:cNvSpPr txBox="1"/>
          <p:nvPr/>
        </p:nvSpPr>
        <p:spPr>
          <a:xfrm>
            <a:off x="8037263" y="3719804"/>
            <a:ext cx="649537" cy="369332"/>
          </a:xfrm>
          <a:prstGeom prst="rect">
            <a:avLst/>
          </a:prstGeom>
          <a:noFill/>
        </p:spPr>
        <p:txBody>
          <a:bodyPr wrap="none" rtlCol="0">
            <a:spAutoFit/>
          </a:bodyPr>
          <a:lstStyle/>
          <a:p>
            <a:r>
              <a:rPr lang="en-US" dirty="0"/>
              <a:t>Time</a:t>
            </a:r>
          </a:p>
        </p:txBody>
      </p:sp>
      <p:cxnSp>
        <p:nvCxnSpPr>
          <p:cNvPr id="4" name="Straight Arrow Connector 3">
            <a:extLst>
              <a:ext uri="{FF2B5EF4-FFF2-40B4-BE49-F238E27FC236}">
                <a16:creationId xmlns:a16="http://schemas.microsoft.com/office/drawing/2014/main" id="{CF921D66-F93E-4D42-9ABE-D1FEE5D4A911}"/>
              </a:ext>
            </a:extLst>
          </p:cNvPr>
          <p:cNvCxnSpPr/>
          <p:nvPr/>
        </p:nvCxnSpPr>
        <p:spPr>
          <a:xfrm>
            <a:off x="914400" y="3494070"/>
            <a:ext cx="73296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75E70EC0-8882-4B44-A236-B760B620076B}"/>
              </a:ext>
            </a:extLst>
          </p:cNvPr>
          <p:cNvSpPr txBox="1"/>
          <p:nvPr/>
        </p:nvSpPr>
        <p:spPr>
          <a:xfrm>
            <a:off x="1498420" y="3676582"/>
            <a:ext cx="660758" cy="369332"/>
          </a:xfrm>
          <a:prstGeom prst="rect">
            <a:avLst/>
          </a:prstGeom>
          <a:noFill/>
        </p:spPr>
        <p:txBody>
          <a:bodyPr wrap="none" rtlCol="0">
            <a:spAutoFit/>
          </a:bodyPr>
          <a:lstStyle/>
          <a:p>
            <a:r>
              <a:rPr lang="en-US" dirty="0"/>
              <a:t>Jan 1</a:t>
            </a:r>
          </a:p>
        </p:txBody>
      </p:sp>
      <p:sp>
        <p:nvSpPr>
          <p:cNvPr id="15" name="TextBox 14">
            <a:extLst>
              <a:ext uri="{FF2B5EF4-FFF2-40B4-BE49-F238E27FC236}">
                <a16:creationId xmlns:a16="http://schemas.microsoft.com/office/drawing/2014/main" id="{04A4F05D-8A78-4E34-9850-55FD57704F2E}"/>
              </a:ext>
            </a:extLst>
          </p:cNvPr>
          <p:cNvSpPr txBox="1"/>
          <p:nvPr/>
        </p:nvSpPr>
        <p:spPr>
          <a:xfrm>
            <a:off x="6904395" y="3653875"/>
            <a:ext cx="827471" cy="369332"/>
          </a:xfrm>
          <a:prstGeom prst="rect">
            <a:avLst/>
          </a:prstGeom>
          <a:noFill/>
        </p:spPr>
        <p:txBody>
          <a:bodyPr wrap="none" rtlCol="0">
            <a:spAutoFit/>
          </a:bodyPr>
          <a:lstStyle/>
          <a:p>
            <a:r>
              <a:rPr lang="en-US" dirty="0"/>
              <a:t>Dec 31</a:t>
            </a:r>
          </a:p>
        </p:txBody>
      </p:sp>
      <p:sp>
        <p:nvSpPr>
          <p:cNvPr id="17" name="TextBox 16">
            <a:extLst>
              <a:ext uri="{FF2B5EF4-FFF2-40B4-BE49-F238E27FC236}">
                <a16:creationId xmlns:a16="http://schemas.microsoft.com/office/drawing/2014/main" id="{00E8F002-2565-4E4C-84FB-230051D6955C}"/>
              </a:ext>
            </a:extLst>
          </p:cNvPr>
          <p:cNvSpPr txBox="1"/>
          <p:nvPr/>
        </p:nvSpPr>
        <p:spPr>
          <a:xfrm>
            <a:off x="791816" y="1168300"/>
            <a:ext cx="2734723" cy="369332"/>
          </a:xfrm>
          <a:prstGeom prst="rect">
            <a:avLst/>
          </a:prstGeom>
          <a:noFill/>
        </p:spPr>
        <p:txBody>
          <a:bodyPr wrap="none" rtlCol="0">
            <a:spAutoFit/>
          </a:bodyPr>
          <a:lstStyle/>
          <a:p>
            <a:r>
              <a:rPr lang="en-US" dirty="0"/>
              <a:t>10% compounded </a:t>
            </a:r>
            <a:r>
              <a:rPr lang="en-US" b="1" dirty="0"/>
              <a:t>annually</a:t>
            </a:r>
          </a:p>
        </p:txBody>
      </p:sp>
      <p:sp>
        <p:nvSpPr>
          <p:cNvPr id="25" name="TextBox 24">
            <a:extLst>
              <a:ext uri="{FF2B5EF4-FFF2-40B4-BE49-F238E27FC236}">
                <a16:creationId xmlns:a16="http://schemas.microsoft.com/office/drawing/2014/main" id="{4A6D372E-349E-4579-B834-1375667815F3}"/>
              </a:ext>
            </a:extLst>
          </p:cNvPr>
          <p:cNvSpPr txBox="1"/>
          <p:nvPr/>
        </p:nvSpPr>
        <p:spPr>
          <a:xfrm>
            <a:off x="1619447" y="2734408"/>
            <a:ext cx="418704" cy="369332"/>
          </a:xfrm>
          <a:prstGeom prst="rect">
            <a:avLst/>
          </a:prstGeom>
          <a:noFill/>
        </p:spPr>
        <p:txBody>
          <a:bodyPr wrap="none" rtlCol="0">
            <a:spAutoFit/>
          </a:bodyPr>
          <a:lstStyle/>
          <a:p>
            <a:r>
              <a:rPr lang="en-US" b="1" dirty="0"/>
              <a:t>$1</a:t>
            </a:r>
          </a:p>
        </p:txBody>
      </p:sp>
      <p:sp>
        <p:nvSpPr>
          <p:cNvPr id="26" name="TextBox 25">
            <a:extLst>
              <a:ext uri="{FF2B5EF4-FFF2-40B4-BE49-F238E27FC236}">
                <a16:creationId xmlns:a16="http://schemas.microsoft.com/office/drawing/2014/main" id="{CB94DB23-503C-49F9-A2F4-D9F90701401A}"/>
              </a:ext>
            </a:extLst>
          </p:cNvPr>
          <p:cNvSpPr txBox="1"/>
          <p:nvPr/>
        </p:nvSpPr>
        <p:spPr>
          <a:xfrm>
            <a:off x="6920549" y="2091648"/>
            <a:ext cx="707245" cy="461665"/>
          </a:xfrm>
          <a:prstGeom prst="rect">
            <a:avLst/>
          </a:prstGeom>
          <a:noFill/>
        </p:spPr>
        <p:txBody>
          <a:bodyPr wrap="none" rtlCol="0">
            <a:spAutoFit/>
          </a:bodyPr>
          <a:lstStyle/>
          <a:p>
            <a:pPr algn="ctr"/>
            <a:r>
              <a:rPr lang="en-US" sz="2000" b="1" dirty="0"/>
              <a:t>$</a:t>
            </a:r>
            <a:r>
              <a:rPr lang="en-US" sz="2400" b="1" dirty="0"/>
              <a:t>1.1</a:t>
            </a:r>
            <a:endParaRPr lang="en-US" sz="2000" b="1" dirty="0"/>
          </a:p>
        </p:txBody>
      </p:sp>
      <p:sp>
        <p:nvSpPr>
          <p:cNvPr id="27" name="Oval 26">
            <a:extLst>
              <a:ext uri="{FF2B5EF4-FFF2-40B4-BE49-F238E27FC236}">
                <a16:creationId xmlns:a16="http://schemas.microsoft.com/office/drawing/2014/main" id="{7F922EF2-7F70-4C97-A0C1-F9F8EA777BB4}"/>
              </a:ext>
            </a:extLst>
          </p:cNvPr>
          <p:cNvSpPr/>
          <p:nvPr/>
        </p:nvSpPr>
        <p:spPr>
          <a:xfrm>
            <a:off x="1542380" y="2584938"/>
            <a:ext cx="597878" cy="615462"/>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ABBEBA37-9703-4E19-8AD2-08837E541F6D}"/>
              </a:ext>
            </a:extLst>
          </p:cNvPr>
          <p:cNvSpPr txBox="1"/>
          <p:nvPr/>
        </p:nvSpPr>
        <p:spPr>
          <a:xfrm>
            <a:off x="3437792" y="1768603"/>
            <a:ext cx="2552191" cy="369332"/>
          </a:xfrm>
          <a:prstGeom prst="rect">
            <a:avLst/>
          </a:prstGeom>
          <a:noFill/>
        </p:spPr>
        <p:txBody>
          <a:bodyPr wrap="square">
            <a:spAutoFit/>
          </a:bodyPr>
          <a:lstStyle/>
          <a:p>
            <a:r>
              <a:rPr lang="en-US" dirty="0"/>
              <a:t>Growth = 10%*$1= $0.1 </a:t>
            </a:r>
          </a:p>
        </p:txBody>
      </p:sp>
      <p:cxnSp>
        <p:nvCxnSpPr>
          <p:cNvPr id="31" name="Straight Connector 30">
            <a:extLst>
              <a:ext uri="{FF2B5EF4-FFF2-40B4-BE49-F238E27FC236}">
                <a16:creationId xmlns:a16="http://schemas.microsoft.com/office/drawing/2014/main" id="{B81F79C2-A44B-4008-A32E-30FCE2E1B3D4}"/>
              </a:ext>
            </a:extLst>
          </p:cNvPr>
          <p:cNvCxnSpPr/>
          <p:nvPr/>
        </p:nvCxnSpPr>
        <p:spPr>
          <a:xfrm>
            <a:off x="1828800" y="1639042"/>
            <a:ext cx="0" cy="3122716"/>
          </a:xfrm>
          <a:prstGeom prst="line">
            <a:avLst/>
          </a:prstGeom>
          <a:ln w="19050">
            <a:prstDash val="dash"/>
          </a:ln>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E5AD95B8-E2E8-443C-816F-C26BFD192A6F}"/>
              </a:ext>
            </a:extLst>
          </p:cNvPr>
          <p:cNvCxnSpPr/>
          <p:nvPr/>
        </p:nvCxnSpPr>
        <p:spPr>
          <a:xfrm>
            <a:off x="7318199" y="1643459"/>
            <a:ext cx="0" cy="3122716"/>
          </a:xfrm>
          <a:prstGeom prst="line">
            <a:avLst/>
          </a:prstGeom>
          <a:ln w="19050">
            <a:prstDash val="dash"/>
          </a:ln>
        </p:spPr>
        <p:style>
          <a:lnRef idx="2">
            <a:schemeClr val="accent1"/>
          </a:lnRef>
          <a:fillRef idx="0">
            <a:schemeClr val="accent1"/>
          </a:fillRef>
          <a:effectRef idx="1">
            <a:schemeClr val="accent1"/>
          </a:effectRef>
          <a:fontRef idx="minor">
            <a:schemeClr val="tx1"/>
          </a:fontRef>
        </p:style>
      </p:cxnSp>
      <p:grpSp>
        <p:nvGrpSpPr>
          <p:cNvPr id="40" name="Group 39">
            <a:extLst>
              <a:ext uri="{FF2B5EF4-FFF2-40B4-BE49-F238E27FC236}">
                <a16:creationId xmlns:a16="http://schemas.microsoft.com/office/drawing/2014/main" id="{480D0E0E-BEA4-4BF3-9C28-E6EA7A1D6F2B}"/>
              </a:ext>
            </a:extLst>
          </p:cNvPr>
          <p:cNvGrpSpPr/>
          <p:nvPr/>
        </p:nvGrpSpPr>
        <p:grpSpPr>
          <a:xfrm>
            <a:off x="1828801" y="4197389"/>
            <a:ext cx="5476147" cy="369332"/>
            <a:chOff x="1828801" y="4197389"/>
            <a:chExt cx="5476147" cy="369332"/>
          </a:xfrm>
        </p:grpSpPr>
        <p:cxnSp>
          <p:nvCxnSpPr>
            <p:cNvPr id="34" name="Straight Arrow Connector 33">
              <a:extLst>
                <a:ext uri="{FF2B5EF4-FFF2-40B4-BE49-F238E27FC236}">
                  <a16:creationId xmlns:a16="http://schemas.microsoft.com/office/drawing/2014/main" id="{991C56D8-D624-4331-9521-744DF781E7F2}"/>
                </a:ext>
              </a:extLst>
            </p:cNvPr>
            <p:cNvCxnSpPr>
              <a:cxnSpLocks/>
            </p:cNvCxnSpPr>
            <p:nvPr/>
          </p:nvCxnSpPr>
          <p:spPr>
            <a:xfrm>
              <a:off x="5119758" y="4399723"/>
              <a:ext cx="2185190"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35" name="Straight Arrow Connector 34">
              <a:extLst>
                <a:ext uri="{FF2B5EF4-FFF2-40B4-BE49-F238E27FC236}">
                  <a16:creationId xmlns:a16="http://schemas.microsoft.com/office/drawing/2014/main" id="{71304E21-B1AD-410C-A305-079D8A114796}"/>
                </a:ext>
              </a:extLst>
            </p:cNvPr>
            <p:cNvCxnSpPr>
              <a:cxnSpLocks/>
            </p:cNvCxnSpPr>
            <p:nvPr/>
          </p:nvCxnSpPr>
          <p:spPr>
            <a:xfrm flipH="1">
              <a:off x="1828801" y="4408557"/>
              <a:ext cx="2314712"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39" name="TextBox 38">
              <a:extLst>
                <a:ext uri="{FF2B5EF4-FFF2-40B4-BE49-F238E27FC236}">
                  <a16:creationId xmlns:a16="http://schemas.microsoft.com/office/drawing/2014/main" id="{98108795-C651-4DE0-8148-FD7EE2254AB2}"/>
                </a:ext>
              </a:extLst>
            </p:cNvPr>
            <p:cNvSpPr txBox="1"/>
            <p:nvPr/>
          </p:nvSpPr>
          <p:spPr>
            <a:xfrm>
              <a:off x="4130262" y="4197389"/>
              <a:ext cx="1034642" cy="369332"/>
            </a:xfrm>
            <a:prstGeom prst="rect">
              <a:avLst/>
            </a:prstGeom>
            <a:noFill/>
          </p:spPr>
          <p:txBody>
            <a:bodyPr wrap="none" rtlCol="0">
              <a:spAutoFit/>
            </a:bodyPr>
            <a:lstStyle/>
            <a:p>
              <a:r>
                <a:rPr lang="en-US" dirty="0"/>
                <a:t>One year</a:t>
              </a:r>
            </a:p>
          </p:txBody>
        </p:sp>
      </p:grpSp>
      <p:sp>
        <p:nvSpPr>
          <p:cNvPr id="41" name="Oval 40">
            <a:extLst>
              <a:ext uri="{FF2B5EF4-FFF2-40B4-BE49-F238E27FC236}">
                <a16:creationId xmlns:a16="http://schemas.microsoft.com/office/drawing/2014/main" id="{CB47A58E-F5B1-4CF1-916E-580C5CA595A8}"/>
              </a:ext>
            </a:extLst>
          </p:cNvPr>
          <p:cNvSpPr/>
          <p:nvPr/>
        </p:nvSpPr>
        <p:spPr>
          <a:xfrm>
            <a:off x="6915988" y="1899781"/>
            <a:ext cx="873580" cy="834627"/>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77710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32"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circle(out)">
                                      <p:cBhvr>
                                        <p:cTn id="7" dur="2000"/>
                                        <p:tgtEl>
                                          <p:spTgt spid="40"/>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1" fill="hold" nodeType="clickEffect">
                                  <p:stCondLst>
                                    <p:cond delay="0"/>
                                  </p:stCondLst>
                                  <p:childTnLst>
                                    <p:set>
                                      <p:cBhvr>
                                        <p:cTn id="11" dur="1" fill="hold">
                                          <p:stCondLst>
                                            <p:cond delay="0"/>
                                          </p:stCondLst>
                                        </p:cTn>
                                        <p:tgtEl>
                                          <p:spTgt spid="31"/>
                                        </p:tgtEl>
                                        <p:attrNameLst>
                                          <p:attrName>style.visibility</p:attrName>
                                        </p:attrNameLst>
                                      </p:cBhvr>
                                      <p:to>
                                        <p:strVal val="visible"/>
                                      </p:to>
                                    </p:set>
                                    <p:anim calcmode="lin" valueType="num">
                                      <p:cBhvr additive="base">
                                        <p:cTn id="12" dur="500" fill="hold"/>
                                        <p:tgtEl>
                                          <p:spTgt spid="31"/>
                                        </p:tgtEl>
                                        <p:attrNameLst>
                                          <p:attrName>ppt_x</p:attrName>
                                        </p:attrNameLst>
                                      </p:cBhvr>
                                      <p:tavLst>
                                        <p:tav tm="0">
                                          <p:val>
                                            <p:strVal val="#ppt_x"/>
                                          </p:val>
                                        </p:tav>
                                        <p:tav tm="100000">
                                          <p:val>
                                            <p:strVal val="#ppt_x"/>
                                          </p:val>
                                        </p:tav>
                                      </p:tavLst>
                                    </p:anim>
                                    <p:anim calcmode="lin" valueType="num">
                                      <p:cBhvr additive="base">
                                        <p:cTn id="13" dur="500" fill="hold"/>
                                        <p:tgtEl>
                                          <p:spTgt spid="31"/>
                                        </p:tgtEl>
                                        <p:attrNameLst>
                                          <p:attrName>ppt_y</p:attrName>
                                        </p:attrNameLst>
                                      </p:cBhvr>
                                      <p:tavLst>
                                        <p:tav tm="0">
                                          <p:val>
                                            <p:strVal val="0-#ppt_h/2"/>
                                          </p:val>
                                        </p:tav>
                                        <p:tav tm="100000">
                                          <p:val>
                                            <p:strVal val="#ppt_y"/>
                                          </p:val>
                                        </p:tav>
                                      </p:tavLst>
                                    </p:anim>
                                  </p:childTnLst>
                                </p:cTn>
                              </p:par>
                              <p:par>
                                <p:cTn id="14" presetID="2" presetClass="entr" presetSubtype="1" fill="hold" nodeType="withEffect">
                                  <p:stCondLst>
                                    <p:cond delay="0"/>
                                  </p:stCondLst>
                                  <p:childTnLst>
                                    <p:set>
                                      <p:cBhvr>
                                        <p:cTn id="15" dur="1" fill="hold">
                                          <p:stCondLst>
                                            <p:cond delay="0"/>
                                          </p:stCondLst>
                                        </p:cTn>
                                        <p:tgtEl>
                                          <p:spTgt spid="32"/>
                                        </p:tgtEl>
                                        <p:attrNameLst>
                                          <p:attrName>style.visibility</p:attrName>
                                        </p:attrNameLst>
                                      </p:cBhvr>
                                      <p:to>
                                        <p:strVal val="visible"/>
                                      </p:to>
                                    </p:set>
                                    <p:anim calcmode="lin" valueType="num">
                                      <p:cBhvr additive="base">
                                        <p:cTn id="16" dur="500" fill="hold"/>
                                        <p:tgtEl>
                                          <p:spTgt spid="32"/>
                                        </p:tgtEl>
                                        <p:attrNameLst>
                                          <p:attrName>ppt_x</p:attrName>
                                        </p:attrNameLst>
                                      </p:cBhvr>
                                      <p:tavLst>
                                        <p:tav tm="0">
                                          <p:val>
                                            <p:strVal val="#ppt_x"/>
                                          </p:val>
                                        </p:tav>
                                        <p:tav tm="100000">
                                          <p:val>
                                            <p:strVal val="#ppt_x"/>
                                          </p:val>
                                        </p:tav>
                                      </p:tavLst>
                                    </p:anim>
                                    <p:anim calcmode="lin" valueType="num">
                                      <p:cBhvr additive="base">
                                        <p:cTn id="17" dur="500" fill="hold"/>
                                        <p:tgtEl>
                                          <p:spTgt spid="32"/>
                                        </p:tgtEl>
                                        <p:attrNameLst>
                                          <p:attrName>ppt_y</p:attrName>
                                        </p:attrNameLst>
                                      </p:cBhvr>
                                      <p:tavLst>
                                        <p:tav tm="0">
                                          <p:val>
                                            <p:strVal val="0-#ppt_h/2"/>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15"/>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1" nodeType="clickEffect">
                                  <p:stCondLst>
                                    <p:cond delay="0"/>
                                  </p:stCondLst>
                                  <p:childTnLst>
                                    <p:set>
                                      <p:cBhvr>
                                        <p:cTn id="29" dur="1" fill="hold">
                                          <p:stCondLst>
                                            <p:cond delay="0"/>
                                          </p:stCondLst>
                                        </p:cTn>
                                        <p:tgtEl>
                                          <p:spTgt spid="14"/>
                                        </p:tgtEl>
                                        <p:attrNameLst>
                                          <p:attrName>style.visibility</p:attrName>
                                        </p:attrNameLst>
                                      </p:cBhvr>
                                      <p:to>
                                        <p:strVal val="hidden"/>
                                      </p:to>
                                    </p:set>
                                  </p:childTnLst>
                                </p:cTn>
                              </p:par>
                              <p:par>
                                <p:cTn id="30" presetID="1" presetClass="exit" presetSubtype="0" fill="hold" grpId="1" nodeType="withEffect">
                                  <p:stCondLst>
                                    <p:cond delay="0"/>
                                  </p:stCondLst>
                                  <p:childTnLst>
                                    <p:set>
                                      <p:cBhvr>
                                        <p:cTn id="31" dur="1" fill="hold">
                                          <p:stCondLst>
                                            <p:cond delay="0"/>
                                          </p:stCondLst>
                                        </p:cTn>
                                        <p:tgtEl>
                                          <p:spTgt spid="15"/>
                                        </p:tgtEl>
                                        <p:attrNameLst>
                                          <p:attrName>style.visibility</p:attrName>
                                        </p:attrNameLst>
                                      </p:cBhvr>
                                      <p:to>
                                        <p:strVal val="hidden"/>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25"/>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29"/>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1" nodeType="clickEffect">
                                  <p:stCondLst>
                                    <p:cond delay="0"/>
                                  </p:stCondLst>
                                  <p:childTnLst>
                                    <p:set>
                                      <p:cBhvr>
                                        <p:cTn id="43" dur="1" fill="hold">
                                          <p:stCondLst>
                                            <p:cond delay="0"/>
                                          </p:stCondLst>
                                        </p:cTn>
                                        <p:tgtEl>
                                          <p:spTgt spid="27"/>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42" presetClass="path" presetSubtype="0" accel="50000" decel="50000" fill="hold" grpId="0" nodeType="clickEffect">
                                  <p:stCondLst>
                                    <p:cond delay="0"/>
                                  </p:stCondLst>
                                  <p:childTnLst>
                                    <p:animMotion origin="layout" path="M 1.11111E-6 4.32099E-6 L 0.59896 -0.11451 " pathEditMode="relative" rAng="0" ptsTypes="AA">
                                      <p:cBhvr>
                                        <p:cTn id="47" dur="2000" fill="hold"/>
                                        <p:tgtEl>
                                          <p:spTgt spid="27"/>
                                        </p:tgtEl>
                                        <p:attrNameLst>
                                          <p:attrName>ppt_x</p:attrName>
                                          <p:attrName>ppt_y</p:attrName>
                                        </p:attrNameLst>
                                      </p:cBhvr>
                                      <p:rCtr x="29948" y="-5741"/>
                                    </p:animMotion>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grpId="2" nodeType="clickEffect">
                                  <p:stCondLst>
                                    <p:cond delay="0"/>
                                  </p:stCondLst>
                                  <p:childTnLst>
                                    <p:set>
                                      <p:cBhvr>
                                        <p:cTn id="51" dur="1" fill="hold">
                                          <p:stCondLst>
                                            <p:cond delay="0"/>
                                          </p:stCondLst>
                                        </p:cTn>
                                        <p:tgtEl>
                                          <p:spTgt spid="27"/>
                                        </p:tgtEl>
                                        <p:attrNameLst>
                                          <p:attrName>style.visibility</p:attrName>
                                        </p:attrNameLst>
                                      </p:cBhvr>
                                      <p:to>
                                        <p:strVal val="hidden"/>
                                      </p:to>
                                    </p:set>
                                  </p:childTnLst>
                                </p:cTn>
                              </p:par>
                              <p:par>
                                <p:cTn id="52" presetID="1" presetClass="entr" presetSubtype="0"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childTnLst>
                                </p:cTn>
                              </p:par>
                              <p:par>
                                <p:cTn id="54" presetID="1" presetClass="entr" presetSubtype="0" fill="hold" grpId="0" nodeType="withEffect">
                                  <p:stCondLst>
                                    <p:cond delay="0"/>
                                  </p:stCondLst>
                                  <p:childTnLst>
                                    <p:set>
                                      <p:cBhvr>
                                        <p:cTn id="55" dur="1" fill="hold">
                                          <p:stCondLst>
                                            <p:cond delay="0"/>
                                          </p:stCondLst>
                                        </p:cTn>
                                        <p:tgtEl>
                                          <p:spTgt spid="4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4" grpId="1"/>
      <p:bldP spid="15" grpId="0"/>
      <p:bldP spid="15" grpId="1"/>
      <p:bldP spid="25" grpId="0"/>
      <p:bldP spid="26" grpId="0"/>
      <p:bldP spid="27" grpId="0" animBg="1"/>
      <p:bldP spid="27" grpId="1" animBg="1"/>
      <p:bldP spid="27" grpId="2" animBg="1"/>
      <p:bldP spid="29" grpId="0"/>
      <p:bldP spid="4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0B55E-9349-4DDA-9197-683C6D70A160}"/>
              </a:ext>
            </a:extLst>
          </p:cNvPr>
          <p:cNvSpPr>
            <a:spLocks noGrp="1"/>
          </p:cNvSpPr>
          <p:nvPr>
            <p:ph type="title"/>
          </p:nvPr>
        </p:nvSpPr>
        <p:spPr/>
        <p:txBody>
          <a:bodyPr/>
          <a:lstStyle/>
          <a:p>
            <a:r>
              <a:rPr lang="en-US" dirty="0"/>
              <a:t>Compounding Period</a:t>
            </a:r>
          </a:p>
        </p:txBody>
      </p:sp>
      <p:grpSp>
        <p:nvGrpSpPr>
          <p:cNvPr id="16" name="Group 15">
            <a:extLst>
              <a:ext uri="{FF2B5EF4-FFF2-40B4-BE49-F238E27FC236}">
                <a16:creationId xmlns:a16="http://schemas.microsoft.com/office/drawing/2014/main" id="{92BE1DE0-DE18-46B4-9920-3684E04F715A}"/>
              </a:ext>
            </a:extLst>
          </p:cNvPr>
          <p:cNvGrpSpPr/>
          <p:nvPr/>
        </p:nvGrpSpPr>
        <p:grpSpPr>
          <a:xfrm>
            <a:off x="914400" y="3369755"/>
            <a:ext cx="7772400" cy="719381"/>
            <a:chOff x="914400" y="1524485"/>
            <a:chExt cx="7772400" cy="719381"/>
          </a:xfrm>
        </p:grpSpPr>
        <p:sp>
          <p:nvSpPr>
            <p:cNvPr id="5" name="TextBox 4">
              <a:extLst>
                <a:ext uri="{FF2B5EF4-FFF2-40B4-BE49-F238E27FC236}">
                  <a16:creationId xmlns:a16="http://schemas.microsoft.com/office/drawing/2014/main" id="{61318407-806A-47CE-91A2-2F5651897406}"/>
                </a:ext>
              </a:extLst>
            </p:cNvPr>
            <p:cNvSpPr txBox="1"/>
            <p:nvPr/>
          </p:nvSpPr>
          <p:spPr>
            <a:xfrm>
              <a:off x="8037263" y="1874534"/>
              <a:ext cx="649537" cy="369332"/>
            </a:xfrm>
            <a:prstGeom prst="rect">
              <a:avLst/>
            </a:prstGeom>
            <a:noFill/>
          </p:spPr>
          <p:txBody>
            <a:bodyPr wrap="none" rtlCol="0">
              <a:spAutoFit/>
            </a:bodyPr>
            <a:lstStyle/>
            <a:p>
              <a:r>
                <a:rPr lang="en-US" dirty="0"/>
                <a:t>Time</a:t>
              </a:r>
            </a:p>
          </p:txBody>
        </p:sp>
        <p:grpSp>
          <p:nvGrpSpPr>
            <p:cNvPr id="12" name="Group 11">
              <a:extLst>
                <a:ext uri="{FF2B5EF4-FFF2-40B4-BE49-F238E27FC236}">
                  <a16:creationId xmlns:a16="http://schemas.microsoft.com/office/drawing/2014/main" id="{AE30561F-9748-41E3-A139-7C53EF445A26}"/>
                </a:ext>
              </a:extLst>
            </p:cNvPr>
            <p:cNvGrpSpPr/>
            <p:nvPr/>
          </p:nvGrpSpPr>
          <p:grpSpPr>
            <a:xfrm>
              <a:off x="914400" y="1524485"/>
              <a:ext cx="7329600" cy="260353"/>
              <a:chOff x="914400" y="1524485"/>
              <a:chExt cx="7329600" cy="260353"/>
            </a:xfrm>
          </p:grpSpPr>
          <p:grpSp>
            <p:nvGrpSpPr>
              <p:cNvPr id="11" name="Group 10">
                <a:extLst>
                  <a:ext uri="{FF2B5EF4-FFF2-40B4-BE49-F238E27FC236}">
                    <a16:creationId xmlns:a16="http://schemas.microsoft.com/office/drawing/2014/main" id="{8235281F-D2A5-44FD-A135-BCD30FC6CB7F}"/>
                  </a:ext>
                </a:extLst>
              </p:cNvPr>
              <p:cNvGrpSpPr/>
              <p:nvPr/>
            </p:nvGrpSpPr>
            <p:grpSpPr>
              <a:xfrm>
                <a:off x="914400" y="1524485"/>
                <a:ext cx="7329600" cy="260353"/>
                <a:chOff x="914400" y="1524485"/>
                <a:chExt cx="7329600" cy="260353"/>
              </a:xfrm>
            </p:grpSpPr>
            <p:cxnSp>
              <p:nvCxnSpPr>
                <p:cNvPr id="4" name="Straight Arrow Connector 3">
                  <a:extLst>
                    <a:ext uri="{FF2B5EF4-FFF2-40B4-BE49-F238E27FC236}">
                      <a16:creationId xmlns:a16="http://schemas.microsoft.com/office/drawing/2014/main" id="{CF921D66-F93E-4D42-9ABE-D1FEE5D4A911}"/>
                    </a:ext>
                  </a:extLst>
                </p:cNvPr>
                <p:cNvCxnSpPr/>
                <p:nvPr/>
              </p:nvCxnSpPr>
              <p:spPr>
                <a:xfrm>
                  <a:off x="914400" y="1648800"/>
                  <a:ext cx="73296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F955BBC3-B374-4D94-97D6-36CE9EFA8291}"/>
                    </a:ext>
                  </a:extLst>
                </p:cNvPr>
                <p:cNvCxnSpPr>
                  <a:cxnSpLocks/>
                </p:cNvCxnSpPr>
                <p:nvPr/>
              </p:nvCxnSpPr>
              <p:spPr>
                <a:xfrm>
                  <a:off x="1828799" y="1524485"/>
                  <a:ext cx="0" cy="260353"/>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8" name="Straight Connector 7">
                <a:extLst>
                  <a:ext uri="{FF2B5EF4-FFF2-40B4-BE49-F238E27FC236}">
                    <a16:creationId xmlns:a16="http://schemas.microsoft.com/office/drawing/2014/main" id="{027EA764-6901-46D0-A145-26F38AC38D0E}"/>
                  </a:ext>
                </a:extLst>
              </p:cNvPr>
              <p:cNvCxnSpPr>
                <a:cxnSpLocks/>
              </p:cNvCxnSpPr>
              <p:nvPr/>
            </p:nvCxnSpPr>
            <p:spPr>
              <a:xfrm>
                <a:off x="7318131" y="1524485"/>
                <a:ext cx="0" cy="260353"/>
              </a:xfrm>
              <a:prstGeom prst="line">
                <a:avLst/>
              </a:prstGeom>
            </p:spPr>
            <p:style>
              <a:lnRef idx="2">
                <a:schemeClr val="accent1"/>
              </a:lnRef>
              <a:fillRef idx="0">
                <a:schemeClr val="accent1"/>
              </a:fillRef>
              <a:effectRef idx="1">
                <a:schemeClr val="accent1"/>
              </a:effectRef>
              <a:fontRef idx="minor">
                <a:schemeClr val="tx1"/>
              </a:fontRef>
            </p:style>
          </p:cxnSp>
        </p:grpSp>
        <p:sp>
          <p:nvSpPr>
            <p:cNvPr id="14" name="TextBox 13">
              <a:extLst>
                <a:ext uri="{FF2B5EF4-FFF2-40B4-BE49-F238E27FC236}">
                  <a16:creationId xmlns:a16="http://schemas.microsoft.com/office/drawing/2014/main" id="{75E70EC0-8882-4B44-A236-B760B620076B}"/>
                </a:ext>
              </a:extLst>
            </p:cNvPr>
            <p:cNvSpPr txBox="1"/>
            <p:nvPr/>
          </p:nvSpPr>
          <p:spPr>
            <a:xfrm>
              <a:off x="1498420" y="1831312"/>
              <a:ext cx="660758" cy="369332"/>
            </a:xfrm>
            <a:prstGeom prst="rect">
              <a:avLst/>
            </a:prstGeom>
            <a:noFill/>
          </p:spPr>
          <p:txBody>
            <a:bodyPr wrap="none" rtlCol="0">
              <a:spAutoFit/>
            </a:bodyPr>
            <a:lstStyle/>
            <a:p>
              <a:r>
                <a:rPr lang="en-US" dirty="0"/>
                <a:t>Jan 1</a:t>
              </a:r>
            </a:p>
          </p:txBody>
        </p:sp>
        <p:sp>
          <p:nvSpPr>
            <p:cNvPr id="15" name="TextBox 14">
              <a:extLst>
                <a:ext uri="{FF2B5EF4-FFF2-40B4-BE49-F238E27FC236}">
                  <a16:creationId xmlns:a16="http://schemas.microsoft.com/office/drawing/2014/main" id="{04A4F05D-8A78-4E34-9850-55FD57704F2E}"/>
                </a:ext>
              </a:extLst>
            </p:cNvPr>
            <p:cNvSpPr txBox="1"/>
            <p:nvPr/>
          </p:nvSpPr>
          <p:spPr>
            <a:xfrm>
              <a:off x="6904395" y="1808605"/>
              <a:ext cx="827471" cy="369332"/>
            </a:xfrm>
            <a:prstGeom prst="rect">
              <a:avLst/>
            </a:prstGeom>
            <a:noFill/>
          </p:spPr>
          <p:txBody>
            <a:bodyPr wrap="none" rtlCol="0">
              <a:spAutoFit/>
            </a:bodyPr>
            <a:lstStyle/>
            <a:p>
              <a:r>
                <a:rPr lang="en-US" dirty="0"/>
                <a:t>Dec 31</a:t>
              </a:r>
            </a:p>
          </p:txBody>
        </p:sp>
      </p:grpSp>
      <p:sp>
        <p:nvSpPr>
          <p:cNvPr id="17" name="TextBox 16">
            <a:extLst>
              <a:ext uri="{FF2B5EF4-FFF2-40B4-BE49-F238E27FC236}">
                <a16:creationId xmlns:a16="http://schemas.microsoft.com/office/drawing/2014/main" id="{00E8F002-2565-4E4C-84FB-230051D6955C}"/>
              </a:ext>
            </a:extLst>
          </p:cNvPr>
          <p:cNvSpPr txBox="1"/>
          <p:nvPr/>
        </p:nvSpPr>
        <p:spPr>
          <a:xfrm>
            <a:off x="791816" y="983634"/>
            <a:ext cx="3247684" cy="369332"/>
          </a:xfrm>
          <a:prstGeom prst="rect">
            <a:avLst/>
          </a:prstGeom>
          <a:noFill/>
        </p:spPr>
        <p:txBody>
          <a:bodyPr wrap="none" rtlCol="0">
            <a:spAutoFit/>
          </a:bodyPr>
          <a:lstStyle/>
          <a:p>
            <a:r>
              <a:rPr lang="en-US" dirty="0"/>
              <a:t>10% compounded </a:t>
            </a:r>
            <a:r>
              <a:rPr lang="en-US" b="1" dirty="0"/>
              <a:t>semi-annually</a:t>
            </a:r>
          </a:p>
        </p:txBody>
      </p:sp>
      <p:sp>
        <p:nvSpPr>
          <p:cNvPr id="25" name="TextBox 24">
            <a:extLst>
              <a:ext uri="{FF2B5EF4-FFF2-40B4-BE49-F238E27FC236}">
                <a16:creationId xmlns:a16="http://schemas.microsoft.com/office/drawing/2014/main" id="{4A6D372E-349E-4579-B834-1375667815F3}"/>
              </a:ext>
            </a:extLst>
          </p:cNvPr>
          <p:cNvSpPr txBox="1"/>
          <p:nvPr/>
        </p:nvSpPr>
        <p:spPr>
          <a:xfrm>
            <a:off x="1619447" y="2734408"/>
            <a:ext cx="418704" cy="369332"/>
          </a:xfrm>
          <a:prstGeom prst="rect">
            <a:avLst/>
          </a:prstGeom>
          <a:noFill/>
        </p:spPr>
        <p:txBody>
          <a:bodyPr wrap="none" rtlCol="0">
            <a:spAutoFit/>
          </a:bodyPr>
          <a:lstStyle/>
          <a:p>
            <a:r>
              <a:rPr lang="en-US" b="1" dirty="0"/>
              <a:t>$1</a:t>
            </a:r>
          </a:p>
        </p:txBody>
      </p:sp>
      <p:sp>
        <p:nvSpPr>
          <p:cNvPr id="26" name="TextBox 25">
            <a:extLst>
              <a:ext uri="{FF2B5EF4-FFF2-40B4-BE49-F238E27FC236}">
                <a16:creationId xmlns:a16="http://schemas.microsoft.com/office/drawing/2014/main" id="{CB94DB23-503C-49F9-A2F4-D9F90701401A}"/>
              </a:ext>
            </a:extLst>
          </p:cNvPr>
          <p:cNvSpPr txBox="1"/>
          <p:nvPr/>
        </p:nvSpPr>
        <p:spPr>
          <a:xfrm>
            <a:off x="6800324" y="1779351"/>
            <a:ext cx="947695" cy="369332"/>
          </a:xfrm>
          <a:prstGeom prst="rect">
            <a:avLst/>
          </a:prstGeom>
          <a:noFill/>
        </p:spPr>
        <p:txBody>
          <a:bodyPr wrap="none" rtlCol="0">
            <a:spAutoFit/>
          </a:bodyPr>
          <a:lstStyle/>
          <a:p>
            <a:pPr algn="ctr"/>
            <a:r>
              <a:rPr lang="en-US" b="1" dirty="0"/>
              <a:t>$1.1025</a:t>
            </a:r>
          </a:p>
        </p:txBody>
      </p:sp>
      <p:sp>
        <p:nvSpPr>
          <p:cNvPr id="27" name="Oval 26">
            <a:extLst>
              <a:ext uri="{FF2B5EF4-FFF2-40B4-BE49-F238E27FC236}">
                <a16:creationId xmlns:a16="http://schemas.microsoft.com/office/drawing/2014/main" id="{7F922EF2-7F70-4C97-A0C1-F9F8EA777BB4}"/>
              </a:ext>
            </a:extLst>
          </p:cNvPr>
          <p:cNvSpPr/>
          <p:nvPr/>
        </p:nvSpPr>
        <p:spPr>
          <a:xfrm>
            <a:off x="1542380" y="2584938"/>
            <a:ext cx="597878" cy="615462"/>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ABBEBA37-9703-4E19-8AD2-08837E541F6D}"/>
              </a:ext>
            </a:extLst>
          </p:cNvPr>
          <p:cNvSpPr txBox="1"/>
          <p:nvPr/>
        </p:nvSpPr>
        <p:spPr>
          <a:xfrm>
            <a:off x="2350052" y="1456185"/>
            <a:ext cx="1775974" cy="646331"/>
          </a:xfrm>
          <a:prstGeom prst="rect">
            <a:avLst/>
          </a:prstGeom>
          <a:noFill/>
        </p:spPr>
        <p:txBody>
          <a:bodyPr wrap="square">
            <a:spAutoFit/>
          </a:bodyPr>
          <a:lstStyle/>
          <a:p>
            <a:pPr algn="ctr"/>
            <a:r>
              <a:rPr lang="en-US" dirty="0"/>
              <a:t>Growth ½*10%:</a:t>
            </a:r>
          </a:p>
          <a:p>
            <a:pPr algn="ctr"/>
            <a:r>
              <a:rPr lang="en-US" dirty="0"/>
              <a:t>5%*$1 </a:t>
            </a:r>
          </a:p>
        </p:txBody>
      </p:sp>
      <p:sp>
        <p:nvSpPr>
          <p:cNvPr id="18" name="TextBox 17">
            <a:extLst>
              <a:ext uri="{FF2B5EF4-FFF2-40B4-BE49-F238E27FC236}">
                <a16:creationId xmlns:a16="http://schemas.microsoft.com/office/drawing/2014/main" id="{92A45295-4273-46AB-B05B-528AEFC9A1E7}"/>
              </a:ext>
            </a:extLst>
          </p:cNvPr>
          <p:cNvSpPr txBox="1"/>
          <p:nvPr/>
        </p:nvSpPr>
        <p:spPr>
          <a:xfrm>
            <a:off x="5352486" y="1391468"/>
            <a:ext cx="1276915" cy="646331"/>
          </a:xfrm>
          <a:prstGeom prst="rect">
            <a:avLst/>
          </a:prstGeom>
          <a:noFill/>
        </p:spPr>
        <p:txBody>
          <a:bodyPr wrap="square">
            <a:spAutoFit/>
          </a:bodyPr>
          <a:lstStyle/>
          <a:p>
            <a:pPr algn="ctr"/>
            <a:r>
              <a:rPr lang="en-US" dirty="0"/>
              <a:t>Growth:</a:t>
            </a:r>
          </a:p>
          <a:p>
            <a:pPr algn="ctr"/>
            <a:r>
              <a:rPr lang="en-US" dirty="0"/>
              <a:t>5%*$1.05 </a:t>
            </a:r>
          </a:p>
        </p:txBody>
      </p:sp>
      <p:sp>
        <p:nvSpPr>
          <p:cNvPr id="20" name="TextBox 19">
            <a:extLst>
              <a:ext uri="{FF2B5EF4-FFF2-40B4-BE49-F238E27FC236}">
                <a16:creationId xmlns:a16="http://schemas.microsoft.com/office/drawing/2014/main" id="{F1E8D362-5845-465A-89E1-8CAAE2933C21}"/>
              </a:ext>
            </a:extLst>
          </p:cNvPr>
          <p:cNvSpPr txBox="1"/>
          <p:nvPr/>
        </p:nvSpPr>
        <p:spPr>
          <a:xfrm>
            <a:off x="4159488" y="2425682"/>
            <a:ext cx="713658" cy="369332"/>
          </a:xfrm>
          <a:prstGeom prst="rect">
            <a:avLst/>
          </a:prstGeom>
          <a:noFill/>
        </p:spPr>
        <p:txBody>
          <a:bodyPr wrap="none" rtlCol="0">
            <a:spAutoFit/>
          </a:bodyPr>
          <a:lstStyle/>
          <a:p>
            <a:pPr algn="ctr"/>
            <a:r>
              <a:rPr lang="en-US" b="1" dirty="0"/>
              <a:t>$1.05</a:t>
            </a:r>
          </a:p>
        </p:txBody>
      </p:sp>
      <p:sp>
        <p:nvSpPr>
          <p:cNvPr id="21" name="Oval 20">
            <a:extLst>
              <a:ext uri="{FF2B5EF4-FFF2-40B4-BE49-F238E27FC236}">
                <a16:creationId xmlns:a16="http://schemas.microsoft.com/office/drawing/2014/main" id="{6A33EE08-950F-4B2C-BA37-9C2163C1D980}"/>
              </a:ext>
            </a:extLst>
          </p:cNvPr>
          <p:cNvSpPr/>
          <p:nvPr/>
        </p:nvSpPr>
        <p:spPr>
          <a:xfrm>
            <a:off x="4159488" y="2171671"/>
            <a:ext cx="825750" cy="826533"/>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93CF68D8-BBB2-415A-B387-2CD83BE81AD8}"/>
              </a:ext>
            </a:extLst>
          </p:cNvPr>
          <p:cNvCxnSpPr>
            <a:cxnSpLocks/>
          </p:cNvCxnSpPr>
          <p:nvPr/>
        </p:nvCxnSpPr>
        <p:spPr>
          <a:xfrm>
            <a:off x="4583722" y="3367416"/>
            <a:ext cx="0" cy="260353"/>
          </a:xfrm>
          <a:prstGeom prst="line">
            <a:avLst/>
          </a:prstGeom>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FC83BED2-2A04-4BEC-828D-DA6CB766F6EA}"/>
              </a:ext>
            </a:extLst>
          </p:cNvPr>
          <p:cNvSpPr txBox="1"/>
          <p:nvPr/>
        </p:nvSpPr>
        <p:spPr>
          <a:xfrm>
            <a:off x="4126026" y="3653875"/>
            <a:ext cx="904415" cy="369332"/>
          </a:xfrm>
          <a:prstGeom prst="rect">
            <a:avLst/>
          </a:prstGeom>
          <a:noFill/>
        </p:spPr>
        <p:txBody>
          <a:bodyPr wrap="none" rtlCol="0">
            <a:spAutoFit/>
          </a:bodyPr>
          <a:lstStyle/>
          <a:p>
            <a:r>
              <a:rPr lang="en-US" dirty="0"/>
              <a:t>June 30</a:t>
            </a:r>
          </a:p>
        </p:txBody>
      </p:sp>
      <p:cxnSp>
        <p:nvCxnSpPr>
          <p:cNvPr id="6" name="Straight Connector 5">
            <a:extLst>
              <a:ext uri="{FF2B5EF4-FFF2-40B4-BE49-F238E27FC236}">
                <a16:creationId xmlns:a16="http://schemas.microsoft.com/office/drawing/2014/main" id="{C9560F4B-F8EE-4797-B4DC-C77F2386CF35}"/>
              </a:ext>
            </a:extLst>
          </p:cNvPr>
          <p:cNvCxnSpPr>
            <a:cxnSpLocks/>
          </p:cNvCxnSpPr>
          <p:nvPr/>
        </p:nvCxnSpPr>
        <p:spPr>
          <a:xfrm>
            <a:off x="4583722" y="1537632"/>
            <a:ext cx="0" cy="3245383"/>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 name="Straight Connector 27">
            <a:extLst>
              <a:ext uri="{FF2B5EF4-FFF2-40B4-BE49-F238E27FC236}">
                <a16:creationId xmlns:a16="http://schemas.microsoft.com/office/drawing/2014/main" id="{FED8974F-0BEA-4ED6-B411-A23688824F41}"/>
              </a:ext>
            </a:extLst>
          </p:cNvPr>
          <p:cNvCxnSpPr/>
          <p:nvPr/>
        </p:nvCxnSpPr>
        <p:spPr>
          <a:xfrm>
            <a:off x="1828800" y="1639042"/>
            <a:ext cx="0" cy="3122716"/>
          </a:xfrm>
          <a:prstGeom prst="line">
            <a:avLst/>
          </a:prstGeom>
          <a:ln w="19050">
            <a:prstDash val="dash"/>
          </a:ln>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3E8E46A2-1AF7-4558-B1F0-59BE6E06C6CD}"/>
              </a:ext>
            </a:extLst>
          </p:cNvPr>
          <p:cNvCxnSpPr/>
          <p:nvPr/>
        </p:nvCxnSpPr>
        <p:spPr>
          <a:xfrm>
            <a:off x="7318199" y="1643459"/>
            <a:ext cx="0" cy="3122716"/>
          </a:xfrm>
          <a:prstGeom prst="line">
            <a:avLst/>
          </a:prstGeom>
          <a:ln w="19050">
            <a:prstDash val="dash"/>
          </a:ln>
        </p:spPr>
        <p:style>
          <a:lnRef idx="2">
            <a:schemeClr val="accent1"/>
          </a:lnRef>
          <a:fillRef idx="0">
            <a:schemeClr val="accent1"/>
          </a:fillRef>
          <a:effectRef idx="1">
            <a:schemeClr val="accent1"/>
          </a:effectRef>
          <a:fontRef idx="minor">
            <a:schemeClr val="tx1"/>
          </a:fontRef>
        </p:style>
      </p:cxnSp>
      <p:grpSp>
        <p:nvGrpSpPr>
          <p:cNvPr id="35" name="Group 34">
            <a:extLst>
              <a:ext uri="{FF2B5EF4-FFF2-40B4-BE49-F238E27FC236}">
                <a16:creationId xmlns:a16="http://schemas.microsoft.com/office/drawing/2014/main" id="{96D8E610-CE81-43CC-9DD0-9B87E117CF8D}"/>
              </a:ext>
            </a:extLst>
          </p:cNvPr>
          <p:cNvGrpSpPr/>
          <p:nvPr/>
        </p:nvGrpSpPr>
        <p:grpSpPr>
          <a:xfrm>
            <a:off x="4583723" y="4209293"/>
            <a:ext cx="2734476" cy="369332"/>
            <a:chOff x="1828805" y="4223891"/>
            <a:chExt cx="5476143" cy="369332"/>
          </a:xfrm>
        </p:grpSpPr>
        <p:cxnSp>
          <p:nvCxnSpPr>
            <p:cNvPr id="36" name="Straight Arrow Connector 35">
              <a:extLst>
                <a:ext uri="{FF2B5EF4-FFF2-40B4-BE49-F238E27FC236}">
                  <a16:creationId xmlns:a16="http://schemas.microsoft.com/office/drawing/2014/main" id="{857BCCA1-E2D6-415C-83EA-38975C02BB20}"/>
                </a:ext>
              </a:extLst>
            </p:cNvPr>
            <p:cNvCxnSpPr>
              <a:cxnSpLocks/>
            </p:cNvCxnSpPr>
            <p:nvPr/>
          </p:nvCxnSpPr>
          <p:spPr>
            <a:xfrm flipV="1">
              <a:off x="5538508" y="4399723"/>
              <a:ext cx="1766440" cy="8834"/>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37" name="Straight Arrow Connector 36">
              <a:extLst>
                <a:ext uri="{FF2B5EF4-FFF2-40B4-BE49-F238E27FC236}">
                  <a16:creationId xmlns:a16="http://schemas.microsoft.com/office/drawing/2014/main" id="{4242A385-D8BD-45EA-845C-6A2C840F5719}"/>
                </a:ext>
              </a:extLst>
            </p:cNvPr>
            <p:cNvCxnSpPr>
              <a:cxnSpLocks/>
            </p:cNvCxnSpPr>
            <p:nvPr/>
          </p:nvCxnSpPr>
          <p:spPr>
            <a:xfrm flipH="1" flipV="1">
              <a:off x="1828805" y="4408557"/>
              <a:ext cx="1745803" cy="5764"/>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38" name="TextBox 37">
              <a:extLst>
                <a:ext uri="{FF2B5EF4-FFF2-40B4-BE49-F238E27FC236}">
                  <a16:creationId xmlns:a16="http://schemas.microsoft.com/office/drawing/2014/main" id="{BBC7699F-D99F-4E60-8C5C-D4E719EC7C00}"/>
                </a:ext>
              </a:extLst>
            </p:cNvPr>
            <p:cNvSpPr txBox="1"/>
            <p:nvPr/>
          </p:nvSpPr>
          <p:spPr>
            <a:xfrm>
              <a:off x="3769734" y="4223891"/>
              <a:ext cx="1603313" cy="369332"/>
            </a:xfrm>
            <a:prstGeom prst="rect">
              <a:avLst/>
            </a:prstGeom>
            <a:noFill/>
          </p:spPr>
          <p:txBody>
            <a:bodyPr wrap="none" rtlCol="0">
              <a:spAutoFit/>
            </a:bodyPr>
            <a:lstStyle/>
            <a:p>
              <a:r>
                <a:rPr lang="en-US" dirty="0"/>
                <a:t>½ year</a:t>
              </a:r>
            </a:p>
          </p:txBody>
        </p:sp>
      </p:grpSp>
      <p:grpSp>
        <p:nvGrpSpPr>
          <p:cNvPr id="39" name="Group 38">
            <a:extLst>
              <a:ext uri="{FF2B5EF4-FFF2-40B4-BE49-F238E27FC236}">
                <a16:creationId xmlns:a16="http://schemas.microsoft.com/office/drawing/2014/main" id="{DFE207D1-E764-4DC3-B4FA-253C143D607C}"/>
              </a:ext>
            </a:extLst>
          </p:cNvPr>
          <p:cNvGrpSpPr/>
          <p:nvPr/>
        </p:nvGrpSpPr>
        <p:grpSpPr>
          <a:xfrm>
            <a:off x="1841984" y="4488937"/>
            <a:ext cx="5476147" cy="369332"/>
            <a:chOff x="1828801" y="4197389"/>
            <a:chExt cx="5476147" cy="369332"/>
          </a:xfrm>
        </p:grpSpPr>
        <p:cxnSp>
          <p:nvCxnSpPr>
            <p:cNvPr id="40" name="Straight Arrow Connector 39">
              <a:extLst>
                <a:ext uri="{FF2B5EF4-FFF2-40B4-BE49-F238E27FC236}">
                  <a16:creationId xmlns:a16="http://schemas.microsoft.com/office/drawing/2014/main" id="{B611894B-BD1C-4EC4-9F0C-BE4A324470A6}"/>
                </a:ext>
              </a:extLst>
            </p:cNvPr>
            <p:cNvCxnSpPr>
              <a:cxnSpLocks/>
            </p:cNvCxnSpPr>
            <p:nvPr/>
          </p:nvCxnSpPr>
          <p:spPr>
            <a:xfrm flipV="1">
              <a:off x="5339303" y="4399723"/>
              <a:ext cx="1965645" cy="8834"/>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41" name="Straight Arrow Connector 40">
              <a:extLst>
                <a:ext uri="{FF2B5EF4-FFF2-40B4-BE49-F238E27FC236}">
                  <a16:creationId xmlns:a16="http://schemas.microsoft.com/office/drawing/2014/main" id="{412C2FC8-2F32-4C33-9495-D146619D99C7}"/>
                </a:ext>
              </a:extLst>
            </p:cNvPr>
            <p:cNvCxnSpPr>
              <a:cxnSpLocks/>
            </p:cNvCxnSpPr>
            <p:nvPr/>
          </p:nvCxnSpPr>
          <p:spPr>
            <a:xfrm flipH="1">
              <a:off x="1828801" y="4408557"/>
              <a:ext cx="2067407"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42" name="TextBox 41">
              <a:extLst>
                <a:ext uri="{FF2B5EF4-FFF2-40B4-BE49-F238E27FC236}">
                  <a16:creationId xmlns:a16="http://schemas.microsoft.com/office/drawing/2014/main" id="{FDE692E9-404B-4903-ADE8-A9EA71808345}"/>
                </a:ext>
              </a:extLst>
            </p:cNvPr>
            <p:cNvSpPr txBox="1"/>
            <p:nvPr/>
          </p:nvSpPr>
          <p:spPr>
            <a:xfrm>
              <a:off x="3896140" y="4197389"/>
              <a:ext cx="1328633" cy="369332"/>
            </a:xfrm>
            <a:prstGeom prst="rect">
              <a:avLst/>
            </a:prstGeom>
            <a:noFill/>
          </p:spPr>
          <p:txBody>
            <a:bodyPr wrap="none" rtlCol="0">
              <a:spAutoFit/>
            </a:bodyPr>
            <a:lstStyle/>
            <a:p>
              <a:r>
                <a:rPr lang="en-US" dirty="0"/>
                <a:t>Two periods</a:t>
              </a:r>
            </a:p>
          </p:txBody>
        </p:sp>
      </p:grpSp>
      <p:grpSp>
        <p:nvGrpSpPr>
          <p:cNvPr id="48" name="Group 47">
            <a:extLst>
              <a:ext uri="{FF2B5EF4-FFF2-40B4-BE49-F238E27FC236}">
                <a16:creationId xmlns:a16="http://schemas.microsoft.com/office/drawing/2014/main" id="{A4F29B9E-AF72-4822-AB4E-3C20C1E984E7}"/>
              </a:ext>
            </a:extLst>
          </p:cNvPr>
          <p:cNvGrpSpPr/>
          <p:nvPr/>
        </p:nvGrpSpPr>
        <p:grpSpPr>
          <a:xfrm>
            <a:off x="1841984" y="4215057"/>
            <a:ext cx="2734476" cy="369332"/>
            <a:chOff x="1828805" y="4223891"/>
            <a:chExt cx="5476143" cy="369332"/>
          </a:xfrm>
        </p:grpSpPr>
        <p:cxnSp>
          <p:nvCxnSpPr>
            <p:cNvPr id="49" name="Straight Arrow Connector 48">
              <a:extLst>
                <a:ext uri="{FF2B5EF4-FFF2-40B4-BE49-F238E27FC236}">
                  <a16:creationId xmlns:a16="http://schemas.microsoft.com/office/drawing/2014/main" id="{E02322B9-7042-49A0-887D-6D6616C2F33C}"/>
                </a:ext>
              </a:extLst>
            </p:cNvPr>
            <p:cNvCxnSpPr>
              <a:cxnSpLocks/>
            </p:cNvCxnSpPr>
            <p:nvPr/>
          </p:nvCxnSpPr>
          <p:spPr>
            <a:xfrm flipV="1">
              <a:off x="5538508" y="4399723"/>
              <a:ext cx="1766440" cy="8834"/>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50" name="Straight Arrow Connector 49">
              <a:extLst>
                <a:ext uri="{FF2B5EF4-FFF2-40B4-BE49-F238E27FC236}">
                  <a16:creationId xmlns:a16="http://schemas.microsoft.com/office/drawing/2014/main" id="{6D48A202-5604-4E99-8358-885F283089A9}"/>
                </a:ext>
              </a:extLst>
            </p:cNvPr>
            <p:cNvCxnSpPr>
              <a:cxnSpLocks/>
            </p:cNvCxnSpPr>
            <p:nvPr/>
          </p:nvCxnSpPr>
          <p:spPr>
            <a:xfrm flipH="1" flipV="1">
              <a:off x="1828805" y="4408557"/>
              <a:ext cx="1745803" cy="5764"/>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51" name="TextBox 50">
              <a:extLst>
                <a:ext uri="{FF2B5EF4-FFF2-40B4-BE49-F238E27FC236}">
                  <a16:creationId xmlns:a16="http://schemas.microsoft.com/office/drawing/2014/main" id="{6C6781CD-DE5D-4DFD-8D31-91CDD355FB55}"/>
                </a:ext>
              </a:extLst>
            </p:cNvPr>
            <p:cNvSpPr txBox="1"/>
            <p:nvPr/>
          </p:nvSpPr>
          <p:spPr>
            <a:xfrm>
              <a:off x="3769734" y="4223891"/>
              <a:ext cx="1603313" cy="369332"/>
            </a:xfrm>
            <a:prstGeom prst="rect">
              <a:avLst/>
            </a:prstGeom>
            <a:noFill/>
          </p:spPr>
          <p:txBody>
            <a:bodyPr wrap="none" rtlCol="0">
              <a:spAutoFit/>
            </a:bodyPr>
            <a:lstStyle/>
            <a:p>
              <a:r>
                <a:rPr lang="en-US" dirty="0"/>
                <a:t>½ year</a:t>
              </a:r>
            </a:p>
          </p:txBody>
        </p:sp>
      </p:grpSp>
      <p:sp>
        <p:nvSpPr>
          <p:cNvPr id="52" name="TextBox 51">
            <a:extLst>
              <a:ext uri="{FF2B5EF4-FFF2-40B4-BE49-F238E27FC236}">
                <a16:creationId xmlns:a16="http://schemas.microsoft.com/office/drawing/2014/main" id="{54FECA3E-5CF5-4EE4-81E7-2D1FB71DC5A1}"/>
              </a:ext>
            </a:extLst>
          </p:cNvPr>
          <p:cNvSpPr txBox="1"/>
          <p:nvPr/>
        </p:nvSpPr>
        <p:spPr>
          <a:xfrm>
            <a:off x="6964084" y="888275"/>
            <a:ext cx="2146358" cy="646331"/>
          </a:xfrm>
          <a:prstGeom prst="rect">
            <a:avLst/>
          </a:prstGeom>
          <a:noFill/>
        </p:spPr>
        <p:txBody>
          <a:bodyPr wrap="none" rtlCol="0">
            <a:spAutoFit/>
          </a:bodyPr>
          <a:lstStyle/>
          <a:p>
            <a:pPr algn="ctr"/>
            <a:r>
              <a:rPr lang="en-US" b="1" dirty="0"/>
              <a:t>Half the annual rate,</a:t>
            </a:r>
          </a:p>
          <a:p>
            <a:pPr algn="ctr"/>
            <a:r>
              <a:rPr lang="en-US" b="1" dirty="0"/>
              <a:t>twice the periods</a:t>
            </a:r>
          </a:p>
        </p:txBody>
      </p:sp>
    </p:spTree>
    <p:extLst>
      <p:ext uri="{BB962C8B-B14F-4D97-AF65-F5344CB8AC3E}">
        <p14:creationId xmlns:p14="http://schemas.microsoft.com/office/powerpoint/2010/main" val="34778743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1"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anim calcmode="lin" valueType="num">
                                      <p:cBhvr additive="base">
                                        <p:cTn id="11" dur="500" fill="hold"/>
                                        <p:tgtEl>
                                          <p:spTgt spid="6"/>
                                        </p:tgtEl>
                                        <p:attrNameLst>
                                          <p:attrName>ppt_x</p:attrName>
                                        </p:attrNameLst>
                                      </p:cBhvr>
                                      <p:tavLst>
                                        <p:tav tm="0">
                                          <p:val>
                                            <p:strVal val="#ppt_x"/>
                                          </p:val>
                                        </p:tav>
                                        <p:tav tm="100000">
                                          <p:val>
                                            <p:strVal val="#ppt_x"/>
                                          </p:val>
                                        </p:tav>
                                      </p:tavLst>
                                    </p:anim>
                                    <p:anim calcmode="lin" valueType="num">
                                      <p:cBhvr additive="base">
                                        <p:cTn id="12"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6" presetClass="entr" presetSubtype="32" fill="hold" nodeType="click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circle(out)">
                                      <p:cBhvr>
                                        <p:cTn id="21" dur="2000"/>
                                        <p:tgtEl>
                                          <p:spTgt spid="35"/>
                                        </p:tgtEl>
                                      </p:cBhvr>
                                    </p:animEffect>
                                  </p:childTnLst>
                                </p:cTn>
                              </p:par>
                              <p:par>
                                <p:cTn id="22" presetID="6" presetClass="entr" presetSubtype="32" fill="hold" nodeType="withEffect">
                                  <p:stCondLst>
                                    <p:cond delay="0"/>
                                  </p:stCondLst>
                                  <p:childTnLst>
                                    <p:set>
                                      <p:cBhvr>
                                        <p:cTn id="23" dur="1" fill="hold">
                                          <p:stCondLst>
                                            <p:cond delay="0"/>
                                          </p:stCondLst>
                                        </p:cTn>
                                        <p:tgtEl>
                                          <p:spTgt spid="48"/>
                                        </p:tgtEl>
                                        <p:attrNameLst>
                                          <p:attrName>style.visibility</p:attrName>
                                        </p:attrNameLst>
                                      </p:cBhvr>
                                      <p:to>
                                        <p:strVal val="visible"/>
                                      </p:to>
                                    </p:set>
                                    <p:animEffect transition="in" filter="circle(out)">
                                      <p:cBhvr>
                                        <p:cTn id="24" dur="2000"/>
                                        <p:tgtEl>
                                          <p:spTgt spid="48"/>
                                        </p:tgtEl>
                                      </p:cBhvr>
                                    </p:animEffect>
                                  </p:childTnLst>
                                </p:cTn>
                              </p:par>
                            </p:childTnLst>
                          </p:cTn>
                        </p:par>
                      </p:childTnLst>
                    </p:cTn>
                  </p:par>
                  <p:par>
                    <p:cTn id="25" fill="hold">
                      <p:stCondLst>
                        <p:cond delay="indefinite"/>
                      </p:stCondLst>
                      <p:childTnLst>
                        <p:par>
                          <p:cTn id="26" fill="hold">
                            <p:stCondLst>
                              <p:cond delay="0"/>
                            </p:stCondLst>
                            <p:childTnLst>
                              <p:par>
                                <p:cTn id="27" presetID="6" presetClass="entr" presetSubtype="32" fill="hold" nodeType="clickEffect">
                                  <p:stCondLst>
                                    <p:cond delay="0"/>
                                  </p:stCondLst>
                                  <p:childTnLst>
                                    <p:set>
                                      <p:cBhvr>
                                        <p:cTn id="28" dur="1" fill="hold">
                                          <p:stCondLst>
                                            <p:cond delay="0"/>
                                          </p:stCondLst>
                                        </p:cTn>
                                        <p:tgtEl>
                                          <p:spTgt spid="39"/>
                                        </p:tgtEl>
                                        <p:attrNameLst>
                                          <p:attrName>style.visibility</p:attrName>
                                        </p:attrNameLst>
                                      </p:cBhvr>
                                      <p:to>
                                        <p:strVal val="visible"/>
                                      </p:to>
                                    </p:set>
                                    <p:animEffect transition="in" filter="circle(out)">
                                      <p:cBhvr>
                                        <p:cTn id="29" dur="2000"/>
                                        <p:tgtEl>
                                          <p:spTgt spid="39"/>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25"/>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9"/>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1" nodeType="clickEffect">
                                  <p:stCondLst>
                                    <p:cond delay="0"/>
                                  </p:stCondLst>
                                  <p:childTnLst>
                                    <p:set>
                                      <p:cBhvr>
                                        <p:cTn id="41" dur="1" fill="hold">
                                          <p:stCondLst>
                                            <p:cond delay="0"/>
                                          </p:stCondLst>
                                        </p:cTn>
                                        <p:tgtEl>
                                          <p:spTgt spid="27"/>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42" presetClass="path" presetSubtype="0" accel="50000" decel="50000" fill="hold" grpId="0" nodeType="clickEffect">
                                  <p:stCondLst>
                                    <p:cond delay="0"/>
                                  </p:stCondLst>
                                  <p:childTnLst>
                                    <p:animMotion origin="layout" path="M 0.00035 -0.00247 L 0.29479 -0.05988 " pathEditMode="relative" rAng="0" ptsTypes="AA">
                                      <p:cBhvr>
                                        <p:cTn id="45" dur="2000" fill="hold"/>
                                        <p:tgtEl>
                                          <p:spTgt spid="27"/>
                                        </p:tgtEl>
                                        <p:attrNameLst>
                                          <p:attrName>ppt_x</p:attrName>
                                          <p:attrName>ppt_y</p:attrName>
                                        </p:attrNameLst>
                                      </p:cBhvr>
                                      <p:rCtr x="14722" y="-2870"/>
                                    </p:animMotion>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grpId="0" nodeType="clickEffect">
                                  <p:stCondLst>
                                    <p:cond delay="0"/>
                                  </p:stCondLst>
                                  <p:childTnLst>
                                    <p:set>
                                      <p:cBhvr>
                                        <p:cTn id="49" dur="1" fill="hold">
                                          <p:stCondLst>
                                            <p:cond delay="0"/>
                                          </p:stCondLst>
                                        </p:cTn>
                                        <p:tgtEl>
                                          <p:spTgt spid="20"/>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xit" presetSubtype="0" fill="hold" grpId="2" nodeType="clickEffect">
                                  <p:stCondLst>
                                    <p:cond delay="0"/>
                                  </p:stCondLst>
                                  <p:childTnLst>
                                    <p:set>
                                      <p:cBhvr>
                                        <p:cTn id="53" dur="1" fill="hold">
                                          <p:stCondLst>
                                            <p:cond delay="0"/>
                                          </p:stCondLst>
                                        </p:cTn>
                                        <p:tgtEl>
                                          <p:spTgt spid="27"/>
                                        </p:tgtEl>
                                        <p:attrNameLst>
                                          <p:attrName>style.visibility</p:attrName>
                                        </p:attrNameLst>
                                      </p:cBhvr>
                                      <p:to>
                                        <p:strVal val="hidden"/>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8"/>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1" nodeType="clickEffect">
                                  <p:stCondLst>
                                    <p:cond delay="0"/>
                                  </p:stCondLst>
                                  <p:childTnLst>
                                    <p:set>
                                      <p:cBhvr>
                                        <p:cTn id="61" dur="1" fill="hold">
                                          <p:stCondLst>
                                            <p:cond delay="0"/>
                                          </p:stCondLst>
                                        </p:cTn>
                                        <p:tgtEl>
                                          <p:spTgt spid="21"/>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42" presetClass="path" presetSubtype="0" accel="50000" decel="50000" fill="hold" grpId="0" nodeType="clickEffect">
                                  <p:stCondLst>
                                    <p:cond delay="0"/>
                                  </p:stCondLst>
                                  <p:childTnLst>
                                    <p:animMotion origin="layout" path="M 0 8.64198E-7 L 0.30035 -0.11945 " pathEditMode="relative" rAng="0" ptsTypes="AA">
                                      <p:cBhvr>
                                        <p:cTn id="65" dur="2000" fill="hold"/>
                                        <p:tgtEl>
                                          <p:spTgt spid="21"/>
                                        </p:tgtEl>
                                        <p:attrNameLst>
                                          <p:attrName>ppt_x</p:attrName>
                                          <p:attrName>ppt_y</p:attrName>
                                        </p:attrNameLst>
                                      </p:cBhvr>
                                      <p:rCtr x="15017" y="-5988"/>
                                    </p:animMotion>
                                  </p:childTnLst>
                                </p:cTn>
                              </p:par>
                            </p:childTnLst>
                          </p:cTn>
                        </p:par>
                      </p:childTnLst>
                    </p:cTn>
                  </p:par>
                  <p:par>
                    <p:cTn id="66" fill="hold">
                      <p:stCondLst>
                        <p:cond delay="indefinite"/>
                      </p:stCondLst>
                      <p:childTnLst>
                        <p:par>
                          <p:cTn id="67" fill="hold">
                            <p:stCondLst>
                              <p:cond delay="0"/>
                            </p:stCondLst>
                            <p:childTnLst>
                              <p:par>
                                <p:cTn id="68" presetID="1" presetClass="entr" presetSubtype="0" fill="hold" grpId="0" nodeType="clickEffect">
                                  <p:stCondLst>
                                    <p:cond delay="0"/>
                                  </p:stCondLst>
                                  <p:childTnLst>
                                    <p:set>
                                      <p:cBhvr>
                                        <p:cTn id="69"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p:bldP spid="26" grpId="0"/>
      <p:bldP spid="27" grpId="0" animBg="1"/>
      <p:bldP spid="27" grpId="1" animBg="1"/>
      <p:bldP spid="27" grpId="2" animBg="1"/>
      <p:bldP spid="29" grpId="0"/>
      <p:bldP spid="18" grpId="0"/>
      <p:bldP spid="20" grpId="0"/>
      <p:bldP spid="21" grpId="0" animBg="1"/>
      <p:bldP spid="21" grpId="1" animBg="1"/>
      <p:bldP spid="23" grpId="0"/>
      <p:bldP spid="5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0B55E-9349-4DDA-9197-683C6D70A160}"/>
              </a:ext>
            </a:extLst>
          </p:cNvPr>
          <p:cNvSpPr>
            <a:spLocks noGrp="1"/>
          </p:cNvSpPr>
          <p:nvPr>
            <p:ph type="title"/>
          </p:nvPr>
        </p:nvSpPr>
        <p:spPr/>
        <p:txBody>
          <a:bodyPr/>
          <a:lstStyle/>
          <a:p>
            <a:r>
              <a:rPr lang="en-US" dirty="0"/>
              <a:t>Compounding Period</a:t>
            </a:r>
          </a:p>
        </p:txBody>
      </p:sp>
      <p:grpSp>
        <p:nvGrpSpPr>
          <p:cNvPr id="16" name="Group 15">
            <a:extLst>
              <a:ext uri="{FF2B5EF4-FFF2-40B4-BE49-F238E27FC236}">
                <a16:creationId xmlns:a16="http://schemas.microsoft.com/office/drawing/2014/main" id="{92BE1DE0-DE18-46B4-9920-3684E04F715A}"/>
              </a:ext>
            </a:extLst>
          </p:cNvPr>
          <p:cNvGrpSpPr/>
          <p:nvPr/>
        </p:nvGrpSpPr>
        <p:grpSpPr>
          <a:xfrm>
            <a:off x="914400" y="3369755"/>
            <a:ext cx="7772400" cy="719381"/>
            <a:chOff x="914400" y="1524485"/>
            <a:chExt cx="7772400" cy="719381"/>
          </a:xfrm>
        </p:grpSpPr>
        <p:sp>
          <p:nvSpPr>
            <p:cNvPr id="5" name="TextBox 4">
              <a:extLst>
                <a:ext uri="{FF2B5EF4-FFF2-40B4-BE49-F238E27FC236}">
                  <a16:creationId xmlns:a16="http://schemas.microsoft.com/office/drawing/2014/main" id="{61318407-806A-47CE-91A2-2F5651897406}"/>
                </a:ext>
              </a:extLst>
            </p:cNvPr>
            <p:cNvSpPr txBox="1"/>
            <p:nvPr/>
          </p:nvSpPr>
          <p:spPr>
            <a:xfrm>
              <a:off x="8037263" y="1874534"/>
              <a:ext cx="649537" cy="369332"/>
            </a:xfrm>
            <a:prstGeom prst="rect">
              <a:avLst/>
            </a:prstGeom>
            <a:noFill/>
          </p:spPr>
          <p:txBody>
            <a:bodyPr wrap="none" rtlCol="0">
              <a:spAutoFit/>
            </a:bodyPr>
            <a:lstStyle/>
            <a:p>
              <a:r>
                <a:rPr lang="en-US" dirty="0"/>
                <a:t>Time</a:t>
              </a:r>
            </a:p>
          </p:txBody>
        </p:sp>
        <p:grpSp>
          <p:nvGrpSpPr>
            <p:cNvPr id="12" name="Group 11">
              <a:extLst>
                <a:ext uri="{FF2B5EF4-FFF2-40B4-BE49-F238E27FC236}">
                  <a16:creationId xmlns:a16="http://schemas.microsoft.com/office/drawing/2014/main" id="{AE30561F-9748-41E3-A139-7C53EF445A26}"/>
                </a:ext>
              </a:extLst>
            </p:cNvPr>
            <p:cNvGrpSpPr/>
            <p:nvPr/>
          </p:nvGrpSpPr>
          <p:grpSpPr>
            <a:xfrm>
              <a:off x="914400" y="1524485"/>
              <a:ext cx="7329600" cy="260353"/>
              <a:chOff x="914400" y="1524485"/>
              <a:chExt cx="7329600" cy="260353"/>
            </a:xfrm>
          </p:grpSpPr>
          <p:grpSp>
            <p:nvGrpSpPr>
              <p:cNvPr id="11" name="Group 10">
                <a:extLst>
                  <a:ext uri="{FF2B5EF4-FFF2-40B4-BE49-F238E27FC236}">
                    <a16:creationId xmlns:a16="http://schemas.microsoft.com/office/drawing/2014/main" id="{8235281F-D2A5-44FD-A135-BCD30FC6CB7F}"/>
                  </a:ext>
                </a:extLst>
              </p:cNvPr>
              <p:cNvGrpSpPr/>
              <p:nvPr/>
            </p:nvGrpSpPr>
            <p:grpSpPr>
              <a:xfrm>
                <a:off x="914400" y="1524485"/>
                <a:ext cx="7329600" cy="260353"/>
                <a:chOff x="914400" y="1524485"/>
                <a:chExt cx="7329600" cy="260353"/>
              </a:xfrm>
            </p:grpSpPr>
            <p:cxnSp>
              <p:nvCxnSpPr>
                <p:cNvPr id="4" name="Straight Arrow Connector 3">
                  <a:extLst>
                    <a:ext uri="{FF2B5EF4-FFF2-40B4-BE49-F238E27FC236}">
                      <a16:creationId xmlns:a16="http://schemas.microsoft.com/office/drawing/2014/main" id="{CF921D66-F93E-4D42-9ABE-D1FEE5D4A911}"/>
                    </a:ext>
                  </a:extLst>
                </p:cNvPr>
                <p:cNvCxnSpPr/>
                <p:nvPr/>
              </p:nvCxnSpPr>
              <p:spPr>
                <a:xfrm>
                  <a:off x="914400" y="1648800"/>
                  <a:ext cx="7329600"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Connector 6">
                  <a:extLst>
                    <a:ext uri="{FF2B5EF4-FFF2-40B4-BE49-F238E27FC236}">
                      <a16:creationId xmlns:a16="http://schemas.microsoft.com/office/drawing/2014/main" id="{F955BBC3-B374-4D94-97D6-36CE9EFA8291}"/>
                    </a:ext>
                  </a:extLst>
                </p:cNvPr>
                <p:cNvCxnSpPr>
                  <a:cxnSpLocks/>
                </p:cNvCxnSpPr>
                <p:nvPr/>
              </p:nvCxnSpPr>
              <p:spPr>
                <a:xfrm>
                  <a:off x="1828799" y="1524485"/>
                  <a:ext cx="0" cy="260353"/>
                </a:xfrm>
                <a:prstGeom prst="line">
                  <a:avLst/>
                </a:prstGeom>
              </p:spPr>
              <p:style>
                <a:lnRef idx="2">
                  <a:schemeClr val="accent1"/>
                </a:lnRef>
                <a:fillRef idx="0">
                  <a:schemeClr val="accent1"/>
                </a:fillRef>
                <a:effectRef idx="1">
                  <a:schemeClr val="accent1"/>
                </a:effectRef>
                <a:fontRef idx="minor">
                  <a:schemeClr val="tx1"/>
                </a:fontRef>
              </p:style>
            </p:cxnSp>
          </p:grpSp>
          <p:cxnSp>
            <p:nvCxnSpPr>
              <p:cNvPr id="8" name="Straight Connector 7">
                <a:extLst>
                  <a:ext uri="{FF2B5EF4-FFF2-40B4-BE49-F238E27FC236}">
                    <a16:creationId xmlns:a16="http://schemas.microsoft.com/office/drawing/2014/main" id="{027EA764-6901-46D0-A145-26F38AC38D0E}"/>
                  </a:ext>
                </a:extLst>
              </p:cNvPr>
              <p:cNvCxnSpPr>
                <a:cxnSpLocks/>
              </p:cNvCxnSpPr>
              <p:nvPr/>
            </p:nvCxnSpPr>
            <p:spPr>
              <a:xfrm>
                <a:off x="7318131" y="1524485"/>
                <a:ext cx="0" cy="260353"/>
              </a:xfrm>
              <a:prstGeom prst="line">
                <a:avLst/>
              </a:prstGeom>
            </p:spPr>
            <p:style>
              <a:lnRef idx="2">
                <a:schemeClr val="accent1"/>
              </a:lnRef>
              <a:fillRef idx="0">
                <a:schemeClr val="accent1"/>
              </a:fillRef>
              <a:effectRef idx="1">
                <a:schemeClr val="accent1"/>
              </a:effectRef>
              <a:fontRef idx="minor">
                <a:schemeClr val="tx1"/>
              </a:fontRef>
            </p:style>
          </p:cxnSp>
        </p:grpSp>
        <p:sp>
          <p:nvSpPr>
            <p:cNvPr id="14" name="TextBox 13">
              <a:extLst>
                <a:ext uri="{FF2B5EF4-FFF2-40B4-BE49-F238E27FC236}">
                  <a16:creationId xmlns:a16="http://schemas.microsoft.com/office/drawing/2014/main" id="{75E70EC0-8882-4B44-A236-B760B620076B}"/>
                </a:ext>
              </a:extLst>
            </p:cNvPr>
            <p:cNvSpPr txBox="1"/>
            <p:nvPr/>
          </p:nvSpPr>
          <p:spPr>
            <a:xfrm>
              <a:off x="1498420" y="1831312"/>
              <a:ext cx="660758" cy="369332"/>
            </a:xfrm>
            <a:prstGeom prst="rect">
              <a:avLst/>
            </a:prstGeom>
            <a:noFill/>
          </p:spPr>
          <p:txBody>
            <a:bodyPr wrap="none" rtlCol="0">
              <a:spAutoFit/>
            </a:bodyPr>
            <a:lstStyle/>
            <a:p>
              <a:r>
                <a:rPr lang="en-US" dirty="0"/>
                <a:t>Jan 1</a:t>
              </a:r>
            </a:p>
          </p:txBody>
        </p:sp>
        <p:sp>
          <p:nvSpPr>
            <p:cNvPr id="15" name="TextBox 14">
              <a:extLst>
                <a:ext uri="{FF2B5EF4-FFF2-40B4-BE49-F238E27FC236}">
                  <a16:creationId xmlns:a16="http://schemas.microsoft.com/office/drawing/2014/main" id="{04A4F05D-8A78-4E34-9850-55FD57704F2E}"/>
                </a:ext>
              </a:extLst>
            </p:cNvPr>
            <p:cNvSpPr txBox="1"/>
            <p:nvPr/>
          </p:nvSpPr>
          <p:spPr>
            <a:xfrm>
              <a:off x="6904395" y="1808605"/>
              <a:ext cx="827471" cy="369332"/>
            </a:xfrm>
            <a:prstGeom prst="rect">
              <a:avLst/>
            </a:prstGeom>
            <a:noFill/>
          </p:spPr>
          <p:txBody>
            <a:bodyPr wrap="none" rtlCol="0">
              <a:spAutoFit/>
            </a:bodyPr>
            <a:lstStyle/>
            <a:p>
              <a:r>
                <a:rPr lang="en-US" dirty="0"/>
                <a:t>Dec 31</a:t>
              </a:r>
            </a:p>
          </p:txBody>
        </p:sp>
      </p:grpSp>
      <p:sp>
        <p:nvSpPr>
          <p:cNvPr id="17" name="TextBox 16">
            <a:extLst>
              <a:ext uri="{FF2B5EF4-FFF2-40B4-BE49-F238E27FC236}">
                <a16:creationId xmlns:a16="http://schemas.microsoft.com/office/drawing/2014/main" id="{00E8F002-2565-4E4C-84FB-230051D6955C}"/>
              </a:ext>
            </a:extLst>
          </p:cNvPr>
          <p:cNvSpPr txBox="1"/>
          <p:nvPr/>
        </p:nvSpPr>
        <p:spPr>
          <a:xfrm>
            <a:off x="791816" y="1010993"/>
            <a:ext cx="2799549" cy="369332"/>
          </a:xfrm>
          <a:prstGeom prst="rect">
            <a:avLst/>
          </a:prstGeom>
          <a:noFill/>
        </p:spPr>
        <p:txBody>
          <a:bodyPr wrap="none" rtlCol="0">
            <a:spAutoFit/>
          </a:bodyPr>
          <a:lstStyle/>
          <a:p>
            <a:r>
              <a:rPr lang="en-US" dirty="0"/>
              <a:t>10% compounded </a:t>
            </a:r>
            <a:r>
              <a:rPr lang="en-US" b="1" dirty="0"/>
              <a:t>quarterly</a:t>
            </a:r>
          </a:p>
        </p:txBody>
      </p:sp>
      <p:sp>
        <p:nvSpPr>
          <p:cNvPr id="25" name="TextBox 24">
            <a:extLst>
              <a:ext uri="{FF2B5EF4-FFF2-40B4-BE49-F238E27FC236}">
                <a16:creationId xmlns:a16="http://schemas.microsoft.com/office/drawing/2014/main" id="{4A6D372E-349E-4579-B834-1375667815F3}"/>
              </a:ext>
            </a:extLst>
          </p:cNvPr>
          <p:cNvSpPr txBox="1"/>
          <p:nvPr/>
        </p:nvSpPr>
        <p:spPr>
          <a:xfrm>
            <a:off x="1619447" y="2734408"/>
            <a:ext cx="341760" cy="276999"/>
          </a:xfrm>
          <a:prstGeom prst="rect">
            <a:avLst/>
          </a:prstGeom>
          <a:noFill/>
        </p:spPr>
        <p:txBody>
          <a:bodyPr wrap="none" rtlCol="0">
            <a:spAutoFit/>
          </a:bodyPr>
          <a:lstStyle/>
          <a:p>
            <a:r>
              <a:rPr lang="en-US" sz="1200" b="1" dirty="0"/>
              <a:t>$1</a:t>
            </a:r>
          </a:p>
        </p:txBody>
      </p:sp>
      <p:sp>
        <p:nvSpPr>
          <p:cNvPr id="26" name="TextBox 25">
            <a:extLst>
              <a:ext uri="{FF2B5EF4-FFF2-40B4-BE49-F238E27FC236}">
                <a16:creationId xmlns:a16="http://schemas.microsoft.com/office/drawing/2014/main" id="{CB94DB23-503C-49F9-A2F4-D9F90701401A}"/>
              </a:ext>
            </a:extLst>
          </p:cNvPr>
          <p:cNvSpPr txBox="1"/>
          <p:nvPr/>
        </p:nvSpPr>
        <p:spPr>
          <a:xfrm>
            <a:off x="6800324" y="1779351"/>
            <a:ext cx="947695" cy="369332"/>
          </a:xfrm>
          <a:prstGeom prst="rect">
            <a:avLst/>
          </a:prstGeom>
          <a:noFill/>
        </p:spPr>
        <p:txBody>
          <a:bodyPr wrap="none" rtlCol="0">
            <a:spAutoFit/>
          </a:bodyPr>
          <a:lstStyle/>
          <a:p>
            <a:pPr algn="ctr"/>
            <a:r>
              <a:rPr lang="en-US" b="1" dirty="0"/>
              <a:t>$1.1038</a:t>
            </a:r>
          </a:p>
        </p:txBody>
      </p:sp>
      <p:sp>
        <p:nvSpPr>
          <p:cNvPr id="27" name="Oval 26">
            <a:extLst>
              <a:ext uri="{FF2B5EF4-FFF2-40B4-BE49-F238E27FC236}">
                <a16:creationId xmlns:a16="http://schemas.microsoft.com/office/drawing/2014/main" id="{7F922EF2-7F70-4C97-A0C1-F9F8EA777BB4}"/>
              </a:ext>
            </a:extLst>
          </p:cNvPr>
          <p:cNvSpPr/>
          <p:nvPr/>
        </p:nvSpPr>
        <p:spPr>
          <a:xfrm>
            <a:off x="1542380" y="2584938"/>
            <a:ext cx="597878" cy="615462"/>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ABBEBA37-9703-4E19-8AD2-08837E541F6D}"/>
              </a:ext>
            </a:extLst>
          </p:cNvPr>
          <p:cNvSpPr txBox="1"/>
          <p:nvPr/>
        </p:nvSpPr>
        <p:spPr>
          <a:xfrm>
            <a:off x="1841984" y="1439201"/>
            <a:ext cx="1331935" cy="461665"/>
          </a:xfrm>
          <a:prstGeom prst="rect">
            <a:avLst/>
          </a:prstGeom>
          <a:noFill/>
        </p:spPr>
        <p:txBody>
          <a:bodyPr wrap="square">
            <a:spAutoFit/>
          </a:bodyPr>
          <a:lstStyle/>
          <a:p>
            <a:pPr algn="ctr"/>
            <a:r>
              <a:rPr lang="en-US" sz="1200" dirty="0"/>
              <a:t>Growth ¼ *10%:</a:t>
            </a:r>
          </a:p>
          <a:p>
            <a:pPr algn="ctr"/>
            <a:r>
              <a:rPr lang="en-US" sz="1200" dirty="0"/>
              <a:t>2.5%*$1 </a:t>
            </a:r>
          </a:p>
        </p:txBody>
      </p:sp>
      <p:sp>
        <p:nvSpPr>
          <p:cNvPr id="21" name="Oval 20">
            <a:extLst>
              <a:ext uri="{FF2B5EF4-FFF2-40B4-BE49-F238E27FC236}">
                <a16:creationId xmlns:a16="http://schemas.microsoft.com/office/drawing/2014/main" id="{6A33EE08-950F-4B2C-BA37-9C2163C1D980}"/>
              </a:ext>
            </a:extLst>
          </p:cNvPr>
          <p:cNvSpPr/>
          <p:nvPr/>
        </p:nvSpPr>
        <p:spPr>
          <a:xfrm>
            <a:off x="5537713" y="1991805"/>
            <a:ext cx="889591" cy="892751"/>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2" name="Straight Connector 21">
            <a:extLst>
              <a:ext uri="{FF2B5EF4-FFF2-40B4-BE49-F238E27FC236}">
                <a16:creationId xmlns:a16="http://schemas.microsoft.com/office/drawing/2014/main" id="{93CF68D8-BBB2-415A-B387-2CD83BE81AD8}"/>
              </a:ext>
            </a:extLst>
          </p:cNvPr>
          <p:cNvCxnSpPr>
            <a:cxnSpLocks/>
          </p:cNvCxnSpPr>
          <p:nvPr/>
        </p:nvCxnSpPr>
        <p:spPr>
          <a:xfrm>
            <a:off x="4583722" y="3367416"/>
            <a:ext cx="0" cy="260353"/>
          </a:xfrm>
          <a:prstGeom prst="line">
            <a:avLst/>
          </a:prstGeom>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FC83BED2-2A04-4BEC-828D-DA6CB766F6EA}"/>
              </a:ext>
            </a:extLst>
          </p:cNvPr>
          <p:cNvSpPr txBox="1"/>
          <p:nvPr/>
        </p:nvSpPr>
        <p:spPr>
          <a:xfrm>
            <a:off x="4126026" y="3653875"/>
            <a:ext cx="904415" cy="369332"/>
          </a:xfrm>
          <a:prstGeom prst="rect">
            <a:avLst/>
          </a:prstGeom>
          <a:noFill/>
        </p:spPr>
        <p:txBody>
          <a:bodyPr wrap="none" rtlCol="0">
            <a:spAutoFit/>
          </a:bodyPr>
          <a:lstStyle/>
          <a:p>
            <a:r>
              <a:rPr lang="en-US" dirty="0"/>
              <a:t>June 30</a:t>
            </a:r>
          </a:p>
        </p:txBody>
      </p:sp>
      <p:cxnSp>
        <p:nvCxnSpPr>
          <p:cNvPr id="6" name="Straight Connector 5">
            <a:extLst>
              <a:ext uri="{FF2B5EF4-FFF2-40B4-BE49-F238E27FC236}">
                <a16:creationId xmlns:a16="http://schemas.microsoft.com/office/drawing/2014/main" id="{C9560F4B-F8EE-4797-B4DC-C77F2386CF35}"/>
              </a:ext>
            </a:extLst>
          </p:cNvPr>
          <p:cNvCxnSpPr>
            <a:cxnSpLocks/>
          </p:cNvCxnSpPr>
          <p:nvPr/>
        </p:nvCxnSpPr>
        <p:spPr>
          <a:xfrm>
            <a:off x="4583722" y="1481048"/>
            <a:ext cx="0" cy="3245383"/>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4" name="Straight Connector 23">
            <a:extLst>
              <a:ext uri="{FF2B5EF4-FFF2-40B4-BE49-F238E27FC236}">
                <a16:creationId xmlns:a16="http://schemas.microsoft.com/office/drawing/2014/main" id="{89080A90-EDE5-4587-8ADF-04ECD237F443}"/>
              </a:ext>
            </a:extLst>
          </p:cNvPr>
          <p:cNvCxnSpPr>
            <a:cxnSpLocks/>
          </p:cNvCxnSpPr>
          <p:nvPr/>
        </p:nvCxnSpPr>
        <p:spPr>
          <a:xfrm>
            <a:off x="5945002" y="1537632"/>
            <a:ext cx="0" cy="3245383"/>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28" name="Straight Connector 27">
            <a:extLst>
              <a:ext uri="{FF2B5EF4-FFF2-40B4-BE49-F238E27FC236}">
                <a16:creationId xmlns:a16="http://schemas.microsoft.com/office/drawing/2014/main" id="{5F3B24D2-77E9-41F9-97B7-F26FB07D0429}"/>
              </a:ext>
            </a:extLst>
          </p:cNvPr>
          <p:cNvCxnSpPr>
            <a:cxnSpLocks/>
          </p:cNvCxnSpPr>
          <p:nvPr/>
        </p:nvCxnSpPr>
        <p:spPr>
          <a:xfrm>
            <a:off x="3204814" y="1481048"/>
            <a:ext cx="0" cy="3245383"/>
          </a:xfrm>
          <a:prstGeom prst="line">
            <a:avLst/>
          </a:prstGeom>
          <a:ln w="9525"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30" name="TextBox 29">
            <a:extLst>
              <a:ext uri="{FF2B5EF4-FFF2-40B4-BE49-F238E27FC236}">
                <a16:creationId xmlns:a16="http://schemas.microsoft.com/office/drawing/2014/main" id="{7BB40478-8784-4891-98F5-712E1F7C747D}"/>
              </a:ext>
            </a:extLst>
          </p:cNvPr>
          <p:cNvSpPr txBox="1"/>
          <p:nvPr/>
        </p:nvSpPr>
        <p:spPr>
          <a:xfrm>
            <a:off x="3405814" y="1456185"/>
            <a:ext cx="1033661" cy="276999"/>
          </a:xfrm>
          <a:prstGeom prst="rect">
            <a:avLst/>
          </a:prstGeom>
          <a:noFill/>
        </p:spPr>
        <p:txBody>
          <a:bodyPr wrap="square">
            <a:spAutoFit/>
          </a:bodyPr>
          <a:lstStyle/>
          <a:p>
            <a:pPr algn="ctr"/>
            <a:r>
              <a:rPr lang="en-US" sz="1200" dirty="0"/>
              <a:t>Growth: 2.5%</a:t>
            </a:r>
          </a:p>
        </p:txBody>
      </p:sp>
      <p:sp>
        <p:nvSpPr>
          <p:cNvPr id="31" name="Oval 30">
            <a:extLst>
              <a:ext uri="{FF2B5EF4-FFF2-40B4-BE49-F238E27FC236}">
                <a16:creationId xmlns:a16="http://schemas.microsoft.com/office/drawing/2014/main" id="{9F629422-2A2F-41B8-AB62-C3D3C628DA6D}"/>
              </a:ext>
            </a:extLst>
          </p:cNvPr>
          <p:cNvSpPr/>
          <p:nvPr/>
        </p:nvSpPr>
        <p:spPr>
          <a:xfrm>
            <a:off x="2884169" y="2395876"/>
            <a:ext cx="641290" cy="677063"/>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A48A7432-C6EB-4B31-AC77-F248D89F2720}"/>
              </a:ext>
            </a:extLst>
          </p:cNvPr>
          <p:cNvSpPr/>
          <p:nvPr/>
        </p:nvSpPr>
        <p:spPr>
          <a:xfrm>
            <a:off x="4191932" y="2189331"/>
            <a:ext cx="783580" cy="791213"/>
          </a:xfrm>
          <a:prstGeom prst="ellipse">
            <a:avLst/>
          </a:prstGeom>
          <a:noFill/>
          <a:ln w="28575">
            <a:solidFill>
              <a:srgbClr val="FF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4" name="TextBox 33">
            <a:extLst>
              <a:ext uri="{FF2B5EF4-FFF2-40B4-BE49-F238E27FC236}">
                <a16:creationId xmlns:a16="http://schemas.microsoft.com/office/drawing/2014/main" id="{2D3ECABA-4D46-46B3-BA70-F1DD14835482}"/>
              </a:ext>
            </a:extLst>
          </p:cNvPr>
          <p:cNvSpPr txBox="1"/>
          <p:nvPr/>
        </p:nvSpPr>
        <p:spPr>
          <a:xfrm>
            <a:off x="4781831" y="1449779"/>
            <a:ext cx="1033661" cy="276999"/>
          </a:xfrm>
          <a:prstGeom prst="rect">
            <a:avLst/>
          </a:prstGeom>
          <a:noFill/>
        </p:spPr>
        <p:txBody>
          <a:bodyPr wrap="square">
            <a:spAutoFit/>
          </a:bodyPr>
          <a:lstStyle/>
          <a:p>
            <a:pPr algn="ctr"/>
            <a:r>
              <a:rPr lang="en-US" sz="1200" dirty="0"/>
              <a:t>Growth: 2.5%</a:t>
            </a:r>
          </a:p>
        </p:txBody>
      </p:sp>
      <p:sp>
        <p:nvSpPr>
          <p:cNvPr id="35" name="TextBox 34">
            <a:extLst>
              <a:ext uri="{FF2B5EF4-FFF2-40B4-BE49-F238E27FC236}">
                <a16:creationId xmlns:a16="http://schemas.microsoft.com/office/drawing/2014/main" id="{DEB4533B-4519-4DD1-AF59-80D7D334CBD7}"/>
              </a:ext>
            </a:extLst>
          </p:cNvPr>
          <p:cNvSpPr txBox="1"/>
          <p:nvPr/>
        </p:nvSpPr>
        <p:spPr>
          <a:xfrm>
            <a:off x="6155640" y="1456185"/>
            <a:ext cx="1033661" cy="276999"/>
          </a:xfrm>
          <a:prstGeom prst="rect">
            <a:avLst/>
          </a:prstGeom>
          <a:noFill/>
        </p:spPr>
        <p:txBody>
          <a:bodyPr wrap="square">
            <a:spAutoFit/>
          </a:bodyPr>
          <a:lstStyle/>
          <a:p>
            <a:pPr algn="ctr"/>
            <a:r>
              <a:rPr lang="en-US" sz="1200" dirty="0"/>
              <a:t>Growth: 2.5%</a:t>
            </a:r>
          </a:p>
        </p:txBody>
      </p:sp>
      <p:sp>
        <p:nvSpPr>
          <p:cNvPr id="36" name="TextBox 35">
            <a:extLst>
              <a:ext uri="{FF2B5EF4-FFF2-40B4-BE49-F238E27FC236}">
                <a16:creationId xmlns:a16="http://schemas.microsoft.com/office/drawing/2014/main" id="{C3D1E89F-DC62-40EE-9714-39F11FB582E5}"/>
              </a:ext>
            </a:extLst>
          </p:cNvPr>
          <p:cNvSpPr txBox="1"/>
          <p:nvPr/>
        </p:nvSpPr>
        <p:spPr>
          <a:xfrm>
            <a:off x="2725050" y="3653875"/>
            <a:ext cx="1075744" cy="369332"/>
          </a:xfrm>
          <a:prstGeom prst="rect">
            <a:avLst/>
          </a:prstGeom>
          <a:noFill/>
        </p:spPr>
        <p:txBody>
          <a:bodyPr wrap="none" rtlCol="0">
            <a:spAutoFit/>
          </a:bodyPr>
          <a:lstStyle/>
          <a:p>
            <a:r>
              <a:rPr lang="en-US" dirty="0"/>
              <a:t>March 31</a:t>
            </a:r>
          </a:p>
        </p:txBody>
      </p:sp>
      <p:sp>
        <p:nvSpPr>
          <p:cNvPr id="37" name="TextBox 36">
            <a:extLst>
              <a:ext uri="{FF2B5EF4-FFF2-40B4-BE49-F238E27FC236}">
                <a16:creationId xmlns:a16="http://schemas.microsoft.com/office/drawing/2014/main" id="{BFFA53B8-C1DB-4AF2-BF68-8B45A7678156}"/>
              </a:ext>
            </a:extLst>
          </p:cNvPr>
          <p:cNvSpPr txBox="1"/>
          <p:nvPr/>
        </p:nvSpPr>
        <p:spPr>
          <a:xfrm>
            <a:off x="5407130" y="3653875"/>
            <a:ext cx="890565" cy="369332"/>
          </a:xfrm>
          <a:prstGeom prst="rect">
            <a:avLst/>
          </a:prstGeom>
          <a:noFill/>
        </p:spPr>
        <p:txBody>
          <a:bodyPr wrap="none" rtlCol="0">
            <a:spAutoFit/>
          </a:bodyPr>
          <a:lstStyle/>
          <a:p>
            <a:r>
              <a:rPr lang="en-US" dirty="0"/>
              <a:t>Sept 30</a:t>
            </a:r>
          </a:p>
        </p:txBody>
      </p:sp>
      <p:cxnSp>
        <p:nvCxnSpPr>
          <p:cNvPr id="38" name="Straight Connector 37">
            <a:extLst>
              <a:ext uri="{FF2B5EF4-FFF2-40B4-BE49-F238E27FC236}">
                <a16:creationId xmlns:a16="http://schemas.microsoft.com/office/drawing/2014/main" id="{33DD6D17-B73C-4B53-A9C0-D2F33112C44D}"/>
              </a:ext>
            </a:extLst>
          </p:cNvPr>
          <p:cNvCxnSpPr/>
          <p:nvPr/>
        </p:nvCxnSpPr>
        <p:spPr>
          <a:xfrm>
            <a:off x="1828800" y="1639042"/>
            <a:ext cx="0" cy="3122716"/>
          </a:xfrm>
          <a:prstGeom prst="line">
            <a:avLst/>
          </a:prstGeom>
          <a:ln w="19050">
            <a:prstDash val="dash"/>
          </a:ln>
        </p:spPr>
        <p:style>
          <a:lnRef idx="2">
            <a:schemeClr val="accent1"/>
          </a:lnRef>
          <a:fillRef idx="0">
            <a:schemeClr val="accent1"/>
          </a:fillRef>
          <a:effectRef idx="1">
            <a:schemeClr val="accent1"/>
          </a:effectRef>
          <a:fontRef idx="minor">
            <a:schemeClr val="tx1"/>
          </a:fontRef>
        </p:style>
      </p:cxnSp>
      <p:cxnSp>
        <p:nvCxnSpPr>
          <p:cNvPr id="39" name="Straight Connector 38">
            <a:extLst>
              <a:ext uri="{FF2B5EF4-FFF2-40B4-BE49-F238E27FC236}">
                <a16:creationId xmlns:a16="http://schemas.microsoft.com/office/drawing/2014/main" id="{61CD2C75-4F8B-4B14-B621-F1442086577E}"/>
              </a:ext>
            </a:extLst>
          </p:cNvPr>
          <p:cNvCxnSpPr/>
          <p:nvPr/>
        </p:nvCxnSpPr>
        <p:spPr>
          <a:xfrm>
            <a:off x="7318199" y="1643459"/>
            <a:ext cx="0" cy="3122716"/>
          </a:xfrm>
          <a:prstGeom prst="line">
            <a:avLst/>
          </a:prstGeom>
          <a:ln w="19050">
            <a:prstDash val="dash"/>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422B8DEA-A39F-4E5B-ACC1-A4226457EAC6}"/>
              </a:ext>
            </a:extLst>
          </p:cNvPr>
          <p:cNvSpPr txBox="1"/>
          <p:nvPr/>
        </p:nvSpPr>
        <p:spPr>
          <a:xfrm>
            <a:off x="7189301" y="728018"/>
            <a:ext cx="1928990" cy="646331"/>
          </a:xfrm>
          <a:prstGeom prst="rect">
            <a:avLst/>
          </a:prstGeom>
          <a:noFill/>
        </p:spPr>
        <p:txBody>
          <a:bodyPr wrap="none" rtlCol="0">
            <a:spAutoFit/>
          </a:bodyPr>
          <a:lstStyle/>
          <a:p>
            <a:pPr algn="ctr"/>
            <a:r>
              <a:rPr lang="en-US" b="1" dirty="0"/>
              <a:t>¼ the annual rate,</a:t>
            </a:r>
          </a:p>
          <a:p>
            <a:pPr algn="ctr"/>
            <a:r>
              <a:rPr lang="en-US" b="1" dirty="0"/>
              <a:t>4x the periods</a:t>
            </a:r>
          </a:p>
        </p:txBody>
      </p:sp>
      <p:sp>
        <p:nvSpPr>
          <p:cNvPr id="41" name="TextBox 40">
            <a:extLst>
              <a:ext uri="{FF2B5EF4-FFF2-40B4-BE49-F238E27FC236}">
                <a16:creationId xmlns:a16="http://schemas.microsoft.com/office/drawing/2014/main" id="{442E0B43-F5D1-42F8-93C8-823B621AE9DD}"/>
              </a:ext>
            </a:extLst>
          </p:cNvPr>
          <p:cNvSpPr txBox="1"/>
          <p:nvPr/>
        </p:nvSpPr>
        <p:spPr>
          <a:xfrm>
            <a:off x="2864379" y="2611585"/>
            <a:ext cx="619080" cy="276999"/>
          </a:xfrm>
          <a:prstGeom prst="rect">
            <a:avLst/>
          </a:prstGeom>
          <a:noFill/>
        </p:spPr>
        <p:txBody>
          <a:bodyPr wrap="none" rtlCol="0">
            <a:spAutoFit/>
          </a:bodyPr>
          <a:lstStyle/>
          <a:p>
            <a:r>
              <a:rPr lang="en-US" sz="1200" b="1" dirty="0"/>
              <a:t>$1.025</a:t>
            </a:r>
          </a:p>
        </p:txBody>
      </p:sp>
      <p:sp>
        <p:nvSpPr>
          <p:cNvPr id="42" name="TextBox 41">
            <a:extLst>
              <a:ext uri="{FF2B5EF4-FFF2-40B4-BE49-F238E27FC236}">
                <a16:creationId xmlns:a16="http://schemas.microsoft.com/office/drawing/2014/main" id="{AA5210C3-AB26-431A-8548-84A4C4ED1CC7}"/>
              </a:ext>
            </a:extLst>
          </p:cNvPr>
          <p:cNvSpPr txBox="1"/>
          <p:nvPr/>
        </p:nvSpPr>
        <p:spPr>
          <a:xfrm>
            <a:off x="4234908" y="2446438"/>
            <a:ext cx="780983" cy="307777"/>
          </a:xfrm>
          <a:prstGeom prst="rect">
            <a:avLst/>
          </a:prstGeom>
          <a:noFill/>
        </p:spPr>
        <p:txBody>
          <a:bodyPr wrap="none" rtlCol="0">
            <a:spAutoFit/>
          </a:bodyPr>
          <a:lstStyle/>
          <a:p>
            <a:r>
              <a:rPr lang="en-US" sz="1400" b="1" dirty="0"/>
              <a:t>$1.0506</a:t>
            </a:r>
          </a:p>
        </p:txBody>
      </p:sp>
      <p:sp>
        <p:nvSpPr>
          <p:cNvPr id="43" name="TextBox 42">
            <a:extLst>
              <a:ext uri="{FF2B5EF4-FFF2-40B4-BE49-F238E27FC236}">
                <a16:creationId xmlns:a16="http://schemas.microsoft.com/office/drawing/2014/main" id="{21DC1816-A06D-4ED4-9393-ABDCCF10FAEC}"/>
              </a:ext>
            </a:extLst>
          </p:cNvPr>
          <p:cNvSpPr txBox="1"/>
          <p:nvPr/>
        </p:nvSpPr>
        <p:spPr>
          <a:xfrm>
            <a:off x="5554510" y="2264859"/>
            <a:ext cx="780983" cy="307777"/>
          </a:xfrm>
          <a:prstGeom prst="rect">
            <a:avLst/>
          </a:prstGeom>
          <a:noFill/>
        </p:spPr>
        <p:txBody>
          <a:bodyPr wrap="none" rtlCol="0">
            <a:spAutoFit/>
          </a:bodyPr>
          <a:lstStyle/>
          <a:p>
            <a:r>
              <a:rPr lang="en-US" sz="1400" b="1" dirty="0"/>
              <a:t>$1.0769</a:t>
            </a:r>
          </a:p>
        </p:txBody>
      </p:sp>
      <p:grpSp>
        <p:nvGrpSpPr>
          <p:cNvPr id="48" name="Group 47">
            <a:extLst>
              <a:ext uri="{FF2B5EF4-FFF2-40B4-BE49-F238E27FC236}">
                <a16:creationId xmlns:a16="http://schemas.microsoft.com/office/drawing/2014/main" id="{EA4D9765-C2AD-4EB8-83C6-CA12F48C8038}"/>
              </a:ext>
            </a:extLst>
          </p:cNvPr>
          <p:cNvGrpSpPr/>
          <p:nvPr/>
        </p:nvGrpSpPr>
        <p:grpSpPr>
          <a:xfrm>
            <a:off x="1841984" y="4488937"/>
            <a:ext cx="5476147" cy="369332"/>
            <a:chOff x="1828801" y="4197389"/>
            <a:chExt cx="5476147" cy="369332"/>
          </a:xfrm>
        </p:grpSpPr>
        <p:cxnSp>
          <p:nvCxnSpPr>
            <p:cNvPr id="49" name="Straight Arrow Connector 48">
              <a:extLst>
                <a:ext uri="{FF2B5EF4-FFF2-40B4-BE49-F238E27FC236}">
                  <a16:creationId xmlns:a16="http://schemas.microsoft.com/office/drawing/2014/main" id="{F37DB7FD-83F7-4A3C-A1D6-173047B909A7}"/>
                </a:ext>
              </a:extLst>
            </p:cNvPr>
            <p:cNvCxnSpPr>
              <a:cxnSpLocks/>
            </p:cNvCxnSpPr>
            <p:nvPr/>
          </p:nvCxnSpPr>
          <p:spPr>
            <a:xfrm flipV="1">
              <a:off x="5339303" y="4399723"/>
              <a:ext cx="1965645" cy="8834"/>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50" name="Straight Arrow Connector 49">
              <a:extLst>
                <a:ext uri="{FF2B5EF4-FFF2-40B4-BE49-F238E27FC236}">
                  <a16:creationId xmlns:a16="http://schemas.microsoft.com/office/drawing/2014/main" id="{706B0D76-AE96-4207-B221-D6F01B4DAAAC}"/>
                </a:ext>
              </a:extLst>
            </p:cNvPr>
            <p:cNvCxnSpPr>
              <a:cxnSpLocks/>
            </p:cNvCxnSpPr>
            <p:nvPr/>
          </p:nvCxnSpPr>
          <p:spPr>
            <a:xfrm flipH="1">
              <a:off x="1828801" y="4408557"/>
              <a:ext cx="2067407" cy="0"/>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51" name="TextBox 50">
              <a:extLst>
                <a:ext uri="{FF2B5EF4-FFF2-40B4-BE49-F238E27FC236}">
                  <a16:creationId xmlns:a16="http://schemas.microsoft.com/office/drawing/2014/main" id="{C06332ED-014A-4FBF-9B87-94DA7F42286B}"/>
                </a:ext>
              </a:extLst>
            </p:cNvPr>
            <p:cNvSpPr txBox="1"/>
            <p:nvPr/>
          </p:nvSpPr>
          <p:spPr>
            <a:xfrm>
              <a:off x="3896140" y="4197389"/>
              <a:ext cx="1367747" cy="369332"/>
            </a:xfrm>
            <a:prstGeom prst="rect">
              <a:avLst/>
            </a:prstGeom>
            <a:noFill/>
          </p:spPr>
          <p:txBody>
            <a:bodyPr wrap="none" rtlCol="0">
              <a:spAutoFit/>
            </a:bodyPr>
            <a:lstStyle/>
            <a:p>
              <a:r>
                <a:rPr lang="en-US" dirty="0"/>
                <a:t>Four periods</a:t>
              </a:r>
            </a:p>
          </p:txBody>
        </p:sp>
      </p:grpSp>
      <p:grpSp>
        <p:nvGrpSpPr>
          <p:cNvPr id="52" name="Group 51">
            <a:extLst>
              <a:ext uri="{FF2B5EF4-FFF2-40B4-BE49-F238E27FC236}">
                <a16:creationId xmlns:a16="http://schemas.microsoft.com/office/drawing/2014/main" id="{A0A8A3B8-E8C3-4DF5-BF26-4B74C3AF8564}"/>
              </a:ext>
            </a:extLst>
          </p:cNvPr>
          <p:cNvGrpSpPr/>
          <p:nvPr/>
        </p:nvGrpSpPr>
        <p:grpSpPr>
          <a:xfrm>
            <a:off x="1841984" y="4268918"/>
            <a:ext cx="1295663" cy="261610"/>
            <a:chOff x="1828805" y="4277752"/>
            <a:chExt cx="5476143" cy="261610"/>
          </a:xfrm>
        </p:grpSpPr>
        <p:cxnSp>
          <p:nvCxnSpPr>
            <p:cNvPr id="53" name="Straight Arrow Connector 52">
              <a:extLst>
                <a:ext uri="{FF2B5EF4-FFF2-40B4-BE49-F238E27FC236}">
                  <a16:creationId xmlns:a16="http://schemas.microsoft.com/office/drawing/2014/main" id="{F9276AE5-1892-4258-A1F7-1E9E0B71AE23}"/>
                </a:ext>
              </a:extLst>
            </p:cNvPr>
            <p:cNvCxnSpPr>
              <a:cxnSpLocks/>
            </p:cNvCxnSpPr>
            <p:nvPr/>
          </p:nvCxnSpPr>
          <p:spPr>
            <a:xfrm flipV="1">
              <a:off x="5538508" y="4399723"/>
              <a:ext cx="1766440" cy="8834"/>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54" name="Straight Arrow Connector 53">
              <a:extLst>
                <a:ext uri="{FF2B5EF4-FFF2-40B4-BE49-F238E27FC236}">
                  <a16:creationId xmlns:a16="http://schemas.microsoft.com/office/drawing/2014/main" id="{B810DB69-B358-4A66-A1A1-D2BEA32D1567}"/>
                </a:ext>
              </a:extLst>
            </p:cNvPr>
            <p:cNvCxnSpPr>
              <a:cxnSpLocks/>
            </p:cNvCxnSpPr>
            <p:nvPr/>
          </p:nvCxnSpPr>
          <p:spPr>
            <a:xfrm flipH="1" flipV="1">
              <a:off x="1828805" y="4408557"/>
              <a:ext cx="1745803" cy="5764"/>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55" name="TextBox 54">
              <a:extLst>
                <a:ext uri="{FF2B5EF4-FFF2-40B4-BE49-F238E27FC236}">
                  <a16:creationId xmlns:a16="http://schemas.microsoft.com/office/drawing/2014/main" id="{4630B836-15F4-4009-8406-E9059D3448FD}"/>
                </a:ext>
              </a:extLst>
            </p:cNvPr>
            <p:cNvSpPr txBox="1"/>
            <p:nvPr/>
          </p:nvSpPr>
          <p:spPr>
            <a:xfrm>
              <a:off x="3409781" y="4277752"/>
              <a:ext cx="2359099" cy="261610"/>
            </a:xfrm>
            <a:prstGeom prst="rect">
              <a:avLst/>
            </a:prstGeom>
            <a:noFill/>
          </p:spPr>
          <p:txBody>
            <a:bodyPr wrap="none" rtlCol="0">
              <a:spAutoFit/>
            </a:bodyPr>
            <a:lstStyle/>
            <a:p>
              <a:r>
                <a:rPr lang="en-US" sz="1100" dirty="0"/>
                <a:t>¼ year</a:t>
              </a:r>
            </a:p>
          </p:txBody>
        </p:sp>
      </p:grpSp>
      <p:grpSp>
        <p:nvGrpSpPr>
          <p:cNvPr id="56" name="Group 55">
            <a:extLst>
              <a:ext uri="{FF2B5EF4-FFF2-40B4-BE49-F238E27FC236}">
                <a16:creationId xmlns:a16="http://schemas.microsoft.com/office/drawing/2014/main" id="{895491B5-3CAD-4991-8867-B86C88CFCF60}"/>
              </a:ext>
            </a:extLst>
          </p:cNvPr>
          <p:cNvGrpSpPr/>
          <p:nvPr/>
        </p:nvGrpSpPr>
        <p:grpSpPr>
          <a:xfrm>
            <a:off x="3261491" y="4279731"/>
            <a:ext cx="1295663" cy="261610"/>
            <a:chOff x="1828805" y="4277752"/>
            <a:chExt cx="5476143" cy="261610"/>
          </a:xfrm>
        </p:grpSpPr>
        <p:cxnSp>
          <p:nvCxnSpPr>
            <p:cNvPr id="57" name="Straight Arrow Connector 56">
              <a:extLst>
                <a:ext uri="{FF2B5EF4-FFF2-40B4-BE49-F238E27FC236}">
                  <a16:creationId xmlns:a16="http://schemas.microsoft.com/office/drawing/2014/main" id="{A4ECFB46-0294-452D-9556-1B3E2F39804C}"/>
                </a:ext>
              </a:extLst>
            </p:cNvPr>
            <p:cNvCxnSpPr>
              <a:cxnSpLocks/>
            </p:cNvCxnSpPr>
            <p:nvPr/>
          </p:nvCxnSpPr>
          <p:spPr>
            <a:xfrm flipV="1">
              <a:off x="5538508" y="4399723"/>
              <a:ext cx="1766440" cy="8834"/>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58" name="Straight Arrow Connector 57">
              <a:extLst>
                <a:ext uri="{FF2B5EF4-FFF2-40B4-BE49-F238E27FC236}">
                  <a16:creationId xmlns:a16="http://schemas.microsoft.com/office/drawing/2014/main" id="{82AA9365-3A45-4E62-86EC-57A666CBDDFF}"/>
                </a:ext>
              </a:extLst>
            </p:cNvPr>
            <p:cNvCxnSpPr>
              <a:cxnSpLocks/>
            </p:cNvCxnSpPr>
            <p:nvPr/>
          </p:nvCxnSpPr>
          <p:spPr>
            <a:xfrm flipH="1" flipV="1">
              <a:off x="1828805" y="4408557"/>
              <a:ext cx="1745803" cy="5764"/>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59" name="TextBox 58">
              <a:extLst>
                <a:ext uri="{FF2B5EF4-FFF2-40B4-BE49-F238E27FC236}">
                  <a16:creationId xmlns:a16="http://schemas.microsoft.com/office/drawing/2014/main" id="{E595D68E-0349-4872-890D-79FE73FD72B0}"/>
                </a:ext>
              </a:extLst>
            </p:cNvPr>
            <p:cNvSpPr txBox="1"/>
            <p:nvPr/>
          </p:nvSpPr>
          <p:spPr>
            <a:xfrm>
              <a:off x="3409781" y="4277752"/>
              <a:ext cx="2359099" cy="261610"/>
            </a:xfrm>
            <a:prstGeom prst="rect">
              <a:avLst/>
            </a:prstGeom>
            <a:noFill/>
          </p:spPr>
          <p:txBody>
            <a:bodyPr wrap="none" rtlCol="0">
              <a:spAutoFit/>
            </a:bodyPr>
            <a:lstStyle/>
            <a:p>
              <a:r>
                <a:rPr lang="en-US" sz="1100" dirty="0"/>
                <a:t>¼ year</a:t>
              </a:r>
            </a:p>
          </p:txBody>
        </p:sp>
      </p:grpSp>
      <p:grpSp>
        <p:nvGrpSpPr>
          <p:cNvPr id="60" name="Group 59">
            <a:extLst>
              <a:ext uri="{FF2B5EF4-FFF2-40B4-BE49-F238E27FC236}">
                <a16:creationId xmlns:a16="http://schemas.microsoft.com/office/drawing/2014/main" id="{477F1EFD-677F-42DF-905F-24934A86B4F8}"/>
              </a:ext>
            </a:extLst>
          </p:cNvPr>
          <p:cNvGrpSpPr/>
          <p:nvPr/>
        </p:nvGrpSpPr>
        <p:grpSpPr>
          <a:xfrm>
            <a:off x="4629238" y="4268918"/>
            <a:ext cx="1295663" cy="261610"/>
            <a:chOff x="1828805" y="4277752"/>
            <a:chExt cx="5476143" cy="261610"/>
          </a:xfrm>
        </p:grpSpPr>
        <p:cxnSp>
          <p:nvCxnSpPr>
            <p:cNvPr id="61" name="Straight Arrow Connector 60">
              <a:extLst>
                <a:ext uri="{FF2B5EF4-FFF2-40B4-BE49-F238E27FC236}">
                  <a16:creationId xmlns:a16="http://schemas.microsoft.com/office/drawing/2014/main" id="{27E158FA-6131-4FA2-8835-996E94DF6754}"/>
                </a:ext>
              </a:extLst>
            </p:cNvPr>
            <p:cNvCxnSpPr>
              <a:cxnSpLocks/>
            </p:cNvCxnSpPr>
            <p:nvPr/>
          </p:nvCxnSpPr>
          <p:spPr>
            <a:xfrm flipV="1">
              <a:off x="5538508" y="4399723"/>
              <a:ext cx="1766440" cy="8834"/>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62" name="Straight Arrow Connector 61">
              <a:extLst>
                <a:ext uri="{FF2B5EF4-FFF2-40B4-BE49-F238E27FC236}">
                  <a16:creationId xmlns:a16="http://schemas.microsoft.com/office/drawing/2014/main" id="{FE2775E1-0813-48C1-9E9C-DE0AEBAFEBB0}"/>
                </a:ext>
              </a:extLst>
            </p:cNvPr>
            <p:cNvCxnSpPr>
              <a:cxnSpLocks/>
            </p:cNvCxnSpPr>
            <p:nvPr/>
          </p:nvCxnSpPr>
          <p:spPr>
            <a:xfrm flipH="1" flipV="1">
              <a:off x="1828805" y="4408557"/>
              <a:ext cx="1745803" cy="5764"/>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63" name="TextBox 62">
              <a:extLst>
                <a:ext uri="{FF2B5EF4-FFF2-40B4-BE49-F238E27FC236}">
                  <a16:creationId xmlns:a16="http://schemas.microsoft.com/office/drawing/2014/main" id="{1192DE58-2F7E-4853-AA88-E422A5397D4D}"/>
                </a:ext>
              </a:extLst>
            </p:cNvPr>
            <p:cNvSpPr txBox="1"/>
            <p:nvPr/>
          </p:nvSpPr>
          <p:spPr>
            <a:xfrm>
              <a:off x="3409781" y="4277752"/>
              <a:ext cx="2359099" cy="261610"/>
            </a:xfrm>
            <a:prstGeom prst="rect">
              <a:avLst/>
            </a:prstGeom>
            <a:noFill/>
          </p:spPr>
          <p:txBody>
            <a:bodyPr wrap="none" rtlCol="0">
              <a:spAutoFit/>
            </a:bodyPr>
            <a:lstStyle/>
            <a:p>
              <a:r>
                <a:rPr lang="en-US" sz="1100" dirty="0"/>
                <a:t>¼ year</a:t>
              </a:r>
            </a:p>
          </p:txBody>
        </p:sp>
      </p:grpSp>
      <p:grpSp>
        <p:nvGrpSpPr>
          <p:cNvPr id="64" name="Group 63">
            <a:extLst>
              <a:ext uri="{FF2B5EF4-FFF2-40B4-BE49-F238E27FC236}">
                <a16:creationId xmlns:a16="http://schemas.microsoft.com/office/drawing/2014/main" id="{7EFE5953-11D1-4B2C-960E-A43747A45DE2}"/>
              </a:ext>
            </a:extLst>
          </p:cNvPr>
          <p:cNvGrpSpPr/>
          <p:nvPr/>
        </p:nvGrpSpPr>
        <p:grpSpPr>
          <a:xfrm>
            <a:off x="5945002" y="4260084"/>
            <a:ext cx="1295663" cy="261610"/>
            <a:chOff x="1828805" y="4277752"/>
            <a:chExt cx="5476143" cy="261610"/>
          </a:xfrm>
        </p:grpSpPr>
        <p:cxnSp>
          <p:nvCxnSpPr>
            <p:cNvPr id="65" name="Straight Arrow Connector 64">
              <a:extLst>
                <a:ext uri="{FF2B5EF4-FFF2-40B4-BE49-F238E27FC236}">
                  <a16:creationId xmlns:a16="http://schemas.microsoft.com/office/drawing/2014/main" id="{8923C88C-3AF7-4147-AE63-3516C1D1F2BF}"/>
                </a:ext>
              </a:extLst>
            </p:cNvPr>
            <p:cNvCxnSpPr>
              <a:cxnSpLocks/>
            </p:cNvCxnSpPr>
            <p:nvPr/>
          </p:nvCxnSpPr>
          <p:spPr>
            <a:xfrm flipV="1">
              <a:off x="5538508" y="4399723"/>
              <a:ext cx="1766440" cy="8834"/>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cxnSp>
          <p:nvCxnSpPr>
            <p:cNvPr id="66" name="Straight Arrow Connector 65">
              <a:extLst>
                <a:ext uri="{FF2B5EF4-FFF2-40B4-BE49-F238E27FC236}">
                  <a16:creationId xmlns:a16="http://schemas.microsoft.com/office/drawing/2014/main" id="{EE5085ED-B77E-4C7B-80BB-0BC75914979E}"/>
                </a:ext>
              </a:extLst>
            </p:cNvPr>
            <p:cNvCxnSpPr>
              <a:cxnSpLocks/>
            </p:cNvCxnSpPr>
            <p:nvPr/>
          </p:nvCxnSpPr>
          <p:spPr>
            <a:xfrm flipH="1" flipV="1">
              <a:off x="1828805" y="4408557"/>
              <a:ext cx="1745803" cy="5764"/>
            </a:xfrm>
            <a:prstGeom prst="straightConnector1">
              <a:avLst/>
            </a:prstGeom>
            <a:ln>
              <a:tailEnd type="triangle"/>
            </a:ln>
          </p:spPr>
          <p:style>
            <a:lnRef idx="2">
              <a:schemeClr val="accent6"/>
            </a:lnRef>
            <a:fillRef idx="0">
              <a:schemeClr val="accent6"/>
            </a:fillRef>
            <a:effectRef idx="1">
              <a:schemeClr val="accent6"/>
            </a:effectRef>
            <a:fontRef idx="minor">
              <a:schemeClr val="tx1"/>
            </a:fontRef>
          </p:style>
        </p:cxnSp>
        <p:sp>
          <p:nvSpPr>
            <p:cNvPr id="67" name="TextBox 66">
              <a:extLst>
                <a:ext uri="{FF2B5EF4-FFF2-40B4-BE49-F238E27FC236}">
                  <a16:creationId xmlns:a16="http://schemas.microsoft.com/office/drawing/2014/main" id="{B26DD7E0-C981-44BD-BA16-AD0A4B7CD164}"/>
                </a:ext>
              </a:extLst>
            </p:cNvPr>
            <p:cNvSpPr txBox="1"/>
            <p:nvPr/>
          </p:nvSpPr>
          <p:spPr>
            <a:xfrm>
              <a:off x="3409781" y="4277752"/>
              <a:ext cx="2359099" cy="261610"/>
            </a:xfrm>
            <a:prstGeom prst="rect">
              <a:avLst/>
            </a:prstGeom>
            <a:noFill/>
          </p:spPr>
          <p:txBody>
            <a:bodyPr wrap="none" rtlCol="0">
              <a:spAutoFit/>
            </a:bodyPr>
            <a:lstStyle/>
            <a:p>
              <a:r>
                <a:rPr lang="en-US" sz="1100" dirty="0"/>
                <a:t>¼ year</a:t>
              </a:r>
            </a:p>
          </p:txBody>
        </p:sp>
      </p:grpSp>
    </p:spTree>
    <p:extLst>
      <p:ext uri="{BB962C8B-B14F-4D97-AF65-F5344CB8AC3E}">
        <p14:creationId xmlns:p14="http://schemas.microsoft.com/office/powerpoint/2010/main" val="12243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 presetClass="entr" presetSubtype="1" fill="hold" nodeType="clickEffect">
                                  <p:stCondLst>
                                    <p:cond delay="0"/>
                                  </p:stCondLst>
                                  <p:childTnLst>
                                    <p:set>
                                      <p:cBhvr>
                                        <p:cTn id="10" dur="1" fill="hold">
                                          <p:stCondLst>
                                            <p:cond delay="0"/>
                                          </p:stCondLst>
                                        </p:cTn>
                                        <p:tgtEl>
                                          <p:spTgt spid="28"/>
                                        </p:tgtEl>
                                        <p:attrNameLst>
                                          <p:attrName>style.visibility</p:attrName>
                                        </p:attrNameLst>
                                      </p:cBhvr>
                                      <p:to>
                                        <p:strVal val="visible"/>
                                      </p:to>
                                    </p:set>
                                    <p:anim calcmode="lin" valueType="num">
                                      <p:cBhvr additive="base">
                                        <p:cTn id="11" dur="500" fill="hold"/>
                                        <p:tgtEl>
                                          <p:spTgt spid="28"/>
                                        </p:tgtEl>
                                        <p:attrNameLst>
                                          <p:attrName>ppt_x</p:attrName>
                                        </p:attrNameLst>
                                      </p:cBhvr>
                                      <p:tavLst>
                                        <p:tav tm="0">
                                          <p:val>
                                            <p:strVal val="#ppt_x"/>
                                          </p:val>
                                        </p:tav>
                                        <p:tav tm="100000">
                                          <p:val>
                                            <p:strVal val="#ppt_x"/>
                                          </p:val>
                                        </p:tav>
                                      </p:tavLst>
                                    </p:anim>
                                    <p:anim calcmode="lin" valueType="num">
                                      <p:cBhvr additive="base">
                                        <p:cTn id="12" dur="500" fill="hold"/>
                                        <p:tgtEl>
                                          <p:spTgt spid="28"/>
                                        </p:tgtEl>
                                        <p:attrNameLst>
                                          <p:attrName>ppt_y</p:attrName>
                                        </p:attrNameLst>
                                      </p:cBhvr>
                                      <p:tavLst>
                                        <p:tav tm="0">
                                          <p:val>
                                            <p:strVal val="0-#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 presetClass="entr" presetSubtype="1" fill="hold" nodeType="clickEffect">
                                  <p:stCondLst>
                                    <p:cond delay="0"/>
                                  </p:stCondLst>
                                  <p:childTnLst>
                                    <p:set>
                                      <p:cBhvr>
                                        <p:cTn id="20" dur="1" fill="hold">
                                          <p:stCondLst>
                                            <p:cond delay="0"/>
                                          </p:stCondLst>
                                        </p:cTn>
                                        <p:tgtEl>
                                          <p:spTgt spid="6"/>
                                        </p:tgtEl>
                                        <p:attrNameLst>
                                          <p:attrName>style.visibility</p:attrName>
                                        </p:attrNameLst>
                                      </p:cBhvr>
                                      <p:to>
                                        <p:strVal val="visible"/>
                                      </p:to>
                                    </p:set>
                                    <p:anim calcmode="lin" valueType="num">
                                      <p:cBhvr additive="base">
                                        <p:cTn id="21" dur="500" fill="hold"/>
                                        <p:tgtEl>
                                          <p:spTgt spid="6"/>
                                        </p:tgtEl>
                                        <p:attrNameLst>
                                          <p:attrName>ppt_x</p:attrName>
                                        </p:attrNameLst>
                                      </p:cBhvr>
                                      <p:tavLst>
                                        <p:tav tm="0">
                                          <p:val>
                                            <p:strVal val="#ppt_x"/>
                                          </p:val>
                                        </p:tav>
                                        <p:tav tm="100000">
                                          <p:val>
                                            <p:strVal val="#ppt_x"/>
                                          </p:val>
                                        </p:tav>
                                      </p:tavLst>
                                    </p:anim>
                                    <p:anim calcmode="lin" valueType="num">
                                      <p:cBhvr additive="base">
                                        <p:cTn id="22" dur="500" fill="hold"/>
                                        <p:tgtEl>
                                          <p:spTgt spid="6"/>
                                        </p:tgtEl>
                                        <p:attrNameLst>
                                          <p:attrName>ppt_y</p:attrName>
                                        </p:attrNameLst>
                                      </p:cBhvr>
                                      <p:tavLst>
                                        <p:tav tm="0">
                                          <p:val>
                                            <p:strVal val="0-#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2" presetClass="entr" presetSubtype="1"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 calcmode="lin" valueType="num">
                                      <p:cBhvr additive="base">
                                        <p:cTn id="31" dur="500" fill="hold"/>
                                        <p:tgtEl>
                                          <p:spTgt spid="24"/>
                                        </p:tgtEl>
                                        <p:attrNameLst>
                                          <p:attrName>ppt_x</p:attrName>
                                        </p:attrNameLst>
                                      </p:cBhvr>
                                      <p:tavLst>
                                        <p:tav tm="0">
                                          <p:val>
                                            <p:strVal val="#ppt_x"/>
                                          </p:val>
                                        </p:tav>
                                        <p:tav tm="100000">
                                          <p:val>
                                            <p:strVal val="#ppt_x"/>
                                          </p:val>
                                        </p:tav>
                                      </p:tavLst>
                                    </p:anim>
                                    <p:anim calcmode="lin" valueType="num">
                                      <p:cBhvr additive="base">
                                        <p:cTn id="32" dur="500" fill="hold"/>
                                        <p:tgtEl>
                                          <p:spTgt spid="24"/>
                                        </p:tgtEl>
                                        <p:attrNameLst>
                                          <p:attrName>ppt_y</p:attrName>
                                        </p:attrNameLst>
                                      </p:cBhvr>
                                      <p:tavLst>
                                        <p:tav tm="0">
                                          <p:val>
                                            <p:strVal val="0-#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6" presetClass="entr" presetSubtype="16" fill="hold" nodeType="clickEffect">
                                  <p:stCondLst>
                                    <p:cond delay="0"/>
                                  </p:stCondLst>
                                  <p:childTnLst>
                                    <p:set>
                                      <p:cBhvr>
                                        <p:cTn id="40" dur="1" fill="hold">
                                          <p:stCondLst>
                                            <p:cond delay="0"/>
                                          </p:stCondLst>
                                        </p:cTn>
                                        <p:tgtEl>
                                          <p:spTgt spid="52"/>
                                        </p:tgtEl>
                                        <p:attrNameLst>
                                          <p:attrName>style.visibility</p:attrName>
                                        </p:attrNameLst>
                                      </p:cBhvr>
                                      <p:to>
                                        <p:strVal val="visible"/>
                                      </p:to>
                                    </p:set>
                                    <p:animEffect transition="in" filter="circle(in)">
                                      <p:cBhvr>
                                        <p:cTn id="41" dur="2000"/>
                                        <p:tgtEl>
                                          <p:spTgt spid="52"/>
                                        </p:tgtEl>
                                      </p:cBhvr>
                                    </p:animEffect>
                                  </p:childTnLst>
                                </p:cTn>
                              </p:par>
                              <p:par>
                                <p:cTn id="42" presetID="6" presetClass="entr" presetSubtype="16" fill="hold" nodeType="withEffect">
                                  <p:stCondLst>
                                    <p:cond delay="0"/>
                                  </p:stCondLst>
                                  <p:childTnLst>
                                    <p:set>
                                      <p:cBhvr>
                                        <p:cTn id="43" dur="1" fill="hold">
                                          <p:stCondLst>
                                            <p:cond delay="0"/>
                                          </p:stCondLst>
                                        </p:cTn>
                                        <p:tgtEl>
                                          <p:spTgt spid="56"/>
                                        </p:tgtEl>
                                        <p:attrNameLst>
                                          <p:attrName>style.visibility</p:attrName>
                                        </p:attrNameLst>
                                      </p:cBhvr>
                                      <p:to>
                                        <p:strVal val="visible"/>
                                      </p:to>
                                    </p:set>
                                    <p:animEffect transition="in" filter="circle(in)">
                                      <p:cBhvr>
                                        <p:cTn id="44" dur="2000"/>
                                        <p:tgtEl>
                                          <p:spTgt spid="56"/>
                                        </p:tgtEl>
                                      </p:cBhvr>
                                    </p:animEffect>
                                  </p:childTnLst>
                                </p:cTn>
                              </p:par>
                              <p:par>
                                <p:cTn id="45" presetID="6" presetClass="entr" presetSubtype="16" fill="hold" nodeType="withEffect">
                                  <p:stCondLst>
                                    <p:cond delay="0"/>
                                  </p:stCondLst>
                                  <p:childTnLst>
                                    <p:set>
                                      <p:cBhvr>
                                        <p:cTn id="46" dur="1" fill="hold">
                                          <p:stCondLst>
                                            <p:cond delay="0"/>
                                          </p:stCondLst>
                                        </p:cTn>
                                        <p:tgtEl>
                                          <p:spTgt spid="60"/>
                                        </p:tgtEl>
                                        <p:attrNameLst>
                                          <p:attrName>style.visibility</p:attrName>
                                        </p:attrNameLst>
                                      </p:cBhvr>
                                      <p:to>
                                        <p:strVal val="visible"/>
                                      </p:to>
                                    </p:set>
                                    <p:animEffect transition="in" filter="circle(in)">
                                      <p:cBhvr>
                                        <p:cTn id="47" dur="2000"/>
                                        <p:tgtEl>
                                          <p:spTgt spid="60"/>
                                        </p:tgtEl>
                                      </p:cBhvr>
                                    </p:animEffect>
                                  </p:childTnLst>
                                </p:cTn>
                              </p:par>
                              <p:par>
                                <p:cTn id="48" presetID="6" presetClass="entr" presetSubtype="16" fill="hold" nodeType="withEffect">
                                  <p:stCondLst>
                                    <p:cond delay="0"/>
                                  </p:stCondLst>
                                  <p:childTnLst>
                                    <p:set>
                                      <p:cBhvr>
                                        <p:cTn id="49" dur="1" fill="hold">
                                          <p:stCondLst>
                                            <p:cond delay="0"/>
                                          </p:stCondLst>
                                        </p:cTn>
                                        <p:tgtEl>
                                          <p:spTgt spid="64"/>
                                        </p:tgtEl>
                                        <p:attrNameLst>
                                          <p:attrName>style.visibility</p:attrName>
                                        </p:attrNameLst>
                                      </p:cBhvr>
                                      <p:to>
                                        <p:strVal val="visible"/>
                                      </p:to>
                                    </p:set>
                                    <p:animEffect transition="in" filter="circle(in)">
                                      <p:cBhvr>
                                        <p:cTn id="50" dur="2000"/>
                                        <p:tgtEl>
                                          <p:spTgt spid="64"/>
                                        </p:tgtEl>
                                      </p:cBhvr>
                                    </p:animEffect>
                                  </p:childTnLst>
                                </p:cTn>
                              </p:par>
                              <p:par>
                                <p:cTn id="51" presetID="6" presetClass="entr" presetSubtype="16" fill="hold" nodeType="withEffect">
                                  <p:stCondLst>
                                    <p:cond delay="0"/>
                                  </p:stCondLst>
                                  <p:childTnLst>
                                    <p:set>
                                      <p:cBhvr>
                                        <p:cTn id="52" dur="1" fill="hold">
                                          <p:stCondLst>
                                            <p:cond delay="0"/>
                                          </p:stCondLst>
                                        </p:cTn>
                                        <p:tgtEl>
                                          <p:spTgt spid="48"/>
                                        </p:tgtEl>
                                        <p:attrNameLst>
                                          <p:attrName>style.visibility</p:attrName>
                                        </p:attrNameLst>
                                      </p:cBhvr>
                                      <p:to>
                                        <p:strVal val="visible"/>
                                      </p:to>
                                    </p:set>
                                    <p:animEffect transition="in" filter="circle(in)">
                                      <p:cBhvr>
                                        <p:cTn id="53" dur="2000"/>
                                        <p:tgtEl>
                                          <p:spTgt spid="48"/>
                                        </p:tgtEl>
                                      </p:cBhvr>
                                    </p:animEffec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29"/>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2" nodeType="clickEffect">
                                  <p:stCondLst>
                                    <p:cond delay="0"/>
                                  </p:stCondLst>
                                  <p:childTnLst>
                                    <p:set>
                                      <p:cBhvr>
                                        <p:cTn id="61" dur="1" fill="hold">
                                          <p:stCondLst>
                                            <p:cond delay="0"/>
                                          </p:stCondLst>
                                        </p:cTn>
                                        <p:tgtEl>
                                          <p:spTgt spid="27"/>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42" presetClass="path" presetSubtype="0" accel="50000" decel="50000" fill="hold" grpId="0" nodeType="clickEffect">
                                  <p:stCondLst>
                                    <p:cond delay="0"/>
                                  </p:stCondLst>
                                  <p:childTnLst>
                                    <p:animMotion origin="layout" path="M 1.11111E-6 4.32099E-6 L 0.14566 -0.03087 " pathEditMode="relative" rAng="0" ptsTypes="AA">
                                      <p:cBhvr>
                                        <p:cTn id="65" dur="2000" fill="hold"/>
                                        <p:tgtEl>
                                          <p:spTgt spid="27"/>
                                        </p:tgtEl>
                                        <p:attrNameLst>
                                          <p:attrName>ppt_x</p:attrName>
                                          <p:attrName>ppt_y</p:attrName>
                                        </p:attrNameLst>
                                      </p:cBhvr>
                                      <p:rCtr x="7274" y="-1543"/>
                                    </p:animMotion>
                                  </p:childTnLst>
                                </p:cTn>
                              </p:par>
                            </p:childTnLst>
                          </p:cTn>
                        </p:par>
                      </p:childTnLst>
                    </p:cTn>
                  </p:par>
                  <p:par>
                    <p:cTn id="66" fill="hold">
                      <p:stCondLst>
                        <p:cond delay="indefinite"/>
                      </p:stCondLst>
                      <p:childTnLst>
                        <p:par>
                          <p:cTn id="67" fill="hold">
                            <p:stCondLst>
                              <p:cond delay="0"/>
                            </p:stCondLst>
                            <p:childTnLst>
                              <p:par>
                                <p:cTn id="68" presetID="1" presetClass="exit" presetSubtype="0" fill="hold" grpId="1" nodeType="clickEffect">
                                  <p:stCondLst>
                                    <p:cond delay="0"/>
                                  </p:stCondLst>
                                  <p:childTnLst>
                                    <p:set>
                                      <p:cBhvr>
                                        <p:cTn id="69" dur="1" fill="hold">
                                          <p:stCondLst>
                                            <p:cond delay="0"/>
                                          </p:stCondLst>
                                        </p:cTn>
                                        <p:tgtEl>
                                          <p:spTgt spid="27"/>
                                        </p:tgtEl>
                                        <p:attrNameLst>
                                          <p:attrName>style.visibility</p:attrName>
                                        </p:attrNameLst>
                                      </p:cBhvr>
                                      <p:to>
                                        <p:strVal val="hidden"/>
                                      </p:to>
                                    </p:set>
                                  </p:childTnLst>
                                </p:cTn>
                              </p:par>
                              <p:par>
                                <p:cTn id="70" presetID="1" presetClass="entr" presetSubtype="0" fill="hold" grpId="1" nodeType="withEffect">
                                  <p:stCondLst>
                                    <p:cond delay="0"/>
                                  </p:stCondLst>
                                  <p:childTnLst>
                                    <p:set>
                                      <p:cBhvr>
                                        <p:cTn id="71" dur="1" fill="hold">
                                          <p:stCondLst>
                                            <p:cond delay="0"/>
                                          </p:stCondLst>
                                        </p:cTn>
                                        <p:tgtEl>
                                          <p:spTgt spid="31"/>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41"/>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grpId="0" nodeType="clickEffect">
                                  <p:stCondLst>
                                    <p:cond delay="0"/>
                                  </p:stCondLst>
                                  <p:childTnLst>
                                    <p:set>
                                      <p:cBhvr>
                                        <p:cTn id="79" dur="1" fill="hold">
                                          <p:stCondLst>
                                            <p:cond delay="0"/>
                                          </p:stCondLst>
                                        </p:cTn>
                                        <p:tgtEl>
                                          <p:spTgt spid="30"/>
                                        </p:tgtEl>
                                        <p:attrNameLst>
                                          <p:attrName>style.visibility</p:attrName>
                                        </p:attrNameLst>
                                      </p:cBhvr>
                                      <p:to>
                                        <p:strVal val="visible"/>
                                      </p:to>
                                    </p:set>
                                  </p:childTnLst>
                                </p:cTn>
                              </p:par>
                            </p:childTnLst>
                          </p:cTn>
                        </p:par>
                      </p:childTnLst>
                    </p:cTn>
                  </p:par>
                  <p:par>
                    <p:cTn id="80" fill="hold">
                      <p:stCondLst>
                        <p:cond delay="indefinite"/>
                      </p:stCondLst>
                      <p:childTnLst>
                        <p:par>
                          <p:cTn id="81" fill="hold">
                            <p:stCondLst>
                              <p:cond delay="0"/>
                            </p:stCondLst>
                            <p:childTnLst>
                              <p:par>
                                <p:cTn id="82" presetID="42" presetClass="path" presetSubtype="0" accel="50000" decel="50000" fill="hold" grpId="0" nodeType="clickEffect">
                                  <p:stCondLst>
                                    <p:cond delay="0"/>
                                  </p:stCondLst>
                                  <p:childTnLst>
                                    <p:animMotion origin="layout" path="M -8.33333E-7 -1.48148E-6 L 0.14566 -0.03086 " pathEditMode="relative" rAng="0" ptsTypes="AA">
                                      <p:cBhvr>
                                        <p:cTn id="83" dur="2000" fill="hold"/>
                                        <p:tgtEl>
                                          <p:spTgt spid="31"/>
                                        </p:tgtEl>
                                        <p:attrNameLst>
                                          <p:attrName>ppt_x</p:attrName>
                                          <p:attrName>ppt_y</p:attrName>
                                        </p:attrNameLst>
                                      </p:cBhvr>
                                      <p:rCtr x="7274" y="-1543"/>
                                    </p:animMotion>
                                  </p:childTnLst>
                                </p:cTn>
                              </p:par>
                            </p:childTnLst>
                          </p:cTn>
                        </p:par>
                      </p:childTnLst>
                    </p:cTn>
                  </p:par>
                  <p:par>
                    <p:cTn id="84" fill="hold">
                      <p:stCondLst>
                        <p:cond delay="indefinite"/>
                      </p:stCondLst>
                      <p:childTnLst>
                        <p:par>
                          <p:cTn id="85" fill="hold">
                            <p:stCondLst>
                              <p:cond delay="0"/>
                            </p:stCondLst>
                            <p:childTnLst>
                              <p:par>
                                <p:cTn id="86" presetID="1" presetClass="exit" presetSubtype="0" fill="hold" grpId="2" nodeType="clickEffect">
                                  <p:stCondLst>
                                    <p:cond delay="0"/>
                                  </p:stCondLst>
                                  <p:childTnLst>
                                    <p:set>
                                      <p:cBhvr>
                                        <p:cTn id="87" dur="1" fill="hold">
                                          <p:stCondLst>
                                            <p:cond delay="0"/>
                                          </p:stCondLst>
                                        </p:cTn>
                                        <p:tgtEl>
                                          <p:spTgt spid="31"/>
                                        </p:tgtEl>
                                        <p:attrNameLst>
                                          <p:attrName>style.visibility</p:attrName>
                                        </p:attrNameLst>
                                      </p:cBhvr>
                                      <p:to>
                                        <p:strVal val="hidden"/>
                                      </p:to>
                                    </p:set>
                                  </p:childTnLst>
                                </p:cTn>
                              </p:par>
                              <p:par>
                                <p:cTn id="88" presetID="1" presetClass="entr" presetSubtype="0" fill="hold" grpId="1" nodeType="withEffect">
                                  <p:stCondLst>
                                    <p:cond delay="0"/>
                                  </p:stCondLst>
                                  <p:childTnLst>
                                    <p:set>
                                      <p:cBhvr>
                                        <p:cTn id="89" dur="1" fill="hold">
                                          <p:stCondLst>
                                            <p:cond delay="0"/>
                                          </p:stCondLst>
                                        </p:cTn>
                                        <p:tgtEl>
                                          <p:spTgt spid="32"/>
                                        </p:tgtEl>
                                        <p:attrNameLst>
                                          <p:attrName>style.visibility</p:attrName>
                                        </p:attrNameLst>
                                      </p:cBhvr>
                                      <p:to>
                                        <p:strVal val="visible"/>
                                      </p:to>
                                    </p:set>
                                  </p:childTnLst>
                                </p:cTn>
                              </p:par>
                            </p:childTnLst>
                          </p:cTn>
                        </p:par>
                      </p:childTnLst>
                    </p:cTn>
                  </p:par>
                  <p:par>
                    <p:cTn id="90" fill="hold">
                      <p:stCondLst>
                        <p:cond delay="indefinite"/>
                      </p:stCondLst>
                      <p:childTnLst>
                        <p:par>
                          <p:cTn id="91" fill="hold">
                            <p:stCondLst>
                              <p:cond delay="0"/>
                            </p:stCondLst>
                            <p:childTnLst>
                              <p:par>
                                <p:cTn id="92" presetID="1" presetClass="entr" presetSubtype="0" fill="hold" grpId="0" nodeType="clickEffect">
                                  <p:stCondLst>
                                    <p:cond delay="0"/>
                                  </p:stCondLst>
                                  <p:childTnLst>
                                    <p:set>
                                      <p:cBhvr>
                                        <p:cTn id="93" dur="1" fill="hold">
                                          <p:stCondLst>
                                            <p:cond delay="0"/>
                                          </p:stCondLst>
                                        </p:cTn>
                                        <p:tgtEl>
                                          <p:spTgt spid="42"/>
                                        </p:tgtEl>
                                        <p:attrNameLst>
                                          <p:attrName>style.visibility</p:attrName>
                                        </p:attrNameLst>
                                      </p:cBhvr>
                                      <p:to>
                                        <p:strVal val="visible"/>
                                      </p:to>
                                    </p:set>
                                  </p:childTnLst>
                                </p:cTn>
                              </p:par>
                            </p:childTnLst>
                          </p:cTn>
                        </p:par>
                      </p:childTnLst>
                    </p:cTn>
                  </p:par>
                  <p:par>
                    <p:cTn id="94" fill="hold">
                      <p:stCondLst>
                        <p:cond delay="indefinite"/>
                      </p:stCondLst>
                      <p:childTnLst>
                        <p:par>
                          <p:cTn id="95" fill="hold">
                            <p:stCondLst>
                              <p:cond delay="0"/>
                            </p:stCondLst>
                            <p:childTnLst>
                              <p:par>
                                <p:cTn id="96" presetID="1" presetClass="entr" presetSubtype="0" fill="hold" grpId="0" nodeType="clickEffect">
                                  <p:stCondLst>
                                    <p:cond delay="0"/>
                                  </p:stCondLst>
                                  <p:childTnLst>
                                    <p:set>
                                      <p:cBhvr>
                                        <p:cTn id="97" dur="1" fill="hold">
                                          <p:stCondLst>
                                            <p:cond delay="0"/>
                                          </p:stCondLst>
                                        </p:cTn>
                                        <p:tgtEl>
                                          <p:spTgt spid="34"/>
                                        </p:tgtEl>
                                        <p:attrNameLst>
                                          <p:attrName>style.visibility</p:attrName>
                                        </p:attrNameLst>
                                      </p:cBhvr>
                                      <p:to>
                                        <p:strVal val="visible"/>
                                      </p:to>
                                    </p:set>
                                  </p:childTnLst>
                                </p:cTn>
                              </p:par>
                            </p:childTnLst>
                          </p:cTn>
                        </p:par>
                      </p:childTnLst>
                    </p:cTn>
                  </p:par>
                  <p:par>
                    <p:cTn id="98" fill="hold">
                      <p:stCondLst>
                        <p:cond delay="indefinite"/>
                      </p:stCondLst>
                      <p:childTnLst>
                        <p:par>
                          <p:cTn id="99" fill="hold">
                            <p:stCondLst>
                              <p:cond delay="0"/>
                            </p:stCondLst>
                            <p:childTnLst>
                              <p:par>
                                <p:cTn id="100" presetID="42" presetClass="path" presetSubtype="0" accel="50000" decel="50000" fill="hold" grpId="0" nodeType="clickEffect">
                                  <p:stCondLst>
                                    <p:cond delay="0"/>
                                  </p:stCondLst>
                                  <p:childTnLst>
                                    <p:animMotion origin="layout" path="M 4.72222E-6 8.64198E-7 L 0.15347 -0.03796 " pathEditMode="relative" rAng="0" ptsTypes="AA">
                                      <p:cBhvr>
                                        <p:cTn id="101" dur="2000" fill="hold"/>
                                        <p:tgtEl>
                                          <p:spTgt spid="32"/>
                                        </p:tgtEl>
                                        <p:attrNameLst>
                                          <p:attrName>ppt_x</p:attrName>
                                          <p:attrName>ppt_y</p:attrName>
                                        </p:attrNameLst>
                                      </p:cBhvr>
                                      <p:rCtr x="7674" y="-1914"/>
                                    </p:animMotion>
                                  </p:childTnLst>
                                </p:cTn>
                              </p:par>
                            </p:childTnLst>
                          </p:cTn>
                        </p:par>
                      </p:childTnLst>
                    </p:cTn>
                  </p:par>
                  <p:par>
                    <p:cTn id="102" fill="hold">
                      <p:stCondLst>
                        <p:cond delay="indefinite"/>
                      </p:stCondLst>
                      <p:childTnLst>
                        <p:par>
                          <p:cTn id="103" fill="hold">
                            <p:stCondLst>
                              <p:cond delay="0"/>
                            </p:stCondLst>
                            <p:childTnLst>
                              <p:par>
                                <p:cTn id="104" presetID="1" presetClass="exit" presetSubtype="0" fill="hold" grpId="2" nodeType="clickEffect">
                                  <p:stCondLst>
                                    <p:cond delay="0"/>
                                  </p:stCondLst>
                                  <p:childTnLst>
                                    <p:set>
                                      <p:cBhvr>
                                        <p:cTn id="105" dur="1" fill="hold">
                                          <p:stCondLst>
                                            <p:cond delay="0"/>
                                          </p:stCondLst>
                                        </p:cTn>
                                        <p:tgtEl>
                                          <p:spTgt spid="32"/>
                                        </p:tgtEl>
                                        <p:attrNameLst>
                                          <p:attrName>style.visibility</p:attrName>
                                        </p:attrNameLst>
                                      </p:cBhvr>
                                      <p:to>
                                        <p:strVal val="hidden"/>
                                      </p:to>
                                    </p:set>
                                  </p:childTnLst>
                                </p:cTn>
                              </p:par>
                              <p:par>
                                <p:cTn id="106" presetID="1" presetClass="entr" presetSubtype="0" fill="hold" grpId="1" nodeType="withEffect">
                                  <p:stCondLst>
                                    <p:cond delay="0"/>
                                  </p:stCondLst>
                                  <p:childTnLst>
                                    <p:set>
                                      <p:cBhvr>
                                        <p:cTn id="107" dur="1" fill="hold">
                                          <p:stCondLst>
                                            <p:cond delay="0"/>
                                          </p:stCondLst>
                                        </p:cTn>
                                        <p:tgtEl>
                                          <p:spTgt spid="21"/>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fill="hold" grpId="0" nodeType="clickEffect">
                                  <p:stCondLst>
                                    <p:cond delay="0"/>
                                  </p:stCondLst>
                                  <p:childTnLst>
                                    <p:set>
                                      <p:cBhvr>
                                        <p:cTn id="111" dur="1" fill="hold">
                                          <p:stCondLst>
                                            <p:cond delay="0"/>
                                          </p:stCondLst>
                                        </p:cTn>
                                        <p:tgtEl>
                                          <p:spTgt spid="43"/>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fill="hold" grpId="0" nodeType="clickEffect">
                                  <p:stCondLst>
                                    <p:cond delay="0"/>
                                  </p:stCondLst>
                                  <p:childTnLst>
                                    <p:set>
                                      <p:cBhvr>
                                        <p:cTn id="115" dur="1" fill="hold">
                                          <p:stCondLst>
                                            <p:cond delay="0"/>
                                          </p:stCondLst>
                                        </p:cTn>
                                        <p:tgtEl>
                                          <p:spTgt spid="35"/>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42" presetClass="path" presetSubtype="0" accel="50000" decel="50000" fill="hold" grpId="0" nodeType="clickEffect">
                                  <p:stCondLst>
                                    <p:cond delay="0"/>
                                  </p:stCondLst>
                                  <p:childTnLst>
                                    <p:animMotion origin="layout" path="M -0.00643 -0.00895 L 0.14305 -0.08549 " pathEditMode="relative" rAng="0" ptsTypes="AA">
                                      <p:cBhvr>
                                        <p:cTn id="119" dur="2000" fill="hold"/>
                                        <p:tgtEl>
                                          <p:spTgt spid="21"/>
                                        </p:tgtEl>
                                        <p:attrNameLst>
                                          <p:attrName>ppt_x</p:attrName>
                                          <p:attrName>ppt_y</p:attrName>
                                        </p:attrNameLst>
                                      </p:cBhvr>
                                      <p:rCtr x="7465" y="-3827"/>
                                    </p:animMotion>
                                  </p:childTnLst>
                                </p:cTn>
                              </p:par>
                            </p:childTnLst>
                          </p:cTn>
                        </p:par>
                      </p:childTnLst>
                    </p:cTn>
                  </p:par>
                  <p:par>
                    <p:cTn id="120" fill="hold">
                      <p:stCondLst>
                        <p:cond delay="indefinite"/>
                      </p:stCondLst>
                      <p:childTnLst>
                        <p:par>
                          <p:cTn id="121" fill="hold">
                            <p:stCondLst>
                              <p:cond delay="0"/>
                            </p:stCondLst>
                            <p:childTnLst>
                              <p:par>
                                <p:cTn id="122" presetID="1" presetClass="entr" presetSubtype="0" fill="hold" grpId="0" nodeType="clickEffect">
                                  <p:stCondLst>
                                    <p:cond delay="0"/>
                                  </p:stCondLst>
                                  <p:childTnLst>
                                    <p:set>
                                      <p:cBhvr>
                                        <p:cTn id="123"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7" grpId="0" animBg="1"/>
      <p:bldP spid="27" grpId="1" animBg="1"/>
      <p:bldP spid="27" grpId="2" animBg="1"/>
      <p:bldP spid="29" grpId="0"/>
      <p:bldP spid="21" grpId="0" animBg="1"/>
      <p:bldP spid="21" grpId="1" animBg="1"/>
      <p:bldP spid="23" grpId="0"/>
      <p:bldP spid="30" grpId="0"/>
      <p:bldP spid="31" grpId="0" animBg="1"/>
      <p:bldP spid="31" grpId="1" animBg="1"/>
      <p:bldP spid="31" grpId="2" animBg="1"/>
      <p:bldP spid="32" grpId="0" animBg="1"/>
      <p:bldP spid="32" grpId="1" animBg="1"/>
      <p:bldP spid="32" grpId="2" animBg="1"/>
      <p:bldP spid="34" grpId="0"/>
      <p:bldP spid="35" grpId="0"/>
      <p:bldP spid="36" grpId="0"/>
      <p:bldP spid="37" grpId="0"/>
      <p:bldP spid="40" grpId="0"/>
      <p:bldP spid="41" grpId="0"/>
      <p:bldP spid="42" grpId="0"/>
      <p:bldP spid="4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Compounding Period (continued)</a:t>
            </a: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648277328"/>
              </p:ext>
            </p:extLst>
          </p:nvPr>
        </p:nvGraphicFramePr>
        <p:xfrm>
          <a:off x="457200" y="1200150"/>
          <a:ext cx="8229600" cy="22555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278130">
                <a:tc>
                  <a:txBody>
                    <a:bodyPr/>
                    <a:lstStyle/>
                    <a:p>
                      <a:pPr algn="ctr"/>
                      <a:r>
                        <a:rPr lang="en-US" sz="1400" dirty="0"/>
                        <a:t>Compounding</a:t>
                      </a:r>
                    </a:p>
                  </a:txBody>
                  <a:tcPr marT="34290" marB="34290"/>
                </a:tc>
                <a:tc>
                  <a:txBody>
                    <a:bodyPr/>
                    <a:lstStyle/>
                    <a:p>
                      <a:pPr algn="ctr"/>
                      <a:r>
                        <a:rPr lang="en-US" sz="1400" dirty="0"/>
                        <a:t>1 Year</a:t>
                      </a:r>
                    </a:p>
                  </a:txBody>
                  <a:tcPr marT="34290" marB="34290"/>
                </a:tc>
                <a:tc>
                  <a:txBody>
                    <a:bodyPr/>
                    <a:lstStyle/>
                    <a:p>
                      <a:pPr algn="ctr"/>
                      <a:r>
                        <a:rPr lang="en-US" sz="1400" dirty="0"/>
                        <a:t>T years</a:t>
                      </a:r>
                    </a:p>
                  </a:txBody>
                  <a:tcPr marT="34290" marB="34290"/>
                </a:tc>
                <a:extLst>
                  <a:ext uri="{0D108BD9-81ED-4DB2-BD59-A6C34878D82A}">
                    <a16:rowId xmlns:a16="http://schemas.microsoft.com/office/drawing/2014/main" val="10000"/>
                  </a:ext>
                </a:extLst>
              </a:tr>
              <a:tr h="278130">
                <a:tc>
                  <a:txBody>
                    <a:bodyPr/>
                    <a:lstStyle/>
                    <a:p>
                      <a:r>
                        <a:rPr lang="en-US" sz="1400" dirty="0"/>
                        <a:t>Annual</a:t>
                      </a:r>
                    </a:p>
                  </a:txBody>
                  <a:tcPr marT="34290" marB="34290"/>
                </a:tc>
                <a:tc>
                  <a:txBody>
                    <a:bodyPr/>
                    <a:lstStyle/>
                    <a:p>
                      <a:pPr algn="ctr"/>
                      <a:r>
                        <a:rPr lang="en-US" sz="1400" dirty="0"/>
                        <a:t>(1+r)</a:t>
                      </a:r>
                    </a:p>
                  </a:txBody>
                  <a:tcPr marT="34290" marB="34290"/>
                </a:tc>
                <a:tc>
                  <a:txBody>
                    <a:bodyPr/>
                    <a:lstStyle/>
                    <a:p>
                      <a:pPr algn="ctr"/>
                      <a:r>
                        <a:rPr lang="en-US" sz="1400" dirty="0"/>
                        <a:t>(1+r)^T</a:t>
                      </a:r>
                    </a:p>
                  </a:txBody>
                  <a:tcPr marT="34290" marB="34290"/>
                </a:tc>
                <a:extLst>
                  <a:ext uri="{0D108BD9-81ED-4DB2-BD59-A6C34878D82A}">
                    <a16:rowId xmlns:a16="http://schemas.microsoft.com/office/drawing/2014/main" val="10001"/>
                  </a:ext>
                </a:extLst>
              </a:tr>
              <a:tr h="278130">
                <a:tc>
                  <a:txBody>
                    <a:bodyPr/>
                    <a:lstStyle/>
                    <a:p>
                      <a:r>
                        <a:rPr lang="en-US" sz="1400" dirty="0"/>
                        <a:t>Semi-annual</a:t>
                      </a:r>
                    </a:p>
                  </a:txBody>
                  <a:tcPr marT="34290" marB="34290"/>
                </a:tc>
                <a:tc>
                  <a:txBody>
                    <a:bodyPr/>
                    <a:lstStyle/>
                    <a:p>
                      <a:pPr algn="ctr"/>
                      <a:r>
                        <a:rPr lang="en-US" sz="1400" dirty="0"/>
                        <a:t>(1+(r/2))^2</a:t>
                      </a:r>
                    </a:p>
                  </a:txBody>
                  <a:tcPr marT="34290" marB="34290"/>
                </a:tc>
                <a:tc>
                  <a:txBody>
                    <a:bodyPr/>
                    <a:lstStyle/>
                    <a:p>
                      <a:pPr algn="ctr"/>
                      <a:r>
                        <a:rPr lang="en-US" sz="1400" dirty="0"/>
                        <a:t>(1+(r/2))^2T</a:t>
                      </a:r>
                    </a:p>
                  </a:txBody>
                  <a:tcPr marT="34290" marB="34290"/>
                </a:tc>
                <a:extLst>
                  <a:ext uri="{0D108BD9-81ED-4DB2-BD59-A6C34878D82A}">
                    <a16:rowId xmlns:a16="http://schemas.microsoft.com/office/drawing/2014/main" val="10002"/>
                  </a:ext>
                </a:extLst>
              </a:tr>
              <a:tr h="278130">
                <a:tc>
                  <a:txBody>
                    <a:bodyPr/>
                    <a:lstStyle/>
                    <a:p>
                      <a:r>
                        <a:rPr lang="en-US" sz="1400" dirty="0"/>
                        <a:t>Quarterly</a:t>
                      </a: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1+(r/4))^4</a:t>
                      </a: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1+(r/4))^4T</a:t>
                      </a:r>
                    </a:p>
                  </a:txBody>
                  <a:tcPr marT="34290" marB="34290"/>
                </a:tc>
                <a:extLst>
                  <a:ext uri="{0D108BD9-81ED-4DB2-BD59-A6C34878D82A}">
                    <a16:rowId xmlns:a16="http://schemas.microsoft.com/office/drawing/2014/main" val="10003"/>
                  </a:ext>
                </a:extLst>
              </a:tr>
              <a:tr h="2781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Monthly</a:t>
                      </a: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1+(r/12))^12</a:t>
                      </a: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1+(r/12))^12T</a:t>
                      </a:r>
                    </a:p>
                  </a:txBody>
                  <a:tcPr marT="34290" marB="34290"/>
                </a:tc>
                <a:extLst>
                  <a:ext uri="{0D108BD9-81ED-4DB2-BD59-A6C34878D82A}">
                    <a16:rowId xmlns:a16="http://schemas.microsoft.com/office/drawing/2014/main" val="10004"/>
                  </a:ext>
                </a:extLst>
              </a:tr>
              <a:tr h="2781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Weekly</a:t>
                      </a: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1+(r/52))^52</a:t>
                      </a: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1+(r/52))^52T</a:t>
                      </a:r>
                    </a:p>
                  </a:txBody>
                  <a:tcPr marT="34290" marB="34290"/>
                </a:tc>
                <a:extLst>
                  <a:ext uri="{0D108BD9-81ED-4DB2-BD59-A6C34878D82A}">
                    <a16:rowId xmlns:a16="http://schemas.microsoft.com/office/drawing/2014/main" val="10005"/>
                  </a:ext>
                </a:extLst>
              </a:tr>
              <a:tr h="2781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Daily</a:t>
                      </a: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1+(r/365))^365</a:t>
                      </a:r>
                    </a:p>
                  </a:txBody>
                  <a:tcPr marT="34290" marB="34290"/>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400" dirty="0"/>
                        <a:t>1+(r/365))^365T</a:t>
                      </a:r>
                    </a:p>
                  </a:txBody>
                  <a:tcPr marT="34290" marB="34290"/>
                </a:tc>
                <a:extLst>
                  <a:ext uri="{0D108BD9-81ED-4DB2-BD59-A6C34878D82A}">
                    <a16:rowId xmlns:a16="http://schemas.microsoft.com/office/drawing/2014/main" val="10006"/>
                  </a:ext>
                </a:extLst>
              </a:tr>
              <a:tr h="27813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Continuous</a:t>
                      </a:r>
                    </a:p>
                  </a:txBody>
                  <a:tcPr marT="34290" marB="34290"/>
                </a:tc>
                <a:tc>
                  <a:txBody>
                    <a:bodyPr/>
                    <a:lstStyle/>
                    <a:p>
                      <a:pPr algn="ctr"/>
                      <a:r>
                        <a:rPr lang="en-US" sz="1400" dirty="0" err="1"/>
                        <a:t>exp</a:t>
                      </a:r>
                      <a:r>
                        <a:rPr lang="en-US" sz="1400" dirty="0"/>
                        <a:t>(r)</a:t>
                      </a:r>
                    </a:p>
                  </a:txBody>
                  <a:tcPr marT="34290" marB="34290"/>
                </a:tc>
                <a:tc>
                  <a:txBody>
                    <a:bodyPr/>
                    <a:lstStyle/>
                    <a:p>
                      <a:pPr algn="ctr"/>
                      <a:r>
                        <a:rPr lang="en-US" sz="1400" dirty="0" err="1"/>
                        <a:t>exp</a:t>
                      </a:r>
                      <a:r>
                        <a:rPr lang="en-US" sz="1400" dirty="0"/>
                        <a:t>(</a:t>
                      </a:r>
                      <a:r>
                        <a:rPr lang="en-US" sz="1400" dirty="0" err="1"/>
                        <a:t>rT</a:t>
                      </a:r>
                      <a:r>
                        <a:rPr lang="en-US" sz="1400" dirty="0"/>
                        <a:t>)</a:t>
                      </a:r>
                    </a:p>
                  </a:txBody>
                  <a:tcPr marT="34290" marB="34290"/>
                </a:tc>
                <a:extLst>
                  <a:ext uri="{0D108BD9-81ED-4DB2-BD59-A6C34878D82A}">
                    <a16:rowId xmlns:a16="http://schemas.microsoft.com/office/drawing/2014/main" val="10007"/>
                  </a:ext>
                </a:extLst>
              </a:tr>
            </a:tbl>
          </a:graphicData>
        </a:graphic>
      </p:graphicFrame>
      <p:sp>
        <p:nvSpPr>
          <p:cNvPr id="4" name="Slide Number Placeholder 3"/>
          <p:cNvSpPr>
            <a:spLocks noGrp="1"/>
          </p:cNvSpPr>
          <p:nvPr>
            <p:ph type="sldNum" sz="quarter" idx="12"/>
          </p:nvPr>
        </p:nvSpPr>
        <p:spPr/>
        <p:txBody>
          <a:bodyPr/>
          <a:lstStyle/>
          <a:p>
            <a:fld id="{E3C1C79F-DD56-A542-8B9A-8A4BEA68A11F}" type="slidenum">
              <a:rPr lang="en-US" smtClean="0">
                <a:solidFill>
                  <a:schemeClr val="tx1"/>
                </a:solidFill>
              </a:rPr>
              <a:pPr/>
              <a:t>7</a:t>
            </a:fld>
            <a:endParaRPr lang="en-US">
              <a:solidFill>
                <a:schemeClr val="tx1"/>
              </a:solidFill>
            </a:endParaRPr>
          </a:p>
        </p:txBody>
      </p:sp>
      <p:sp>
        <p:nvSpPr>
          <p:cNvPr id="3" name="TextBox 2"/>
          <p:cNvSpPr txBox="1"/>
          <p:nvPr/>
        </p:nvSpPr>
        <p:spPr>
          <a:xfrm>
            <a:off x="2949303" y="3967060"/>
            <a:ext cx="3326616" cy="369332"/>
          </a:xfrm>
          <a:prstGeom prst="rect">
            <a:avLst/>
          </a:prstGeom>
          <a:noFill/>
        </p:spPr>
        <p:txBody>
          <a:bodyPr wrap="none" rtlCol="0">
            <a:spAutoFit/>
          </a:bodyPr>
          <a:lstStyle/>
          <a:p>
            <a:r>
              <a:rPr lang="en-US" dirty="0"/>
              <a:t>Where r is the </a:t>
            </a:r>
            <a:r>
              <a:rPr lang="en-US" b="1" dirty="0"/>
              <a:t>stated</a:t>
            </a:r>
            <a:r>
              <a:rPr lang="en-US" dirty="0"/>
              <a:t> annual rate.</a:t>
            </a:r>
          </a:p>
        </p:txBody>
      </p:sp>
      <p:sp>
        <p:nvSpPr>
          <p:cNvPr id="7" name="TextBox 6"/>
          <p:cNvSpPr txBox="1"/>
          <p:nvPr/>
        </p:nvSpPr>
        <p:spPr>
          <a:xfrm>
            <a:off x="2888344" y="4379072"/>
            <a:ext cx="3560014" cy="369332"/>
          </a:xfrm>
          <a:prstGeom prst="rect">
            <a:avLst/>
          </a:prstGeom>
          <a:noFill/>
        </p:spPr>
        <p:txBody>
          <a:bodyPr wrap="none" rtlCol="0">
            <a:spAutoFit/>
          </a:bodyPr>
          <a:lstStyle/>
          <a:p>
            <a:r>
              <a:rPr lang="en-US" dirty="0"/>
              <a:t>The EAR is the Effective Annual Rate</a:t>
            </a:r>
          </a:p>
        </p:txBody>
      </p:sp>
    </p:spTree>
    <p:extLst>
      <p:ext uri="{BB962C8B-B14F-4D97-AF65-F5344CB8AC3E}">
        <p14:creationId xmlns:p14="http://schemas.microsoft.com/office/powerpoint/2010/main" val="29917003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178AC4-570E-4A9A-8115-D56BFDF9BD9F}"/>
              </a:ext>
            </a:extLst>
          </p:cNvPr>
          <p:cNvSpPr>
            <a:spLocks noGrp="1"/>
          </p:cNvSpPr>
          <p:nvPr>
            <p:ph type="title"/>
          </p:nvPr>
        </p:nvSpPr>
        <p:spPr/>
        <p:txBody>
          <a:bodyPr/>
          <a:lstStyle/>
          <a:p>
            <a:r>
              <a:rPr lang="en-US" dirty="0"/>
              <a:t>Paths of value over time</a:t>
            </a:r>
          </a:p>
        </p:txBody>
      </p:sp>
      <p:sp>
        <p:nvSpPr>
          <p:cNvPr id="3" name="Text Placeholder 2">
            <a:extLst>
              <a:ext uri="{FF2B5EF4-FFF2-40B4-BE49-F238E27FC236}">
                <a16:creationId xmlns:a16="http://schemas.microsoft.com/office/drawing/2014/main" id="{452099CF-C807-49B7-9A6C-0D981C0ECCEA}"/>
              </a:ext>
            </a:extLst>
          </p:cNvPr>
          <p:cNvSpPr>
            <a:spLocks noGrp="1"/>
          </p:cNvSpPr>
          <p:nvPr>
            <p:ph type="body" idx="1"/>
          </p:nvPr>
        </p:nvSpPr>
        <p:spPr/>
        <p:txBody>
          <a:bodyPr/>
          <a:lstStyle/>
          <a:p>
            <a:r>
              <a:rPr lang="en-US" dirty="0"/>
              <a:t>First perpetuities, then zero coupon bonds, then coupon bonds</a:t>
            </a:r>
          </a:p>
        </p:txBody>
      </p:sp>
    </p:spTree>
    <p:extLst>
      <p:ext uri="{BB962C8B-B14F-4D97-AF65-F5344CB8AC3E}">
        <p14:creationId xmlns:p14="http://schemas.microsoft.com/office/powerpoint/2010/main" val="62628736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p:txBody>
          <a:bodyPr/>
          <a:lstStyle/>
          <a:p>
            <a:r>
              <a:rPr lang="en-US" altLang="en-US" dirty="0">
                <a:solidFill>
                  <a:schemeClr val="tx1"/>
                </a:solidFill>
              </a:rPr>
              <a:t>Example: $1,000 Perpetuity</a:t>
            </a:r>
          </a:p>
        </p:txBody>
      </p:sp>
      <p:sp>
        <p:nvSpPr>
          <p:cNvPr id="3" name="Content Placeholder 2"/>
          <p:cNvSpPr>
            <a:spLocks noGrp="1"/>
          </p:cNvSpPr>
          <p:nvPr>
            <p:ph idx="1"/>
          </p:nvPr>
        </p:nvSpPr>
        <p:spPr/>
        <p:txBody>
          <a:bodyPr rtlCol="0">
            <a:normAutofit fontScale="92500" lnSpcReduction="10000"/>
          </a:bodyPr>
          <a:lstStyle/>
          <a:p>
            <a:pPr fontAlgn="auto">
              <a:spcAft>
                <a:spcPts val="0"/>
              </a:spcAft>
              <a:buFont typeface="Arial"/>
              <a:buChar char="•"/>
              <a:defRPr/>
            </a:pPr>
            <a:r>
              <a:rPr lang="en-US" dirty="0">
                <a:solidFill>
                  <a:schemeClr val="tx1"/>
                </a:solidFill>
                <a:ea typeface="+mn-ea"/>
              </a:rPr>
              <a:t>Suppose a </a:t>
            </a:r>
            <a:r>
              <a:rPr lang="en-US" dirty="0" err="1">
                <a:solidFill>
                  <a:schemeClr val="tx1"/>
                </a:solidFill>
                <a:ea typeface="+mn-ea"/>
              </a:rPr>
              <a:t>consol</a:t>
            </a:r>
            <a:r>
              <a:rPr lang="en-US" dirty="0">
                <a:solidFill>
                  <a:schemeClr val="tx1"/>
                </a:solidFill>
                <a:ea typeface="+mn-ea"/>
              </a:rPr>
              <a:t> pays $1,000 per period</a:t>
            </a:r>
          </a:p>
          <a:p>
            <a:pPr fontAlgn="auto">
              <a:spcAft>
                <a:spcPts val="0"/>
              </a:spcAft>
              <a:buFont typeface="Arial"/>
              <a:buChar char="•"/>
              <a:defRPr/>
            </a:pPr>
            <a:r>
              <a:rPr lang="en-US" dirty="0">
                <a:solidFill>
                  <a:schemeClr val="tx1"/>
                </a:solidFill>
                <a:ea typeface="+mn-ea"/>
              </a:rPr>
              <a:t>It brings $20,000 at auction</a:t>
            </a:r>
          </a:p>
          <a:p>
            <a:pPr fontAlgn="auto">
              <a:spcAft>
                <a:spcPts val="0"/>
              </a:spcAft>
              <a:buFont typeface="Arial"/>
              <a:buChar char="•"/>
              <a:defRPr/>
            </a:pPr>
            <a:r>
              <a:rPr lang="en-US" dirty="0">
                <a:solidFill>
                  <a:schemeClr val="tx1"/>
                </a:solidFill>
                <a:ea typeface="+mn-ea"/>
              </a:rPr>
              <a:t>What is the </a:t>
            </a:r>
            <a:r>
              <a:rPr lang="en-US" i="1" dirty="0">
                <a:solidFill>
                  <a:schemeClr val="tx1"/>
                </a:solidFill>
                <a:ea typeface="+mn-ea"/>
              </a:rPr>
              <a:t>implicit</a:t>
            </a:r>
            <a:r>
              <a:rPr lang="en-US" dirty="0">
                <a:solidFill>
                  <a:schemeClr val="tx1"/>
                </a:solidFill>
                <a:ea typeface="+mn-ea"/>
              </a:rPr>
              <a:t> interest rate per period?</a:t>
            </a:r>
          </a:p>
          <a:p>
            <a:pPr>
              <a:defRPr/>
            </a:pPr>
            <a:r>
              <a:rPr lang="en-US" dirty="0">
                <a:solidFill>
                  <a:schemeClr val="tx1"/>
                </a:solidFill>
                <a:ea typeface="+mn-ea"/>
              </a:rPr>
              <a:t>$20,000 = $1,000/r implies </a:t>
            </a:r>
            <a:r>
              <a:rPr lang="en-US" dirty="0">
                <a:solidFill>
                  <a:schemeClr val="tx1"/>
                </a:solidFill>
              </a:rPr>
              <a:t>r = </a:t>
            </a:r>
            <a:r>
              <a:rPr lang="en-US" b="1" dirty="0">
                <a:solidFill>
                  <a:schemeClr val="tx1"/>
                </a:solidFill>
              </a:rPr>
              <a:t>5%</a:t>
            </a:r>
            <a:endParaRPr lang="en-US" dirty="0">
              <a:solidFill>
                <a:schemeClr val="tx1"/>
              </a:solidFill>
              <a:ea typeface="+mn-ea"/>
            </a:endParaRPr>
          </a:p>
          <a:p>
            <a:pPr lvl="1">
              <a:buFont typeface="Arial"/>
              <a:buChar char="•"/>
              <a:defRPr/>
            </a:pPr>
            <a:r>
              <a:rPr lang="en-US" dirty="0">
                <a:solidFill>
                  <a:schemeClr val="tx1"/>
                </a:solidFill>
                <a:ea typeface="+mn-ea"/>
              </a:rPr>
              <a:t>Language: The </a:t>
            </a:r>
            <a:r>
              <a:rPr lang="en-US" dirty="0" err="1">
                <a:solidFill>
                  <a:schemeClr val="tx1"/>
                </a:solidFill>
                <a:ea typeface="+mn-ea"/>
              </a:rPr>
              <a:t>consol</a:t>
            </a:r>
            <a:r>
              <a:rPr lang="en-US" dirty="0">
                <a:solidFill>
                  <a:schemeClr val="tx1"/>
                </a:solidFill>
                <a:ea typeface="+mn-ea"/>
              </a:rPr>
              <a:t> is </a:t>
            </a:r>
            <a:r>
              <a:rPr lang="en-US" b="1" i="1" dirty="0">
                <a:solidFill>
                  <a:schemeClr val="tx1"/>
                </a:solidFill>
                <a:ea typeface="+mn-ea"/>
              </a:rPr>
              <a:t>priced to yield</a:t>
            </a:r>
            <a:r>
              <a:rPr lang="en-US" b="1" dirty="0">
                <a:solidFill>
                  <a:schemeClr val="tx1"/>
                </a:solidFill>
                <a:ea typeface="+mn-ea"/>
              </a:rPr>
              <a:t> 5%</a:t>
            </a:r>
            <a:r>
              <a:rPr lang="en-US" dirty="0">
                <a:solidFill>
                  <a:schemeClr val="tx1"/>
                </a:solidFill>
                <a:ea typeface="+mn-ea"/>
              </a:rPr>
              <a:t> per period.</a:t>
            </a:r>
          </a:p>
          <a:p>
            <a:pPr>
              <a:defRPr/>
            </a:pPr>
            <a:r>
              <a:rPr lang="en-US" dirty="0">
                <a:solidFill>
                  <a:schemeClr val="tx1"/>
                </a:solidFill>
              </a:rPr>
              <a:t>If the required rate does not change, how much with the </a:t>
            </a:r>
            <a:r>
              <a:rPr lang="en-US" dirty="0" err="1">
                <a:solidFill>
                  <a:schemeClr val="tx1"/>
                </a:solidFill>
              </a:rPr>
              <a:t>consol</a:t>
            </a:r>
            <a:r>
              <a:rPr lang="en-US" dirty="0">
                <a:solidFill>
                  <a:schemeClr val="tx1"/>
                </a:solidFill>
              </a:rPr>
              <a:t> be worth at </a:t>
            </a:r>
            <a:r>
              <a:rPr lang="en-US" i="1" dirty="0">
                <a:solidFill>
                  <a:schemeClr val="tx1"/>
                </a:solidFill>
              </a:rPr>
              <a:t>any</a:t>
            </a:r>
            <a:r>
              <a:rPr lang="en-US" dirty="0">
                <a:solidFill>
                  <a:schemeClr val="tx1"/>
                </a:solidFill>
              </a:rPr>
              <a:t> point in time?</a:t>
            </a:r>
            <a:endParaRPr lang="en-US" dirty="0">
              <a:solidFill>
                <a:schemeClr val="tx1"/>
              </a:solidFill>
              <a:ea typeface="+mn-ea"/>
            </a:endParaRPr>
          </a:p>
        </p:txBody>
      </p:sp>
      <p:sp>
        <p:nvSpPr>
          <p:cNvPr id="4" name="Slide Number Placeholder 3"/>
          <p:cNvSpPr>
            <a:spLocks noGrp="1"/>
          </p:cNvSpPr>
          <p:nvPr>
            <p:ph type="sldNum" sz="quarter" idx="12"/>
          </p:nvPr>
        </p:nvSpPr>
        <p:spPr/>
        <p:txBody>
          <a:bodyPr/>
          <a:lstStyle>
            <a:lvl1pPr>
              <a:defRPr>
                <a:solidFill>
                  <a:schemeClr val="tx1"/>
                </a:solidFill>
                <a:latin typeface="Calibri" pitchFamily="34" charset="0"/>
                <a:ea typeface="MS PGothic" pitchFamily="34" charset="-128"/>
              </a:defRPr>
            </a:lvl1pPr>
            <a:lvl2pPr marL="742950" indent="-285750">
              <a:defRPr>
                <a:solidFill>
                  <a:schemeClr val="tx1"/>
                </a:solidFill>
                <a:latin typeface="Calibri" pitchFamily="34" charset="0"/>
                <a:ea typeface="MS PGothic" pitchFamily="34" charset="-128"/>
              </a:defRPr>
            </a:lvl2pPr>
            <a:lvl3pPr marL="1143000" indent="-228600">
              <a:defRPr>
                <a:solidFill>
                  <a:schemeClr val="tx1"/>
                </a:solidFill>
                <a:latin typeface="Calibri" pitchFamily="34" charset="0"/>
                <a:ea typeface="MS PGothic" pitchFamily="34" charset="-128"/>
              </a:defRPr>
            </a:lvl3pPr>
            <a:lvl4pPr marL="1600200" indent="-228600">
              <a:defRPr>
                <a:solidFill>
                  <a:schemeClr val="tx1"/>
                </a:solidFill>
                <a:latin typeface="Calibri" pitchFamily="34" charset="0"/>
                <a:ea typeface="MS PGothic" pitchFamily="34" charset="-128"/>
              </a:defRPr>
            </a:lvl4pPr>
            <a:lvl5pPr marL="2057400" indent="-228600">
              <a:defRPr>
                <a:solidFill>
                  <a:schemeClr val="tx1"/>
                </a:solidFill>
                <a:latin typeface="Calibri" pitchFamily="34" charset="0"/>
                <a:ea typeface="MS PGothic" pitchFamily="34" charset="-128"/>
              </a:defRPr>
            </a:lvl5pPr>
            <a:lvl6pPr marL="2514600" indent="-228600" defTabSz="457200" fontAlgn="base">
              <a:spcBef>
                <a:spcPct val="0"/>
              </a:spcBef>
              <a:spcAft>
                <a:spcPct val="0"/>
              </a:spcAft>
              <a:defRPr>
                <a:solidFill>
                  <a:schemeClr val="tx1"/>
                </a:solidFill>
                <a:latin typeface="Calibri" pitchFamily="34" charset="0"/>
                <a:ea typeface="MS PGothic" pitchFamily="34" charset="-128"/>
              </a:defRPr>
            </a:lvl6pPr>
            <a:lvl7pPr marL="2971800" indent="-228600" defTabSz="457200" fontAlgn="base">
              <a:spcBef>
                <a:spcPct val="0"/>
              </a:spcBef>
              <a:spcAft>
                <a:spcPct val="0"/>
              </a:spcAft>
              <a:defRPr>
                <a:solidFill>
                  <a:schemeClr val="tx1"/>
                </a:solidFill>
                <a:latin typeface="Calibri" pitchFamily="34" charset="0"/>
                <a:ea typeface="MS PGothic" pitchFamily="34" charset="-128"/>
              </a:defRPr>
            </a:lvl7pPr>
            <a:lvl8pPr marL="3429000" indent="-228600" defTabSz="457200" fontAlgn="base">
              <a:spcBef>
                <a:spcPct val="0"/>
              </a:spcBef>
              <a:spcAft>
                <a:spcPct val="0"/>
              </a:spcAft>
              <a:defRPr>
                <a:solidFill>
                  <a:schemeClr val="tx1"/>
                </a:solidFill>
                <a:latin typeface="Calibri" pitchFamily="34" charset="0"/>
                <a:ea typeface="MS PGothic" pitchFamily="34" charset="-128"/>
              </a:defRPr>
            </a:lvl8pPr>
            <a:lvl9pPr marL="3886200" indent="-228600" defTabSz="457200" fontAlgn="base">
              <a:spcBef>
                <a:spcPct val="0"/>
              </a:spcBef>
              <a:spcAft>
                <a:spcPct val="0"/>
              </a:spcAft>
              <a:defRPr>
                <a:solidFill>
                  <a:schemeClr val="tx1"/>
                </a:solidFill>
                <a:latin typeface="Calibri" pitchFamily="34" charset="0"/>
                <a:ea typeface="MS PGothic" pitchFamily="34" charset="-128"/>
              </a:defRPr>
            </a:lvl9pPr>
          </a:lstStyle>
          <a:p>
            <a:fld id="{634BEB1C-9573-40F1-81B7-8F94D0FBBEF6}" type="slidenum">
              <a:rPr lang="en-US" altLang="en-US"/>
              <a:pPr/>
              <a:t>9</a:t>
            </a:fld>
            <a:endParaRPr lang="en-US" altLang="en-US"/>
          </a:p>
        </p:txBody>
      </p:sp>
    </p:spTree>
    <p:extLst>
      <p:ext uri="{BB962C8B-B14F-4D97-AF65-F5344CB8AC3E}">
        <p14:creationId xmlns:p14="http://schemas.microsoft.com/office/powerpoint/2010/main" val="10642165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tx1"/>
                </a:solidFill>
              </a:rPr>
              <a:t> Changes in Interest Rate</a:t>
            </a:r>
          </a:p>
        </p:txBody>
      </p:sp>
      <p:sp>
        <p:nvSpPr>
          <p:cNvPr id="3" name="Content Placeholder 2"/>
          <p:cNvSpPr>
            <a:spLocks noGrp="1"/>
          </p:cNvSpPr>
          <p:nvPr>
            <p:ph idx="1"/>
          </p:nvPr>
        </p:nvSpPr>
        <p:spPr/>
        <p:txBody>
          <a:bodyPr>
            <a:normAutofit fontScale="92500"/>
          </a:bodyPr>
          <a:lstStyle/>
          <a:p>
            <a:r>
              <a:rPr lang="en-US" dirty="0">
                <a:solidFill>
                  <a:schemeClr val="tx1"/>
                </a:solidFill>
              </a:rPr>
              <a:t>Suppose after two periods the interest rate suddenly changes to 8%.</a:t>
            </a:r>
          </a:p>
          <a:p>
            <a:r>
              <a:rPr lang="en-US" dirty="0">
                <a:solidFill>
                  <a:schemeClr val="tx1"/>
                </a:solidFill>
              </a:rPr>
              <a:t>The perpetuity was worth $20,000 before the increase in rates but will only be worth $12,500 after the (unanticipated) increase in rates.</a:t>
            </a:r>
          </a:p>
          <a:p>
            <a:pPr lvl="1"/>
            <a:r>
              <a:rPr lang="en-US" dirty="0">
                <a:solidFill>
                  <a:schemeClr val="tx1"/>
                </a:solidFill>
              </a:rPr>
              <a:t>Excel workbook with an example of several changes in rates</a:t>
            </a:r>
          </a:p>
          <a:p>
            <a:endParaRPr lang="en-US" dirty="0">
              <a:solidFill>
                <a:schemeClr val="tx1"/>
              </a:solidFill>
            </a:endParaRPr>
          </a:p>
        </p:txBody>
      </p:sp>
    </p:spTree>
    <p:extLst>
      <p:ext uri="{BB962C8B-B14F-4D97-AF65-F5344CB8AC3E}">
        <p14:creationId xmlns:p14="http://schemas.microsoft.com/office/powerpoint/2010/main" val="28010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A256A-C5FD-F1C0-BC49-134FCEBB786E}"/>
              </a:ext>
            </a:extLst>
          </p:cNvPr>
          <p:cNvSpPr>
            <a:spLocks noGrp="1"/>
          </p:cNvSpPr>
          <p:nvPr>
            <p:ph type="title"/>
          </p:nvPr>
        </p:nvSpPr>
        <p:spPr/>
        <p:txBody>
          <a:bodyPr>
            <a:normAutofit fontScale="90000"/>
          </a:bodyPr>
          <a:lstStyle/>
          <a:p>
            <a:r>
              <a:rPr lang="en-US" dirty="0">
                <a:solidFill>
                  <a:schemeClr val="tx1"/>
                </a:solidFill>
              </a:rPr>
              <a:t>Unanticipated Interest Rate Changes</a:t>
            </a:r>
          </a:p>
        </p:txBody>
      </p:sp>
      <p:graphicFrame>
        <p:nvGraphicFramePr>
          <p:cNvPr id="6" name="Content Placeholder 5">
            <a:extLst>
              <a:ext uri="{FF2B5EF4-FFF2-40B4-BE49-F238E27FC236}">
                <a16:creationId xmlns:a16="http://schemas.microsoft.com/office/drawing/2014/main" id="{49EB696F-22BB-C902-6879-0F9088F6A3B2}"/>
              </a:ext>
            </a:extLst>
          </p:cNvPr>
          <p:cNvGraphicFramePr>
            <a:graphicFrameLocks noGrp="1"/>
          </p:cNvGraphicFramePr>
          <p:nvPr>
            <p:ph idx="1"/>
            <p:extLst>
              <p:ext uri="{D42A27DB-BD31-4B8C-83A1-F6EECF244321}">
                <p14:modId xmlns:p14="http://schemas.microsoft.com/office/powerpoint/2010/main" val="4152592358"/>
              </p:ext>
            </p:extLst>
          </p:nvPr>
        </p:nvGraphicFramePr>
        <p:xfrm>
          <a:off x="632012" y="1200151"/>
          <a:ext cx="7879976" cy="3452532"/>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15713593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graphicEl>
                                              <a:chart seriesIdx="-4" categoryIdx="0" bldStep="category"/>
                                            </p:graphicEl>
                                          </p:spTgt>
                                        </p:tgtEl>
                                        <p:attrNameLst>
                                          <p:attrName>style.visibility</p:attrName>
                                        </p:attrNameLst>
                                      </p:cBhvr>
                                      <p:to>
                                        <p:strVal val="visible"/>
                                      </p:to>
                                    </p:set>
                                    <p:anim calcmode="lin" valueType="num">
                                      <p:cBhvr additive="base">
                                        <p:cTn id="7" dur="500" fill="hold"/>
                                        <p:tgtEl>
                                          <p:spTgt spid="6">
                                            <p:graphicEl>
                                              <a:chart seriesIdx="-4" categoryIdx="0" bldStep="category"/>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graphicEl>
                                              <a:chart seriesIdx="-4" categoryIdx="0"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6">
                                            <p:graphicEl>
                                              <a:chart seriesIdx="-4" categoryIdx="1" bldStep="category"/>
                                            </p:graphicEl>
                                          </p:spTgt>
                                        </p:tgtEl>
                                        <p:attrNameLst>
                                          <p:attrName>style.visibility</p:attrName>
                                        </p:attrNameLst>
                                      </p:cBhvr>
                                      <p:to>
                                        <p:strVal val="visible"/>
                                      </p:to>
                                    </p:set>
                                    <p:anim calcmode="lin" valueType="num">
                                      <p:cBhvr additive="base">
                                        <p:cTn id="13" dur="500" fill="hold"/>
                                        <p:tgtEl>
                                          <p:spTgt spid="6">
                                            <p:graphicEl>
                                              <a:chart seriesIdx="-4" categoryIdx="1" bldStep="category"/>
                                            </p:graphic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graphicEl>
                                              <a:chart seriesIdx="-4" categoryIdx="1"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6">
                                            <p:graphicEl>
                                              <a:chart seriesIdx="-4" categoryIdx="2" bldStep="category"/>
                                            </p:graphicEl>
                                          </p:spTgt>
                                        </p:tgtEl>
                                        <p:attrNameLst>
                                          <p:attrName>style.visibility</p:attrName>
                                        </p:attrNameLst>
                                      </p:cBhvr>
                                      <p:to>
                                        <p:strVal val="visible"/>
                                      </p:to>
                                    </p:set>
                                    <p:anim calcmode="lin" valueType="num">
                                      <p:cBhvr additive="base">
                                        <p:cTn id="19" dur="500" fill="hold"/>
                                        <p:tgtEl>
                                          <p:spTgt spid="6">
                                            <p:graphicEl>
                                              <a:chart seriesIdx="-4" categoryIdx="2" bldStep="category"/>
                                            </p:graphic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graphicEl>
                                              <a:chart seriesIdx="-4" categoryIdx="2"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6">
                                            <p:graphicEl>
                                              <a:chart seriesIdx="-4" categoryIdx="3" bldStep="category"/>
                                            </p:graphicEl>
                                          </p:spTgt>
                                        </p:tgtEl>
                                        <p:attrNameLst>
                                          <p:attrName>style.visibility</p:attrName>
                                        </p:attrNameLst>
                                      </p:cBhvr>
                                      <p:to>
                                        <p:strVal val="visible"/>
                                      </p:to>
                                    </p:set>
                                    <p:anim calcmode="lin" valueType="num">
                                      <p:cBhvr additive="base">
                                        <p:cTn id="25" dur="500" fill="hold"/>
                                        <p:tgtEl>
                                          <p:spTgt spid="6">
                                            <p:graphicEl>
                                              <a:chart seriesIdx="-4" categoryIdx="3" bldStep="category"/>
                                            </p:graphicEl>
                                          </p:spTgt>
                                        </p:tgtEl>
                                        <p:attrNameLst>
                                          <p:attrName>ppt_x</p:attrName>
                                        </p:attrNameLst>
                                      </p:cBhvr>
                                      <p:tavLst>
                                        <p:tav tm="0">
                                          <p:val>
                                            <p:strVal val="#ppt_x"/>
                                          </p:val>
                                        </p:tav>
                                        <p:tav tm="100000">
                                          <p:val>
                                            <p:strVal val="#ppt_x"/>
                                          </p:val>
                                        </p:tav>
                                      </p:tavLst>
                                    </p:anim>
                                    <p:anim calcmode="lin" valueType="num">
                                      <p:cBhvr additive="base">
                                        <p:cTn id="26" dur="500" fill="hold"/>
                                        <p:tgtEl>
                                          <p:spTgt spid="6">
                                            <p:graphicEl>
                                              <a:chart seriesIdx="-4" categoryIdx="3"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6">
                                            <p:graphicEl>
                                              <a:chart seriesIdx="-4" categoryIdx="4" bldStep="category"/>
                                            </p:graphicEl>
                                          </p:spTgt>
                                        </p:tgtEl>
                                        <p:attrNameLst>
                                          <p:attrName>style.visibility</p:attrName>
                                        </p:attrNameLst>
                                      </p:cBhvr>
                                      <p:to>
                                        <p:strVal val="visible"/>
                                      </p:to>
                                    </p:set>
                                    <p:anim calcmode="lin" valueType="num">
                                      <p:cBhvr additive="base">
                                        <p:cTn id="31" dur="500" fill="hold"/>
                                        <p:tgtEl>
                                          <p:spTgt spid="6">
                                            <p:graphicEl>
                                              <a:chart seriesIdx="-4" categoryIdx="4" bldStep="category"/>
                                            </p:graphicEl>
                                          </p:spTgt>
                                        </p:tgtEl>
                                        <p:attrNameLst>
                                          <p:attrName>ppt_x</p:attrName>
                                        </p:attrNameLst>
                                      </p:cBhvr>
                                      <p:tavLst>
                                        <p:tav tm="0">
                                          <p:val>
                                            <p:strVal val="#ppt_x"/>
                                          </p:val>
                                        </p:tav>
                                        <p:tav tm="100000">
                                          <p:val>
                                            <p:strVal val="#ppt_x"/>
                                          </p:val>
                                        </p:tav>
                                      </p:tavLst>
                                    </p:anim>
                                    <p:anim calcmode="lin" valueType="num">
                                      <p:cBhvr additive="base">
                                        <p:cTn id="32" dur="500" fill="hold"/>
                                        <p:tgtEl>
                                          <p:spTgt spid="6">
                                            <p:graphicEl>
                                              <a:chart seriesIdx="-4" categoryIdx="4"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6">
                                            <p:graphicEl>
                                              <a:chart seriesIdx="-4" categoryIdx="5" bldStep="category"/>
                                            </p:graphicEl>
                                          </p:spTgt>
                                        </p:tgtEl>
                                        <p:attrNameLst>
                                          <p:attrName>style.visibility</p:attrName>
                                        </p:attrNameLst>
                                      </p:cBhvr>
                                      <p:to>
                                        <p:strVal val="visible"/>
                                      </p:to>
                                    </p:set>
                                    <p:anim calcmode="lin" valueType="num">
                                      <p:cBhvr additive="base">
                                        <p:cTn id="37" dur="500" fill="hold"/>
                                        <p:tgtEl>
                                          <p:spTgt spid="6">
                                            <p:graphicEl>
                                              <a:chart seriesIdx="-4" categoryIdx="5" bldStep="category"/>
                                            </p:graphicEl>
                                          </p:spTgt>
                                        </p:tgtEl>
                                        <p:attrNameLst>
                                          <p:attrName>ppt_x</p:attrName>
                                        </p:attrNameLst>
                                      </p:cBhvr>
                                      <p:tavLst>
                                        <p:tav tm="0">
                                          <p:val>
                                            <p:strVal val="#ppt_x"/>
                                          </p:val>
                                        </p:tav>
                                        <p:tav tm="100000">
                                          <p:val>
                                            <p:strVal val="#ppt_x"/>
                                          </p:val>
                                        </p:tav>
                                      </p:tavLst>
                                    </p:anim>
                                    <p:anim calcmode="lin" valueType="num">
                                      <p:cBhvr additive="base">
                                        <p:cTn id="38" dur="500" fill="hold"/>
                                        <p:tgtEl>
                                          <p:spTgt spid="6">
                                            <p:graphicEl>
                                              <a:chart seriesIdx="-4" categoryIdx="5"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6">
                                            <p:graphicEl>
                                              <a:chart seriesIdx="-4" categoryIdx="6" bldStep="category"/>
                                            </p:graphicEl>
                                          </p:spTgt>
                                        </p:tgtEl>
                                        <p:attrNameLst>
                                          <p:attrName>style.visibility</p:attrName>
                                        </p:attrNameLst>
                                      </p:cBhvr>
                                      <p:to>
                                        <p:strVal val="visible"/>
                                      </p:to>
                                    </p:set>
                                    <p:anim calcmode="lin" valueType="num">
                                      <p:cBhvr additive="base">
                                        <p:cTn id="43" dur="500" fill="hold"/>
                                        <p:tgtEl>
                                          <p:spTgt spid="6">
                                            <p:graphicEl>
                                              <a:chart seriesIdx="-4" categoryIdx="6" bldStep="category"/>
                                            </p:graphicEl>
                                          </p:spTgt>
                                        </p:tgtEl>
                                        <p:attrNameLst>
                                          <p:attrName>ppt_x</p:attrName>
                                        </p:attrNameLst>
                                      </p:cBhvr>
                                      <p:tavLst>
                                        <p:tav tm="0">
                                          <p:val>
                                            <p:strVal val="#ppt_x"/>
                                          </p:val>
                                        </p:tav>
                                        <p:tav tm="100000">
                                          <p:val>
                                            <p:strVal val="#ppt_x"/>
                                          </p:val>
                                        </p:tav>
                                      </p:tavLst>
                                    </p:anim>
                                    <p:anim calcmode="lin" valueType="num">
                                      <p:cBhvr additive="base">
                                        <p:cTn id="44" dur="500" fill="hold"/>
                                        <p:tgtEl>
                                          <p:spTgt spid="6">
                                            <p:graphicEl>
                                              <a:chart seriesIdx="-4" categoryIdx="6"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6">
                                            <p:graphicEl>
                                              <a:chart seriesIdx="-4" categoryIdx="7" bldStep="category"/>
                                            </p:graphicEl>
                                          </p:spTgt>
                                        </p:tgtEl>
                                        <p:attrNameLst>
                                          <p:attrName>style.visibility</p:attrName>
                                        </p:attrNameLst>
                                      </p:cBhvr>
                                      <p:to>
                                        <p:strVal val="visible"/>
                                      </p:to>
                                    </p:set>
                                    <p:anim calcmode="lin" valueType="num">
                                      <p:cBhvr additive="base">
                                        <p:cTn id="49" dur="500" fill="hold"/>
                                        <p:tgtEl>
                                          <p:spTgt spid="6">
                                            <p:graphicEl>
                                              <a:chart seriesIdx="-4" categoryIdx="7" bldStep="category"/>
                                            </p:graphicEl>
                                          </p:spTgt>
                                        </p:tgtEl>
                                        <p:attrNameLst>
                                          <p:attrName>ppt_x</p:attrName>
                                        </p:attrNameLst>
                                      </p:cBhvr>
                                      <p:tavLst>
                                        <p:tav tm="0">
                                          <p:val>
                                            <p:strVal val="#ppt_x"/>
                                          </p:val>
                                        </p:tav>
                                        <p:tav tm="100000">
                                          <p:val>
                                            <p:strVal val="#ppt_x"/>
                                          </p:val>
                                        </p:tav>
                                      </p:tavLst>
                                    </p:anim>
                                    <p:anim calcmode="lin" valueType="num">
                                      <p:cBhvr additive="base">
                                        <p:cTn id="50" dur="500" fill="hold"/>
                                        <p:tgtEl>
                                          <p:spTgt spid="6">
                                            <p:graphicEl>
                                              <a:chart seriesIdx="-4" categoryIdx="7"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6">
                                            <p:graphicEl>
                                              <a:chart seriesIdx="-4" categoryIdx="8" bldStep="category"/>
                                            </p:graphicEl>
                                          </p:spTgt>
                                        </p:tgtEl>
                                        <p:attrNameLst>
                                          <p:attrName>style.visibility</p:attrName>
                                        </p:attrNameLst>
                                      </p:cBhvr>
                                      <p:to>
                                        <p:strVal val="visible"/>
                                      </p:to>
                                    </p:set>
                                    <p:anim calcmode="lin" valueType="num">
                                      <p:cBhvr additive="base">
                                        <p:cTn id="55" dur="500" fill="hold"/>
                                        <p:tgtEl>
                                          <p:spTgt spid="6">
                                            <p:graphicEl>
                                              <a:chart seriesIdx="-4" categoryIdx="8" bldStep="category"/>
                                            </p:graphicEl>
                                          </p:spTgt>
                                        </p:tgtEl>
                                        <p:attrNameLst>
                                          <p:attrName>ppt_x</p:attrName>
                                        </p:attrNameLst>
                                      </p:cBhvr>
                                      <p:tavLst>
                                        <p:tav tm="0">
                                          <p:val>
                                            <p:strVal val="#ppt_x"/>
                                          </p:val>
                                        </p:tav>
                                        <p:tav tm="100000">
                                          <p:val>
                                            <p:strVal val="#ppt_x"/>
                                          </p:val>
                                        </p:tav>
                                      </p:tavLst>
                                    </p:anim>
                                    <p:anim calcmode="lin" valueType="num">
                                      <p:cBhvr additive="base">
                                        <p:cTn id="56" dur="500" fill="hold"/>
                                        <p:tgtEl>
                                          <p:spTgt spid="6">
                                            <p:graphicEl>
                                              <a:chart seriesIdx="-4" categoryIdx="8"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6">
                                            <p:graphicEl>
                                              <a:chart seriesIdx="-4" categoryIdx="9" bldStep="category"/>
                                            </p:graphicEl>
                                          </p:spTgt>
                                        </p:tgtEl>
                                        <p:attrNameLst>
                                          <p:attrName>style.visibility</p:attrName>
                                        </p:attrNameLst>
                                      </p:cBhvr>
                                      <p:to>
                                        <p:strVal val="visible"/>
                                      </p:to>
                                    </p:set>
                                    <p:anim calcmode="lin" valueType="num">
                                      <p:cBhvr additive="base">
                                        <p:cTn id="61" dur="500" fill="hold"/>
                                        <p:tgtEl>
                                          <p:spTgt spid="6">
                                            <p:graphicEl>
                                              <a:chart seriesIdx="-4" categoryIdx="9" bldStep="category"/>
                                            </p:graphicEl>
                                          </p:spTgt>
                                        </p:tgtEl>
                                        <p:attrNameLst>
                                          <p:attrName>ppt_x</p:attrName>
                                        </p:attrNameLst>
                                      </p:cBhvr>
                                      <p:tavLst>
                                        <p:tav tm="0">
                                          <p:val>
                                            <p:strVal val="#ppt_x"/>
                                          </p:val>
                                        </p:tav>
                                        <p:tav tm="100000">
                                          <p:val>
                                            <p:strVal val="#ppt_x"/>
                                          </p:val>
                                        </p:tav>
                                      </p:tavLst>
                                    </p:anim>
                                    <p:anim calcmode="lin" valueType="num">
                                      <p:cBhvr additive="base">
                                        <p:cTn id="62" dur="500" fill="hold"/>
                                        <p:tgtEl>
                                          <p:spTgt spid="6">
                                            <p:graphicEl>
                                              <a:chart seriesIdx="-4" categoryIdx="9"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6">
                                            <p:graphicEl>
                                              <a:chart seriesIdx="-4" categoryIdx="10" bldStep="category"/>
                                            </p:graphicEl>
                                          </p:spTgt>
                                        </p:tgtEl>
                                        <p:attrNameLst>
                                          <p:attrName>style.visibility</p:attrName>
                                        </p:attrNameLst>
                                      </p:cBhvr>
                                      <p:to>
                                        <p:strVal val="visible"/>
                                      </p:to>
                                    </p:set>
                                    <p:anim calcmode="lin" valueType="num">
                                      <p:cBhvr additive="base">
                                        <p:cTn id="67" dur="500" fill="hold"/>
                                        <p:tgtEl>
                                          <p:spTgt spid="6">
                                            <p:graphicEl>
                                              <a:chart seriesIdx="-4" categoryIdx="10" bldStep="category"/>
                                            </p:graphicEl>
                                          </p:spTgt>
                                        </p:tgtEl>
                                        <p:attrNameLst>
                                          <p:attrName>ppt_x</p:attrName>
                                        </p:attrNameLst>
                                      </p:cBhvr>
                                      <p:tavLst>
                                        <p:tav tm="0">
                                          <p:val>
                                            <p:strVal val="#ppt_x"/>
                                          </p:val>
                                        </p:tav>
                                        <p:tav tm="100000">
                                          <p:val>
                                            <p:strVal val="#ppt_x"/>
                                          </p:val>
                                        </p:tav>
                                      </p:tavLst>
                                    </p:anim>
                                    <p:anim calcmode="lin" valueType="num">
                                      <p:cBhvr additive="base">
                                        <p:cTn id="68" dur="500" fill="hold"/>
                                        <p:tgtEl>
                                          <p:spTgt spid="6">
                                            <p:graphicEl>
                                              <a:chart seriesIdx="-4" categoryIdx="10"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6">
                                            <p:graphicEl>
                                              <a:chart seriesIdx="-4" categoryIdx="11" bldStep="category"/>
                                            </p:graphicEl>
                                          </p:spTgt>
                                        </p:tgtEl>
                                        <p:attrNameLst>
                                          <p:attrName>style.visibility</p:attrName>
                                        </p:attrNameLst>
                                      </p:cBhvr>
                                      <p:to>
                                        <p:strVal val="visible"/>
                                      </p:to>
                                    </p:set>
                                    <p:anim calcmode="lin" valueType="num">
                                      <p:cBhvr additive="base">
                                        <p:cTn id="73" dur="500" fill="hold"/>
                                        <p:tgtEl>
                                          <p:spTgt spid="6">
                                            <p:graphicEl>
                                              <a:chart seriesIdx="-4" categoryIdx="11" bldStep="category"/>
                                            </p:graphicEl>
                                          </p:spTgt>
                                        </p:tgtEl>
                                        <p:attrNameLst>
                                          <p:attrName>ppt_x</p:attrName>
                                        </p:attrNameLst>
                                      </p:cBhvr>
                                      <p:tavLst>
                                        <p:tav tm="0">
                                          <p:val>
                                            <p:strVal val="#ppt_x"/>
                                          </p:val>
                                        </p:tav>
                                        <p:tav tm="100000">
                                          <p:val>
                                            <p:strVal val="#ppt_x"/>
                                          </p:val>
                                        </p:tav>
                                      </p:tavLst>
                                    </p:anim>
                                    <p:anim calcmode="lin" valueType="num">
                                      <p:cBhvr additive="base">
                                        <p:cTn id="74" dur="500" fill="hold"/>
                                        <p:tgtEl>
                                          <p:spTgt spid="6">
                                            <p:graphicEl>
                                              <a:chart seriesIdx="-4" categoryIdx="11"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4" fill="hold" grpId="0" nodeType="clickEffect">
                                  <p:stCondLst>
                                    <p:cond delay="0"/>
                                  </p:stCondLst>
                                  <p:childTnLst>
                                    <p:set>
                                      <p:cBhvr>
                                        <p:cTn id="78" dur="1" fill="hold">
                                          <p:stCondLst>
                                            <p:cond delay="0"/>
                                          </p:stCondLst>
                                        </p:cTn>
                                        <p:tgtEl>
                                          <p:spTgt spid="6">
                                            <p:graphicEl>
                                              <a:chart seriesIdx="-4" categoryIdx="12" bldStep="category"/>
                                            </p:graphicEl>
                                          </p:spTgt>
                                        </p:tgtEl>
                                        <p:attrNameLst>
                                          <p:attrName>style.visibility</p:attrName>
                                        </p:attrNameLst>
                                      </p:cBhvr>
                                      <p:to>
                                        <p:strVal val="visible"/>
                                      </p:to>
                                    </p:set>
                                    <p:anim calcmode="lin" valueType="num">
                                      <p:cBhvr additive="base">
                                        <p:cTn id="79" dur="500" fill="hold"/>
                                        <p:tgtEl>
                                          <p:spTgt spid="6">
                                            <p:graphicEl>
                                              <a:chart seriesIdx="-4" categoryIdx="12" bldStep="category"/>
                                            </p:graphicEl>
                                          </p:spTgt>
                                        </p:tgtEl>
                                        <p:attrNameLst>
                                          <p:attrName>ppt_x</p:attrName>
                                        </p:attrNameLst>
                                      </p:cBhvr>
                                      <p:tavLst>
                                        <p:tav tm="0">
                                          <p:val>
                                            <p:strVal val="#ppt_x"/>
                                          </p:val>
                                        </p:tav>
                                        <p:tav tm="100000">
                                          <p:val>
                                            <p:strVal val="#ppt_x"/>
                                          </p:val>
                                        </p:tav>
                                      </p:tavLst>
                                    </p:anim>
                                    <p:anim calcmode="lin" valueType="num">
                                      <p:cBhvr additive="base">
                                        <p:cTn id="80" dur="500" fill="hold"/>
                                        <p:tgtEl>
                                          <p:spTgt spid="6">
                                            <p:graphicEl>
                                              <a:chart seriesIdx="-4" categoryIdx="12"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4" fill="hold" grpId="0" nodeType="clickEffect">
                                  <p:stCondLst>
                                    <p:cond delay="0"/>
                                  </p:stCondLst>
                                  <p:childTnLst>
                                    <p:set>
                                      <p:cBhvr>
                                        <p:cTn id="84" dur="1" fill="hold">
                                          <p:stCondLst>
                                            <p:cond delay="0"/>
                                          </p:stCondLst>
                                        </p:cTn>
                                        <p:tgtEl>
                                          <p:spTgt spid="6">
                                            <p:graphicEl>
                                              <a:chart seriesIdx="-4" categoryIdx="13" bldStep="category"/>
                                            </p:graphicEl>
                                          </p:spTgt>
                                        </p:tgtEl>
                                        <p:attrNameLst>
                                          <p:attrName>style.visibility</p:attrName>
                                        </p:attrNameLst>
                                      </p:cBhvr>
                                      <p:to>
                                        <p:strVal val="visible"/>
                                      </p:to>
                                    </p:set>
                                    <p:anim calcmode="lin" valueType="num">
                                      <p:cBhvr additive="base">
                                        <p:cTn id="85" dur="500" fill="hold"/>
                                        <p:tgtEl>
                                          <p:spTgt spid="6">
                                            <p:graphicEl>
                                              <a:chart seriesIdx="-4" categoryIdx="13" bldStep="category"/>
                                            </p:graphicEl>
                                          </p:spTgt>
                                        </p:tgtEl>
                                        <p:attrNameLst>
                                          <p:attrName>ppt_x</p:attrName>
                                        </p:attrNameLst>
                                      </p:cBhvr>
                                      <p:tavLst>
                                        <p:tav tm="0">
                                          <p:val>
                                            <p:strVal val="#ppt_x"/>
                                          </p:val>
                                        </p:tav>
                                        <p:tav tm="100000">
                                          <p:val>
                                            <p:strVal val="#ppt_x"/>
                                          </p:val>
                                        </p:tav>
                                      </p:tavLst>
                                    </p:anim>
                                    <p:anim calcmode="lin" valueType="num">
                                      <p:cBhvr additive="base">
                                        <p:cTn id="86" dur="500" fill="hold"/>
                                        <p:tgtEl>
                                          <p:spTgt spid="6">
                                            <p:graphicEl>
                                              <a:chart seriesIdx="-4" categoryIdx="13"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4" fill="hold" grpId="0" nodeType="clickEffect">
                                  <p:stCondLst>
                                    <p:cond delay="0"/>
                                  </p:stCondLst>
                                  <p:childTnLst>
                                    <p:set>
                                      <p:cBhvr>
                                        <p:cTn id="90" dur="1" fill="hold">
                                          <p:stCondLst>
                                            <p:cond delay="0"/>
                                          </p:stCondLst>
                                        </p:cTn>
                                        <p:tgtEl>
                                          <p:spTgt spid="6">
                                            <p:graphicEl>
                                              <a:chart seriesIdx="-4" categoryIdx="14" bldStep="category"/>
                                            </p:graphicEl>
                                          </p:spTgt>
                                        </p:tgtEl>
                                        <p:attrNameLst>
                                          <p:attrName>style.visibility</p:attrName>
                                        </p:attrNameLst>
                                      </p:cBhvr>
                                      <p:to>
                                        <p:strVal val="visible"/>
                                      </p:to>
                                    </p:set>
                                    <p:anim calcmode="lin" valueType="num">
                                      <p:cBhvr additive="base">
                                        <p:cTn id="91" dur="500" fill="hold"/>
                                        <p:tgtEl>
                                          <p:spTgt spid="6">
                                            <p:graphicEl>
                                              <a:chart seriesIdx="-4" categoryIdx="14" bldStep="category"/>
                                            </p:graphicEl>
                                          </p:spTgt>
                                        </p:tgtEl>
                                        <p:attrNameLst>
                                          <p:attrName>ppt_x</p:attrName>
                                        </p:attrNameLst>
                                      </p:cBhvr>
                                      <p:tavLst>
                                        <p:tav tm="0">
                                          <p:val>
                                            <p:strVal val="#ppt_x"/>
                                          </p:val>
                                        </p:tav>
                                        <p:tav tm="100000">
                                          <p:val>
                                            <p:strVal val="#ppt_x"/>
                                          </p:val>
                                        </p:tav>
                                      </p:tavLst>
                                    </p:anim>
                                    <p:anim calcmode="lin" valueType="num">
                                      <p:cBhvr additive="base">
                                        <p:cTn id="92" dur="500" fill="hold"/>
                                        <p:tgtEl>
                                          <p:spTgt spid="6">
                                            <p:graphicEl>
                                              <a:chart seriesIdx="-4" categoryIdx="14"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4" fill="hold" grpId="0" nodeType="clickEffect">
                                  <p:stCondLst>
                                    <p:cond delay="0"/>
                                  </p:stCondLst>
                                  <p:childTnLst>
                                    <p:set>
                                      <p:cBhvr>
                                        <p:cTn id="96" dur="1" fill="hold">
                                          <p:stCondLst>
                                            <p:cond delay="0"/>
                                          </p:stCondLst>
                                        </p:cTn>
                                        <p:tgtEl>
                                          <p:spTgt spid="6">
                                            <p:graphicEl>
                                              <a:chart seriesIdx="-4" categoryIdx="15" bldStep="category"/>
                                            </p:graphicEl>
                                          </p:spTgt>
                                        </p:tgtEl>
                                        <p:attrNameLst>
                                          <p:attrName>style.visibility</p:attrName>
                                        </p:attrNameLst>
                                      </p:cBhvr>
                                      <p:to>
                                        <p:strVal val="visible"/>
                                      </p:to>
                                    </p:set>
                                    <p:anim calcmode="lin" valueType="num">
                                      <p:cBhvr additive="base">
                                        <p:cTn id="97" dur="500" fill="hold"/>
                                        <p:tgtEl>
                                          <p:spTgt spid="6">
                                            <p:graphicEl>
                                              <a:chart seriesIdx="-4" categoryIdx="15" bldStep="category"/>
                                            </p:graphicEl>
                                          </p:spTgt>
                                        </p:tgtEl>
                                        <p:attrNameLst>
                                          <p:attrName>ppt_x</p:attrName>
                                        </p:attrNameLst>
                                      </p:cBhvr>
                                      <p:tavLst>
                                        <p:tav tm="0">
                                          <p:val>
                                            <p:strVal val="#ppt_x"/>
                                          </p:val>
                                        </p:tav>
                                        <p:tav tm="100000">
                                          <p:val>
                                            <p:strVal val="#ppt_x"/>
                                          </p:val>
                                        </p:tav>
                                      </p:tavLst>
                                    </p:anim>
                                    <p:anim calcmode="lin" valueType="num">
                                      <p:cBhvr additive="base">
                                        <p:cTn id="98" dur="500" fill="hold"/>
                                        <p:tgtEl>
                                          <p:spTgt spid="6">
                                            <p:graphicEl>
                                              <a:chart seriesIdx="-4" categoryIdx="15"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4" fill="hold" grpId="0" nodeType="clickEffect">
                                  <p:stCondLst>
                                    <p:cond delay="0"/>
                                  </p:stCondLst>
                                  <p:childTnLst>
                                    <p:set>
                                      <p:cBhvr>
                                        <p:cTn id="102" dur="1" fill="hold">
                                          <p:stCondLst>
                                            <p:cond delay="0"/>
                                          </p:stCondLst>
                                        </p:cTn>
                                        <p:tgtEl>
                                          <p:spTgt spid="6">
                                            <p:graphicEl>
                                              <a:chart seriesIdx="-4" categoryIdx="16" bldStep="category"/>
                                            </p:graphicEl>
                                          </p:spTgt>
                                        </p:tgtEl>
                                        <p:attrNameLst>
                                          <p:attrName>style.visibility</p:attrName>
                                        </p:attrNameLst>
                                      </p:cBhvr>
                                      <p:to>
                                        <p:strVal val="visible"/>
                                      </p:to>
                                    </p:set>
                                    <p:anim calcmode="lin" valueType="num">
                                      <p:cBhvr additive="base">
                                        <p:cTn id="103" dur="500" fill="hold"/>
                                        <p:tgtEl>
                                          <p:spTgt spid="6">
                                            <p:graphicEl>
                                              <a:chart seriesIdx="-4" categoryIdx="16" bldStep="category"/>
                                            </p:graphicEl>
                                          </p:spTgt>
                                        </p:tgtEl>
                                        <p:attrNameLst>
                                          <p:attrName>ppt_x</p:attrName>
                                        </p:attrNameLst>
                                      </p:cBhvr>
                                      <p:tavLst>
                                        <p:tav tm="0">
                                          <p:val>
                                            <p:strVal val="#ppt_x"/>
                                          </p:val>
                                        </p:tav>
                                        <p:tav tm="100000">
                                          <p:val>
                                            <p:strVal val="#ppt_x"/>
                                          </p:val>
                                        </p:tav>
                                      </p:tavLst>
                                    </p:anim>
                                    <p:anim calcmode="lin" valueType="num">
                                      <p:cBhvr additive="base">
                                        <p:cTn id="104" dur="500" fill="hold"/>
                                        <p:tgtEl>
                                          <p:spTgt spid="6">
                                            <p:graphicEl>
                                              <a:chart seriesIdx="-4" categoryIdx="16"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05" fill="hold">
                      <p:stCondLst>
                        <p:cond delay="indefinite"/>
                      </p:stCondLst>
                      <p:childTnLst>
                        <p:par>
                          <p:cTn id="106" fill="hold">
                            <p:stCondLst>
                              <p:cond delay="0"/>
                            </p:stCondLst>
                            <p:childTnLst>
                              <p:par>
                                <p:cTn id="107" presetID="2" presetClass="entr" presetSubtype="4" fill="hold" grpId="0" nodeType="clickEffect">
                                  <p:stCondLst>
                                    <p:cond delay="0"/>
                                  </p:stCondLst>
                                  <p:childTnLst>
                                    <p:set>
                                      <p:cBhvr>
                                        <p:cTn id="108" dur="1" fill="hold">
                                          <p:stCondLst>
                                            <p:cond delay="0"/>
                                          </p:stCondLst>
                                        </p:cTn>
                                        <p:tgtEl>
                                          <p:spTgt spid="6">
                                            <p:graphicEl>
                                              <a:chart seriesIdx="-4" categoryIdx="17" bldStep="category"/>
                                            </p:graphicEl>
                                          </p:spTgt>
                                        </p:tgtEl>
                                        <p:attrNameLst>
                                          <p:attrName>style.visibility</p:attrName>
                                        </p:attrNameLst>
                                      </p:cBhvr>
                                      <p:to>
                                        <p:strVal val="visible"/>
                                      </p:to>
                                    </p:set>
                                    <p:anim calcmode="lin" valueType="num">
                                      <p:cBhvr additive="base">
                                        <p:cTn id="109" dur="500" fill="hold"/>
                                        <p:tgtEl>
                                          <p:spTgt spid="6">
                                            <p:graphicEl>
                                              <a:chart seriesIdx="-4" categoryIdx="17" bldStep="category"/>
                                            </p:graphicEl>
                                          </p:spTgt>
                                        </p:tgtEl>
                                        <p:attrNameLst>
                                          <p:attrName>ppt_x</p:attrName>
                                        </p:attrNameLst>
                                      </p:cBhvr>
                                      <p:tavLst>
                                        <p:tav tm="0">
                                          <p:val>
                                            <p:strVal val="#ppt_x"/>
                                          </p:val>
                                        </p:tav>
                                        <p:tav tm="100000">
                                          <p:val>
                                            <p:strVal val="#ppt_x"/>
                                          </p:val>
                                        </p:tav>
                                      </p:tavLst>
                                    </p:anim>
                                    <p:anim calcmode="lin" valueType="num">
                                      <p:cBhvr additive="base">
                                        <p:cTn id="110" dur="500" fill="hold"/>
                                        <p:tgtEl>
                                          <p:spTgt spid="6">
                                            <p:graphicEl>
                                              <a:chart seriesIdx="-4" categoryIdx="17"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11" fill="hold">
                      <p:stCondLst>
                        <p:cond delay="indefinite"/>
                      </p:stCondLst>
                      <p:childTnLst>
                        <p:par>
                          <p:cTn id="112" fill="hold">
                            <p:stCondLst>
                              <p:cond delay="0"/>
                            </p:stCondLst>
                            <p:childTnLst>
                              <p:par>
                                <p:cTn id="113" presetID="2" presetClass="entr" presetSubtype="4" fill="hold" grpId="0" nodeType="clickEffect">
                                  <p:stCondLst>
                                    <p:cond delay="0"/>
                                  </p:stCondLst>
                                  <p:childTnLst>
                                    <p:set>
                                      <p:cBhvr>
                                        <p:cTn id="114" dur="1" fill="hold">
                                          <p:stCondLst>
                                            <p:cond delay="0"/>
                                          </p:stCondLst>
                                        </p:cTn>
                                        <p:tgtEl>
                                          <p:spTgt spid="6">
                                            <p:graphicEl>
                                              <a:chart seriesIdx="-4" categoryIdx="18" bldStep="category"/>
                                            </p:graphicEl>
                                          </p:spTgt>
                                        </p:tgtEl>
                                        <p:attrNameLst>
                                          <p:attrName>style.visibility</p:attrName>
                                        </p:attrNameLst>
                                      </p:cBhvr>
                                      <p:to>
                                        <p:strVal val="visible"/>
                                      </p:to>
                                    </p:set>
                                    <p:anim calcmode="lin" valueType="num">
                                      <p:cBhvr additive="base">
                                        <p:cTn id="115" dur="500" fill="hold"/>
                                        <p:tgtEl>
                                          <p:spTgt spid="6">
                                            <p:graphicEl>
                                              <a:chart seriesIdx="-4" categoryIdx="18" bldStep="category"/>
                                            </p:graphicEl>
                                          </p:spTgt>
                                        </p:tgtEl>
                                        <p:attrNameLst>
                                          <p:attrName>ppt_x</p:attrName>
                                        </p:attrNameLst>
                                      </p:cBhvr>
                                      <p:tavLst>
                                        <p:tav tm="0">
                                          <p:val>
                                            <p:strVal val="#ppt_x"/>
                                          </p:val>
                                        </p:tav>
                                        <p:tav tm="100000">
                                          <p:val>
                                            <p:strVal val="#ppt_x"/>
                                          </p:val>
                                        </p:tav>
                                      </p:tavLst>
                                    </p:anim>
                                    <p:anim calcmode="lin" valueType="num">
                                      <p:cBhvr additive="base">
                                        <p:cTn id="116" dur="500" fill="hold"/>
                                        <p:tgtEl>
                                          <p:spTgt spid="6">
                                            <p:graphicEl>
                                              <a:chart seriesIdx="-4" categoryIdx="18"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17" fill="hold">
                      <p:stCondLst>
                        <p:cond delay="indefinite"/>
                      </p:stCondLst>
                      <p:childTnLst>
                        <p:par>
                          <p:cTn id="118" fill="hold">
                            <p:stCondLst>
                              <p:cond delay="0"/>
                            </p:stCondLst>
                            <p:childTnLst>
                              <p:par>
                                <p:cTn id="119" presetID="2" presetClass="entr" presetSubtype="4" fill="hold" grpId="0" nodeType="clickEffect">
                                  <p:stCondLst>
                                    <p:cond delay="0"/>
                                  </p:stCondLst>
                                  <p:childTnLst>
                                    <p:set>
                                      <p:cBhvr>
                                        <p:cTn id="120" dur="1" fill="hold">
                                          <p:stCondLst>
                                            <p:cond delay="0"/>
                                          </p:stCondLst>
                                        </p:cTn>
                                        <p:tgtEl>
                                          <p:spTgt spid="6">
                                            <p:graphicEl>
                                              <a:chart seriesIdx="-4" categoryIdx="19" bldStep="category"/>
                                            </p:graphicEl>
                                          </p:spTgt>
                                        </p:tgtEl>
                                        <p:attrNameLst>
                                          <p:attrName>style.visibility</p:attrName>
                                        </p:attrNameLst>
                                      </p:cBhvr>
                                      <p:to>
                                        <p:strVal val="visible"/>
                                      </p:to>
                                    </p:set>
                                    <p:anim calcmode="lin" valueType="num">
                                      <p:cBhvr additive="base">
                                        <p:cTn id="121" dur="500" fill="hold"/>
                                        <p:tgtEl>
                                          <p:spTgt spid="6">
                                            <p:graphicEl>
                                              <a:chart seriesIdx="-4" categoryIdx="19" bldStep="category"/>
                                            </p:graphicEl>
                                          </p:spTgt>
                                        </p:tgtEl>
                                        <p:attrNameLst>
                                          <p:attrName>ppt_x</p:attrName>
                                        </p:attrNameLst>
                                      </p:cBhvr>
                                      <p:tavLst>
                                        <p:tav tm="0">
                                          <p:val>
                                            <p:strVal val="#ppt_x"/>
                                          </p:val>
                                        </p:tav>
                                        <p:tav tm="100000">
                                          <p:val>
                                            <p:strVal val="#ppt_x"/>
                                          </p:val>
                                        </p:tav>
                                      </p:tavLst>
                                    </p:anim>
                                    <p:anim calcmode="lin" valueType="num">
                                      <p:cBhvr additive="base">
                                        <p:cTn id="122" dur="500" fill="hold"/>
                                        <p:tgtEl>
                                          <p:spTgt spid="6">
                                            <p:graphicEl>
                                              <a:chart seriesIdx="-4" categoryIdx="19"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23" fill="hold">
                      <p:stCondLst>
                        <p:cond delay="indefinite"/>
                      </p:stCondLst>
                      <p:childTnLst>
                        <p:par>
                          <p:cTn id="124" fill="hold">
                            <p:stCondLst>
                              <p:cond delay="0"/>
                            </p:stCondLst>
                            <p:childTnLst>
                              <p:par>
                                <p:cTn id="125" presetID="2" presetClass="entr" presetSubtype="4" fill="hold" grpId="0" nodeType="clickEffect">
                                  <p:stCondLst>
                                    <p:cond delay="0"/>
                                  </p:stCondLst>
                                  <p:childTnLst>
                                    <p:set>
                                      <p:cBhvr>
                                        <p:cTn id="126" dur="1" fill="hold">
                                          <p:stCondLst>
                                            <p:cond delay="0"/>
                                          </p:stCondLst>
                                        </p:cTn>
                                        <p:tgtEl>
                                          <p:spTgt spid="6">
                                            <p:graphicEl>
                                              <a:chart seriesIdx="-4" categoryIdx="20" bldStep="category"/>
                                            </p:graphicEl>
                                          </p:spTgt>
                                        </p:tgtEl>
                                        <p:attrNameLst>
                                          <p:attrName>style.visibility</p:attrName>
                                        </p:attrNameLst>
                                      </p:cBhvr>
                                      <p:to>
                                        <p:strVal val="visible"/>
                                      </p:to>
                                    </p:set>
                                    <p:anim calcmode="lin" valueType="num">
                                      <p:cBhvr additive="base">
                                        <p:cTn id="127" dur="500" fill="hold"/>
                                        <p:tgtEl>
                                          <p:spTgt spid="6">
                                            <p:graphicEl>
                                              <a:chart seriesIdx="-4" categoryIdx="20" bldStep="category"/>
                                            </p:graphicEl>
                                          </p:spTgt>
                                        </p:tgtEl>
                                        <p:attrNameLst>
                                          <p:attrName>ppt_x</p:attrName>
                                        </p:attrNameLst>
                                      </p:cBhvr>
                                      <p:tavLst>
                                        <p:tav tm="0">
                                          <p:val>
                                            <p:strVal val="#ppt_x"/>
                                          </p:val>
                                        </p:tav>
                                        <p:tav tm="100000">
                                          <p:val>
                                            <p:strVal val="#ppt_x"/>
                                          </p:val>
                                        </p:tav>
                                      </p:tavLst>
                                    </p:anim>
                                    <p:anim calcmode="lin" valueType="num">
                                      <p:cBhvr additive="base">
                                        <p:cTn id="128" dur="500" fill="hold"/>
                                        <p:tgtEl>
                                          <p:spTgt spid="6">
                                            <p:graphicEl>
                                              <a:chart seriesIdx="-4" categoryIdx="20" bldStep="category"/>
                                            </p:graphic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Chart bld="category" animBg="0"/>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A256A-C5FD-F1C0-BC49-134FCEBB786E}"/>
              </a:ext>
            </a:extLst>
          </p:cNvPr>
          <p:cNvSpPr>
            <a:spLocks noGrp="1"/>
          </p:cNvSpPr>
          <p:nvPr>
            <p:ph type="title"/>
          </p:nvPr>
        </p:nvSpPr>
        <p:spPr/>
        <p:txBody>
          <a:bodyPr>
            <a:normAutofit/>
          </a:bodyPr>
          <a:lstStyle/>
          <a:p>
            <a:r>
              <a:rPr lang="en-US" dirty="0">
                <a:solidFill>
                  <a:schemeClr val="tx1"/>
                </a:solidFill>
              </a:rPr>
              <a:t>Unanticipated Value Changes</a:t>
            </a:r>
          </a:p>
        </p:txBody>
      </p:sp>
      <p:graphicFrame>
        <p:nvGraphicFramePr>
          <p:cNvPr id="6" name="Content Placeholder 5">
            <a:extLst>
              <a:ext uri="{FF2B5EF4-FFF2-40B4-BE49-F238E27FC236}">
                <a16:creationId xmlns:a16="http://schemas.microsoft.com/office/drawing/2014/main" id="{49EB696F-22BB-C902-6879-0F9088F6A3B2}"/>
              </a:ext>
            </a:extLst>
          </p:cNvPr>
          <p:cNvGraphicFramePr>
            <a:graphicFrameLocks noGrp="1"/>
          </p:cNvGraphicFramePr>
          <p:nvPr>
            <p:ph idx="1"/>
            <p:extLst>
              <p:ext uri="{D42A27DB-BD31-4B8C-83A1-F6EECF244321}">
                <p14:modId xmlns:p14="http://schemas.microsoft.com/office/powerpoint/2010/main" val="273216720"/>
              </p:ext>
            </p:extLst>
          </p:nvPr>
        </p:nvGraphicFramePr>
        <p:xfrm>
          <a:off x="632012" y="1200151"/>
          <a:ext cx="7879976" cy="3452532"/>
        </p:xfrm>
        <a:graphic>
          <a:graphicData uri="http://schemas.openxmlformats.org/drawingml/2006/chart">
            <c:chart xmlns:c="http://schemas.openxmlformats.org/drawingml/2006/chart" xmlns:r="http://schemas.openxmlformats.org/officeDocument/2006/relationships" r:id="rId2"/>
          </a:graphicData>
        </a:graphic>
      </p:graphicFrame>
      <p:sp>
        <p:nvSpPr>
          <p:cNvPr id="7" name="TextBox 6">
            <a:extLst>
              <a:ext uri="{FF2B5EF4-FFF2-40B4-BE49-F238E27FC236}">
                <a16:creationId xmlns:a16="http://schemas.microsoft.com/office/drawing/2014/main" id="{B57E4F03-7B22-DEB9-6CFF-A8F17C81751F}"/>
              </a:ext>
            </a:extLst>
          </p:cNvPr>
          <p:cNvSpPr txBox="1"/>
          <p:nvPr/>
        </p:nvSpPr>
        <p:spPr>
          <a:xfrm>
            <a:off x="1601963" y="4652683"/>
            <a:ext cx="5740161" cy="369332"/>
          </a:xfrm>
          <a:prstGeom prst="rect">
            <a:avLst/>
          </a:prstGeom>
          <a:noFill/>
        </p:spPr>
        <p:txBody>
          <a:bodyPr wrap="none" rtlCol="0">
            <a:spAutoFit/>
          </a:bodyPr>
          <a:lstStyle/>
          <a:p>
            <a:r>
              <a:rPr lang="en-US" dirty="0"/>
              <a:t>Perpetuity of $1,000 per period, values shown in thousand.</a:t>
            </a:r>
          </a:p>
        </p:txBody>
      </p:sp>
    </p:spTree>
    <p:extLst>
      <p:ext uri="{BB962C8B-B14F-4D97-AF65-F5344CB8AC3E}">
        <p14:creationId xmlns:p14="http://schemas.microsoft.com/office/powerpoint/2010/main" val="1886639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graphicEl>
                                              <a:chart seriesIdx="0" categoryIdx="0" bldStep="ptInSeries"/>
                                            </p:graphicEl>
                                          </p:spTgt>
                                        </p:tgtEl>
                                        <p:attrNameLst>
                                          <p:attrName>style.visibility</p:attrName>
                                        </p:attrNameLst>
                                      </p:cBhvr>
                                      <p:to>
                                        <p:strVal val="visible"/>
                                      </p:to>
                                    </p:set>
                                    <p:animEffect transition="in" filter="wipe(down)">
                                      <p:cBhvr>
                                        <p:cTn id="7" dur="500"/>
                                        <p:tgtEl>
                                          <p:spTgt spid="6">
                                            <p:graphicEl>
                                              <a:chart seriesIdx="0" categoryIdx="0" bldStep="ptInSeries"/>
                                            </p:graphic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graphicEl>
                                              <a:chart seriesIdx="0" categoryIdx="1" bldStep="ptInSeries"/>
                                            </p:graphicEl>
                                          </p:spTgt>
                                        </p:tgtEl>
                                        <p:attrNameLst>
                                          <p:attrName>style.visibility</p:attrName>
                                        </p:attrNameLst>
                                      </p:cBhvr>
                                      <p:to>
                                        <p:strVal val="visible"/>
                                      </p:to>
                                    </p:set>
                                    <p:animEffect transition="in" filter="wipe(down)">
                                      <p:cBhvr>
                                        <p:cTn id="12" dur="500"/>
                                        <p:tgtEl>
                                          <p:spTgt spid="6">
                                            <p:graphicEl>
                                              <a:chart seriesIdx="0" categoryIdx="1" bldStep="ptInSeries"/>
                                            </p:graphic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graphicEl>
                                              <a:chart seriesIdx="0" categoryIdx="2" bldStep="ptInSeries"/>
                                            </p:graphicEl>
                                          </p:spTgt>
                                        </p:tgtEl>
                                        <p:attrNameLst>
                                          <p:attrName>style.visibility</p:attrName>
                                        </p:attrNameLst>
                                      </p:cBhvr>
                                      <p:to>
                                        <p:strVal val="visible"/>
                                      </p:to>
                                    </p:set>
                                    <p:animEffect transition="in" filter="wipe(down)">
                                      <p:cBhvr>
                                        <p:cTn id="17" dur="500"/>
                                        <p:tgtEl>
                                          <p:spTgt spid="6">
                                            <p:graphicEl>
                                              <a:chart seriesIdx="0" categoryIdx="2" bldStep="ptInSeries"/>
                                            </p:graphic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graphicEl>
                                              <a:chart seriesIdx="0" categoryIdx="3" bldStep="ptInSeries"/>
                                            </p:graphicEl>
                                          </p:spTgt>
                                        </p:tgtEl>
                                        <p:attrNameLst>
                                          <p:attrName>style.visibility</p:attrName>
                                        </p:attrNameLst>
                                      </p:cBhvr>
                                      <p:to>
                                        <p:strVal val="visible"/>
                                      </p:to>
                                    </p:set>
                                    <p:animEffect transition="in" filter="wipe(down)">
                                      <p:cBhvr>
                                        <p:cTn id="22" dur="500"/>
                                        <p:tgtEl>
                                          <p:spTgt spid="6">
                                            <p:graphicEl>
                                              <a:chart seriesIdx="0" categoryIdx="3" bldStep="ptInSeries"/>
                                            </p:graphic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6">
                                            <p:graphicEl>
                                              <a:chart seriesIdx="0" categoryIdx="4" bldStep="ptInSeries"/>
                                            </p:graphicEl>
                                          </p:spTgt>
                                        </p:tgtEl>
                                        <p:attrNameLst>
                                          <p:attrName>style.visibility</p:attrName>
                                        </p:attrNameLst>
                                      </p:cBhvr>
                                      <p:to>
                                        <p:strVal val="visible"/>
                                      </p:to>
                                    </p:set>
                                    <p:animEffect transition="in" filter="wipe(down)">
                                      <p:cBhvr>
                                        <p:cTn id="27" dur="500"/>
                                        <p:tgtEl>
                                          <p:spTgt spid="6">
                                            <p:graphicEl>
                                              <a:chart seriesIdx="0" categoryIdx="4" bldStep="ptInSeries"/>
                                            </p:graphic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6">
                                            <p:graphicEl>
                                              <a:chart seriesIdx="0" categoryIdx="5" bldStep="ptInSeries"/>
                                            </p:graphicEl>
                                          </p:spTgt>
                                        </p:tgtEl>
                                        <p:attrNameLst>
                                          <p:attrName>style.visibility</p:attrName>
                                        </p:attrNameLst>
                                      </p:cBhvr>
                                      <p:to>
                                        <p:strVal val="visible"/>
                                      </p:to>
                                    </p:set>
                                    <p:animEffect transition="in" filter="wipe(down)">
                                      <p:cBhvr>
                                        <p:cTn id="32" dur="500"/>
                                        <p:tgtEl>
                                          <p:spTgt spid="6">
                                            <p:graphicEl>
                                              <a:chart seriesIdx="0" categoryIdx="5" bldStep="ptInSeries"/>
                                            </p:graphic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6">
                                            <p:graphicEl>
                                              <a:chart seriesIdx="0" categoryIdx="6" bldStep="ptInSeries"/>
                                            </p:graphicEl>
                                          </p:spTgt>
                                        </p:tgtEl>
                                        <p:attrNameLst>
                                          <p:attrName>style.visibility</p:attrName>
                                        </p:attrNameLst>
                                      </p:cBhvr>
                                      <p:to>
                                        <p:strVal val="visible"/>
                                      </p:to>
                                    </p:set>
                                    <p:animEffect transition="in" filter="wipe(down)">
                                      <p:cBhvr>
                                        <p:cTn id="37" dur="500"/>
                                        <p:tgtEl>
                                          <p:spTgt spid="6">
                                            <p:graphicEl>
                                              <a:chart seriesIdx="0" categoryIdx="6" bldStep="ptInSeries"/>
                                            </p:graphic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6">
                                            <p:graphicEl>
                                              <a:chart seriesIdx="0" categoryIdx="7" bldStep="ptInSeries"/>
                                            </p:graphicEl>
                                          </p:spTgt>
                                        </p:tgtEl>
                                        <p:attrNameLst>
                                          <p:attrName>style.visibility</p:attrName>
                                        </p:attrNameLst>
                                      </p:cBhvr>
                                      <p:to>
                                        <p:strVal val="visible"/>
                                      </p:to>
                                    </p:set>
                                    <p:animEffect transition="in" filter="wipe(down)">
                                      <p:cBhvr>
                                        <p:cTn id="42" dur="500"/>
                                        <p:tgtEl>
                                          <p:spTgt spid="6">
                                            <p:graphicEl>
                                              <a:chart seriesIdx="0" categoryIdx="7" bldStep="ptInSeries"/>
                                            </p:graphic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grpId="0" nodeType="clickEffect">
                                  <p:stCondLst>
                                    <p:cond delay="0"/>
                                  </p:stCondLst>
                                  <p:childTnLst>
                                    <p:set>
                                      <p:cBhvr>
                                        <p:cTn id="46" dur="1" fill="hold">
                                          <p:stCondLst>
                                            <p:cond delay="0"/>
                                          </p:stCondLst>
                                        </p:cTn>
                                        <p:tgtEl>
                                          <p:spTgt spid="6">
                                            <p:graphicEl>
                                              <a:chart seriesIdx="0" categoryIdx="8" bldStep="ptInSeries"/>
                                            </p:graphicEl>
                                          </p:spTgt>
                                        </p:tgtEl>
                                        <p:attrNameLst>
                                          <p:attrName>style.visibility</p:attrName>
                                        </p:attrNameLst>
                                      </p:cBhvr>
                                      <p:to>
                                        <p:strVal val="visible"/>
                                      </p:to>
                                    </p:set>
                                    <p:animEffect transition="in" filter="wipe(down)">
                                      <p:cBhvr>
                                        <p:cTn id="47" dur="500"/>
                                        <p:tgtEl>
                                          <p:spTgt spid="6">
                                            <p:graphicEl>
                                              <a:chart seriesIdx="0" categoryIdx="8" bldStep="ptInSeries"/>
                                            </p:graphicEl>
                                          </p:spTgt>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grpId="0" nodeType="clickEffect">
                                  <p:stCondLst>
                                    <p:cond delay="0"/>
                                  </p:stCondLst>
                                  <p:childTnLst>
                                    <p:set>
                                      <p:cBhvr>
                                        <p:cTn id="51" dur="1" fill="hold">
                                          <p:stCondLst>
                                            <p:cond delay="0"/>
                                          </p:stCondLst>
                                        </p:cTn>
                                        <p:tgtEl>
                                          <p:spTgt spid="6">
                                            <p:graphicEl>
                                              <a:chart seriesIdx="0" categoryIdx="9" bldStep="ptInSeries"/>
                                            </p:graphicEl>
                                          </p:spTgt>
                                        </p:tgtEl>
                                        <p:attrNameLst>
                                          <p:attrName>style.visibility</p:attrName>
                                        </p:attrNameLst>
                                      </p:cBhvr>
                                      <p:to>
                                        <p:strVal val="visible"/>
                                      </p:to>
                                    </p:set>
                                    <p:animEffect transition="in" filter="wipe(down)">
                                      <p:cBhvr>
                                        <p:cTn id="52" dur="500"/>
                                        <p:tgtEl>
                                          <p:spTgt spid="6">
                                            <p:graphicEl>
                                              <a:chart seriesIdx="0" categoryIdx="9" bldStep="ptInSeries"/>
                                            </p:graphic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6">
                                            <p:graphicEl>
                                              <a:chart seriesIdx="0" categoryIdx="10" bldStep="ptInSeries"/>
                                            </p:graphicEl>
                                          </p:spTgt>
                                        </p:tgtEl>
                                        <p:attrNameLst>
                                          <p:attrName>style.visibility</p:attrName>
                                        </p:attrNameLst>
                                      </p:cBhvr>
                                      <p:to>
                                        <p:strVal val="visible"/>
                                      </p:to>
                                    </p:set>
                                    <p:animEffect transition="in" filter="wipe(down)">
                                      <p:cBhvr>
                                        <p:cTn id="57" dur="500"/>
                                        <p:tgtEl>
                                          <p:spTgt spid="6">
                                            <p:graphicEl>
                                              <a:chart seriesIdx="0" categoryIdx="10" bldStep="ptInSeries"/>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6">
                                            <p:graphicEl>
                                              <a:chart seriesIdx="0" categoryIdx="11" bldStep="ptInSeries"/>
                                            </p:graphicEl>
                                          </p:spTgt>
                                        </p:tgtEl>
                                        <p:attrNameLst>
                                          <p:attrName>style.visibility</p:attrName>
                                        </p:attrNameLst>
                                      </p:cBhvr>
                                      <p:to>
                                        <p:strVal val="visible"/>
                                      </p:to>
                                    </p:set>
                                    <p:animEffect transition="in" filter="wipe(down)">
                                      <p:cBhvr>
                                        <p:cTn id="62" dur="500"/>
                                        <p:tgtEl>
                                          <p:spTgt spid="6">
                                            <p:graphicEl>
                                              <a:chart seriesIdx="0" categoryIdx="11" bldStep="ptInSeries"/>
                                            </p:graphicEl>
                                          </p:spTgt>
                                        </p:tgtEl>
                                      </p:cBhvr>
                                    </p:animEffect>
                                  </p:childTnLst>
                                </p:cTn>
                              </p:par>
                            </p:childTnLst>
                          </p:cTn>
                        </p:par>
                      </p:childTnLst>
                    </p:cTn>
                  </p:par>
                  <p:par>
                    <p:cTn id="63" fill="hold">
                      <p:stCondLst>
                        <p:cond delay="indefinite"/>
                      </p:stCondLst>
                      <p:childTnLst>
                        <p:par>
                          <p:cTn id="64" fill="hold">
                            <p:stCondLst>
                              <p:cond delay="0"/>
                            </p:stCondLst>
                            <p:childTnLst>
                              <p:par>
                                <p:cTn id="65" presetID="22" presetClass="entr" presetSubtype="4" fill="hold" grpId="0" nodeType="clickEffect">
                                  <p:stCondLst>
                                    <p:cond delay="0"/>
                                  </p:stCondLst>
                                  <p:childTnLst>
                                    <p:set>
                                      <p:cBhvr>
                                        <p:cTn id="66" dur="1" fill="hold">
                                          <p:stCondLst>
                                            <p:cond delay="0"/>
                                          </p:stCondLst>
                                        </p:cTn>
                                        <p:tgtEl>
                                          <p:spTgt spid="6">
                                            <p:graphicEl>
                                              <a:chart seriesIdx="0" categoryIdx="12" bldStep="ptInSeries"/>
                                            </p:graphicEl>
                                          </p:spTgt>
                                        </p:tgtEl>
                                        <p:attrNameLst>
                                          <p:attrName>style.visibility</p:attrName>
                                        </p:attrNameLst>
                                      </p:cBhvr>
                                      <p:to>
                                        <p:strVal val="visible"/>
                                      </p:to>
                                    </p:set>
                                    <p:animEffect transition="in" filter="wipe(down)">
                                      <p:cBhvr>
                                        <p:cTn id="67" dur="500"/>
                                        <p:tgtEl>
                                          <p:spTgt spid="6">
                                            <p:graphicEl>
                                              <a:chart seriesIdx="0" categoryIdx="12" bldStep="ptInSeries"/>
                                            </p:graphic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4" fill="hold" grpId="0" nodeType="clickEffect">
                                  <p:stCondLst>
                                    <p:cond delay="0"/>
                                  </p:stCondLst>
                                  <p:childTnLst>
                                    <p:set>
                                      <p:cBhvr>
                                        <p:cTn id="71" dur="1" fill="hold">
                                          <p:stCondLst>
                                            <p:cond delay="0"/>
                                          </p:stCondLst>
                                        </p:cTn>
                                        <p:tgtEl>
                                          <p:spTgt spid="6">
                                            <p:graphicEl>
                                              <a:chart seriesIdx="0" categoryIdx="13" bldStep="ptInSeries"/>
                                            </p:graphicEl>
                                          </p:spTgt>
                                        </p:tgtEl>
                                        <p:attrNameLst>
                                          <p:attrName>style.visibility</p:attrName>
                                        </p:attrNameLst>
                                      </p:cBhvr>
                                      <p:to>
                                        <p:strVal val="visible"/>
                                      </p:to>
                                    </p:set>
                                    <p:animEffect transition="in" filter="wipe(down)">
                                      <p:cBhvr>
                                        <p:cTn id="72" dur="500"/>
                                        <p:tgtEl>
                                          <p:spTgt spid="6">
                                            <p:graphicEl>
                                              <a:chart seriesIdx="0" categoryIdx="13" bldStep="ptInSeries"/>
                                            </p:graphicEl>
                                          </p:spTgt>
                                        </p:tgtEl>
                                      </p:cBhvr>
                                    </p:animEffect>
                                  </p:childTnLst>
                                </p:cTn>
                              </p:par>
                            </p:childTnLst>
                          </p:cTn>
                        </p:par>
                      </p:childTnLst>
                    </p:cTn>
                  </p:par>
                  <p:par>
                    <p:cTn id="73" fill="hold">
                      <p:stCondLst>
                        <p:cond delay="indefinite"/>
                      </p:stCondLst>
                      <p:childTnLst>
                        <p:par>
                          <p:cTn id="74" fill="hold">
                            <p:stCondLst>
                              <p:cond delay="0"/>
                            </p:stCondLst>
                            <p:childTnLst>
                              <p:par>
                                <p:cTn id="75" presetID="22" presetClass="entr" presetSubtype="4" fill="hold" grpId="0" nodeType="clickEffect">
                                  <p:stCondLst>
                                    <p:cond delay="0"/>
                                  </p:stCondLst>
                                  <p:childTnLst>
                                    <p:set>
                                      <p:cBhvr>
                                        <p:cTn id="76" dur="1" fill="hold">
                                          <p:stCondLst>
                                            <p:cond delay="0"/>
                                          </p:stCondLst>
                                        </p:cTn>
                                        <p:tgtEl>
                                          <p:spTgt spid="6">
                                            <p:graphicEl>
                                              <a:chart seriesIdx="0" categoryIdx="14" bldStep="ptInSeries"/>
                                            </p:graphicEl>
                                          </p:spTgt>
                                        </p:tgtEl>
                                        <p:attrNameLst>
                                          <p:attrName>style.visibility</p:attrName>
                                        </p:attrNameLst>
                                      </p:cBhvr>
                                      <p:to>
                                        <p:strVal val="visible"/>
                                      </p:to>
                                    </p:set>
                                    <p:animEffect transition="in" filter="wipe(down)">
                                      <p:cBhvr>
                                        <p:cTn id="77" dur="500"/>
                                        <p:tgtEl>
                                          <p:spTgt spid="6">
                                            <p:graphicEl>
                                              <a:chart seriesIdx="0" categoryIdx="14" bldStep="ptInSeries"/>
                                            </p:graphicEl>
                                          </p:spTgt>
                                        </p:tgtEl>
                                      </p:cBhvr>
                                    </p:animEffect>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grpId="0" nodeType="clickEffect">
                                  <p:stCondLst>
                                    <p:cond delay="0"/>
                                  </p:stCondLst>
                                  <p:childTnLst>
                                    <p:set>
                                      <p:cBhvr>
                                        <p:cTn id="81" dur="1" fill="hold">
                                          <p:stCondLst>
                                            <p:cond delay="0"/>
                                          </p:stCondLst>
                                        </p:cTn>
                                        <p:tgtEl>
                                          <p:spTgt spid="6">
                                            <p:graphicEl>
                                              <a:chart seriesIdx="0" categoryIdx="15" bldStep="ptInSeries"/>
                                            </p:graphicEl>
                                          </p:spTgt>
                                        </p:tgtEl>
                                        <p:attrNameLst>
                                          <p:attrName>style.visibility</p:attrName>
                                        </p:attrNameLst>
                                      </p:cBhvr>
                                      <p:to>
                                        <p:strVal val="visible"/>
                                      </p:to>
                                    </p:set>
                                    <p:animEffect transition="in" filter="wipe(down)">
                                      <p:cBhvr>
                                        <p:cTn id="82" dur="500"/>
                                        <p:tgtEl>
                                          <p:spTgt spid="6">
                                            <p:graphicEl>
                                              <a:chart seriesIdx="0" categoryIdx="15" bldStep="ptInSeries"/>
                                            </p:graphicEl>
                                          </p:spTgt>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grpId="0" nodeType="clickEffect">
                                  <p:stCondLst>
                                    <p:cond delay="0"/>
                                  </p:stCondLst>
                                  <p:childTnLst>
                                    <p:set>
                                      <p:cBhvr>
                                        <p:cTn id="86" dur="1" fill="hold">
                                          <p:stCondLst>
                                            <p:cond delay="0"/>
                                          </p:stCondLst>
                                        </p:cTn>
                                        <p:tgtEl>
                                          <p:spTgt spid="6">
                                            <p:graphicEl>
                                              <a:chart seriesIdx="0" categoryIdx="16" bldStep="ptInSeries"/>
                                            </p:graphicEl>
                                          </p:spTgt>
                                        </p:tgtEl>
                                        <p:attrNameLst>
                                          <p:attrName>style.visibility</p:attrName>
                                        </p:attrNameLst>
                                      </p:cBhvr>
                                      <p:to>
                                        <p:strVal val="visible"/>
                                      </p:to>
                                    </p:set>
                                    <p:animEffect transition="in" filter="wipe(down)">
                                      <p:cBhvr>
                                        <p:cTn id="87" dur="500"/>
                                        <p:tgtEl>
                                          <p:spTgt spid="6">
                                            <p:graphicEl>
                                              <a:chart seriesIdx="0" categoryIdx="16" bldStep="ptInSeries"/>
                                            </p:graphicEl>
                                          </p:spTgt>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4" fill="hold" grpId="0" nodeType="clickEffect">
                                  <p:stCondLst>
                                    <p:cond delay="0"/>
                                  </p:stCondLst>
                                  <p:childTnLst>
                                    <p:set>
                                      <p:cBhvr>
                                        <p:cTn id="91" dur="1" fill="hold">
                                          <p:stCondLst>
                                            <p:cond delay="0"/>
                                          </p:stCondLst>
                                        </p:cTn>
                                        <p:tgtEl>
                                          <p:spTgt spid="6">
                                            <p:graphicEl>
                                              <a:chart seriesIdx="0" categoryIdx="17" bldStep="ptInSeries"/>
                                            </p:graphicEl>
                                          </p:spTgt>
                                        </p:tgtEl>
                                        <p:attrNameLst>
                                          <p:attrName>style.visibility</p:attrName>
                                        </p:attrNameLst>
                                      </p:cBhvr>
                                      <p:to>
                                        <p:strVal val="visible"/>
                                      </p:to>
                                    </p:set>
                                    <p:animEffect transition="in" filter="wipe(down)">
                                      <p:cBhvr>
                                        <p:cTn id="92" dur="500"/>
                                        <p:tgtEl>
                                          <p:spTgt spid="6">
                                            <p:graphicEl>
                                              <a:chart seriesIdx="0" categoryIdx="17" bldStep="ptInSeries"/>
                                            </p:graphicEl>
                                          </p:spTgt>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4" fill="hold" grpId="0" nodeType="clickEffect">
                                  <p:stCondLst>
                                    <p:cond delay="0"/>
                                  </p:stCondLst>
                                  <p:childTnLst>
                                    <p:set>
                                      <p:cBhvr>
                                        <p:cTn id="96" dur="1" fill="hold">
                                          <p:stCondLst>
                                            <p:cond delay="0"/>
                                          </p:stCondLst>
                                        </p:cTn>
                                        <p:tgtEl>
                                          <p:spTgt spid="6">
                                            <p:graphicEl>
                                              <a:chart seriesIdx="0" categoryIdx="18" bldStep="ptInSeries"/>
                                            </p:graphicEl>
                                          </p:spTgt>
                                        </p:tgtEl>
                                        <p:attrNameLst>
                                          <p:attrName>style.visibility</p:attrName>
                                        </p:attrNameLst>
                                      </p:cBhvr>
                                      <p:to>
                                        <p:strVal val="visible"/>
                                      </p:to>
                                    </p:set>
                                    <p:animEffect transition="in" filter="wipe(down)">
                                      <p:cBhvr>
                                        <p:cTn id="97" dur="500"/>
                                        <p:tgtEl>
                                          <p:spTgt spid="6">
                                            <p:graphicEl>
                                              <a:chart seriesIdx="0" categoryIdx="18" bldStep="ptInSeries"/>
                                            </p:graphicEl>
                                          </p:spTgt>
                                        </p:tgtEl>
                                      </p:cBhvr>
                                    </p:animEffect>
                                  </p:childTnLst>
                                </p:cTn>
                              </p:par>
                            </p:childTnLst>
                          </p:cTn>
                        </p:par>
                      </p:childTnLst>
                    </p:cTn>
                  </p:par>
                  <p:par>
                    <p:cTn id="98" fill="hold">
                      <p:stCondLst>
                        <p:cond delay="indefinite"/>
                      </p:stCondLst>
                      <p:childTnLst>
                        <p:par>
                          <p:cTn id="99" fill="hold">
                            <p:stCondLst>
                              <p:cond delay="0"/>
                            </p:stCondLst>
                            <p:childTnLst>
                              <p:par>
                                <p:cTn id="100" presetID="22" presetClass="entr" presetSubtype="4" fill="hold" grpId="0" nodeType="clickEffect">
                                  <p:stCondLst>
                                    <p:cond delay="0"/>
                                  </p:stCondLst>
                                  <p:childTnLst>
                                    <p:set>
                                      <p:cBhvr>
                                        <p:cTn id="101" dur="1" fill="hold">
                                          <p:stCondLst>
                                            <p:cond delay="0"/>
                                          </p:stCondLst>
                                        </p:cTn>
                                        <p:tgtEl>
                                          <p:spTgt spid="6">
                                            <p:graphicEl>
                                              <a:chart seriesIdx="0" categoryIdx="19" bldStep="ptInSeries"/>
                                            </p:graphicEl>
                                          </p:spTgt>
                                        </p:tgtEl>
                                        <p:attrNameLst>
                                          <p:attrName>style.visibility</p:attrName>
                                        </p:attrNameLst>
                                      </p:cBhvr>
                                      <p:to>
                                        <p:strVal val="visible"/>
                                      </p:to>
                                    </p:set>
                                    <p:animEffect transition="in" filter="wipe(down)">
                                      <p:cBhvr>
                                        <p:cTn id="102" dur="500"/>
                                        <p:tgtEl>
                                          <p:spTgt spid="6">
                                            <p:graphicEl>
                                              <a:chart seriesIdx="0" categoryIdx="19" bldStep="ptInSeries"/>
                                            </p:graphicEl>
                                          </p:spTgt>
                                        </p:tgtEl>
                                      </p:cBhvr>
                                    </p:animEffect>
                                  </p:childTnLst>
                                </p:cTn>
                              </p:par>
                            </p:childTnLst>
                          </p:cTn>
                        </p:par>
                      </p:childTnLst>
                    </p:cTn>
                  </p:par>
                  <p:par>
                    <p:cTn id="103" fill="hold">
                      <p:stCondLst>
                        <p:cond delay="indefinite"/>
                      </p:stCondLst>
                      <p:childTnLst>
                        <p:par>
                          <p:cTn id="104" fill="hold">
                            <p:stCondLst>
                              <p:cond delay="0"/>
                            </p:stCondLst>
                            <p:childTnLst>
                              <p:par>
                                <p:cTn id="105" presetID="22" presetClass="entr" presetSubtype="4" fill="hold" grpId="0" nodeType="clickEffect">
                                  <p:stCondLst>
                                    <p:cond delay="0"/>
                                  </p:stCondLst>
                                  <p:childTnLst>
                                    <p:set>
                                      <p:cBhvr>
                                        <p:cTn id="106" dur="1" fill="hold">
                                          <p:stCondLst>
                                            <p:cond delay="0"/>
                                          </p:stCondLst>
                                        </p:cTn>
                                        <p:tgtEl>
                                          <p:spTgt spid="6">
                                            <p:graphicEl>
                                              <a:chart seriesIdx="0" categoryIdx="20" bldStep="ptInSeries"/>
                                            </p:graphicEl>
                                          </p:spTgt>
                                        </p:tgtEl>
                                        <p:attrNameLst>
                                          <p:attrName>style.visibility</p:attrName>
                                        </p:attrNameLst>
                                      </p:cBhvr>
                                      <p:to>
                                        <p:strVal val="visible"/>
                                      </p:to>
                                    </p:set>
                                    <p:animEffect transition="in" filter="wipe(down)">
                                      <p:cBhvr>
                                        <p:cTn id="107" dur="500"/>
                                        <p:tgtEl>
                                          <p:spTgt spid="6">
                                            <p:graphicEl>
                                              <a:chart seriesIdx="0" categoryIdx="20" bldStep="ptIn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6" grpId="0" uiExpand="1">
        <p:bldSub>
          <a:bldChart bld="seriesEl" animBg="0"/>
        </p:bldSub>
      </p:bldGraphic>
    </p:bldLst>
  </p:timing>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88362-FB93-ED3B-68C6-887E05F1EDF1}"/>
              </a:ext>
            </a:extLst>
          </p:cNvPr>
          <p:cNvSpPr>
            <a:spLocks noGrp="1"/>
          </p:cNvSpPr>
          <p:nvPr>
            <p:ph type="title"/>
          </p:nvPr>
        </p:nvSpPr>
        <p:spPr/>
        <p:txBody>
          <a:bodyPr>
            <a:normAutofit fontScale="90000"/>
          </a:bodyPr>
          <a:lstStyle/>
          <a:p>
            <a:r>
              <a:rPr lang="en-US" dirty="0"/>
              <a:t>Unanticipated Interest Rate Changes</a:t>
            </a:r>
          </a:p>
        </p:txBody>
      </p:sp>
      <p:sp>
        <p:nvSpPr>
          <p:cNvPr id="3" name="Text Placeholder 2">
            <a:extLst>
              <a:ext uri="{FF2B5EF4-FFF2-40B4-BE49-F238E27FC236}">
                <a16:creationId xmlns:a16="http://schemas.microsoft.com/office/drawing/2014/main" id="{FC178E6D-A243-25A4-B6DE-6F64D4510FCD}"/>
              </a:ext>
            </a:extLst>
          </p:cNvPr>
          <p:cNvSpPr>
            <a:spLocks noGrp="1"/>
          </p:cNvSpPr>
          <p:nvPr>
            <p:ph type="body" idx="1"/>
          </p:nvPr>
        </p:nvSpPr>
        <p:spPr/>
        <p:txBody>
          <a:bodyPr/>
          <a:lstStyle/>
          <a:p>
            <a:r>
              <a:rPr lang="en-US" dirty="0"/>
              <a:t>Interest Rate</a:t>
            </a:r>
          </a:p>
        </p:txBody>
      </p:sp>
      <p:sp>
        <p:nvSpPr>
          <p:cNvPr id="5" name="Text Placeholder 4">
            <a:extLst>
              <a:ext uri="{FF2B5EF4-FFF2-40B4-BE49-F238E27FC236}">
                <a16:creationId xmlns:a16="http://schemas.microsoft.com/office/drawing/2014/main" id="{7207E902-D0AD-4D24-6ECD-EAABF7B5E0C4}"/>
              </a:ext>
            </a:extLst>
          </p:cNvPr>
          <p:cNvSpPr>
            <a:spLocks noGrp="1"/>
          </p:cNvSpPr>
          <p:nvPr>
            <p:ph type="body" sz="quarter" idx="3"/>
          </p:nvPr>
        </p:nvSpPr>
        <p:spPr/>
        <p:txBody>
          <a:bodyPr/>
          <a:lstStyle/>
          <a:p>
            <a:r>
              <a:rPr lang="en-US" dirty="0"/>
              <a:t>Perpetuity Value</a:t>
            </a:r>
          </a:p>
        </p:txBody>
      </p:sp>
      <p:graphicFrame>
        <p:nvGraphicFramePr>
          <p:cNvPr id="7" name="Content Placeholder 5">
            <a:extLst>
              <a:ext uri="{FF2B5EF4-FFF2-40B4-BE49-F238E27FC236}">
                <a16:creationId xmlns:a16="http://schemas.microsoft.com/office/drawing/2014/main" id="{03E7B072-1F2C-0498-250D-BE6B26A7F128}"/>
              </a:ext>
            </a:extLst>
          </p:cNvPr>
          <p:cNvGraphicFramePr>
            <a:graphicFrameLocks noGrp="1"/>
          </p:cNvGraphicFramePr>
          <p:nvPr>
            <p:ph sz="half" idx="2"/>
            <p:extLst>
              <p:ext uri="{D42A27DB-BD31-4B8C-83A1-F6EECF244321}">
                <p14:modId xmlns:p14="http://schemas.microsoft.com/office/powerpoint/2010/main" val="2682446598"/>
              </p:ext>
            </p:extLst>
          </p:nvPr>
        </p:nvGraphicFramePr>
        <p:xfrm>
          <a:off x="457200" y="1630363"/>
          <a:ext cx="4040188" cy="296386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ontent Placeholder 5">
            <a:extLst>
              <a:ext uri="{FF2B5EF4-FFF2-40B4-BE49-F238E27FC236}">
                <a16:creationId xmlns:a16="http://schemas.microsoft.com/office/drawing/2014/main" id="{E766D4E6-8FA6-6916-6C65-1E2754EF70E6}"/>
              </a:ext>
            </a:extLst>
          </p:cNvPr>
          <p:cNvGraphicFramePr>
            <a:graphicFrameLocks noGrp="1"/>
          </p:cNvGraphicFramePr>
          <p:nvPr>
            <p:ph sz="quarter" idx="4"/>
            <p:extLst>
              <p:ext uri="{D42A27DB-BD31-4B8C-83A1-F6EECF244321}">
                <p14:modId xmlns:p14="http://schemas.microsoft.com/office/powerpoint/2010/main" val="2802262805"/>
              </p:ext>
            </p:extLst>
          </p:nvPr>
        </p:nvGraphicFramePr>
        <p:xfrm>
          <a:off x="4645025" y="1630363"/>
          <a:ext cx="4041775" cy="296386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820880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graphicEl>
                                              <a:chart seriesIdx="-4" categoryIdx="0" bldStep="category"/>
                                            </p:graphicEl>
                                          </p:spTgt>
                                        </p:tgtEl>
                                        <p:attrNameLst>
                                          <p:attrName>style.visibility</p:attrName>
                                        </p:attrNameLst>
                                      </p:cBhvr>
                                      <p:to>
                                        <p:strVal val="visible"/>
                                      </p:to>
                                    </p:set>
                                    <p:anim calcmode="lin" valueType="num">
                                      <p:cBhvr additive="base">
                                        <p:cTn id="7" dur="500" fill="hold"/>
                                        <p:tgtEl>
                                          <p:spTgt spid="7">
                                            <p:graphicEl>
                                              <a:chart seriesIdx="-4" categoryIdx="0" bldStep="category"/>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graphicEl>
                                              <a:chart seriesIdx="-4" categoryIdx="0"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8">
                                            <p:graphicEl>
                                              <a:chart seriesIdx="0" categoryIdx="0" bldStep="ptInSeries"/>
                                            </p:graphicEl>
                                          </p:spTgt>
                                        </p:tgtEl>
                                        <p:attrNameLst>
                                          <p:attrName>style.visibility</p:attrName>
                                        </p:attrNameLst>
                                      </p:cBhvr>
                                      <p:to>
                                        <p:strVal val="visible"/>
                                      </p:to>
                                    </p:set>
                                    <p:animEffect transition="in" filter="wipe(down)">
                                      <p:cBhvr>
                                        <p:cTn id="13" dur="500"/>
                                        <p:tgtEl>
                                          <p:spTgt spid="8">
                                            <p:graphicEl>
                                              <a:chart seriesIdx="0" categoryIdx="0" bldStep="ptInSeries"/>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
                                            <p:graphicEl>
                                              <a:chart seriesIdx="-4" categoryIdx="1" bldStep="category"/>
                                            </p:graphicEl>
                                          </p:spTgt>
                                        </p:tgtEl>
                                        <p:attrNameLst>
                                          <p:attrName>style.visibility</p:attrName>
                                        </p:attrNameLst>
                                      </p:cBhvr>
                                      <p:to>
                                        <p:strVal val="visible"/>
                                      </p:to>
                                    </p:set>
                                    <p:anim calcmode="lin" valueType="num">
                                      <p:cBhvr additive="base">
                                        <p:cTn id="18" dur="500" fill="hold"/>
                                        <p:tgtEl>
                                          <p:spTgt spid="7">
                                            <p:graphicEl>
                                              <a:chart seriesIdx="-4" categoryIdx="1" bldStep="category"/>
                                            </p:graphicEl>
                                          </p:spTgt>
                                        </p:tgtEl>
                                        <p:attrNameLst>
                                          <p:attrName>ppt_x</p:attrName>
                                        </p:attrNameLst>
                                      </p:cBhvr>
                                      <p:tavLst>
                                        <p:tav tm="0">
                                          <p:val>
                                            <p:strVal val="#ppt_x"/>
                                          </p:val>
                                        </p:tav>
                                        <p:tav tm="100000">
                                          <p:val>
                                            <p:strVal val="#ppt_x"/>
                                          </p:val>
                                        </p:tav>
                                      </p:tavLst>
                                    </p:anim>
                                    <p:anim calcmode="lin" valueType="num">
                                      <p:cBhvr additive="base">
                                        <p:cTn id="19" dur="500" fill="hold"/>
                                        <p:tgtEl>
                                          <p:spTgt spid="7">
                                            <p:graphicEl>
                                              <a:chart seriesIdx="-4" categoryIdx="1"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8">
                                            <p:graphicEl>
                                              <a:chart seriesIdx="0" categoryIdx="1" bldStep="ptInSeries"/>
                                            </p:graphicEl>
                                          </p:spTgt>
                                        </p:tgtEl>
                                        <p:attrNameLst>
                                          <p:attrName>style.visibility</p:attrName>
                                        </p:attrNameLst>
                                      </p:cBhvr>
                                      <p:to>
                                        <p:strVal val="visible"/>
                                      </p:to>
                                    </p:set>
                                    <p:animEffect transition="in" filter="wipe(down)">
                                      <p:cBhvr>
                                        <p:cTn id="24" dur="500"/>
                                        <p:tgtEl>
                                          <p:spTgt spid="8">
                                            <p:graphicEl>
                                              <a:chart seriesIdx="0" categoryIdx="1" bldStep="ptInSeries"/>
                                            </p:graphic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graphicEl>
                                              <a:chart seriesIdx="-4" categoryIdx="2" bldStep="category"/>
                                            </p:graphicEl>
                                          </p:spTgt>
                                        </p:tgtEl>
                                        <p:attrNameLst>
                                          <p:attrName>style.visibility</p:attrName>
                                        </p:attrNameLst>
                                      </p:cBhvr>
                                      <p:to>
                                        <p:strVal val="visible"/>
                                      </p:to>
                                    </p:set>
                                    <p:anim calcmode="lin" valueType="num">
                                      <p:cBhvr additive="base">
                                        <p:cTn id="29" dur="500" fill="hold"/>
                                        <p:tgtEl>
                                          <p:spTgt spid="7">
                                            <p:graphicEl>
                                              <a:chart seriesIdx="-4" categoryIdx="2" bldStep="category"/>
                                            </p:graphic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graphicEl>
                                              <a:chart seriesIdx="-4" categoryIdx="2"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8">
                                            <p:graphicEl>
                                              <a:chart seriesIdx="0" categoryIdx="2" bldStep="ptInSeries"/>
                                            </p:graphicEl>
                                          </p:spTgt>
                                        </p:tgtEl>
                                        <p:attrNameLst>
                                          <p:attrName>style.visibility</p:attrName>
                                        </p:attrNameLst>
                                      </p:cBhvr>
                                      <p:to>
                                        <p:strVal val="visible"/>
                                      </p:to>
                                    </p:set>
                                    <p:animEffect transition="in" filter="wipe(down)">
                                      <p:cBhvr>
                                        <p:cTn id="35" dur="500"/>
                                        <p:tgtEl>
                                          <p:spTgt spid="8">
                                            <p:graphicEl>
                                              <a:chart seriesIdx="0" categoryIdx="2" bldStep="ptInSeries"/>
                                            </p:graphicEl>
                                          </p:spTgt>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7">
                                            <p:graphicEl>
                                              <a:chart seriesIdx="-4" categoryIdx="3" bldStep="category"/>
                                            </p:graphicEl>
                                          </p:spTgt>
                                        </p:tgtEl>
                                        <p:attrNameLst>
                                          <p:attrName>style.visibility</p:attrName>
                                        </p:attrNameLst>
                                      </p:cBhvr>
                                      <p:to>
                                        <p:strVal val="visible"/>
                                      </p:to>
                                    </p:set>
                                    <p:anim calcmode="lin" valueType="num">
                                      <p:cBhvr additive="base">
                                        <p:cTn id="40" dur="500" fill="hold"/>
                                        <p:tgtEl>
                                          <p:spTgt spid="7">
                                            <p:graphicEl>
                                              <a:chart seriesIdx="-4" categoryIdx="3" bldStep="category"/>
                                            </p:graphicEl>
                                          </p:spTgt>
                                        </p:tgtEl>
                                        <p:attrNameLst>
                                          <p:attrName>ppt_x</p:attrName>
                                        </p:attrNameLst>
                                      </p:cBhvr>
                                      <p:tavLst>
                                        <p:tav tm="0">
                                          <p:val>
                                            <p:strVal val="#ppt_x"/>
                                          </p:val>
                                        </p:tav>
                                        <p:tav tm="100000">
                                          <p:val>
                                            <p:strVal val="#ppt_x"/>
                                          </p:val>
                                        </p:tav>
                                      </p:tavLst>
                                    </p:anim>
                                    <p:anim calcmode="lin" valueType="num">
                                      <p:cBhvr additive="base">
                                        <p:cTn id="41" dur="500" fill="hold"/>
                                        <p:tgtEl>
                                          <p:spTgt spid="7">
                                            <p:graphicEl>
                                              <a:chart seriesIdx="-4" categoryIdx="3"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8">
                                            <p:graphicEl>
                                              <a:chart seriesIdx="0" categoryIdx="3" bldStep="ptInSeries"/>
                                            </p:graphicEl>
                                          </p:spTgt>
                                        </p:tgtEl>
                                        <p:attrNameLst>
                                          <p:attrName>style.visibility</p:attrName>
                                        </p:attrNameLst>
                                      </p:cBhvr>
                                      <p:to>
                                        <p:strVal val="visible"/>
                                      </p:to>
                                    </p:set>
                                    <p:animEffect transition="in" filter="wipe(down)">
                                      <p:cBhvr>
                                        <p:cTn id="46" dur="500"/>
                                        <p:tgtEl>
                                          <p:spTgt spid="8">
                                            <p:graphicEl>
                                              <a:chart seriesIdx="0" categoryIdx="3" bldStep="ptInSeries"/>
                                            </p:graphicEl>
                                          </p:spTgt>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7">
                                            <p:graphicEl>
                                              <a:chart seriesIdx="-4" categoryIdx="4" bldStep="category"/>
                                            </p:graphicEl>
                                          </p:spTgt>
                                        </p:tgtEl>
                                        <p:attrNameLst>
                                          <p:attrName>style.visibility</p:attrName>
                                        </p:attrNameLst>
                                      </p:cBhvr>
                                      <p:to>
                                        <p:strVal val="visible"/>
                                      </p:to>
                                    </p:set>
                                    <p:anim calcmode="lin" valueType="num">
                                      <p:cBhvr additive="base">
                                        <p:cTn id="51" dur="500" fill="hold"/>
                                        <p:tgtEl>
                                          <p:spTgt spid="7">
                                            <p:graphicEl>
                                              <a:chart seriesIdx="-4" categoryIdx="4" bldStep="category"/>
                                            </p:graphicEl>
                                          </p:spTgt>
                                        </p:tgtEl>
                                        <p:attrNameLst>
                                          <p:attrName>ppt_x</p:attrName>
                                        </p:attrNameLst>
                                      </p:cBhvr>
                                      <p:tavLst>
                                        <p:tav tm="0">
                                          <p:val>
                                            <p:strVal val="#ppt_x"/>
                                          </p:val>
                                        </p:tav>
                                        <p:tav tm="100000">
                                          <p:val>
                                            <p:strVal val="#ppt_x"/>
                                          </p:val>
                                        </p:tav>
                                      </p:tavLst>
                                    </p:anim>
                                    <p:anim calcmode="lin" valueType="num">
                                      <p:cBhvr additive="base">
                                        <p:cTn id="52" dur="500" fill="hold"/>
                                        <p:tgtEl>
                                          <p:spTgt spid="7">
                                            <p:graphicEl>
                                              <a:chart seriesIdx="-4" categoryIdx="4"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8">
                                            <p:graphicEl>
                                              <a:chart seriesIdx="0" categoryIdx="4" bldStep="ptInSeries"/>
                                            </p:graphicEl>
                                          </p:spTgt>
                                        </p:tgtEl>
                                        <p:attrNameLst>
                                          <p:attrName>style.visibility</p:attrName>
                                        </p:attrNameLst>
                                      </p:cBhvr>
                                      <p:to>
                                        <p:strVal val="visible"/>
                                      </p:to>
                                    </p:set>
                                    <p:animEffect transition="in" filter="wipe(down)">
                                      <p:cBhvr>
                                        <p:cTn id="57" dur="500"/>
                                        <p:tgtEl>
                                          <p:spTgt spid="8">
                                            <p:graphicEl>
                                              <a:chart seriesIdx="0" categoryIdx="4" bldStep="ptInSeries"/>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7">
                                            <p:graphicEl>
                                              <a:chart seriesIdx="-4" categoryIdx="5" bldStep="category"/>
                                            </p:graphicEl>
                                          </p:spTgt>
                                        </p:tgtEl>
                                        <p:attrNameLst>
                                          <p:attrName>style.visibility</p:attrName>
                                        </p:attrNameLst>
                                      </p:cBhvr>
                                      <p:to>
                                        <p:strVal val="visible"/>
                                      </p:to>
                                    </p:set>
                                    <p:anim calcmode="lin" valueType="num">
                                      <p:cBhvr additive="base">
                                        <p:cTn id="62" dur="500" fill="hold"/>
                                        <p:tgtEl>
                                          <p:spTgt spid="7">
                                            <p:graphicEl>
                                              <a:chart seriesIdx="-4" categoryIdx="5" bldStep="category"/>
                                            </p:graphicEl>
                                          </p:spTgt>
                                        </p:tgtEl>
                                        <p:attrNameLst>
                                          <p:attrName>ppt_x</p:attrName>
                                        </p:attrNameLst>
                                      </p:cBhvr>
                                      <p:tavLst>
                                        <p:tav tm="0">
                                          <p:val>
                                            <p:strVal val="#ppt_x"/>
                                          </p:val>
                                        </p:tav>
                                        <p:tav tm="100000">
                                          <p:val>
                                            <p:strVal val="#ppt_x"/>
                                          </p:val>
                                        </p:tav>
                                      </p:tavLst>
                                    </p:anim>
                                    <p:anim calcmode="lin" valueType="num">
                                      <p:cBhvr additive="base">
                                        <p:cTn id="63" dur="500" fill="hold"/>
                                        <p:tgtEl>
                                          <p:spTgt spid="7">
                                            <p:graphicEl>
                                              <a:chart seriesIdx="-4" categoryIdx="5"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8">
                                            <p:graphicEl>
                                              <a:chart seriesIdx="0" categoryIdx="5" bldStep="ptInSeries"/>
                                            </p:graphicEl>
                                          </p:spTgt>
                                        </p:tgtEl>
                                        <p:attrNameLst>
                                          <p:attrName>style.visibility</p:attrName>
                                        </p:attrNameLst>
                                      </p:cBhvr>
                                      <p:to>
                                        <p:strVal val="visible"/>
                                      </p:to>
                                    </p:set>
                                    <p:animEffect transition="in" filter="wipe(down)">
                                      <p:cBhvr>
                                        <p:cTn id="68" dur="500"/>
                                        <p:tgtEl>
                                          <p:spTgt spid="8">
                                            <p:graphicEl>
                                              <a:chart seriesIdx="0" categoryIdx="5" bldStep="ptInSeries"/>
                                            </p:graphicEl>
                                          </p:spTgt>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7">
                                            <p:graphicEl>
                                              <a:chart seriesIdx="-4" categoryIdx="6" bldStep="category"/>
                                            </p:graphicEl>
                                          </p:spTgt>
                                        </p:tgtEl>
                                        <p:attrNameLst>
                                          <p:attrName>style.visibility</p:attrName>
                                        </p:attrNameLst>
                                      </p:cBhvr>
                                      <p:to>
                                        <p:strVal val="visible"/>
                                      </p:to>
                                    </p:set>
                                    <p:anim calcmode="lin" valueType="num">
                                      <p:cBhvr additive="base">
                                        <p:cTn id="73" dur="500" fill="hold"/>
                                        <p:tgtEl>
                                          <p:spTgt spid="7">
                                            <p:graphicEl>
                                              <a:chart seriesIdx="-4" categoryIdx="6" bldStep="category"/>
                                            </p:graphicEl>
                                          </p:spTgt>
                                        </p:tgtEl>
                                        <p:attrNameLst>
                                          <p:attrName>ppt_x</p:attrName>
                                        </p:attrNameLst>
                                      </p:cBhvr>
                                      <p:tavLst>
                                        <p:tav tm="0">
                                          <p:val>
                                            <p:strVal val="#ppt_x"/>
                                          </p:val>
                                        </p:tav>
                                        <p:tav tm="100000">
                                          <p:val>
                                            <p:strVal val="#ppt_x"/>
                                          </p:val>
                                        </p:tav>
                                      </p:tavLst>
                                    </p:anim>
                                    <p:anim calcmode="lin" valueType="num">
                                      <p:cBhvr additive="base">
                                        <p:cTn id="74" dur="500" fill="hold"/>
                                        <p:tgtEl>
                                          <p:spTgt spid="7">
                                            <p:graphicEl>
                                              <a:chart seriesIdx="-4" categoryIdx="6"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grpId="0" nodeType="clickEffect">
                                  <p:stCondLst>
                                    <p:cond delay="0"/>
                                  </p:stCondLst>
                                  <p:childTnLst>
                                    <p:set>
                                      <p:cBhvr>
                                        <p:cTn id="78" dur="1" fill="hold">
                                          <p:stCondLst>
                                            <p:cond delay="0"/>
                                          </p:stCondLst>
                                        </p:cTn>
                                        <p:tgtEl>
                                          <p:spTgt spid="8">
                                            <p:graphicEl>
                                              <a:chart seriesIdx="0" categoryIdx="6" bldStep="ptInSeries"/>
                                            </p:graphicEl>
                                          </p:spTgt>
                                        </p:tgtEl>
                                        <p:attrNameLst>
                                          <p:attrName>style.visibility</p:attrName>
                                        </p:attrNameLst>
                                      </p:cBhvr>
                                      <p:to>
                                        <p:strVal val="visible"/>
                                      </p:to>
                                    </p:set>
                                    <p:animEffect transition="in" filter="wipe(down)">
                                      <p:cBhvr>
                                        <p:cTn id="79" dur="500"/>
                                        <p:tgtEl>
                                          <p:spTgt spid="8">
                                            <p:graphicEl>
                                              <a:chart seriesIdx="0" categoryIdx="6" bldStep="ptInSeries"/>
                                            </p:graphicEl>
                                          </p:spTgt>
                                        </p:tgtEl>
                                      </p:cBhvr>
                                    </p:animEffect>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7">
                                            <p:graphicEl>
                                              <a:chart seriesIdx="-4" categoryIdx="7" bldStep="category"/>
                                            </p:graphicEl>
                                          </p:spTgt>
                                        </p:tgtEl>
                                        <p:attrNameLst>
                                          <p:attrName>style.visibility</p:attrName>
                                        </p:attrNameLst>
                                      </p:cBhvr>
                                      <p:to>
                                        <p:strVal val="visible"/>
                                      </p:to>
                                    </p:set>
                                    <p:anim calcmode="lin" valueType="num">
                                      <p:cBhvr additive="base">
                                        <p:cTn id="84" dur="500" fill="hold"/>
                                        <p:tgtEl>
                                          <p:spTgt spid="7">
                                            <p:graphicEl>
                                              <a:chart seriesIdx="-4" categoryIdx="7" bldStep="category"/>
                                            </p:graphicEl>
                                          </p:spTgt>
                                        </p:tgtEl>
                                        <p:attrNameLst>
                                          <p:attrName>ppt_x</p:attrName>
                                        </p:attrNameLst>
                                      </p:cBhvr>
                                      <p:tavLst>
                                        <p:tav tm="0">
                                          <p:val>
                                            <p:strVal val="#ppt_x"/>
                                          </p:val>
                                        </p:tav>
                                        <p:tav tm="100000">
                                          <p:val>
                                            <p:strVal val="#ppt_x"/>
                                          </p:val>
                                        </p:tav>
                                      </p:tavLst>
                                    </p:anim>
                                    <p:anim calcmode="lin" valueType="num">
                                      <p:cBhvr additive="base">
                                        <p:cTn id="85" dur="500" fill="hold"/>
                                        <p:tgtEl>
                                          <p:spTgt spid="7">
                                            <p:graphicEl>
                                              <a:chart seriesIdx="-4" categoryIdx="7"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grpId="0" nodeType="clickEffect">
                                  <p:stCondLst>
                                    <p:cond delay="0"/>
                                  </p:stCondLst>
                                  <p:childTnLst>
                                    <p:set>
                                      <p:cBhvr>
                                        <p:cTn id="89" dur="1" fill="hold">
                                          <p:stCondLst>
                                            <p:cond delay="0"/>
                                          </p:stCondLst>
                                        </p:cTn>
                                        <p:tgtEl>
                                          <p:spTgt spid="8">
                                            <p:graphicEl>
                                              <a:chart seriesIdx="0" categoryIdx="7" bldStep="ptInSeries"/>
                                            </p:graphicEl>
                                          </p:spTgt>
                                        </p:tgtEl>
                                        <p:attrNameLst>
                                          <p:attrName>style.visibility</p:attrName>
                                        </p:attrNameLst>
                                      </p:cBhvr>
                                      <p:to>
                                        <p:strVal val="visible"/>
                                      </p:to>
                                    </p:set>
                                    <p:animEffect transition="in" filter="wipe(down)">
                                      <p:cBhvr>
                                        <p:cTn id="90" dur="500"/>
                                        <p:tgtEl>
                                          <p:spTgt spid="8">
                                            <p:graphicEl>
                                              <a:chart seriesIdx="0" categoryIdx="7" bldStep="ptInSeries"/>
                                            </p:graphicEl>
                                          </p:spTgt>
                                        </p:tgtEl>
                                      </p:cBhvr>
                                    </p:animEffect>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7">
                                            <p:graphicEl>
                                              <a:chart seriesIdx="-4" categoryIdx="8" bldStep="category"/>
                                            </p:graphicEl>
                                          </p:spTgt>
                                        </p:tgtEl>
                                        <p:attrNameLst>
                                          <p:attrName>style.visibility</p:attrName>
                                        </p:attrNameLst>
                                      </p:cBhvr>
                                      <p:to>
                                        <p:strVal val="visible"/>
                                      </p:to>
                                    </p:set>
                                    <p:anim calcmode="lin" valueType="num">
                                      <p:cBhvr additive="base">
                                        <p:cTn id="95" dur="500" fill="hold"/>
                                        <p:tgtEl>
                                          <p:spTgt spid="7">
                                            <p:graphicEl>
                                              <a:chart seriesIdx="-4" categoryIdx="8" bldStep="category"/>
                                            </p:graphicEl>
                                          </p:spTgt>
                                        </p:tgtEl>
                                        <p:attrNameLst>
                                          <p:attrName>ppt_x</p:attrName>
                                        </p:attrNameLst>
                                      </p:cBhvr>
                                      <p:tavLst>
                                        <p:tav tm="0">
                                          <p:val>
                                            <p:strVal val="#ppt_x"/>
                                          </p:val>
                                        </p:tav>
                                        <p:tav tm="100000">
                                          <p:val>
                                            <p:strVal val="#ppt_x"/>
                                          </p:val>
                                        </p:tav>
                                      </p:tavLst>
                                    </p:anim>
                                    <p:anim calcmode="lin" valueType="num">
                                      <p:cBhvr additive="base">
                                        <p:cTn id="96" dur="500" fill="hold"/>
                                        <p:tgtEl>
                                          <p:spTgt spid="7">
                                            <p:graphicEl>
                                              <a:chart seriesIdx="-4" categoryIdx="8"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2" presetClass="entr" presetSubtype="4" fill="hold" grpId="0" nodeType="clickEffect">
                                  <p:stCondLst>
                                    <p:cond delay="0"/>
                                  </p:stCondLst>
                                  <p:childTnLst>
                                    <p:set>
                                      <p:cBhvr>
                                        <p:cTn id="100" dur="1" fill="hold">
                                          <p:stCondLst>
                                            <p:cond delay="0"/>
                                          </p:stCondLst>
                                        </p:cTn>
                                        <p:tgtEl>
                                          <p:spTgt spid="8">
                                            <p:graphicEl>
                                              <a:chart seriesIdx="0" categoryIdx="8" bldStep="ptInSeries"/>
                                            </p:graphicEl>
                                          </p:spTgt>
                                        </p:tgtEl>
                                        <p:attrNameLst>
                                          <p:attrName>style.visibility</p:attrName>
                                        </p:attrNameLst>
                                      </p:cBhvr>
                                      <p:to>
                                        <p:strVal val="visible"/>
                                      </p:to>
                                    </p:set>
                                    <p:animEffect transition="in" filter="wipe(down)">
                                      <p:cBhvr>
                                        <p:cTn id="101" dur="500"/>
                                        <p:tgtEl>
                                          <p:spTgt spid="8">
                                            <p:graphicEl>
                                              <a:chart seriesIdx="0" categoryIdx="8" bldStep="ptInSeries"/>
                                            </p:graphicEl>
                                          </p:spTgt>
                                        </p:tgtEl>
                                      </p:cBhvr>
                                    </p:animEffect>
                                  </p:childTnLst>
                                </p:cTn>
                              </p:par>
                            </p:childTnLst>
                          </p:cTn>
                        </p:par>
                      </p:childTnLst>
                    </p:cTn>
                  </p:par>
                  <p:par>
                    <p:cTn id="102" fill="hold">
                      <p:stCondLst>
                        <p:cond delay="indefinite"/>
                      </p:stCondLst>
                      <p:childTnLst>
                        <p:par>
                          <p:cTn id="103" fill="hold">
                            <p:stCondLst>
                              <p:cond delay="0"/>
                            </p:stCondLst>
                            <p:childTnLst>
                              <p:par>
                                <p:cTn id="104" presetID="2" presetClass="entr" presetSubtype="4" fill="hold" grpId="0" nodeType="clickEffect">
                                  <p:stCondLst>
                                    <p:cond delay="0"/>
                                  </p:stCondLst>
                                  <p:childTnLst>
                                    <p:set>
                                      <p:cBhvr>
                                        <p:cTn id="105" dur="1" fill="hold">
                                          <p:stCondLst>
                                            <p:cond delay="0"/>
                                          </p:stCondLst>
                                        </p:cTn>
                                        <p:tgtEl>
                                          <p:spTgt spid="7">
                                            <p:graphicEl>
                                              <a:chart seriesIdx="-4" categoryIdx="9" bldStep="category"/>
                                            </p:graphicEl>
                                          </p:spTgt>
                                        </p:tgtEl>
                                        <p:attrNameLst>
                                          <p:attrName>style.visibility</p:attrName>
                                        </p:attrNameLst>
                                      </p:cBhvr>
                                      <p:to>
                                        <p:strVal val="visible"/>
                                      </p:to>
                                    </p:set>
                                    <p:anim calcmode="lin" valueType="num">
                                      <p:cBhvr additive="base">
                                        <p:cTn id="106" dur="500" fill="hold"/>
                                        <p:tgtEl>
                                          <p:spTgt spid="7">
                                            <p:graphicEl>
                                              <a:chart seriesIdx="-4" categoryIdx="9" bldStep="category"/>
                                            </p:graphicEl>
                                          </p:spTgt>
                                        </p:tgtEl>
                                        <p:attrNameLst>
                                          <p:attrName>ppt_x</p:attrName>
                                        </p:attrNameLst>
                                      </p:cBhvr>
                                      <p:tavLst>
                                        <p:tav tm="0">
                                          <p:val>
                                            <p:strVal val="#ppt_x"/>
                                          </p:val>
                                        </p:tav>
                                        <p:tav tm="100000">
                                          <p:val>
                                            <p:strVal val="#ppt_x"/>
                                          </p:val>
                                        </p:tav>
                                      </p:tavLst>
                                    </p:anim>
                                    <p:anim calcmode="lin" valueType="num">
                                      <p:cBhvr additive="base">
                                        <p:cTn id="107" dur="500" fill="hold"/>
                                        <p:tgtEl>
                                          <p:spTgt spid="7">
                                            <p:graphicEl>
                                              <a:chart seriesIdx="-4" categoryIdx="9"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grpId="0" nodeType="clickEffect">
                                  <p:stCondLst>
                                    <p:cond delay="0"/>
                                  </p:stCondLst>
                                  <p:childTnLst>
                                    <p:set>
                                      <p:cBhvr>
                                        <p:cTn id="111" dur="1" fill="hold">
                                          <p:stCondLst>
                                            <p:cond delay="0"/>
                                          </p:stCondLst>
                                        </p:cTn>
                                        <p:tgtEl>
                                          <p:spTgt spid="8">
                                            <p:graphicEl>
                                              <a:chart seriesIdx="0" categoryIdx="9" bldStep="ptInSeries"/>
                                            </p:graphicEl>
                                          </p:spTgt>
                                        </p:tgtEl>
                                        <p:attrNameLst>
                                          <p:attrName>style.visibility</p:attrName>
                                        </p:attrNameLst>
                                      </p:cBhvr>
                                      <p:to>
                                        <p:strVal val="visible"/>
                                      </p:to>
                                    </p:set>
                                    <p:animEffect transition="in" filter="wipe(down)">
                                      <p:cBhvr>
                                        <p:cTn id="112" dur="500"/>
                                        <p:tgtEl>
                                          <p:spTgt spid="8">
                                            <p:graphicEl>
                                              <a:chart seriesIdx="0" categoryIdx="9" bldStep="ptInSeries"/>
                                            </p:graphicEl>
                                          </p:spTgt>
                                        </p:tgtEl>
                                      </p:cBhvr>
                                    </p:animEffect>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grpId="0" nodeType="clickEffect">
                                  <p:stCondLst>
                                    <p:cond delay="0"/>
                                  </p:stCondLst>
                                  <p:childTnLst>
                                    <p:set>
                                      <p:cBhvr>
                                        <p:cTn id="116" dur="1" fill="hold">
                                          <p:stCondLst>
                                            <p:cond delay="0"/>
                                          </p:stCondLst>
                                        </p:cTn>
                                        <p:tgtEl>
                                          <p:spTgt spid="7">
                                            <p:graphicEl>
                                              <a:chart seriesIdx="-4" categoryIdx="10" bldStep="category"/>
                                            </p:graphicEl>
                                          </p:spTgt>
                                        </p:tgtEl>
                                        <p:attrNameLst>
                                          <p:attrName>style.visibility</p:attrName>
                                        </p:attrNameLst>
                                      </p:cBhvr>
                                      <p:to>
                                        <p:strVal val="visible"/>
                                      </p:to>
                                    </p:set>
                                    <p:anim calcmode="lin" valueType="num">
                                      <p:cBhvr additive="base">
                                        <p:cTn id="117" dur="500" fill="hold"/>
                                        <p:tgtEl>
                                          <p:spTgt spid="7">
                                            <p:graphicEl>
                                              <a:chart seriesIdx="-4" categoryIdx="10" bldStep="category"/>
                                            </p:graphicEl>
                                          </p:spTgt>
                                        </p:tgtEl>
                                        <p:attrNameLst>
                                          <p:attrName>ppt_x</p:attrName>
                                        </p:attrNameLst>
                                      </p:cBhvr>
                                      <p:tavLst>
                                        <p:tav tm="0">
                                          <p:val>
                                            <p:strVal val="#ppt_x"/>
                                          </p:val>
                                        </p:tav>
                                        <p:tav tm="100000">
                                          <p:val>
                                            <p:strVal val="#ppt_x"/>
                                          </p:val>
                                        </p:tav>
                                      </p:tavLst>
                                    </p:anim>
                                    <p:anim calcmode="lin" valueType="num">
                                      <p:cBhvr additive="base">
                                        <p:cTn id="118" dur="500" fill="hold"/>
                                        <p:tgtEl>
                                          <p:spTgt spid="7">
                                            <p:graphicEl>
                                              <a:chart seriesIdx="-4" categoryIdx="10"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2" presetClass="entr" presetSubtype="4" fill="hold" grpId="0" nodeType="clickEffect">
                                  <p:stCondLst>
                                    <p:cond delay="0"/>
                                  </p:stCondLst>
                                  <p:childTnLst>
                                    <p:set>
                                      <p:cBhvr>
                                        <p:cTn id="122" dur="1" fill="hold">
                                          <p:stCondLst>
                                            <p:cond delay="0"/>
                                          </p:stCondLst>
                                        </p:cTn>
                                        <p:tgtEl>
                                          <p:spTgt spid="8">
                                            <p:graphicEl>
                                              <a:chart seriesIdx="0" categoryIdx="10" bldStep="ptInSeries"/>
                                            </p:graphicEl>
                                          </p:spTgt>
                                        </p:tgtEl>
                                        <p:attrNameLst>
                                          <p:attrName>style.visibility</p:attrName>
                                        </p:attrNameLst>
                                      </p:cBhvr>
                                      <p:to>
                                        <p:strVal val="visible"/>
                                      </p:to>
                                    </p:set>
                                    <p:animEffect transition="in" filter="wipe(down)">
                                      <p:cBhvr>
                                        <p:cTn id="123" dur="500"/>
                                        <p:tgtEl>
                                          <p:spTgt spid="8">
                                            <p:graphicEl>
                                              <a:chart seriesIdx="0" categoryIdx="10" bldStep="ptInSeries"/>
                                            </p:graphicEl>
                                          </p:spTgt>
                                        </p:tgtEl>
                                      </p:cBhvr>
                                    </p:animEffect>
                                  </p:childTnLst>
                                </p:cTn>
                              </p:par>
                            </p:childTnLst>
                          </p:cTn>
                        </p:par>
                      </p:childTnLst>
                    </p:cTn>
                  </p:par>
                  <p:par>
                    <p:cTn id="124" fill="hold">
                      <p:stCondLst>
                        <p:cond delay="indefinite"/>
                      </p:stCondLst>
                      <p:childTnLst>
                        <p:par>
                          <p:cTn id="125" fill="hold">
                            <p:stCondLst>
                              <p:cond delay="0"/>
                            </p:stCondLst>
                            <p:childTnLst>
                              <p:par>
                                <p:cTn id="126" presetID="2" presetClass="entr" presetSubtype="4" fill="hold" grpId="0" nodeType="clickEffect">
                                  <p:stCondLst>
                                    <p:cond delay="0"/>
                                  </p:stCondLst>
                                  <p:childTnLst>
                                    <p:set>
                                      <p:cBhvr>
                                        <p:cTn id="127" dur="1" fill="hold">
                                          <p:stCondLst>
                                            <p:cond delay="0"/>
                                          </p:stCondLst>
                                        </p:cTn>
                                        <p:tgtEl>
                                          <p:spTgt spid="7">
                                            <p:graphicEl>
                                              <a:chart seriesIdx="-4" categoryIdx="11" bldStep="category"/>
                                            </p:graphicEl>
                                          </p:spTgt>
                                        </p:tgtEl>
                                        <p:attrNameLst>
                                          <p:attrName>style.visibility</p:attrName>
                                        </p:attrNameLst>
                                      </p:cBhvr>
                                      <p:to>
                                        <p:strVal val="visible"/>
                                      </p:to>
                                    </p:set>
                                    <p:anim calcmode="lin" valueType="num">
                                      <p:cBhvr additive="base">
                                        <p:cTn id="128" dur="500" fill="hold"/>
                                        <p:tgtEl>
                                          <p:spTgt spid="7">
                                            <p:graphicEl>
                                              <a:chart seriesIdx="-4" categoryIdx="11" bldStep="category"/>
                                            </p:graphicEl>
                                          </p:spTgt>
                                        </p:tgtEl>
                                        <p:attrNameLst>
                                          <p:attrName>ppt_x</p:attrName>
                                        </p:attrNameLst>
                                      </p:cBhvr>
                                      <p:tavLst>
                                        <p:tav tm="0">
                                          <p:val>
                                            <p:strVal val="#ppt_x"/>
                                          </p:val>
                                        </p:tav>
                                        <p:tav tm="100000">
                                          <p:val>
                                            <p:strVal val="#ppt_x"/>
                                          </p:val>
                                        </p:tav>
                                      </p:tavLst>
                                    </p:anim>
                                    <p:anim calcmode="lin" valueType="num">
                                      <p:cBhvr additive="base">
                                        <p:cTn id="129" dur="500" fill="hold"/>
                                        <p:tgtEl>
                                          <p:spTgt spid="7">
                                            <p:graphicEl>
                                              <a:chart seriesIdx="-4" categoryIdx="11"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22" presetClass="entr" presetSubtype="4" fill="hold" grpId="0" nodeType="clickEffect">
                                  <p:stCondLst>
                                    <p:cond delay="0"/>
                                  </p:stCondLst>
                                  <p:childTnLst>
                                    <p:set>
                                      <p:cBhvr>
                                        <p:cTn id="133" dur="1" fill="hold">
                                          <p:stCondLst>
                                            <p:cond delay="0"/>
                                          </p:stCondLst>
                                        </p:cTn>
                                        <p:tgtEl>
                                          <p:spTgt spid="8">
                                            <p:graphicEl>
                                              <a:chart seriesIdx="0" categoryIdx="11" bldStep="ptInSeries"/>
                                            </p:graphicEl>
                                          </p:spTgt>
                                        </p:tgtEl>
                                        <p:attrNameLst>
                                          <p:attrName>style.visibility</p:attrName>
                                        </p:attrNameLst>
                                      </p:cBhvr>
                                      <p:to>
                                        <p:strVal val="visible"/>
                                      </p:to>
                                    </p:set>
                                    <p:animEffect transition="in" filter="wipe(down)">
                                      <p:cBhvr>
                                        <p:cTn id="134" dur="500"/>
                                        <p:tgtEl>
                                          <p:spTgt spid="8">
                                            <p:graphicEl>
                                              <a:chart seriesIdx="0" categoryIdx="11" bldStep="ptInSeries"/>
                                            </p:graphicEl>
                                          </p:spTgt>
                                        </p:tgtEl>
                                      </p:cBhvr>
                                    </p:animEffect>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7">
                                            <p:graphicEl>
                                              <a:chart seriesIdx="-4" categoryIdx="12" bldStep="category"/>
                                            </p:graphicEl>
                                          </p:spTgt>
                                        </p:tgtEl>
                                        <p:attrNameLst>
                                          <p:attrName>style.visibility</p:attrName>
                                        </p:attrNameLst>
                                      </p:cBhvr>
                                      <p:to>
                                        <p:strVal val="visible"/>
                                      </p:to>
                                    </p:set>
                                    <p:anim calcmode="lin" valueType="num">
                                      <p:cBhvr additive="base">
                                        <p:cTn id="139" dur="500" fill="hold"/>
                                        <p:tgtEl>
                                          <p:spTgt spid="7">
                                            <p:graphicEl>
                                              <a:chart seriesIdx="-4" categoryIdx="12" bldStep="category"/>
                                            </p:graphicEl>
                                          </p:spTgt>
                                        </p:tgtEl>
                                        <p:attrNameLst>
                                          <p:attrName>ppt_x</p:attrName>
                                        </p:attrNameLst>
                                      </p:cBhvr>
                                      <p:tavLst>
                                        <p:tav tm="0">
                                          <p:val>
                                            <p:strVal val="#ppt_x"/>
                                          </p:val>
                                        </p:tav>
                                        <p:tav tm="100000">
                                          <p:val>
                                            <p:strVal val="#ppt_x"/>
                                          </p:val>
                                        </p:tav>
                                      </p:tavLst>
                                    </p:anim>
                                    <p:anim calcmode="lin" valueType="num">
                                      <p:cBhvr additive="base">
                                        <p:cTn id="140" dur="500" fill="hold"/>
                                        <p:tgtEl>
                                          <p:spTgt spid="7">
                                            <p:graphicEl>
                                              <a:chart seriesIdx="-4" categoryIdx="12"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2" presetClass="entr" presetSubtype="4" fill="hold" grpId="0" nodeType="clickEffect">
                                  <p:stCondLst>
                                    <p:cond delay="0"/>
                                  </p:stCondLst>
                                  <p:childTnLst>
                                    <p:set>
                                      <p:cBhvr>
                                        <p:cTn id="144" dur="1" fill="hold">
                                          <p:stCondLst>
                                            <p:cond delay="0"/>
                                          </p:stCondLst>
                                        </p:cTn>
                                        <p:tgtEl>
                                          <p:spTgt spid="8">
                                            <p:graphicEl>
                                              <a:chart seriesIdx="0" categoryIdx="12" bldStep="ptInSeries"/>
                                            </p:graphicEl>
                                          </p:spTgt>
                                        </p:tgtEl>
                                        <p:attrNameLst>
                                          <p:attrName>style.visibility</p:attrName>
                                        </p:attrNameLst>
                                      </p:cBhvr>
                                      <p:to>
                                        <p:strVal val="visible"/>
                                      </p:to>
                                    </p:set>
                                    <p:animEffect transition="in" filter="wipe(down)">
                                      <p:cBhvr>
                                        <p:cTn id="145" dur="500"/>
                                        <p:tgtEl>
                                          <p:spTgt spid="8">
                                            <p:graphicEl>
                                              <a:chart seriesIdx="0" categoryIdx="12" bldStep="ptInSeries"/>
                                            </p:graphicEl>
                                          </p:spTgt>
                                        </p:tgtEl>
                                      </p:cBhvr>
                                    </p:animEffect>
                                  </p:childTnLst>
                                </p:cTn>
                              </p:par>
                            </p:childTnLst>
                          </p:cTn>
                        </p:par>
                      </p:childTnLst>
                    </p:cTn>
                  </p:par>
                  <p:par>
                    <p:cTn id="146" fill="hold">
                      <p:stCondLst>
                        <p:cond delay="indefinite"/>
                      </p:stCondLst>
                      <p:childTnLst>
                        <p:par>
                          <p:cTn id="147" fill="hold">
                            <p:stCondLst>
                              <p:cond delay="0"/>
                            </p:stCondLst>
                            <p:childTnLst>
                              <p:par>
                                <p:cTn id="148" presetID="2" presetClass="entr" presetSubtype="4" fill="hold" grpId="0" nodeType="clickEffect">
                                  <p:stCondLst>
                                    <p:cond delay="0"/>
                                  </p:stCondLst>
                                  <p:childTnLst>
                                    <p:set>
                                      <p:cBhvr>
                                        <p:cTn id="149" dur="1" fill="hold">
                                          <p:stCondLst>
                                            <p:cond delay="0"/>
                                          </p:stCondLst>
                                        </p:cTn>
                                        <p:tgtEl>
                                          <p:spTgt spid="7">
                                            <p:graphicEl>
                                              <a:chart seriesIdx="-4" categoryIdx="13" bldStep="category"/>
                                            </p:graphicEl>
                                          </p:spTgt>
                                        </p:tgtEl>
                                        <p:attrNameLst>
                                          <p:attrName>style.visibility</p:attrName>
                                        </p:attrNameLst>
                                      </p:cBhvr>
                                      <p:to>
                                        <p:strVal val="visible"/>
                                      </p:to>
                                    </p:set>
                                    <p:anim calcmode="lin" valueType="num">
                                      <p:cBhvr additive="base">
                                        <p:cTn id="150" dur="500" fill="hold"/>
                                        <p:tgtEl>
                                          <p:spTgt spid="7">
                                            <p:graphicEl>
                                              <a:chart seriesIdx="-4" categoryIdx="13" bldStep="category"/>
                                            </p:graphicEl>
                                          </p:spTgt>
                                        </p:tgtEl>
                                        <p:attrNameLst>
                                          <p:attrName>ppt_x</p:attrName>
                                        </p:attrNameLst>
                                      </p:cBhvr>
                                      <p:tavLst>
                                        <p:tav tm="0">
                                          <p:val>
                                            <p:strVal val="#ppt_x"/>
                                          </p:val>
                                        </p:tav>
                                        <p:tav tm="100000">
                                          <p:val>
                                            <p:strVal val="#ppt_x"/>
                                          </p:val>
                                        </p:tav>
                                      </p:tavLst>
                                    </p:anim>
                                    <p:anim calcmode="lin" valueType="num">
                                      <p:cBhvr additive="base">
                                        <p:cTn id="151" dur="500" fill="hold"/>
                                        <p:tgtEl>
                                          <p:spTgt spid="7">
                                            <p:graphicEl>
                                              <a:chart seriesIdx="-4" categoryIdx="13"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52" fill="hold">
                      <p:stCondLst>
                        <p:cond delay="indefinite"/>
                      </p:stCondLst>
                      <p:childTnLst>
                        <p:par>
                          <p:cTn id="153" fill="hold">
                            <p:stCondLst>
                              <p:cond delay="0"/>
                            </p:stCondLst>
                            <p:childTnLst>
                              <p:par>
                                <p:cTn id="154" presetID="22" presetClass="entr" presetSubtype="4" fill="hold" grpId="0" nodeType="clickEffect">
                                  <p:stCondLst>
                                    <p:cond delay="0"/>
                                  </p:stCondLst>
                                  <p:childTnLst>
                                    <p:set>
                                      <p:cBhvr>
                                        <p:cTn id="155" dur="1" fill="hold">
                                          <p:stCondLst>
                                            <p:cond delay="0"/>
                                          </p:stCondLst>
                                        </p:cTn>
                                        <p:tgtEl>
                                          <p:spTgt spid="8">
                                            <p:graphicEl>
                                              <a:chart seriesIdx="0" categoryIdx="13" bldStep="ptInSeries"/>
                                            </p:graphicEl>
                                          </p:spTgt>
                                        </p:tgtEl>
                                        <p:attrNameLst>
                                          <p:attrName>style.visibility</p:attrName>
                                        </p:attrNameLst>
                                      </p:cBhvr>
                                      <p:to>
                                        <p:strVal val="visible"/>
                                      </p:to>
                                    </p:set>
                                    <p:animEffect transition="in" filter="wipe(down)">
                                      <p:cBhvr>
                                        <p:cTn id="156" dur="500"/>
                                        <p:tgtEl>
                                          <p:spTgt spid="8">
                                            <p:graphicEl>
                                              <a:chart seriesIdx="0" categoryIdx="13" bldStep="ptInSeries"/>
                                            </p:graphicEl>
                                          </p:spTgt>
                                        </p:tgtEl>
                                      </p:cBhvr>
                                    </p:animEffect>
                                  </p:childTnLst>
                                </p:cTn>
                              </p:par>
                            </p:childTnLst>
                          </p:cTn>
                        </p:par>
                      </p:childTnLst>
                    </p:cTn>
                  </p:par>
                  <p:par>
                    <p:cTn id="157" fill="hold">
                      <p:stCondLst>
                        <p:cond delay="indefinite"/>
                      </p:stCondLst>
                      <p:childTnLst>
                        <p:par>
                          <p:cTn id="158" fill="hold">
                            <p:stCondLst>
                              <p:cond delay="0"/>
                            </p:stCondLst>
                            <p:childTnLst>
                              <p:par>
                                <p:cTn id="159" presetID="2" presetClass="entr" presetSubtype="4" fill="hold" grpId="0" nodeType="clickEffect">
                                  <p:stCondLst>
                                    <p:cond delay="0"/>
                                  </p:stCondLst>
                                  <p:childTnLst>
                                    <p:set>
                                      <p:cBhvr>
                                        <p:cTn id="160" dur="1" fill="hold">
                                          <p:stCondLst>
                                            <p:cond delay="0"/>
                                          </p:stCondLst>
                                        </p:cTn>
                                        <p:tgtEl>
                                          <p:spTgt spid="7">
                                            <p:graphicEl>
                                              <a:chart seriesIdx="-4" categoryIdx="14" bldStep="category"/>
                                            </p:graphicEl>
                                          </p:spTgt>
                                        </p:tgtEl>
                                        <p:attrNameLst>
                                          <p:attrName>style.visibility</p:attrName>
                                        </p:attrNameLst>
                                      </p:cBhvr>
                                      <p:to>
                                        <p:strVal val="visible"/>
                                      </p:to>
                                    </p:set>
                                    <p:anim calcmode="lin" valueType="num">
                                      <p:cBhvr additive="base">
                                        <p:cTn id="161" dur="500" fill="hold"/>
                                        <p:tgtEl>
                                          <p:spTgt spid="7">
                                            <p:graphicEl>
                                              <a:chart seriesIdx="-4" categoryIdx="14" bldStep="category"/>
                                            </p:graphicEl>
                                          </p:spTgt>
                                        </p:tgtEl>
                                        <p:attrNameLst>
                                          <p:attrName>ppt_x</p:attrName>
                                        </p:attrNameLst>
                                      </p:cBhvr>
                                      <p:tavLst>
                                        <p:tav tm="0">
                                          <p:val>
                                            <p:strVal val="#ppt_x"/>
                                          </p:val>
                                        </p:tav>
                                        <p:tav tm="100000">
                                          <p:val>
                                            <p:strVal val="#ppt_x"/>
                                          </p:val>
                                        </p:tav>
                                      </p:tavLst>
                                    </p:anim>
                                    <p:anim calcmode="lin" valueType="num">
                                      <p:cBhvr additive="base">
                                        <p:cTn id="162" dur="500" fill="hold"/>
                                        <p:tgtEl>
                                          <p:spTgt spid="7">
                                            <p:graphicEl>
                                              <a:chart seriesIdx="-4" categoryIdx="14"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65" presetID="22" presetClass="entr" presetSubtype="4" fill="hold" grpId="0" nodeType="clickEffect">
                                  <p:stCondLst>
                                    <p:cond delay="0"/>
                                  </p:stCondLst>
                                  <p:childTnLst>
                                    <p:set>
                                      <p:cBhvr>
                                        <p:cTn id="166" dur="1" fill="hold">
                                          <p:stCondLst>
                                            <p:cond delay="0"/>
                                          </p:stCondLst>
                                        </p:cTn>
                                        <p:tgtEl>
                                          <p:spTgt spid="8">
                                            <p:graphicEl>
                                              <a:chart seriesIdx="0" categoryIdx="14" bldStep="ptInSeries"/>
                                            </p:graphicEl>
                                          </p:spTgt>
                                        </p:tgtEl>
                                        <p:attrNameLst>
                                          <p:attrName>style.visibility</p:attrName>
                                        </p:attrNameLst>
                                      </p:cBhvr>
                                      <p:to>
                                        <p:strVal val="visible"/>
                                      </p:to>
                                    </p:set>
                                    <p:animEffect transition="in" filter="wipe(down)">
                                      <p:cBhvr>
                                        <p:cTn id="167" dur="500"/>
                                        <p:tgtEl>
                                          <p:spTgt spid="8">
                                            <p:graphicEl>
                                              <a:chart seriesIdx="0" categoryIdx="14" bldStep="ptInSeries"/>
                                            </p:graphicEl>
                                          </p:spTgt>
                                        </p:tgtEl>
                                      </p:cBhvr>
                                    </p:animEffect>
                                  </p:childTnLst>
                                </p:cTn>
                              </p:par>
                            </p:childTnLst>
                          </p:cTn>
                        </p:par>
                      </p:childTnLst>
                    </p:cTn>
                  </p:par>
                  <p:par>
                    <p:cTn id="168" fill="hold">
                      <p:stCondLst>
                        <p:cond delay="indefinite"/>
                      </p:stCondLst>
                      <p:childTnLst>
                        <p:par>
                          <p:cTn id="169" fill="hold">
                            <p:stCondLst>
                              <p:cond delay="0"/>
                            </p:stCondLst>
                            <p:childTnLst>
                              <p:par>
                                <p:cTn id="170" presetID="2" presetClass="entr" presetSubtype="4" fill="hold" grpId="0" nodeType="clickEffect">
                                  <p:stCondLst>
                                    <p:cond delay="0"/>
                                  </p:stCondLst>
                                  <p:childTnLst>
                                    <p:set>
                                      <p:cBhvr>
                                        <p:cTn id="171" dur="1" fill="hold">
                                          <p:stCondLst>
                                            <p:cond delay="0"/>
                                          </p:stCondLst>
                                        </p:cTn>
                                        <p:tgtEl>
                                          <p:spTgt spid="7">
                                            <p:graphicEl>
                                              <a:chart seriesIdx="-4" categoryIdx="15" bldStep="category"/>
                                            </p:graphicEl>
                                          </p:spTgt>
                                        </p:tgtEl>
                                        <p:attrNameLst>
                                          <p:attrName>style.visibility</p:attrName>
                                        </p:attrNameLst>
                                      </p:cBhvr>
                                      <p:to>
                                        <p:strVal val="visible"/>
                                      </p:to>
                                    </p:set>
                                    <p:anim calcmode="lin" valueType="num">
                                      <p:cBhvr additive="base">
                                        <p:cTn id="172" dur="500" fill="hold"/>
                                        <p:tgtEl>
                                          <p:spTgt spid="7">
                                            <p:graphicEl>
                                              <a:chart seriesIdx="-4" categoryIdx="15" bldStep="category"/>
                                            </p:graphicEl>
                                          </p:spTgt>
                                        </p:tgtEl>
                                        <p:attrNameLst>
                                          <p:attrName>ppt_x</p:attrName>
                                        </p:attrNameLst>
                                      </p:cBhvr>
                                      <p:tavLst>
                                        <p:tav tm="0">
                                          <p:val>
                                            <p:strVal val="#ppt_x"/>
                                          </p:val>
                                        </p:tav>
                                        <p:tav tm="100000">
                                          <p:val>
                                            <p:strVal val="#ppt_x"/>
                                          </p:val>
                                        </p:tav>
                                      </p:tavLst>
                                    </p:anim>
                                    <p:anim calcmode="lin" valueType="num">
                                      <p:cBhvr additive="base">
                                        <p:cTn id="173" dur="500" fill="hold"/>
                                        <p:tgtEl>
                                          <p:spTgt spid="7">
                                            <p:graphicEl>
                                              <a:chart seriesIdx="-4" categoryIdx="15"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74" fill="hold">
                      <p:stCondLst>
                        <p:cond delay="indefinite"/>
                      </p:stCondLst>
                      <p:childTnLst>
                        <p:par>
                          <p:cTn id="175" fill="hold">
                            <p:stCondLst>
                              <p:cond delay="0"/>
                            </p:stCondLst>
                            <p:childTnLst>
                              <p:par>
                                <p:cTn id="176" presetID="22" presetClass="entr" presetSubtype="4" fill="hold" grpId="0" nodeType="clickEffect">
                                  <p:stCondLst>
                                    <p:cond delay="0"/>
                                  </p:stCondLst>
                                  <p:childTnLst>
                                    <p:set>
                                      <p:cBhvr>
                                        <p:cTn id="177" dur="1" fill="hold">
                                          <p:stCondLst>
                                            <p:cond delay="0"/>
                                          </p:stCondLst>
                                        </p:cTn>
                                        <p:tgtEl>
                                          <p:spTgt spid="8">
                                            <p:graphicEl>
                                              <a:chart seriesIdx="0" categoryIdx="15" bldStep="ptInSeries"/>
                                            </p:graphicEl>
                                          </p:spTgt>
                                        </p:tgtEl>
                                        <p:attrNameLst>
                                          <p:attrName>style.visibility</p:attrName>
                                        </p:attrNameLst>
                                      </p:cBhvr>
                                      <p:to>
                                        <p:strVal val="visible"/>
                                      </p:to>
                                    </p:set>
                                    <p:animEffect transition="in" filter="wipe(down)">
                                      <p:cBhvr>
                                        <p:cTn id="178" dur="500"/>
                                        <p:tgtEl>
                                          <p:spTgt spid="8">
                                            <p:graphicEl>
                                              <a:chart seriesIdx="0" categoryIdx="15" bldStep="ptInSeries"/>
                                            </p:graphicEl>
                                          </p:spTgt>
                                        </p:tgtEl>
                                      </p:cBhvr>
                                    </p:animEffect>
                                  </p:childTnLst>
                                </p:cTn>
                              </p:par>
                            </p:childTnLst>
                          </p:cTn>
                        </p:par>
                      </p:childTnLst>
                    </p:cTn>
                  </p:par>
                  <p:par>
                    <p:cTn id="179" fill="hold">
                      <p:stCondLst>
                        <p:cond delay="indefinite"/>
                      </p:stCondLst>
                      <p:childTnLst>
                        <p:par>
                          <p:cTn id="180" fill="hold">
                            <p:stCondLst>
                              <p:cond delay="0"/>
                            </p:stCondLst>
                            <p:childTnLst>
                              <p:par>
                                <p:cTn id="181" presetID="2" presetClass="entr" presetSubtype="4" fill="hold" grpId="0" nodeType="clickEffect">
                                  <p:stCondLst>
                                    <p:cond delay="0"/>
                                  </p:stCondLst>
                                  <p:childTnLst>
                                    <p:set>
                                      <p:cBhvr>
                                        <p:cTn id="182" dur="1" fill="hold">
                                          <p:stCondLst>
                                            <p:cond delay="0"/>
                                          </p:stCondLst>
                                        </p:cTn>
                                        <p:tgtEl>
                                          <p:spTgt spid="7">
                                            <p:graphicEl>
                                              <a:chart seriesIdx="-4" categoryIdx="16" bldStep="category"/>
                                            </p:graphicEl>
                                          </p:spTgt>
                                        </p:tgtEl>
                                        <p:attrNameLst>
                                          <p:attrName>style.visibility</p:attrName>
                                        </p:attrNameLst>
                                      </p:cBhvr>
                                      <p:to>
                                        <p:strVal val="visible"/>
                                      </p:to>
                                    </p:set>
                                    <p:anim calcmode="lin" valueType="num">
                                      <p:cBhvr additive="base">
                                        <p:cTn id="183" dur="500" fill="hold"/>
                                        <p:tgtEl>
                                          <p:spTgt spid="7">
                                            <p:graphicEl>
                                              <a:chart seriesIdx="-4" categoryIdx="16" bldStep="category"/>
                                            </p:graphicEl>
                                          </p:spTgt>
                                        </p:tgtEl>
                                        <p:attrNameLst>
                                          <p:attrName>ppt_x</p:attrName>
                                        </p:attrNameLst>
                                      </p:cBhvr>
                                      <p:tavLst>
                                        <p:tav tm="0">
                                          <p:val>
                                            <p:strVal val="#ppt_x"/>
                                          </p:val>
                                        </p:tav>
                                        <p:tav tm="100000">
                                          <p:val>
                                            <p:strVal val="#ppt_x"/>
                                          </p:val>
                                        </p:tav>
                                      </p:tavLst>
                                    </p:anim>
                                    <p:anim calcmode="lin" valueType="num">
                                      <p:cBhvr additive="base">
                                        <p:cTn id="184" dur="500" fill="hold"/>
                                        <p:tgtEl>
                                          <p:spTgt spid="7">
                                            <p:graphicEl>
                                              <a:chart seriesIdx="-4" categoryIdx="16"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presetID="22" presetClass="entr" presetSubtype="4" fill="hold" grpId="0" nodeType="clickEffect">
                                  <p:stCondLst>
                                    <p:cond delay="0"/>
                                  </p:stCondLst>
                                  <p:childTnLst>
                                    <p:set>
                                      <p:cBhvr>
                                        <p:cTn id="188" dur="1" fill="hold">
                                          <p:stCondLst>
                                            <p:cond delay="0"/>
                                          </p:stCondLst>
                                        </p:cTn>
                                        <p:tgtEl>
                                          <p:spTgt spid="8">
                                            <p:graphicEl>
                                              <a:chart seriesIdx="0" categoryIdx="16" bldStep="ptInSeries"/>
                                            </p:graphicEl>
                                          </p:spTgt>
                                        </p:tgtEl>
                                        <p:attrNameLst>
                                          <p:attrName>style.visibility</p:attrName>
                                        </p:attrNameLst>
                                      </p:cBhvr>
                                      <p:to>
                                        <p:strVal val="visible"/>
                                      </p:to>
                                    </p:set>
                                    <p:animEffect transition="in" filter="wipe(down)">
                                      <p:cBhvr>
                                        <p:cTn id="189" dur="500"/>
                                        <p:tgtEl>
                                          <p:spTgt spid="8">
                                            <p:graphicEl>
                                              <a:chart seriesIdx="0" categoryIdx="16" bldStep="ptInSeries"/>
                                            </p:graphicEl>
                                          </p:spTgt>
                                        </p:tgtEl>
                                      </p:cBhvr>
                                    </p:animEffect>
                                  </p:childTnLst>
                                </p:cTn>
                              </p:par>
                            </p:childTnLst>
                          </p:cTn>
                        </p:par>
                      </p:childTnLst>
                    </p:cTn>
                  </p:par>
                  <p:par>
                    <p:cTn id="190" fill="hold">
                      <p:stCondLst>
                        <p:cond delay="indefinite"/>
                      </p:stCondLst>
                      <p:childTnLst>
                        <p:par>
                          <p:cTn id="191" fill="hold">
                            <p:stCondLst>
                              <p:cond delay="0"/>
                            </p:stCondLst>
                            <p:childTnLst>
                              <p:par>
                                <p:cTn id="192" presetID="2" presetClass="entr" presetSubtype="4" fill="hold" grpId="0" nodeType="clickEffect">
                                  <p:stCondLst>
                                    <p:cond delay="0"/>
                                  </p:stCondLst>
                                  <p:childTnLst>
                                    <p:set>
                                      <p:cBhvr>
                                        <p:cTn id="193" dur="1" fill="hold">
                                          <p:stCondLst>
                                            <p:cond delay="0"/>
                                          </p:stCondLst>
                                        </p:cTn>
                                        <p:tgtEl>
                                          <p:spTgt spid="7">
                                            <p:graphicEl>
                                              <a:chart seriesIdx="-4" categoryIdx="17" bldStep="category"/>
                                            </p:graphicEl>
                                          </p:spTgt>
                                        </p:tgtEl>
                                        <p:attrNameLst>
                                          <p:attrName>style.visibility</p:attrName>
                                        </p:attrNameLst>
                                      </p:cBhvr>
                                      <p:to>
                                        <p:strVal val="visible"/>
                                      </p:to>
                                    </p:set>
                                    <p:anim calcmode="lin" valueType="num">
                                      <p:cBhvr additive="base">
                                        <p:cTn id="194" dur="500" fill="hold"/>
                                        <p:tgtEl>
                                          <p:spTgt spid="7">
                                            <p:graphicEl>
                                              <a:chart seriesIdx="-4" categoryIdx="17" bldStep="category"/>
                                            </p:graphicEl>
                                          </p:spTgt>
                                        </p:tgtEl>
                                        <p:attrNameLst>
                                          <p:attrName>ppt_x</p:attrName>
                                        </p:attrNameLst>
                                      </p:cBhvr>
                                      <p:tavLst>
                                        <p:tav tm="0">
                                          <p:val>
                                            <p:strVal val="#ppt_x"/>
                                          </p:val>
                                        </p:tav>
                                        <p:tav tm="100000">
                                          <p:val>
                                            <p:strVal val="#ppt_x"/>
                                          </p:val>
                                        </p:tav>
                                      </p:tavLst>
                                    </p:anim>
                                    <p:anim calcmode="lin" valueType="num">
                                      <p:cBhvr additive="base">
                                        <p:cTn id="195" dur="500" fill="hold"/>
                                        <p:tgtEl>
                                          <p:spTgt spid="7">
                                            <p:graphicEl>
                                              <a:chart seriesIdx="-4" categoryIdx="17"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96" fill="hold">
                      <p:stCondLst>
                        <p:cond delay="indefinite"/>
                      </p:stCondLst>
                      <p:childTnLst>
                        <p:par>
                          <p:cTn id="197" fill="hold">
                            <p:stCondLst>
                              <p:cond delay="0"/>
                            </p:stCondLst>
                            <p:childTnLst>
                              <p:par>
                                <p:cTn id="198" presetID="22" presetClass="entr" presetSubtype="4" fill="hold" grpId="0" nodeType="clickEffect">
                                  <p:stCondLst>
                                    <p:cond delay="0"/>
                                  </p:stCondLst>
                                  <p:childTnLst>
                                    <p:set>
                                      <p:cBhvr>
                                        <p:cTn id="199" dur="1" fill="hold">
                                          <p:stCondLst>
                                            <p:cond delay="0"/>
                                          </p:stCondLst>
                                        </p:cTn>
                                        <p:tgtEl>
                                          <p:spTgt spid="8">
                                            <p:graphicEl>
                                              <a:chart seriesIdx="0" categoryIdx="17" bldStep="ptInSeries"/>
                                            </p:graphicEl>
                                          </p:spTgt>
                                        </p:tgtEl>
                                        <p:attrNameLst>
                                          <p:attrName>style.visibility</p:attrName>
                                        </p:attrNameLst>
                                      </p:cBhvr>
                                      <p:to>
                                        <p:strVal val="visible"/>
                                      </p:to>
                                    </p:set>
                                    <p:animEffect transition="in" filter="wipe(down)">
                                      <p:cBhvr>
                                        <p:cTn id="200" dur="500"/>
                                        <p:tgtEl>
                                          <p:spTgt spid="8">
                                            <p:graphicEl>
                                              <a:chart seriesIdx="0" categoryIdx="17" bldStep="ptInSeries"/>
                                            </p:graphicEl>
                                          </p:spTgt>
                                        </p:tgtEl>
                                      </p:cBhvr>
                                    </p:animEffect>
                                  </p:childTnLst>
                                </p:cTn>
                              </p:par>
                            </p:childTnLst>
                          </p:cTn>
                        </p:par>
                      </p:childTnLst>
                    </p:cTn>
                  </p:par>
                  <p:par>
                    <p:cTn id="201" fill="hold">
                      <p:stCondLst>
                        <p:cond delay="indefinite"/>
                      </p:stCondLst>
                      <p:childTnLst>
                        <p:par>
                          <p:cTn id="202" fill="hold">
                            <p:stCondLst>
                              <p:cond delay="0"/>
                            </p:stCondLst>
                            <p:childTnLst>
                              <p:par>
                                <p:cTn id="203" presetID="2" presetClass="entr" presetSubtype="4" fill="hold" grpId="0" nodeType="clickEffect">
                                  <p:stCondLst>
                                    <p:cond delay="0"/>
                                  </p:stCondLst>
                                  <p:childTnLst>
                                    <p:set>
                                      <p:cBhvr>
                                        <p:cTn id="204" dur="1" fill="hold">
                                          <p:stCondLst>
                                            <p:cond delay="0"/>
                                          </p:stCondLst>
                                        </p:cTn>
                                        <p:tgtEl>
                                          <p:spTgt spid="7">
                                            <p:graphicEl>
                                              <a:chart seriesIdx="-4" categoryIdx="18" bldStep="category"/>
                                            </p:graphicEl>
                                          </p:spTgt>
                                        </p:tgtEl>
                                        <p:attrNameLst>
                                          <p:attrName>style.visibility</p:attrName>
                                        </p:attrNameLst>
                                      </p:cBhvr>
                                      <p:to>
                                        <p:strVal val="visible"/>
                                      </p:to>
                                    </p:set>
                                    <p:anim calcmode="lin" valueType="num">
                                      <p:cBhvr additive="base">
                                        <p:cTn id="205" dur="500" fill="hold"/>
                                        <p:tgtEl>
                                          <p:spTgt spid="7">
                                            <p:graphicEl>
                                              <a:chart seriesIdx="-4" categoryIdx="18" bldStep="category"/>
                                            </p:graphicEl>
                                          </p:spTgt>
                                        </p:tgtEl>
                                        <p:attrNameLst>
                                          <p:attrName>ppt_x</p:attrName>
                                        </p:attrNameLst>
                                      </p:cBhvr>
                                      <p:tavLst>
                                        <p:tav tm="0">
                                          <p:val>
                                            <p:strVal val="#ppt_x"/>
                                          </p:val>
                                        </p:tav>
                                        <p:tav tm="100000">
                                          <p:val>
                                            <p:strVal val="#ppt_x"/>
                                          </p:val>
                                        </p:tav>
                                      </p:tavLst>
                                    </p:anim>
                                    <p:anim calcmode="lin" valueType="num">
                                      <p:cBhvr additive="base">
                                        <p:cTn id="206" dur="500" fill="hold"/>
                                        <p:tgtEl>
                                          <p:spTgt spid="7">
                                            <p:graphicEl>
                                              <a:chart seriesIdx="-4" categoryIdx="18"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207" fill="hold">
                      <p:stCondLst>
                        <p:cond delay="indefinite"/>
                      </p:stCondLst>
                      <p:childTnLst>
                        <p:par>
                          <p:cTn id="208" fill="hold">
                            <p:stCondLst>
                              <p:cond delay="0"/>
                            </p:stCondLst>
                            <p:childTnLst>
                              <p:par>
                                <p:cTn id="209" presetID="22" presetClass="entr" presetSubtype="4" fill="hold" grpId="0" nodeType="clickEffect">
                                  <p:stCondLst>
                                    <p:cond delay="0"/>
                                  </p:stCondLst>
                                  <p:childTnLst>
                                    <p:set>
                                      <p:cBhvr>
                                        <p:cTn id="210" dur="1" fill="hold">
                                          <p:stCondLst>
                                            <p:cond delay="0"/>
                                          </p:stCondLst>
                                        </p:cTn>
                                        <p:tgtEl>
                                          <p:spTgt spid="8">
                                            <p:graphicEl>
                                              <a:chart seriesIdx="0" categoryIdx="18" bldStep="ptInSeries"/>
                                            </p:graphicEl>
                                          </p:spTgt>
                                        </p:tgtEl>
                                        <p:attrNameLst>
                                          <p:attrName>style.visibility</p:attrName>
                                        </p:attrNameLst>
                                      </p:cBhvr>
                                      <p:to>
                                        <p:strVal val="visible"/>
                                      </p:to>
                                    </p:set>
                                    <p:animEffect transition="in" filter="wipe(down)">
                                      <p:cBhvr>
                                        <p:cTn id="211" dur="500"/>
                                        <p:tgtEl>
                                          <p:spTgt spid="8">
                                            <p:graphicEl>
                                              <a:chart seriesIdx="0" categoryIdx="18" bldStep="ptInSeries"/>
                                            </p:graphicEl>
                                          </p:spTgt>
                                        </p:tgtEl>
                                      </p:cBhvr>
                                    </p:animEffect>
                                  </p:childTnLst>
                                </p:cTn>
                              </p:par>
                            </p:childTnLst>
                          </p:cTn>
                        </p:par>
                      </p:childTnLst>
                    </p:cTn>
                  </p:par>
                  <p:par>
                    <p:cTn id="212" fill="hold">
                      <p:stCondLst>
                        <p:cond delay="indefinite"/>
                      </p:stCondLst>
                      <p:childTnLst>
                        <p:par>
                          <p:cTn id="213" fill="hold">
                            <p:stCondLst>
                              <p:cond delay="0"/>
                            </p:stCondLst>
                            <p:childTnLst>
                              <p:par>
                                <p:cTn id="214" presetID="2" presetClass="entr" presetSubtype="4" fill="hold" grpId="0" nodeType="clickEffect">
                                  <p:stCondLst>
                                    <p:cond delay="0"/>
                                  </p:stCondLst>
                                  <p:childTnLst>
                                    <p:set>
                                      <p:cBhvr>
                                        <p:cTn id="215" dur="1" fill="hold">
                                          <p:stCondLst>
                                            <p:cond delay="0"/>
                                          </p:stCondLst>
                                        </p:cTn>
                                        <p:tgtEl>
                                          <p:spTgt spid="7">
                                            <p:graphicEl>
                                              <a:chart seriesIdx="-4" categoryIdx="19" bldStep="category"/>
                                            </p:graphicEl>
                                          </p:spTgt>
                                        </p:tgtEl>
                                        <p:attrNameLst>
                                          <p:attrName>style.visibility</p:attrName>
                                        </p:attrNameLst>
                                      </p:cBhvr>
                                      <p:to>
                                        <p:strVal val="visible"/>
                                      </p:to>
                                    </p:set>
                                    <p:anim calcmode="lin" valueType="num">
                                      <p:cBhvr additive="base">
                                        <p:cTn id="216" dur="500" fill="hold"/>
                                        <p:tgtEl>
                                          <p:spTgt spid="7">
                                            <p:graphicEl>
                                              <a:chart seriesIdx="-4" categoryIdx="19" bldStep="category"/>
                                            </p:graphicEl>
                                          </p:spTgt>
                                        </p:tgtEl>
                                        <p:attrNameLst>
                                          <p:attrName>ppt_x</p:attrName>
                                        </p:attrNameLst>
                                      </p:cBhvr>
                                      <p:tavLst>
                                        <p:tav tm="0">
                                          <p:val>
                                            <p:strVal val="#ppt_x"/>
                                          </p:val>
                                        </p:tav>
                                        <p:tav tm="100000">
                                          <p:val>
                                            <p:strVal val="#ppt_x"/>
                                          </p:val>
                                        </p:tav>
                                      </p:tavLst>
                                    </p:anim>
                                    <p:anim calcmode="lin" valueType="num">
                                      <p:cBhvr additive="base">
                                        <p:cTn id="217" dur="500" fill="hold"/>
                                        <p:tgtEl>
                                          <p:spTgt spid="7">
                                            <p:graphicEl>
                                              <a:chart seriesIdx="-4" categoryIdx="19"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218" fill="hold">
                      <p:stCondLst>
                        <p:cond delay="indefinite"/>
                      </p:stCondLst>
                      <p:childTnLst>
                        <p:par>
                          <p:cTn id="219" fill="hold">
                            <p:stCondLst>
                              <p:cond delay="0"/>
                            </p:stCondLst>
                            <p:childTnLst>
                              <p:par>
                                <p:cTn id="220" presetID="22" presetClass="entr" presetSubtype="4" fill="hold" grpId="0" nodeType="clickEffect">
                                  <p:stCondLst>
                                    <p:cond delay="0"/>
                                  </p:stCondLst>
                                  <p:childTnLst>
                                    <p:set>
                                      <p:cBhvr>
                                        <p:cTn id="221" dur="1" fill="hold">
                                          <p:stCondLst>
                                            <p:cond delay="0"/>
                                          </p:stCondLst>
                                        </p:cTn>
                                        <p:tgtEl>
                                          <p:spTgt spid="8">
                                            <p:graphicEl>
                                              <a:chart seriesIdx="0" categoryIdx="19" bldStep="ptInSeries"/>
                                            </p:graphicEl>
                                          </p:spTgt>
                                        </p:tgtEl>
                                        <p:attrNameLst>
                                          <p:attrName>style.visibility</p:attrName>
                                        </p:attrNameLst>
                                      </p:cBhvr>
                                      <p:to>
                                        <p:strVal val="visible"/>
                                      </p:to>
                                    </p:set>
                                    <p:animEffect transition="in" filter="wipe(down)">
                                      <p:cBhvr>
                                        <p:cTn id="222" dur="500"/>
                                        <p:tgtEl>
                                          <p:spTgt spid="8">
                                            <p:graphicEl>
                                              <a:chart seriesIdx="0" categoryIdx="19" bldStep="ptInSeries"/>
                                            </p:graphicEl>
                                          </p:spTgt>
                                        </p:tgtEl>
                                      </p:cBhvr>
                                    </p:animEffect>
                                  </p:childTnLst>
                                </p:cTn>
                              </p:par>
                            </p:childTnLst>
                          </p:cTn>
                        </p:par>
                      </p:childTnLst>
                    </p:cTn>
                  </p:par>
                  <p:par>
                    <p:cTn id="223" fill="hold">
                      <p:stCondLst>
                        <p:cond delay="indefinite"/>
                      </p:stCondLst>
                      <p:childTnLst>
                        <p:par>
                          <p:cTn id="224" fill="hold">
                            <p:stCondLst>
                              <p:cond delay="0"/>
                            </p:stCondLst>
                            <p:childTnLst>
                              <p:par>
                                <p:cTn id="225" presetID="2" presetClass="entr" presetSubtype="4" fill="hold" grpId="0" nodeType="clickEffect">
                                  <p:stCondLst>
                                    <p:cond delay="0"/>
                                  </p:stCondLst>
                                  <p:childTnLst>
                                    <p:set>
                                      <p:cBhvr>
                                        <p:cTn id="226" dur="1" fill="hold">
                                          <p:stCondLst>
                                            <p:cond delay="0"/>
                                          </p:stCondLst>
                                        </p:cTn>
                                        <p:tgtEl>
                                          <p:spTgt spid="7">
                                            <p:graphicEl>
                                              <a:chart seriesIdx="-4" categoryIdx="20" bldStep="category"/>
                                            </p:graphicEl>
                                          </p:spTgt>
                                        </p:tgtEl>
                                        <p:attrNameLst>
                                          <p:attrName>style.visibility</p:attrName>
                                        </p:attrNameLst>
                                      </p:cBhvr>
                                      <p:to>
                                        <p:strVal val="visible"/>
                                      </p:to>
                                    </p:set>
                                    <p:anim calcmode="lin" valueType="num">
                                      <p:cBhvr additive="base">
                                        <p:cTn id="227" dur="500" fill="hold"/>
                                        <p:tgtEl>
                                          <p:spTgt spid="7">
                                            <p:graphicEl>
                                              <a:chart seriesIdx="-4" categoryIdx="20" bldStep="category"/>
                                            </p:graphicEl>
                                          </p:spTgt>
                                        </p:tgtEl>
                                        <p:attrNameLst>
                                          <p:attrName>ppt_x</p:attrName>
                                        </p:attrNameLst>
                                      </p:cBhvr>
                                      <p:tavLst>
                                        <p:tav tm="0">
                                          <p:val>
                                            <p:strVal val="#ppt_x"/>
                                          </p:val>
                                        </p:tav>
                                        <p:tav tm="100000">
                                          <p:val>
                                            <p:strVal val="#ppt_x"/>
                                          </p:val>
                                        </p:tav>
                                      </p:tavLst>
                                    </p:anim>
                                    <p:anim calcmode="lin" valueType="num">
                                      <p:cBhvr additive="base">
                                        <p:cTn id="228" dur="500" fill="hold"/>
                                        <p:tgtEl>
                                          <p:spTgt spid="7">
                                            <p:graphicEl>
                                              <a:chart seriesIdx="-4" categoryIdx="20"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229" fill="hold">
                      <p:stCondLst>
                        <p:cond delay="indefinite"/>
                      </p:stCondLst>
                      <p:childTnLst>
                        <p:par>
                          <p:cTn id="230" fill="hold">
                            <p:stCondLst>
                              <p:cond delay="0"/>
                            </p:stCondLst>
                            <p:childTnLst>
                              <p:par>
                                <p:cTn id="231" presetID="22" presetClass="entr" presetSubtype="4" fill="hold" grpId="0" nodeType="clickEffect">
                                  <p:stCondLst>
                                    <p:cond delay="0"/>
                                  </p:stCondLst>
                                  <p:childTnLst>
                                    <p:set>
                                      <p:cBhvr>
                                        <p:cTn id="232" dur="1" fill="hold">
                                          <p:stCondLst>
                                            <p:cond delay="0"/>
                                          </p:stCondLst>
                                        </p:cTn>
                                        <p:tgtEl>
                                          <p:spTgt spid="8">
                                            <p:graphicEl>
                                              <a:chart seriesIdx="0" categoryIdx="20" bldStep="ptInSeries"/>
                                            </p:graphicEl>
                                          </p:spTgt>
                                        </p:tgtEl>
                                        <p:attrNameLst>
                                          <p:attrName>style.visibility</p:attrName>
                                        </p:attrNameLst>
                                      </p:cBhvr>
                                      <p:to>
                                        <p:strVal val="visible"/>
                                      </p:to>
                                    </p:set>
                                    <p:animEffect transition="in" filter="wipe(down)">
                                      <p:cBhvr>
                                        <p:cTn id="233" dur="500"/>
                                        <p:tgtEl>
                                          <p:spTgt spid="8">
                                            <p:graphicEl>
                                              <a:chart seriesIdx="0" categoryIdx="20" bldStep="ptIn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uiExpand="1">
        <p:bldSub>
          <a:bldChart bld="category" animBg="0"/>
        </p:bldSub>
      </p:bldGraphic>
      <p:bldGraphic spid="8" grpId="0" uiExpand="1">
        <p:bldSub>
          <a:bldChart bld="seriesEl" animBg="0"/>
        </p:bldSub>
      </p:bldGraphic>
    </p:bldLst>
  </p:timing>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88362-FB93-ED3B-68C6-887E05F1EDF1}"/>
              </a:ext>
            </a:extLst>
          </p:cNvPr>
          <p:cNvSpPr>
            <a:spLocks noGrp="1"/>
          </p:cNvSpPr>
          <p:nvPr>
            <p:ph type="title"/>
          </p:nvPr>
        </p:nvSpPr>
        <p:spPr/>
        <p:txBody>
          <a:bodyPr>
            <a:normAutofit fontScale="90000"/>
          </a:bodyPr>
          <a:lstStyle/>
          <a:p>
            <a:r>
              <a:rPr lang="en-US" dirty="0"/>
              <a:t>Unanticipated Interest Rate Changes</a:t>
            </a:r>
          </a:p>
        </p:txBody>
      </p:sp>
      <p:sp>
        <p:nvSpPr>
          <p:cNvPr id="3" name="Text Placeholder 2">
            <a:extLst>
              <a:ext uri="{FF2B5EF4-FFF2-40B4-BE49-F238E27FC236}">
                <a16:creationId xmlns:a16="http://schemas.microsoft.com/office/drawing/2014/main" id="{FC178E6D-A243-25A4-B6DE-6F64D4510FCD}"/>
              </a:ext>
            </a:extLst>
          </p:cNvPr>
          <p:cNvSpPr>
            <a:spLocks noGrp="1"/>
          </p:cNvSpPr>
          <p:nvPr>
            <p:ph type="body" idx="1"/>
          </p:nvPr>
        </p:nvSpPr>
        <p:spPr/>
        <p:txBody>
          <a:bodyPr/>
          <a:lstStyle/>
          <a:p>
            <a:r>
              <a:rPr lang="en-US" dirty="0"/>
              <a:t>Interest Rate</a:t>
            </a:r>
          </a:p>
        </p:txBody>
      </p:sp>
      <p:sp>
        <p:nvSpPr>
          <p:cNvPr id="5" name="Text Placeholder 4">
            <a:extLst>
              <a:ext uri="{FF2B5EF4-FFF2-40B4-BE49-F238E27FC236}">
                <a16:creationId xmlns:a16="http://schemas.microsoft.com/office/drawing/2014/main" id="{7207E902-D0AD-4D24-6ECD-EAABF7B5E0C4}"/>
              </a:ext>
            </a:extLst>
          </p:cNvPr>
          <p:cNvSpPr>
            <a:spLocks noGrp="1"/>
          </p:cNvSpPr>
          <p:nvPr>
            <p:ph type="body" sz="quarter" idx="3"/>
          </p:nvPr>
        </p:nvSpPr>
        <p:spPr/>
        <p:txBody>
          <a:bodyPr/>
          <a:lstStyle/>
          <a:p>
            <a:r>
              <a:rPr lang="en-US" dirty="0"/>
              <a:t>Perpetuity Value</a:t>
            </a:r>
          </a:p>
        </p:txBody>
      </p:sp>
      <p:graphicFrame>
        <p:nvGraphicFramePr>
          <p:cNvPr id="7" name="Content Placeholder 5">
            <a:extLst>
              <a:ext uri="{FF2B5EF4-FFF2-40B4-BE49-F238E27FC236}">
                <a16:creationId xmlns:a16="http://schemas.microsoft.com/office/drawing/2014/main" id="{03E7B072-1F2C-0498-250D-BE6B26A7F128}"/>
              </a:ext>
            </a:extLst>
          </p:cNvPr>
          <p:cNvGraphicFramePr>
            <a:graphicFrameLocks noGrp="1"/>
          </p:cNvGraphicFramePr>
          <p:nvPr>
            <p:ph sz="half" idx="2"/>
            <p:extLst>
              <p:ext uri="{D42A27DB-BD31-4B8C-83A1-F6EECF244321}">
                <p14:modId xmlns:p14="http://schemas.microsoft.com/office/powerpoint/2010/main" val="3361276173"/>
              </p:ext>
            </p:extLst>
          </p:nvPr>
        </p:nvGraphicFramePr>
        <p:xfrm>
          <a:off x="457200" y="1630363"/>
          <a:ext cx="4040188" cy="296386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ontent Placeholder 5">
            <a:extLst>
              <a:ext uri="{FF2B5EF4-FFF2-40B4-BE49-F238E27FC236}">
                <a16:creationId xmlns:a16="http://schemas.microsoft.com/office/drawing/2014/main" id="{E766D4E6-8FA6-6916-6C65-1E2754EF70E6}"/>
              </a:ext>
            </a:extLst>
          </p:cNvPr>
          <p:cNvGraphicFramePr>
            <a:graphicFrameLocks noGrp="1"/>
          </p:cNvGraphicFramePr>
          <p:nvPr>
            <p:ph sz="quarter" idx="4"/>
            <p:extLst>
              <p:ext uri="{D42A27DB-BD31-4B8C-83A1-F6EECF244321}">
                <p14:modId xmlns:p14="http://schemas.microsoft.com/office/powerpoint/2010/main" val="2438056696"/>
              </p:ext>
            </p:extLst>
          </p:nvPr>
        </p:nvGraphicFramePr>
        <p:xfrm>
          <a:off x="4645025" y="1630363"/>
          <a:ext cx="4041775" cy="296386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3414223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graphicEl>
                                              <a:chart seriesIdx="-4" categoryIdx="0" bldStep="category"/>
                                            </p:graphicEl>
                                          </p:spTgt>
                                        </p:tgtEl>
                                        <p:attrNameLst>
                                          <p:attrName>style.visibility</p:attrName>
                                        </p:attrNameLst>
                                      </p:cBhvr>
                                      <p:to>
                                        <p:strVal val="visible"/>
                                      </p:to>
                                    </p:set>
                                    <p:anim calcmode="lin" valueType="num">
                                      <p:cBhvr additive="base">
                                        <p:cTn id="7" dur="500" fill="hold"/>
                                        <p:tgtEl>
                                          <p:spTgt spid="7">
                                            <p:graphicEl>
                                              <a:chart seriesIdx="-4" categoryIdx="0" bldStep="category"/>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graphicEl>
                                              <a:chart seriesIdx="-4" categoryIdx="0"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4" fill="hold" grpId="0" nodeType="clickEffect">
                                  <p:stCondLst>
                                    <p:cond delay="0"/>
                                  </p:stCondLst>
                                  <p:childTnLst>
                                    <p:set>
                                      <p:cBhvr>
                                        <p:cTn id="12" dur="1" fill="hold">
                                          <p:stCondLst>
                                            <p:cond delay="0"/>
                                          </p:stCondLst>
                                        </p:cTn>
                                        <p:tgtEl>
                                          <p:spTgt spid="8">
                                            <p:graphicEl>
                                              <a:chart seriesIdx="0" categoryIdx="0" bldStep="ptInSeries"/>
                                            </p:graphicEl>
                                          </p:spTgt>
                                        </p:tgtEl>
                                        <p:attrNameLst>
                                          <p:attrName>style.visibility</p:attrName>
                                        </p:attrNameLst>
                                      </p:cBhvr>
                                      <p:to>
                                        <p:strVal val="visible"/>
                                      </p:to>
                                    </p:set>
                                    <p:animEffect transition="in" filter="wipe(down)">
                                      <p:cBhvr>
                                        <p:cTn id="13" dur="500"/>
                                        <p:tgtEl>
                                          <p:spTgt spid="8">
                                            <p:graphicEl>
                                              <a:chart seriesIdx="0" categoryIdx="0" bldStep="ptInSeries"/>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
                                            <p:graphicEl>
                                              <a:chart seriesIdx="-4" categoryIdx="1" bldStep="category"/>
                                            </p:graphicEl>
                                          </p:spTgt>
                                        </p:tgtEl>
                                        <p:attrNameLst>
                                          <p:attrName>style.visibility</p:attrName>
                                        </p:attrNameLst>
                                      </p:cBhvr>
                                      <p:to>
                                        <p:strVal val="visible"/>
                                      </p:to>
                                    </p:set>
                                    <p:anim calcmode="lin" valueType="num">
                                      <p:cBhvr additive="base">
                                        <p:cTn id="18" dur="500" fill="hold"/>
                                        <p:tgtEl>
                                          <p:spTgt spid="7">
                                            <p:graphicEl>
                                              <a:chart seriesIdx="-4" categoryIdx="1" bldStep="category"/>
                                            </p:graphicEl>
                                          </p:spTgt>
                                        </p:tgtEl>
                                        <p:attrNameLst>
                                          <p:attrName>ppt_x</p:attrName>
                                        </p:attrNameLst>
                                      </p:cBhvr>
                                      <p:tavLst>
                                        <p:tav tm="0">
                                          <p:val>
                                            <p:strVal val="#ppt_x"/>
                                          </p:val>
                                        </p:tav>
                                        <p:tav tm="100000">
                                          <p:val>
                                            <p:strVal val="#ppt_x"/>
                                          </p:val>
                                        </p:tav>
                                      </p:tavLst>
                                    </p:anim>
                                    <p:anim calcmode="lin" valueType="num">
                                      <p:cBhvr additive="base">
                                        <p:cTn id="19" dur="500" fill="hold"/>
                                        <p:tgtEl>
                                          <p:spTgt spid="7">
                                            <p:graphicEl>
                                              <a:chart seriesIdx="-4" categoryIdx="1"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4" fill="hold" grpId="0" nodeType="clickEffect">
                                  <p:stCondLst>
                                    <p:cond delay="0"/>
                                  </p:stCondLst>
                                  <p:childTnLst>
                                    <p:set>
                                      <p:cBhvr>
                                        <p:cTn id="23" dur="1" fill="hold">
                                          <p:stCondLst>
                                            <p:cond delay="0"/>
                                          </p:stCondLst>
                                        </p:cTn>
                                        <p:tgtEl>
                                          <p:spTgt spid="8">
                                            <p:graphicEl>
                                              <a:chart seriesIdx="0" categoryIdx="1" bldStep="ptInSeries"/>
                                            </p:graphicEl>
                                          </p:spTgt>
                                        </p:tgtEl>
                                        <p:attrNameLst>
                                          <p:attrName>style.visibility</p:attrName>
                                        </p:attrNameLst>
                                      </p:cBhvr>
                                      <p:to>
                                        <p:strVal val="visible"/>
                                      </p:to>
                                    </p:set>
                                    <p:animEffect transition="in" filter="wipe(down)">
                                      <p:cBhvr>
                                        <p:cTn id="24" dur="500"/>
                                        <p:tgtEl>
                                          <p:spTgt spid="8">
                                            <p:graphicEl>
                                              <a:chart seriesIdx="0" categoryIdx="1" bldStep="ptInSeries"/>
                                            </p:graphic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graphicEl>
                                              <a:chart seriesIdx="-4" categoryIdx="2" bldStep="category"/>
                                            </p:graphicEl>
                                          </p:spTgt>
                                        </p:tgtEl>
                                        <p:attrNameLst>
                                          <p:attrName>style.visibility</p:attrName>
                                        </p:attrNameLst>
                                      </p:cBhvr>
                                      <p:to>
                                        <p:strVal val="visible"/>
                                      </p:to>
                                    </p:set>
                                    <p:anim calcmode="lin" valueType="num">
                                      <p:cBhvr additive="base">
                                        <p:cTn id="29" dur="500" fill="hold"/>
                                        <p:tgtEl>
                                          <p:spTgt spid="7">
                                            <p:graphicEl>
                                              <a:chart seriesIdx="-4" categoryIdx="2" bldStep="category"/>
                                            </p:graphic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graphicEl>
                                              <a:chart seriesIdx="-4" categoryIdx="2"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4" fill="hold" grpId="0" nodeType="clickEffect">
                                  <p:stCondLst>
                                    <p:cond delay="0"/>
                                  </p:stCondLst>
                                  <p:childTnLst>
                                    <p:set>
                                      <p:cBhvr>
                                        <p:cTn id="34" dur="1" fill="hold">
                                          <p:stCondLst>
                                            <p:cond delay="0"/>
                                          </p:stCondLst>
                                        </p:cTn>
                                        <p:tgtEl>
                                          <p:spTgt spid="8">
                                            <p:graphicEl>
                                              <a:chart seriesIdx="0" categoryIdx="2" bldStep="ptInSeries"/>
                                            </p:graphicEl>
                                          </p:spTgt>
                                        </p:tgtEl>
                                        <p:attrNameLst>
                                          <p:attrName>style.visibility</p:attrName>
                                        </p:attrNameLst>
                                      </p:cBhvr>
                                      <p:to>
                                        <p:strVal val="visible"/>
                                      </p:to>
                                    </p:set>
                                    <p:animEffect transition="in" filter="wipe(down)">
                                      <p:cBhvr>
                                        <p:cTn id="35" dur="500"/>
                                        <p:tgtEl>
                                          <p:spTgt spid="8">
                                            <p:graphicEl>
                                              <a:chart seriesIdx="0" categoryIdx="2" bldStep="ptInSeries"/>
                                            </p:graphicEl>
                                          </p:spTgt>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7">
                                            <p:graphicEl>
                                              <a:chart seriesIdx="-4" categoryIdx="3" bldStep="category"/>
                                            </p:graphicEl>
                                          </p:spTgt>
                                        </p:tgtEl>
                                        <p:attrNameLst>
                                          <p:attrName>style.visibility</p:attrName>
                                        </p:attrNameLst>
                                      </p:cBhvr>
                                      <p:to>
                                        <p:strVal val="visible"/>
                                      </p:to>
                                    </p:set>
                                    <p:anim calcmode="lin" valueType="num">
                                      <p:cBhvr additive="base">
                                        <p:cTn id="40" dur="500" fill="hold"/>
                                        <p:tgtEl>
                                          <p:spTgt spid="7">
                                            <p:graphicEl>
                                              <a:chart seriesIdx="-4" categoryIdx="3" bldStep="category"/>
                                            </p:graphicEl>
                                          </p:spTgt>
                                        </p:tgtEl>
                                        <p:attrNameLst>
                                          <p:attrName>ppt_x</p:attrName>
                                        </p:attrNameLst>
                                      </p:cBhvr>
                                      <p:tavLst>
                                        <p:tav tm="0">
                                          <p:val>
                                            <p:strVal val="#ppt_x"/>
                                          </p:val>
                                        </p:tav>
                                        <p:tav tm="100000">
                                          <p:val>
                                            <p:strVal val="#ppt_x"/>
                                          </p:val>
                                        </p:tav>
                                      </p:tavLst>
                                    </p:anim>
                                    <p:anim calcmode="lin" valueType="num">
                                      <p:cBhvr additive="base">
                                        <p:cTn id="41" dur="500" fill="hold"/>
                                        <p:tgtEl>
                                          <p:spTgt spid="7">
                                            <p:graphicEl>
                                              <a:chart seriesIdx="-4" categoryIdx="3"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grpId="0" nodeType="clickEffect">
                                  <p:stCondLst>
                                    <p:cond delay="0"/>
                                  </p:stCondLst>
                                  <p:childTnLst>
                                    <p:set>
                                      <p:cBhvr>
                                        <p:cTn id="45" dur="1" fill="hold">
                                          <p:stCondLst>
                                            <p:cond delay="0"/>
                                          </p:stCondLst>
                                        </p:cTn>
                                        <p:tgtEl>
                                          <p:spTgt spid="8">
                                            <p:graphicEl>
                                              <a:chart seriesIdx="0" categoryIdx="3" bldStep="ptInSeries"/>
                                            </p:graphicEl>
                                          </p:spTgt>
                                        </p:tgtEl>
                                        <p:attrNameLst>
                                          <p:attrName>style.visibility</p:attrName>
                                        </p:attrNameLst>
                                      </p:cBhvr>
                                      <p:to>
                                        <p:strVal val="visible"/>
                                      </p:to>
                                    </p:set>
                                    <p:animEffect transition="in" filter="wipe(down)">
                                      <p:cBhvr>
                                        <p:cTn id="46" dur="500"/>
                                        <p:tgtEl>
                                          <p:spTgt spid="8">
                                            <p:graphicEl>
                                              <a:chart seriesIdx="0" categoryIdx="3" bldStep="ptInSeries"/>
                                            </p:graphicEl>
                                          </p:spTgt>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7">
                                            <p:graphicEl>
                                              <a:chart seriesIdx="-4" categoryIdx="4" bldStep="category"/>
                                            </p:graphicEl>
                                          </p:spTgt>
                                        </p:tgtEl>
                                        <p:attrNameLst>
                                          <p:attrName>style.visibility</p:attrName>
                                        </p:attrNameLst>
                                      </p:cBhvr>
                                      <p:to>
                                        <p:strVal val="visible"/>
                                      </p:to>
                                    </p:set>
                                    <p:anim calcmode="lin" valueType="num">
                                      <p:cBhvr additive="base">
                                        <p:cTn id="51" dur="500" fill="hold"/>
                                        <p:tgtEl>
                                          <p:spTgt spid="7">
                                            <p:graphicEl>
                                              <a:chart seriesIdx="-4" categoryIdx="4" bldStep="category"/>
                                            </p:graphicEl>
                                          </p:spTgt>
                                        </p:tgtEl>
                                        <p:attrNameLst>
                                          <p:attrName>ppt_x</p:attrName>
                                        </p:attrNameLst>
                                      </p:cBhvr>
                                      <p:tavLst>
                                        <p:tav tm="0">
                                          <p:val>
                                            <p:strVal val="#ppt_x"/>
                                          </p:val>
                                        </p:tav>
                                        <p:tav tm="100000">
                                          <p:val>
                                            <p:strVal val="#ppt_x"/>
                                          </p:val>
                                        </p:tav>
                                      </p:tavLst>
                                    </p:anim>
                                    <p:anim calcmode="lin" valueType="num">
                                      <p:cBhvr additive="base">
                                        <p:cTn id="52" dur="500" fill="hold"/>
                                        <p:tgtEl>
                                          <p:spTgt spid="7">
                                            <p:graphicEl>
                                              <a:chart seriesIdx="-4" categoryIdx="4"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8">
                                            <p:graphicEl>
                                              <a:chart seriesIdx="0" categoryIdx="4" bldStep="ptInSeries"/>
                                            </p:graphicEl>
                                          </p:spTgt>
                                        </p:tgtEl>
                                        <p:attrNameLst>
                                          <p:attrName>style.visibility</p:attrName>
                                        </p:attrNameLst>
                                      </p:cBhvr>
                                      <p:to>
                                        <p:strVal val="visible"/>
                                      </p:to>
                                    </p:set>
                                    <p:animEffect transition="in" filter="wipe(down)">
                                      <p:cBhvr>
                                        <p:cTn id="57" dur="500"/>
                                        <p:tgtEl>
                                          <p:spTgt spid="8">
                                            <p:graphicEl>
                                              <a:chart seriesIdx="0" categoryIdx="4" bldStep="ptInSeries"/>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7">
                                            <p:graphicEl>
                                              <a:chart seriesIdx="-4" categoryIdx="5" bldStep="category"/>
                                            </p:graphicEl>
                                          </p:spTgt>
                                        </p:tgtEl>
                                        <p:attrNameLst>
                                          <p:attrName>style.visibility</p:attrName>
                                        </p:attrNameLst>
                                      </p:cBhvr>
                                      <p:to>
                                        <p:strVal val="visible"/>
                                      </p:to>
                                    </p:set>
                                    <p:anim calcmode="lin" valueType="num">
                                      <p:cBhvr additive="base">
                                        <p:cTn id="62" dur="500" fill="hold"/>
                                        <p:tgtEl>
                                          <p:spTgt spid="7">
                                            <p:graphicEl>
                                              <a:chart seriesIdx="-4" categoryIdx="5" bldStep="category"/>
                                            </p:graphicEl>
                                          </p:spTgt>
                                        </p:tgtEl>
                                        <p:attrNameLst>
                                          <p:attrName>ppt_x</p:attrName>
                                        </p:attrNameLst>
                                      </p:cBhvr>
                                      <p:tavLst>
                                        <p:tav tm="0">
                                          <p:val>
                                            <p:strVal val="#ppt_x"/>
                                          </p:val>
                                        </p:tav>
                                        <p:tav tm="100000">
                                          <p:val>
                                            <p:strVal val="#ppt_x"/>
                                          </p:val>
                                        </p:tav>
                                      </p:tavLst>
                                    </p:anim>
                                    <p:anim calcmode="lin" valueType="num">
                                      <p:cBhvr additive="base">
                                        <p:cTn id="63" dur="500" fill="hold"/>
                                        <p:tgtEl>
                                          <p:spTgt spid="7">
                                            <p:graphicEl>
                                              <a:chart seriesIdx="-4" categoryIdx="5"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2" presetClass="entr" presetSubtype="4" fill="hold" grpId="0" nodeType="clickEffect">
                                  <p:stCondLst>
                                    <p:cond delay="0"/>
                                  </p:stCondLst>
                                  <p:childTnLst>
                                    <p:set>
                                      <p:cBhvr>
                                        <p:cTn id="67" dur="1" fill="hold">
                                          <p:stCondLst>
                                            <p:cond delay="0"/>
                                          </p:stCondLst>
                                        </p:cTn>
                                        <p:tgtEl>
                                          <p:spTgt spid="8">
                                            <p:graphicEl>
                                              <a:chart seriesIdx="0" categoryIdx="5" bldStep="ptInSeries"/>
                                            </p:graphicEl>
                                          </p:spTgt>
                                        </p:tgtEl>
                                        <p:attrNameLst>
                                          <p:attrName>style.visibility</p:attrName>
                                        </p:attrNameLst>
                                      </p:cBhvr>
                                      <p:to>
                                        <p:strVal val="visible"/>
                                      </p:to>
                                    </p:set>
                                    <p:animEffect transition="in" filter="wipe(down)">
                                      <p:cBhvr>
                                        <p:cTn id="68" dur="500"/>
                                        <p:tgtEl>
                                          <p:spTgt spid="8">
                                            <p:graphicEl>
                                              <a:chart seriesIdx="0" categoryIdx="5" bldStep="ptInSeries"/>
                                            </p:graphicEl>
                                          </p:spTgt>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7">
                                            <p:graphicEl>
                                              <a:chart seriesIdx="-4" categoryIdx="6" bldStep="category"/>
                                            </p:graphicEl>
                                          </p:spTgt>
                                        </p:tgtEl>
                                        <p:attrNameLst>
                                          <p:attrName>style.visibility</p:attrName>
                                        </p:attrNameLst>
                                      </p:cBhvr>
                                      <p:to>
                                        <p:strVal val="visible"/>
                                      </p:to>
                                    </p:set>
                                    <p:anim calcmode="lin" valueType="num">
                                      <p:cBhvr additive="base">
                                        <p:cTn id="73" dur="500" fill="hold"/>
                                        <p:tgtEl>
                                          <p:spTgt spid="7">
                                            <p:graphicEl>
                                              <a:chart seriesIdx="-4" categoryIdx="6" bldStep="category"/>
                                            </p:graphicEl>
                                          </p:spTgt>
                                        </p:tgtEl>
                                        <p:attrNameLst>
                                          <p:attrName>ppt_x</p:attrName>
                                        </p:attrNameLst>
                                      </p:cBhvr>
                                      <p:tavLst>
                                        <p:tav tm="0">
                                          <p:val>
                                            <p:strVal val="#ppt_x"/>
                                          </p:val>
                                        </p:tav>
                                        <p:tav tm="100000">
                                          <p:val>
                                            <p:strVal val="#ppt_x"/>
                                          </p:val>
                                        </p:tav>
                                      </p:tavLst>
                                    </p:anim>
                                    <p:anim calcmode="lin" valueType="num">
                                      <p:cBhvr additive="base">
                                        <p:cTn id="74" dur="500" fill="hold"/>
                                        <p:tgtEl>
                                          <p:spTgt spid="7">
                                            <p:graphicEl>
                                              <a:chart seriesIdx="-4" categoryIdx="6"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2" presetClass="entr" presetSubtype="4" fill="hold" grpId="0" nodeType="clickEffect">
                                  <p:stCondLst>
                                    <p:cond delay="0"/>
                                  </p:stCondLst>
                                  <p:childTnLst>
                                    <p:set>
                                      <p:cBhvr>
                                        <p:cTn id="78" dur="1" fill="hold">
                                          <p:stCondLst>
                                            <p:cond delay="0"/>
                                          </p:stCondLst>
                                        </p:cTn>
                                        <p:tgtEl>
                                          <p:spTgt spid="8">
                                            <p:graphicEl>
                                              <a:chart seriesIdx="0" categoryIdx="6" bldStep="ptInSeries"/>
                                            </p:graphicEl>
                                          </p:spTgt>
                                        </p:tgtEl>
                                        <p:attrNameLst>
                                          <p:attrName>style.visibility</p:attrName>
                                        </p:attrNameLst>
                                      </p:cBhvr>
                                      <p:to>
                                        <p:strVal val="visible"/>
                                      </p:to>
                                    </p:set>
                                    <p:animEffect transition="in" filter="wipe(down)">
                                      <p:cBhvr>
                                        <p:cTn id="79" dur="500"/>
                                        <p:tgtEl>
                                          <p:spTgt spid="8">
                                            <p:graphicEl>
                                              <a:chart seriesIdx="0" categoryIdx="6" bldStep="ptInSeries"/>
                                            </p:graphicEl>
                                          </p:spTgt>
                                        </p:tgtEl>
                                      </p:cBhvr>
                                    </p:animEffect>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7">
                                            <p:graphicEl>
                                              <a:chart seriesIdx="-4" categoryIdx="7" bldStep="category"/>
                                            </p:graphicEl>
                                          </p:spTgt>
                                        </p:tgtEl>
                                        <p:attrNameLst>
                                          <p:attrName>style.visibility</p:attrName>
                                        </p:attrNameLst>
                                      </p:cBhvr>
                                      <p:to>
                                        <p:strVal val="visible"/>
                                      </p:to>
                                    </p:set>
                                    <p:anim calcmode="lin" valueType="num">
                                      <p:cBhvr additive="base">
                                        <p:cTn id="84" dur="500" fill="hold"/>
                                        <p:tgtEl>
                                          <p:spTgt spid="7">
                                            <p:graphicEl>
                                              <a:chart seriesIdx="-4" categoryIdx="7" bldStep="category"/>
                                            </p:graphicEl>
                                          </p:spTgt>
                                        </p:tgtEl>
                                        <p:attrNameLst>
                                          <p:attrName>ppt_x</p:attrName>
                                        </p:attrNameLst>
                                      </p:cBhvr>
                                      <p:tavLst>
                                        <p:tav tm="0">
                                          <p:val>
                                            <p:strVal val="#ppt_x"/>
                                          </p:val>
                                        </p:tav>
                                        <p:tav tm="100000">
                                          <p:val>
                                            <p:strVal val="#ppt_x"/>
                                          </p:val>
                                        </p:tav>
                                      </p:tavLst>
                                    </p:anim>
                                    <p:anim calcmode="lin" valueType="num">
                                      <p:cBhvr additive="base">
                                        <p:cTn id="85" dur="500" fill="hold"/>
                                        <p:tgtEl>
                                          <p:spTgt spid="7">
                                            <p:graphicEl>
                                              <a:chart seriesIdx="-4" categoryIdx="7"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2" presetClass="entr" presetSubtype="4" fill="hold" grpId="0" nodeType="clickEffect">
                                  <p:stCondLst>
                                    <p:cond delay="0"/>
                                  </p:stCondLst>
                                  <p:childTnLst>
                                    <p:set>
                                      <p:cBhvr>
                                        <p:cTn id="89" dur="1" fill="hold">
                                          <p:stCondLst>
                                            <p:cond delay="0"/>
                                          </p:stCondLst>
                                        </p:cTn>
                                        <p:tgtEl>
                                          <p:spTgt spid="8">
                                            <p:graphicEl>
                                              <a:chart seriesIdx="0" categoryIdx="7" bldStep="ptInSeries"/>
                                            </p:graphicEl>
                                          </p:spTgt>
                                        </p:tgtEl>
                                        <p:attrNameLst>
                                          <p:attrName>style.visibility</p:attrName>
                                        </p:attrNameLst>
                                      </p:cBhvr>
                                      <p:to>
                                        <p:strVal val="visible"/>
                                      </p:to>
                                    </p:set>
                                    <p:animEffect transition="in" filter="wipe(down)">
                                      <p:cBhvr>
                                        <p:cTn id="90" dur="500"/>
                                        <p:tgtEl>
                                          <p:spTgt spid="8">
                                            <p:graphicEl>
                                              <a:chart seriesIdx="0" categoryIdx="7" bldStep="ptInSeries"/>
                                            </p:graphicEl>
                                          </p:spTgt>
                                        </p:tgtEl>
                                      </p:cBhvr>
                                    </p:animEffect>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7">
                                            <p:graphicEl>
                                              <a:chart seriesIdx="-4" categoryIdx="8" bldStep="category"/>
                                            </p:graphicEl>
                                          </p:spTgt>
                                        </p:tgtEl>
                                        <p:attrNameLst>
                                          <p:attrName>style.visibility</p:attrName>
                                        </p:attrNameLst>
                                      </p:cBhvr>
                                      <p:to>
                                        <p:strVal val="visible"/>
                                      </p:to>
                                    </p:set>
                                    <p:anim calcmode="lin" valueType="num">
                                      <p:cBhvr additive="base">
                                        <p:cTn id="95" dur="500" fill="hold"/>
                                        <p:tgtEl>
                                          <p:spTgt spid="7">
                                            <p:graphicEl>
                                              <a:chart seriesIdx="-4" categoryIdx="8" bldStep="category"/>
                                            </p:graphicEl>
                                          </p:spTgt>
                                        </p:tgtEl>
                                        <p:attrNameLst>
                                          <p:attrName>ppt_x</p:attrName>
                                        </p:attrNameLst>
                                      </p:cBhvr>
                                      <p:tavLst>
                                        <p:tav tm="0">
                                          <p:val>
                                            <p:strVal val="#ppt_x"/>
                                          </p:val>
                                        </p:tav>
                                        <p:tav tm="100000">
                                          <p:val>
                                            <p:strVal val="#ppt_x"/>
                                          </p:val>
                                        </p:tav>
                                      </p:tavLst>
                                    </p:anim>
                                    <p:anim calcmode="lin" valueType="num">
                                      <p:cBhvr additive="base">
                                        <p:cTn id="96" dur="500" fill="hold"/>
                                        <p:tgtEl>
                                          <p:spTgt spid="7">
                                            <p:graphicEl>
                                              <a:chart seriesIdx="-4" categoryIdx="8"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2" presetClass="entr" presetSubtype="4" fill="hold" grpId="0" nodeType="clickEffect">
                                  <p:stCondLst>
                                    <p:cond delay="0"/>
                                  </p:stCondLst>
                                  <p:childTnLst>
                                    <p:set>
                                      <p:cBhvr>
                                        <p:cTn id="100" dur="1" fill="hold">
                                          <p:stCondLst>
                                            <p:cond delay="0"/>
                                          </p:stCondLst>
                                        </p:cTn>
                                        <p:tgtEl>
                                          <p:spTgt spid="8">
                                            <p:graphicEl>
                                              <a:chart seriesIdx="0" categoryIdx="8" bldStep="ptInSeries"/>
                                            </p:graphicEl>
                                          </p:spTgt>
                                        </p:tgtEl>
                                        <p:attrNameLst>
                                          <p:attrName>style.visibility</p:attrName>
                                        </p:attrNameLst>
                                      </p:cBhvr>
                                      <p:to>
                                        <p:strVal val="visible"/>
                                      </p:to>
                                    </p:set>
                                    <p:animEffect transition="in" filter="wipe(down)">
                                      <p:cBhvr>
                                        <p:cTn id="101" dur="500"/>
                                        <p:tgtEl>
                                          <p:spTgt spid="8">
                                            <p:graphicEl>
                                              <a:chart seriesIdx="0" categoryIdx="8" bldStep="ptInSeries"/>
                                            </p:graphicEl>
                                          </p:spTgt>
                                        </p:tgtEl>
                                      </p:cBhvr>
                                    </p:animEffect>
                                  </p:childTnLst>
                                </p:cTn>
                              </p:par>
                            </p:childTnLst>
                          </p:cTn>
                        </p:par>
                      </p:childTnLst>
                    </p:cTn>
                  </p:par>
                  <p:par>
                    <p:cTn id="102" fill="hold">
                      <p:stCondLst>
                        <p:cond delay="indefinite"/>
                      </p:stCondLst>
                      <p:childTnLst>
                        <p:par>
                          <p:cTn id="103" fill="hold">
                            <p:stCondLst>
                              <p:cond delay="0"/>
                            </p:stCondLst>
                            <p:childTnLst>
                              <p:par>
                                <p:cTn id="104" presetID="2" presetClass="entr" presetSubtype="4" fill="hold" grpId="0" nodeType="clickEffect">
                                  <p:stCondLst>
                                    <p:cond delay="0"/>
                                  </p:stCondLst>
                                  <p:childTnLst>
                                    <p:set>
                                      <p:cBhvr>
                                        <p:cTn id="105" dur="1" fill="hold">
                                          <p:stCondLst>
                                            <p:cond delay="0"/>
                                          </p:stCondLst>
                                        </p:cTn>
                                        <p:tgtEl>
                                          <p:spTgt spid="7">
                                            <p:graphicEl>
                                              <a:chart seriesIdx="-4" categoryIdx="9" bldStep="category"/>
                                            </p:graphicEl>
                                          </p:spTgt>
                                        </p:tgtEl>
                                        <p:attrNameLst>
                                          <p:attrName>style.visibility</p:attrName>
                                        </p:attrNameLst>
                                      </p:cBhvr>
                                      <p:to>
                                        <p:strVal val="visible"/>
                                      </p:to>
                                    </p:set>
                                    <p:anim calcmode="lin" valueType="num">
                                      <p:cBhvr additive="base">
                                        <p:cTn id="106" dur="500" fill="hold"/>
                                        <p:tgtEl>
                                          <p:spTgt spid="7">
                                            <p:graphicEl>
                                              <a:chart seriesIdx="-4" categoryIdx="9" bldStep="category"/>
                                            </p:graphicEl>
                                          </p:spTgt>
                                        </p:tgtEl>
                                        <p:attrNameLst>
                                          <p:attrName>ppt_x</p:attrName>
                                        </p:attrNameLst>
                                      </p:cBhvr>
                                      <p:tavLst>
                                        <p:tav tm="0">
                                          <p:val>
                                            <p:strVal val="#ppt_x"/>
                                          </p:val>
                                        </p:tav>
                                        <p:tav tm="100000">
                                          <p:val>
                                            <p:strVal val="#ppt_x"/>
                                          </p:val>
                                        </p:tav>
                                      </p:tavLst>
                                    </p:anim>
                                    <p:anim calcmode="lin" valueType="num">
                                      <p:cBhvr additive="base">
                                        <p:cTn id="107" dur="500" fill="hold"/>
                                        <p:tgtEl>
                                          <p:spTgt spid="7">
                                            <p:graphicEl>
                                              <a:chart seriesIdx="-4" categoryIdx="9"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22" presetClass="entr" presetSubtype="4" fill="hold" grpId="0" nodeType="clickEffect">
                                  <p:stCondLst>
                                    <p:cond delay="0"/>
                                  </p:stCondLst>
                                  <p:childTnLst>
                                    <p:set>
                                      <p:cBhvr>
                                        <p:cTn id="111" dur="1" fill="hold">
                                          <p:stCondLst>
                                            <p:cond delay="0"/>
                                          </p:stCondLst>
                                        </p:cTn>
                                        <p:tgtEl>
                                          <p:spTgt spid="8">
                                            <p:graphicEl>
                                              <a:chart seriesIdx="0" categoryIdx="9" bldStep="ptInSeries"/>
                                            </p:graphicEl>
                                          </p:spTgt>
                                        </p:tgtEl>
                                        <p:attrNameLst>
                                          <p:attrName>style.visibility</p:attrName>
                                        </p:attrNameLst>
                                      </p:cBhvr>
                                      <p:to>
                                        <p:strVal val="visible"/>
                                      </p:to>
                                    </p:set>
                                    <p:animEffect transition="in" filter="wipe(down)">
                                      <p:cBhvr>
                                        <p:cTn id="112" dur="500"/>
                                        <p:tgtEl>
                                          <p:spTgt spid="8">
                                            <p:graphicEl>
                                              <a:chart seriesIdx="0" categoryIdx="9" bldStep="ptInSeries"/>
                                            </p:graphicEl>
                                          </p:spTgt>
                                        </p:tgtEl>
                                      </p:cBhvr>
                                    </p:animEffect>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grpId="0" nodeType="clickEffect">
                                  <p:stCondLst>
                                    <p:cond delay="0"/>
                                  </p:stCondLst>
                                  <p:childTnLst>
                                    <p:set>
                                      <p:cBhvr>
                                        <p:cTn id="116" dur="1" fill="hold">
                                          <p:stCondLst>
                                            <p:cond delay="0"/>
                                          </p:stCondLst>
                                        </p:cTn>
                                        <p:tgtEl>
                                          <p:spTgt spid="7">
                                            <p:graphicEl>
                                              <a:chart seriesIdx="-4" categoryIdx="10" bldStep="category"/>
                                            </p:graphicEl>
                                          </p:spTgt>
                                        </p:tgtEl>
                                        <p:attrNameLst>
                                          <p:attrName>style.visibility</p:attrName>
                                        </p:attrNameLst>
                                      </p:cBhvr>
                                      <p:to>
                                        <p:strVal val="visible"/>
                                      </p:to>
                                    </p:set>
                                    <p:anim calcmode="lin" valueType="num">
                                      <p:cBhvr additive="base">
                                        <p:cTn id="117" dur="500" fill="hold"/>
                                        <p:tgtEl>
                                          <p:spTgt spid="7">
                                            <p:graphicEl>
                                              <a:chart seriesIdx="-4" categoryIdx="10" bldStep="category"/>
                                            </p:graphicEl>
                                          </p:spTgt>
                                        </p:tgtEl>
                                        <p:attrNameLst>
                                          <p:attrName>ppt_x</p:attrName>
                                        </p:attrNameLst>
                                      </p:cBhvr>
                                      <p:tavLst>
                                        <p:tav tm="0">
                                          <p:val>
                                            <p:strVal val="#ppt_x"/>
                                          </p:val>
                                        </p:tav>
                                        <p:tav tm="100000">
                                          <p:val>
                                            <p:strVal val="#ppt_x"/>
                                          </p:val>
                                        </p:tav>
                                      </p:tavLst>
                                    </p:anim>
                                    <p:anim calcmode="lin" valueType="num">
                                      <p:cBhvr additive="base">
                                        <p:cTn id="118" dur="500" fill="hold"/>
                                        <p:tgtEl>
                                          <p:spTgt spid="7">
                                            <p:graphicEl>
                                              <a:chart seriesIdx="-4" categoryIdx="10"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2" presetClass="entr" presetSubtype="4" fill="hold" grpId="0" nodeType="clickEffect">
                                  <p:stCondLst>
                                    <p:cond delay="0"/>
                                  </p:stCondLst>
                                  <p:childTnLst>
                                    <p:set>
                                      <p:cBhvr>
                                        <p:cTn id="122" dur="1" fill="hold">
                                          <p:stCondLst>
                                            <p:cond delay="0"/>
                                          </p:stCondLst>
                                        </p:cTn>
                                        <p:tgtEl>
                                          <p:spTgt spid="8">
                                            <p:graphicEl>
                                              <a:chart seriesIdx="0" categoryIdx="10" bldStep="ptInSeries"/>
                                            </p:graphicEl>
                                          </p:spTgt>
                                        </p:tgtEl>
                                        <p:attrNameLst>
                                          <p:attrName>style.visibility</p:attrName>
                                        </p:attrNameLst>
                                      </p:cBhvr>
                                      <p:to>
                                        <p:strVal val="visible"/>
                                      </p:to>
                                    </p:set>
                                    <p:animEffect transition="in" filter="wipe(down)">
                                      <p:cBhvr>
                                        <p:cTn id="123" dur="500"/>
                                        <p:tgtEl>
                                          <p:spTgt spid="8">
                                            <p:graphicEl>
                                              <a:chart seriesIdx="0" categoryIdx="10" bldStep="ptInSeries"/>
                                            </p:graphicEl>
                                          </p:spTgt>
                                        </p:tgtEl>
                                      </p:cBhvr>
                                    </p:animEffect>
                                  </p:childTnLst>
                                </p:cTn>
                              </p:par>
                            </p:childTnLst>
                          </p:cTn>
                        </p:par>
                      </p:childTnLst>
                    </p:cTn>
                  </p:par>
                  <p:par>
                    <p:cTn id="124" fill="hold">
                      <p:stCondLst>
                        <p:cond delay="indefinite"/>
                      </p:stCondLst>
                      <p:childTnLst>
                        <p:par>
                          <p:cTn id="125" fill="hold">
                            <p:stCondLst>
                              <p:cond delay="0"/>
                            </p:stCondLst>
                            <p:childTnLst>
                              <p:par>
                                <p:cTn id="126" presetID="2" presetClass="entr" presetSubtype="4" fill="hold" grpId="0" nodeType="clickEffect">
                                  <p:stCondLst>
                                    <p:cond delay="0"/>
                                  </p:stCondLst>
                                  <p:childTnLst>
                                    <p:set>
                                      <p:cBhvr>
                                        <p:cTn id="127" dur="1" fill="hold">
                                          <p:stCondLst>
                                            <p:cond delay="0"/>
                                          </p:stCondLst>
                                        </p:cTn>
                                        <p:tgtEl>
                                          <p:spTgt spid="7">
                                            <p:graphicEl>
                                              <a:chart seriesIdx="-4" categoryIdx="11" bldStep="category"/>
                                            </p:graphicEl>
                                          </p:spTgt>
                                        </p:tgtEl>
                                        <p:attrNameLst>
                                          <p:attrName>style.visibility</p:attrName>
                                        </p:attrNameLst>
                                      </p:cBhvr>
                                      <p:to>
                                        <p:strVal val="visible"/>
                                      </p:to>
                                    </p:set>
                                    <p:anim calcmode="lin" valueType="num">
                                      <p:cBhvr additive="base">
                                        <p:cTn id="128" dur="500" fill="hold"/>
                                        <p:tgtEl>
                                          <p:spTgt spid="7">
                                            <p:graphicEl>
                                              <a:chart seriesIdx="-4" categoryIdx="11" bldStep="category"/>
                                            </p:graphicEl>
                                          </p:spTgt>
                                        </p:tgtEl>
                                        <p:attrNameLst>
                                          <p:attrName>ppt_x</p:attrName>
                                        </p:attrNameLst>
                                      </p:cBhvr>
                                      <p:tavLst>
                                        <p:tav tm="0">
                                          <p:val>
                                            <p:strVal val="#ppt_x"/>
                                          </p:val>
                                        </p:tav>
                                        <p:tav tm="100000">
                                          <p:val>
                                            <p:strVal val="#ppt_x"/>
                                          </p:val>
                                        </p:tav>
                                      </p:tavLst>
                                    </p:anim>
                                    <p:anim calcmode="lin" valueType="num">
                                      <p:cBhvr additive="base">
                                        <p:cTn id="129" dur="500" fill="hold"/>
                                        <p:tgtEl>
                                          <p:spTgt spid="7">
                                            <p:graphicEl>
                                              <a:chart seriesIdx="-4" categoryIdx="11"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22" presetClass="entr" presetSubtype="4" fill="hold" grpId="0" nodeType="clickEffect">
                                  <p:stCondLst>
                                    <p:cond delay="0"/>
                                  </p:stCondLst>
                                  <p:childTnLst>
                                    <p:set>
                                      <p:cBhvr>
                                        <p:cTn id="133" dur="1" fill="hold">
                                          <p:stCondLst>
                                            <p:cond delay="0"/>
                                          </p:stCondLst>
                                        </p:cTn>
                                        <p:tgtEl>
                                          <p:spTgt spid="8">
                                            <p:graphicEl>
                                              <a:chart seriesIdx="0" categoryIdx="11" bldStep="ptInSeries"/>
                                            </p:graphicEl>
                                          </p:spTgt>
                                        </p:tgtEl>
                                        <p:attrNameLst>
                                          <p:attrName>style.visibility</p:attrName>
                                        </p:attrNameLst>
                                      </p:cBhvr>
                                      <p:to>
                                        <p:strVal val="visible"/>
                                      </p:to>
                                    </p:set>
                                    <p:animEffect transition="in" filter="wipe(down)">
                                      <p:cBhvr>
                                        <p:cTn id="134" dur="500"/>
                                        <p:tgtEl>
                                          <p:spTgt spid="8">
                                            <p:graphicEl>
                                              <a:chart seriesIdx="0" categoryIdx="11" bldStep="ptInSeries"/>
                                            </p:graphicEl>
                                          </p:spTgt>
                                        </p:tgtEl>
                                      </p:cBhvr>
                                    </p:animEffect>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7">
                                            <p:graphicEl>
                                              <a:chart seriesIdx="-4" categoryIdx="12" bldStep="category"/>
                                            </p:graphicEl>
                                          </p:spTgt>
                                        </p:tgtEl>
                                        <p:attrNameLst>
                                          <p:attrName>style.visibility</p:attrName>
                                        </p:attrNameLst>
                                      </p:cBhvr>
                                      <p:to>
                                        <p:strVal val="visible"/>
                                      </p:to>
                                    </p:set>
                                    <p:anim calcmode="lin" valueType="num">
                                      <p:cBhvr additive="base">
                                        <p:cTn id="139" dur="500" fill="hold"/>
                                        <p:tgtEl>
                                          <p:spTgt spid="7">
                                            <p:graphicEl>
                                              <a:chart seriesIdx="-4" categoryIdx="12" bldStep="category"/>
                                            </p:graphicEl>
                                          </p:spTgt>
                                        </p:tgtEl>
                                        <p:attrNameLst>
                                          <p:attrName>ppt_x</p:attrName>
                                        </p:attrNameLst>
                                      </p:cBhvr>
                                      <p:tavLst>
                                        <p:tav tm="0">
                                          <p:val>
                                            <p:strVal val="#ppt_x"/>
                                          </p:val>
                                        </p:tav>
                                        <p:tav tm="100000">
                                          <p:val>
                                            <p:strVal val="#ppt_x"/>
                                          </p:val>
                                        </p:tav>
                                      </p:tavLst>
                                    </p:anim>
                                    <p:anim calcmode="lin" valueType="num">
                                      <p:cBhvr additive="base">
                                        <p:cTn id="140" dur="500" fill="hold"/>
                                        <p:tgtEl>
                                          <p:spTgt spid="7">
                                            <p:graphicEl>
                                              <a:chart seriesIdx="-4" categoryIdx="12"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2" presetClass="entr" presetSubtype="4" fill="hold" grpId="0" nodeType="clickEffect">
                                  <p:stCondLst>
                                    <p:cond delay="0"/>
                                  </p:stCondLst>
                                  <p:childTnLst>
                                    <p:set>
                                      <p:cBhvr>
                                        <p:cTn id="144" dur="1" fill="hold">
                                          <p:stCondLst>
                                            <p:cond delay="0"/>
                                          </p:stCondLst>
                                        </p:cTn>
                                        <p:tgtEl>
                                          <p:spTgt spid="8">
                                            <p:graphicEl>
                                              <a:chart seriesIdx="0" categoryIdx="12" bldStep="ptInSeries"/>
                                            </p:graphicEl>
                                          </p:spTgt>
                                        </p:tgtEl>
                                        <p:attrNameLst>
                                          <p:attrName>style.visibility</p:attrName>
                                        </p:attrNameLst>
                                      </p:cBhvr>
                                      <p:to>
                                        <p:strVal val="visible"/>
                                      </p:to>
                                    </p:set>
                                    <p:animEffect transition="in" filter="wipe(down)">
                                      <p:cBhvr>
                                        <p:cTn id="145" dur="500"/>
                                        <p:tgtEl>
                                          <p:spTgt spid="8">
                                            <p:graphicEl>
                                              <a:chart seriesIdx="0" categoryIdx="12" bldStep="ptInSeries"/>
                                            </p:graphicEl>
                                          </p:spTgt>
                                        </p:tgtEl>
                                      </p:cBhvr>
                                    </p:animEffect>
                                  </p:childTnLst>
                                </p:cTn>
                              </p:par>
                            </p:childTnLst>
                          </p:cTn>
                        </p:par>
                      </p:childTnLst>
                    </p:cTn>
                  </p:par>
                  <p:par>
                    <p:cTn id="146" fill="hold">
                      <p:stCondLst>
                        <p:cond delay="indefinite"/>
                      </p:stCondLst>
                      <p:childTnLst>
                        <p:par>
                          <p:cTn id="147" fill="hold">
                            <p:stCondLst>
                              <p:cond delay="0"/>
                            </p:stCondLst>
                            <p:childTnLst>
                              <p:par>
                                <p:cTn id="148" presetID="2" presetClass="entr" presetSubtype="4" fill="hold" grpId="0" nodeType="clickEffect">
                                  <p:stCondLst>
                                    <p:cond delay="0"/>
                                  </p:stCondLst>
                                  <p:childTnLst>
                                    <p:set>
                                      <p:cBhvr>
                                        <p:cTn id="149" dur="1" fill="hold">
                                          <p:stCondLst>
                                            <p:cond delay="0"/>
                                          </p:stCondLst>
                                        </p:cTn>
                                        <p:tgtEl>
                                          <p:spTgt spid="7">
                                            <p:graphicEl>
                                              <a:chart seriesIdx="-4" categoryIdx="13" bldStep="category"/>
                                            </p:graphicEl>
                                          </p:spTgt>
                                        </p:tgtEl>
                                        <p:attrNameLst>
                                          <p:attrName>style.visibility</p:attrName>
                                        </p:attrNameLst>
                                      </p:cBhvr>
                                      <p:to>
                                        <p:strVal val="visible"/>
                                      </p:to>
                                    </p:set>
                                    <p:anim calcmode="lin" valueType="num">
                                      <p:cBhvr additive="base">
                                        <p:cTn id="150" dur="500" fill="hold"/>
                                        <p:tgtEl>
                                          <p:spTgt spid="7">
                                            <p:graphicEl>
                                              <a:chart seriesIdx="-4" categoryIdx="13" bldStep="category"/>
                                            </p:graphicEl>
                                          </p:spTgt>
                                        </p:tgtEl>
                                        <p:attrNameLst>
                                          <p:attrName>ppt_x</p:attrName>
                                        </p:attrNameLst>
                                      </p:cBhvr>
                                      <p:tavLst>
                                        <p:tav tm="0">
                                          <p:val>
                                            <p:strVal val="#ppt_x"/>
                                          </p:val>
                                        </p:tav>
                                        <p:tav tm="100000">
                                          <p:val>
                                            <p:strVal val="#ppt_x"/>
                                          </p:val>
                                        </p:tav>
                                      </p:tavLst>
                                    </p:anim>
                                    <p:anim calcmode="lin" valueType="num">
                                      <p:cBhvr additive="base">
                                        <p:cTn id="151" dur="500" fill="hold"/>
                                        <p:tgtEl>
                                          <p:spTgt spid="7">
                                            <p:graphicEl>
                                              <a:chart seriesIdx="-4" categoryIdx="13"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52" fill="hold">
                      <p:stCondLst>
                        <p:cond delay="indefinite"/>
                      </p:stCondLst>
                      <p:childTnLst>
                        <p:par>
                          <p:cTn id="153" fill="hold">
                            <p:stCondLst>
                              <p:cond delay="0"/>
                            </p:stCondLst>
                            <p:childTnLst>
                              <p:par>
                                <p:cTn id="154" presetID="22" presetClass="entr" presetSubtype="4" fill="hold" grpId="0" nodeType="clickEffect">
                                  <p:stCondLst>
                                    <p:cond delay="0"/>
                                  </p:stCondLst>
                                  <p:childTnLst>
                                    <p:set>
                                      <p:cBhvr>
                                        <p:cTn id="155" dur="1" fill="hold">
                                          <p:stCondLst>
                                            <p:cond delay="0"/>
                                          </p:stCondLst>
                                        </p:cTn>
                                        <p:tgtEl>
                                          <p:spTgt spid="8">
                                            <p:graphicEl>
                                              <a:chart seriesIdx="0" categoryIdx="13" bldStep="ptInSeries"/>
                                            </p:graphicEl>
                                          </p:spTgt>
                                        </p:tgtEl>
                                        <p:attrNameLst>
                                          <p:attrName>style.visibility</p:attrName>
                                        </p:attrNameLst>
                                      </p:cBhvr>
                                      <p:to>
                                        <p:strVal val="visible"/>
                                      </p:to>
                                    </p:set>
                                    <p:animEffect transition="in" filter="wipe(down)">
                                      <p:cBhvr>
                                        <p:cTn id="156" dur="500"/>
                                        <p:tgtEl>
                                          <p:spTgt spid="8">
                                            <p:graphicEl>
                                              <a:chart seriesIdx="0" categoryIdx="13" bldStep="ptInSeries"/>
                                            </p:graphicEl>
                                          </p:spTgt>
                                        </p:tgtEl>
                                      </p:cBhvr>
                                    </p:animEffect>
                                  </p:childTnLst>
                                </p:cTn>
                              </p:par>
                            </p:childTnLst>
                          </p:cTn>
                        </p:par>
                      </p:childTnLst>
                    </p:cTn>
                  </p:par>
                  <p:par>
                    <p:cTn id="157" fill="hold">
                      <p:stCondLst>
                        <p:cond delay="indefinite"/>
                      </p:stCondLst>
                      <p:childTnLst>
                        <p:par>
                          <p:cTn id="158" fill="hold">
                            <p:stCondLst>
                              <p:cond delay="0"/>
                            </p:stCondLst>
                            <p:childTnLst>
                              <p:par>
                                <p:cTn id="159" presetID="2" presetClass="entr" presetSubtype="4" fill="hold" grpId="0" nodeType="clickEffect">
                                  <p:stCondLst>
                                    <p:cond delay="0"/>
                                  </p:stCondLst>
                                  <p:childTnLst>
                                    <p:set>
                                      <p:cBhvr>
                                        <p:cTn id="160" dur="1" fill="hold">
                                          <p:stCondLst>
                                            <p:cond delay="0"/>
                                          </p:stCondLst>
                                        </p:cTn>
                                        <p:tgtEl>
                                          <p:spTgt spid="7">
                                            <p:graphicEl>
                                              <a:chart seriesIdx="-4" categoryIdx="14" bldStep="category"/>
                                            </p:graphicEl>
                                          </p:spTgt>
                                        </p:tgtEl>
                                        <p:attrNameLst>
                                          <p:attrName>style.visibility</p:attrName>
                                        </p:attrNameLst>
                                      </p:cBhvr>
                                      <p:to>
                                        <p:strVal val="visible"/>
                                      </p:to>
                                    </p:set>
                                    <p:anim calcmode="lin" valueType="num">
                                      <p:cBhvr additive="base">
                                        <p:cTn id="161" dur="500" fill="hold"/>
                                        <p:tgtEl>
                                          <p:spTgt spid="7">
                                            <p:graphicEl>
                                              <a:chart seriesIdx="-4" categoryIdx="14" bldStep="category"/>
                                            </p:graphicEl>
                                          </p:spTgt>
                                        </p:tgtEl>
                                        <p:attrNameLst>
                                          <p:attrName>ppt_x</p:attrName>
                                        </p:attrNameLst>
                                      </p:cBhvr>
                                      <p:tavLst>
                                        <p:tav tm="0">
                                          <p:val>
                                            <p:strVal val="#ppt_x"/>
                                          </p:val>
                                        </p:tav>
                                        <p:tav tm="100000">
                                          <p:val>
                                            <p:strVal val="#ppt_x"/>
                                          </p:val>
                                        </p:tav>
                                      </p:tavLst>
                                    </p:anim>
                                    <p:anim calcmode="lin" valueType="num">
                                      <p:cBhvr additive="base">
                                        <p:cTn id="162" dur="500" fill="hold"/>
                                        <p:tgtEl>
                                          <p:spTgt spid="7">
                                            <p:graphicEl>
                                              <a:chart seriesIdx="-4" categoryIdx="14"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65" presetID="22" presetClass="entr" presetSubtype="4" fill="hold" grpId="0" nodeType="clickEffect">
                                  <p:stCondLst>
                                    <p:cond delay="0"/>
                                  </p:stCondLst>
                                  <p:childTnLst>
                                    <p:set>
                                      <p:cBhvr>
                                        <p:cTn id="166" dur="1" fill="hold">
                                          <p:stCondLst>
                                            <p:cond delay="0"/>
                                          </p:stCondLst>
                                        </p:cTn>
                                        <p:tgtEl>
                                          <p:spTgt spid="8">
                                            <p:graphicEl>
                                              <a:chart seriesIdx="0" categoryIdx="14" bldStep="ptInSeries"/>
                                            </p:graphicEl>
                                          </p:spTgt>
                                        </p:tgtEl>
                                        <p:attrNameLst>
                                          <p:attrName>style.visibility</p:attrName>
                                        </p:attrNameLst>
                                      </p:cBhvr>
                                      <p:to>
                                        <p:strVal val="visible"/>
                                      </p:to>
                                    </p:set>
                                    <p:animEffect transition="in" filter="wipe(down)">
                                      <p:cBhvr>
                                        <p:cTn id="167" dur="500"/>
                                        <p:tgtEl>
                                          <p:spTgt spid="8">
                                            <p:graphicEl>
                                              <a:chart seriesIdx="0" categoryIdx="14" bldStep="ptInSeries"/>
                                            </p:graphicEl>
                                          </p:spTgt>
                                        </p:tgtEl>
                                      </p:cBhvr>
                                    </p:animEffect>
                                  </p:childTnLst>
                                </p:cTn>
                              </p:par>
                            </p:childTnLst>
                          </p:cTn>
                        </p:par>
                      </p:childTnLst>
                    </p:cTn>
                  </p:par>
                  <p:par>
                    <p:cTn id="168" fill="hold">
                      <p:stCondLst>
                        <p:cond delay="indefinite"/>
                      </p:stCondLst>
                      <p:childTnLst>
                        <p:par>
                          <p:cTn id="169" fill="hold">
                            <p:stCondLst>
                              <p:cond delay="0"/>
                            </p:stCondLst>
                            <p:childTnLst>
                              <p:par>
                                <p:cTn id="170" presetID="2" presetClass="entr" presetSubtype="4" fill="hold" grpId="0" nodeType="clickEffect">
                                  <p:stCondLst>
                                    <p:cond delay="0"/>
                                  </p:stCondLst>
                                  <p:childTnLst>
                                    <p:set>
                                      <p:cBhvr>
                                        <p:cTn id="171" dur="1" fill="hold">
                                          <p:stCondLst>
                                            <p:cond delay="0"/>
                                          </p:stCondLst>
                                        </p:cTn>
                                        <p:tgtEl>
                                          <p:spTgt spid="7">
                                            <p:graphicEl>
                                              <a:chart seriesIdx="-4" categoryIdx="15" bldStep="category"/>
                                            </p:graphicEl>
                                          </p:spTgt>
                                        </p:tgtEl>
                                        <p:attrNameLst>
                                          <p:attrName>style.visibility</p:attrName>
                                        </p:attrNameLst>
                                      </p:cBhvr>
                                      <p:to>
                                        <p:strVal val="visible"/>
                                      </p:to>
                                    </p:set>
                                    <p:anim calcmode="lin" valueType="num">
                                      <p:cBhvr additive="base">
                                        <p:cTn id="172" dur="500" fill="hold"/>
                                        <p:tgtEl>
                                          <p:spTgt spid="7">
                                            <p:graphicEl>
                                              <a:chart seriesIdx="-4" categoryIdx="15" bldStep="category"/>
                                            </p:graphicEl>
                                          </p:spTgt>
                                        </p:tgtEl>
                                        <p:attrNameLst>
                                          <p:attrName>ppt_x</p:attrName>
                                        </p:attrNameLst>
                                      </p:cBhvr>
                                      <p:tavLst>
                                        <p:tav tm="0">
                                          <p:val>
                                            <p:strVal val="#ppt_x"/>
                                          </p:val>
                                        </p:tav>
                                        <p:tav tm="100000">
                                          <p:val>
                                            <p:strVal val="#ppt_x"/>
                                          </p:val>
                                        </p:tav>
                                      </p:tavLst>
                                    </p:anim>
                                    <p:anim calcmode="lin" valueType="num">
                                      <p:cBhvr additive="base">
                                        <p:cTn id="173" dur="500" fill="hold"/>
                                        <p:tgtEl>
                                          <p:spTgt spid="7">
                                            <p:graphicEl>
                                              <a:chart seriesIdx="-4" categoryIdx="15"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74" fill="hold">
                      <p:stCondLst>
                        <p:cond delay="indefinite"/>
                      </p:stCondLst>
                      <p:childTnLst>
                        <p:par>
                          <p:cTn id="175" fill="hold">
                            <p:stCondLst>
                              <p:cond delay="0"/>
                            </p:stCondLst>
                            <p:childTnLst>
                              <p:par>
                                <p:cTn id="176" presetID="22" presetClass="entr" presetSubtype="4" fill="hold" grpId="0" nodeType="clickEffect">
                                  <p:stCondLst>
                                    <p:cond delay="0"/>
                                  </p:stCondLst>
                                  <p:childTnLst>
                                    <p:set>
                                      <p:cBhvr>
                                        <p:cTn id="177" dur="1" fill="hold">
                                          <p:stCondLst>
                                            <p:cond delay="0"/>
                                          </p:stCondLst>
                                        </p:cTn>
                                        <p:tgtEl>
                                          <p:spTgt spid="8">
                                            <p:graphicEl>
                                              <a:chart seriesIdx="0" categoryIdx="15" bldStep="ptInSeries"/>
                                            </p:graphicEl>
                                          </p:spTgt>
                                        </p:tgtEl>
                                        <p:attrNameLst>
                                          <p:attrName>style.visibility</p:attrName>
                                        </p:attrNameLst>
                                      </p:cBhvr>
                                      <p:to>
                                        <p:strVal val="visible"/>
                                      </p:to>
                                    </p:set>
                                    <p:animEffect transition="in" filter="wipe(down)">
                                      <p:cBhvr>
                                        <p:cTn id="178" dur="500"/>
                                        <p:tgtEl>
                                          <p:spTgt spid="8">
                                            <p:graphicEl>
                                              <a:chart seriesIdx="0" categoryIdx="15" bldStep="ptInSeries"/>
                                            </p:graphicEl>
                                          </p:spTgt>
                                        </p:tgtEl>
                                      </p:cBhvr>
                                    </p:animEffect>
                                  </p:childTnLst>
                                </p:cTn>
                              </p:par>
                            </p:childTnLst>
                          </p:cTn>
                        </p:par>
                      </p:childTnLst>
                    </p:cTn>
                  </p:par>
                  <p:par>
                    <p:cTn id="179" fill="hold">
                      <p:stCondLst>
                        <p:cond delay="indefinite"/>
                      </p:stCondLst>
                      <p:childTnLst>
                        <p:par>
                          <p:cTn id="180" fill="hold">
                            <p:stCondLst>
                              <p:cond delay="0"/>
                            </p:stCondLst>
                            <p:childTnLst>
                              <p:par>
                                <p:cTn id="181" presetID="2" presetClass="entr" presetSubtype="4" fill="hold" grpId="0" nodeType="clickEffect">
                                  <p:stCondLst>
                                    <p:cond delay="0"/>
                                  </p:stCondLst>
                                  <p:childTnLst>
                                    <p:set>
                                      <p:cBhvr>
                                        <p:cTn id="182" dur="1" fill="hold">
                                          <p:stCondLst>
                                            <p:cond delay="0"/>
                                          </p:stCondLst>
                                        </p:cTn>
                                        <p:tgtEl>
                                          <p:spTgt spid="7">
                                            <p:graphicEl>
                                              <a:chart seriesIdx="-4" categoryIdx="16" bldStep="category"/>
                                            </p:graphicEl>
                                          </p:spTgt>
                                        </p:tgtEl>
                                        <p:attrNameLst>
                                          <p:attrName>style.visibility</p:attrName>
                                        </p:attrNameLst>
                                      </p:cBhvr>
                                      <p:to>
                                        <p:strVal val="visible"/>
                                      </p:to>
                                    </p:set>
                                    <p:anim calcmode="lin" valueType="num">
                                      <p:cBhvr additive="base">
                                        <p:cTn id="183" dur="500" fill="hold"/>
                                        <p:tgtEl>
                                          <p:spTgt spid="7">
                                            <p:graphicEl>
                                              <a:chart seriesIdx="-4" categoryIdx="16" bldStep="category"/>
                                            </p:graphicEl>
                                          </p:spTgt>
                                        </p:tgtEl>
                                        <p:attrNameLst>
                                          <p:attrName>ppt_x</p:attrName>
                                        </p:attrNameLst>
                                      </p:cBhvr>
                                      <p:tavLst>
                                        <p:tav tm="0">
                                          <p:val>
                                            <p:strVal val="#ppt_x"/>
                                          </p:val>
                                        </p:tav>
                                        <p:tav tm="100000">
                                          <p:val>
                                            <p:strVal val="#ppt_x"/>
                                          </p:val>
                                        </p:tav>
                                      </p:tavLst>
                                    </p:anim>
                                    <p:anim calcmode="lin" valueType="num">
                                      <p:cBhvr additive="base">
                                        <p:cTn id="184" dur="500" fill="hold"/>
                                        <p:tgtEl>
                                          <p:spTgt spid="7">
                                            <p:graphicEl>
                                              <a:chart seriesIdx="-4" categoryIdx="16"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presetID="22" presetClass="entr" presetSubtype="4" fill="hold" grpId="0" nodeType="clickEffect">
                                  <p:stCondLst>
                                    <p:cond delay="0"/>
                                  </p:stCondLst>
                                  <p:childTnLst>
                                    <p:set>
                                      <p:cBhvr>
                                        <p:cTn id="188" dur="1" fill="hold">
                                          <p:stCondLst>
                                            <p:cond delay="0"/>
                                          </p:stCondLst>
                                        </p:cTn>
                                        <p:tgtEl>
                                          <p:spTgt spid="8">
                                            <p:graphicEl>
                                              <a:chart seriesIdx="0" categoryIdx="16" bldStep="ptInSeries"/>
                                            </p:graphicEl>
                                          </p:spTgt>
                                        </p:tgtEl>
                                        <p:attrNameLst>
                                          <p:attrName>style.visibility</p:attrName>
                                        </p:attrNameLst>
                                      </p:cBhvr>
                                      <p:to>
                                        <p:strVal val="visible"/>
                                      </p:to>
                                    </p:set>
                                    <p:animEffect transition="in" filter="wipe(down)">
                                      <p:cBhvr>
                                        <p:cTn id="189" dur="500"/>
                                        <p:tgtEl>
                                          <p:spTgt spid="8">
                                            <p:graphicEl>
                                              <a:chart seriesIdx="0" categoryIdx="16" bldStep="ptInSeries"/>
                                            </p:graphicEl>
                                          </p:spTgt>
                                        </p:tgtEl>
                                      </p:cBhvr>
                                    </p:animEffect>
                                  </p:childTnLst>
                                </p:cTn>
                              </p:par>
                            </p:childTnLst>
                          </p:cTn>
                        </p:par>
                      </p:childTnLst>
                    </p:cTn>
                  </p:par>
                  <p:par>
                    <p:cTn id="190" fill="hold">
                      <p:stCondLst>
                        <p:cond delay="indefinite"/>
                      </p:stCondLst>
                      <p:childTnLst>
                        <p:par>
                          <p:cTn id="191" fill="hold">
                            <p:stCondLst>
                              <p:cond delay="0"/>
                            </p:stCondLst>
                            <p:childTnLst>
                              <p:par>
                                <p:cTn id="192" presetID="2" presetClass="entr" presetSubtype="4" fill="hold" grpId="0" nodeType="clickEffect">
                                  <p:stCondLst>
                                    <p:cond delay="0"/>
                                  </p:stCondLst>
                                  <p:childTnLst>
                                    <p:set>
                                      <p:cBhvr>
                                        <p:cTn id="193" dur="1" fill="hold">
                                          <p:stCondLst>
                                            <p:cond delay="0"/>
                                          </p:stCondLst>
                                        </p:cTn>
                                        <p:tgtEl>
                                          <p:spTgt spid="7">
                                            <p:graphicEl>
                                              <a:chart seriesIdx="-4" categoryIdx="17" bldStep="category"/>
                                            </p:graphicEl>
                                          </p:spTgt>
                                        </p:tgtEl>
                                        <p:attrNameLst>
                                          <p:attrName>style.visibility</p:attrName>
                                        </p:attrNameLst>
                                      </p:cBhvr>
                                      <p:to>
                                        <p:strVal val="visible"/>
                                      </p:to>
                                    </p:set>
                                    <p:anim calcmode="lin" valueType="num">
                                      <p:cBhvr additive="base">
                                        <p:cTn id="194" dur="500" fill="hold"/>
                                        <p:tgtEl>
                                          <p:spTgt spid="7">
                                            <p:graphicEl>
                                              <a:chart seriesIdx="-4" categoryIdx="17" bldStep="category"/>
                                            </p:graphicEl>
                                          </p:spTgt>
                                        </p:tgtEl>
                                        <p:attrNameLst>
                                          <p:attrName>ppt_x</p:attrName>
                                        </p:attrNameLst>
                                      </p:cBhvr>
                                      <p:tavLst>
                                        <p:tav tm="0">
                                          <p:val>
                                            <p:strVal val="#ppt_x"/>
                                          </p:val>
                                        </p:tav>
                                        <p:tav tm="100000">
                                          <p:val>
                                            <p:strVal val="#ppt_x"/>
                                          </p:val>
                                        </p:tav>
                                      </p:tavLst>
                                    </p:anim>
                                    <p:anim calcmode="lin" valueType="num">
                                      <p:cBhvr additive="base">
                                        <p:cTn id="195" dur="500" fill="hold"/>
                                        <p:tgtEl>
                                          <p:spTgt spid="7">
                                            <p:graphicEl>
                                              <a:chart seriesIdx="-4" categoryIdx="17"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96" fill="hold">
                      <p:stCondLst>
                        <p:cond delay="indefinite"/>
                      </p:stCondLst>
                      <p:childTnLst>
                        <p:par>
                          <p:cTn id="197" fill="hold">
                            <p:stCondLst>
                              <p:cond delay="0"/>
                            </p:stCondLst>
                            <p:childTnLst>
                              <p:par>
                                <p:cTn id="198" presetID="22" presetClass="entr" presetSubtype="4" fill="hold" grpId="0" nodeType="clickEffect">
                                  <p:stCondLst>
                                    <p:cond delay="0"/>
                                  </p:stCondLst>
                                  <p:childTnLst>
                                    <p:set>
                                      <p:cBhvr>
                                        <p:cTn id="199" dur="1" fill="hold">
                                          <p:stCondLst>
                                            <p:cond delay="0"/>
                                          </p:stCondLst>
                                        </p:cTn>
                                        <p:tgtEl>
                                          <p:spTgt spid="8">
                                            <p:graphicEl>
                                              <a:chart seriesIdx="0" categoryIdx="17" bldStep="ptInSeries"/>
                                            </p:graphicEl>
                                          </p:spTgt>
                                        </p:tgtEl>
                                        <p:attrNameLst>
                                          <p:attrName>style.visibility</p:attrName>
                                        </p:attrNameLst>
                                      </p:cBhvr>
                                      <p:to>
                                        <p:strVal val="visible"/>
                                      </p:to>
                                    </p:set>
                                    <p:animEffect transition="in" filter="wipe(down)">
                                      <p:cBhvr>
                                        <p:cTn id="200" dur="500"/>
                                        <p:tgtEl>
                                          <p:spTgt spid="8">
                                            <p:graphicEl>
                                              <a:chart seriesIdx="0" categoryIdx="17" bldStep="ptInSeries"/>
                                            </p:graphicEl>
                                          </p:spTgt>
                                        </p:tgtEl>
                                      </p:cBhvr>
                                    </p:animEffect>
                                  </p:childTnLst>
                                </p:cTn>
                              </p:par>
                            </p:childTnLst>
                          </p:cTn>
                        </p:par>
                      </p:childTnLst>
                    </p:cTn>
                  </p:par>
                  <p:par>
                    <p:cTn id="201" fill="hold">
                      <p:stCondLst>
                        <p:cond delay="indefinite"/>
                      </p:stCondLst>
                      <p:childTnLst>
                        <p:par>
                          <p:cTn id="202" fill="hold">
                            <p:stCondLst>
                              <p:cond delay="0"/>
                            </p:stCondLst>
                            <p:childTnLst>
                              <p:par>
                                <p:cTn id="203" presetID="2" presetClass="entr" presetSubtype="4" fill="hold" grpId="0" nodeType="clickEffect">
                                  <p:stCondLst>
                                    <p:cond delay="0"/>
                                  </p:stCondLst>
                                  <p:childTnLst>
                                    <p:set>
                                      <p:cBhvr>
                                        <p:cTn id="204" dur="1" fill="hold">
                                          <p:stCondLst>
                                            <p:cond delay="0"/>
                                          </p:stCondLst>
                                        </p:cTn>
                                        <p:tgtEl>
                                          <p:spTgt spid="7">
                                            <p:graphicEl>
                                              <a:chart seriesIdx="-4" categoryIdx="18" bldStep="category"/>
                                            </p:graphicEl>
                                          </p:spTgt>
                                        </p:tgtEl>
                                        <p:attrNameLst>
                                          <p:attrName>style.visibility</p:attrName>
                                        </p:attrNameLst>
                                      </p:cBhvr>
                                      <p:to>
                                        <p:strVal val="visible"/>
                                      </p:to>
                                    </p:set>
                                    <p:anim calcmode="lin" valueType="num">
                                      <p:cBhvr additive="base">
                                        <p:cTn id="205" dur="500" fill="hold"/>
                                        <p:tgtEl>
                                          <p:spTgt spid="7">
                                            <p:graphicEl>
                                              <a:chart seriesIdx="-4" categoryIdx="18" bldStep="category"/>
                                            </p:graphicEl>
                                          </p:spTgt>
                                        </p:tgtEl>
                                        <p:attrNameLst>
                                          <p:attrName>ppt_x</p:attrName>
                                        </p:attrNameLst>
                                      </p:cBhvr>
                                      <p:tavLst>
                                        <p:tav tm="0">
                                          <p:val>
                                            <p:strVal val="#ppt_x"/>
                                          </p:val>
                                        </p:tav>
                                        <p:tav tm="100000">
                                          <p:val>
                                            <p:strVal val="#ppt_x"/>
                                          </p:val>
                                        </p:tav>
                                      </p:tavLst>
                                    </p:anim>
                                    <p:anim calcmode="lin" valueType="num">
                                      <p:cBhvr additive="base">
                                        <p:cTn id="206" dur="500" fill="hold"/>
                                        <p:tgtEl>
                                          <p:spTgt spid="7">
                                            <p:graphicEl>
                                              <a:chart seriesIdx="-4" categoryIdx="18"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207" fill="hold">
                      <p:stCondLst>
                        <p:cond delay="indefinite"/>
                      </p:stCondLst>
                      <p:childTnLst>
                        <p:par>
                          <p:cTn id="208" fill="hold">
                            <p:stCondLst>
                              <p:cond delay="0"/>
                            </p:stCondLst>
                            <p:childTnLst>
                              <p:par>
                                <p:cTn id="209" presetID="22" presetClass="entr" presetSubtype="4" fill="hold" grpId="0" nodeType="clickEffect">
                                  <p:stCondLst>
                                    <p:cond delay="0"/>
                                  </p:stCondLst>
                                  <p:childTnLst>
                                    <p:set>
                                      <p:cBhvr>
                                        <p:cTn id="210" dur="1" fill="hold">
                                          <p:stCondLst>
                                            <p:cond delay="0"/>
                                          </p:stCondLst>
                                        </p:cTn>
                                        <p:tgtEl>
                                          <p:spTgt spid="8">
                                            <p:graphicEl>
                                              <a:chart seriesIdx="0" categoryIdx="18" bldStep="ptInSeries"/>
                                            </p:graphicEl>
                                          </p:spTgt>
                                        </p:tgtEl>
                                        <p:attrNameLst>
                                          <p:attrName>style.visibility</p:attrName>
                                        </p:attrNameLst>
                                      </p:cBhvr>
                                      <p:to>
                                        <p:strVal val="visible"/>
                                      </p:to>
                                    </p:set>
                                    <p:animEffect transition="in" filter="wipe(down)">
                                      <p:cBhvr>
                                        <p:cTn id="211" dur="500"/>
                                        <p:tgtEl>
                                          <p:spTgt spid="8">
                                            <p:graphicEl>
                                              <a:chart seriesIdx="0" categoryIdx="18" bldStep="ptInSeries"/>
                                            </p:graphicEl>
                                          </p:spTgt>
                                        </p:tgtEl>
                                      </p:cBhvr>
                                    </p:animEffect>
                                  </p:childTnLst>
                                </p:cTn>
                              </p:par>
                            </p:childTnLst>
                          </p:cTn>
                        </p:par>
                      </p:childTnLst>
                    </p:cTn>
                  </p:par>
                  <p:par>
                    <p:cTn id="212" fill="hold">
                      <p:stCondLst>
                        <p:cond delay="indefinite"/>
                      </p:stCondLst>
                      <p:childTnLst>
                        <p:par>
                          <p:cTn id="213" fill="hold">
                            <p:stCondLst>
                              <p:cond delay="0"/>
                            </p:stCondLst>
                            <p:childTnLst>
                              <p:par>
                                <p:cTn id="214" presetID="2" presetClass="entr" presetSubtype="4" fill="hold" grpId="0" nodeType="clickEffect">
                                  <p:stCondLst>
                                    <p:cond delay="0"/>
                                  </p:stCondLst>
                                  <p:childTnLst>
                                    <p:set>
                                      <p:cBhvr>
                                        <p:cTn id="215" dur="1" fill="hold">
                                          <p:stCondLst>
                                            <p:cond delay="0"/>
                                          </p:stCondLst>
                                        </p:cTn>
                                        <p:tgtEl>
                                          <p:spTgt spid="7">
                                            <p:graphicEl>
                                              <a:chart seriesIdx="-4" categoryIdx="19" bldStep="category"/>
                                            </p:graphicEl>
                                          </p:spTgt>
                                        </p:tgtEl>
                                        <p:attrNameLst>
                                          <p:attrName>style.visibility</p:attrName>
                                        </p:attrNameLst>
                                      </p:cBhvr>
                                      <p:to>
                                        <p:strVal val="visible"/>
                                      </p:to>
                                    </p:set>
                                    <p:anim calcmode="lin" valueType="num">
                                      <p:cBhvr additive="base">
                                        <p:cTn id="216" dur="500" fill="hold"/>
                                        <p:tgtEl>
                                          <p:spTgt spid="7">
                                            <p:graphicEl>
                                              <a:chart seriesIdx="-4" categoryIdx="19" bldStep="category"/>
                                            </p:graphicEl>
                                          </p:spTgt>
                                        </p:tgtEl>
                                        <p:attrNameLst>
                                          <p:attrName>ppt_x</p:attrName>
                                        </p:attrNameLst>
                                      </p:cBhvr>
                                      <p:tavLst>
                                        <p:tav tm="0">
                                          <p:val>
                                            <p:strVal val="#ppt_x"/>
                                          </p:val>
                                        </p:tav>
                                        <p:tav tm="100000">
                                          <p:val>
                                            <p:strVal val="#ppt_x"/>
                                          </p:val>
                                        </p:tav>
                                      </p:tavLst>
                                    </p:anim>
                                    <p:anim calcmode="lin" valueType="num">
                                      <p:cBhvr additive="base">
                                        <p:cTn id="217" dur="500" fill="hold"/>
                                        <p:tgtEl>
                                          <p:spTgt spid="7">
                                            <p:graphicEl>
                                              <a:chart seriesIdx="-4" categoryIdx="19"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218" fill="hold">
                      <p:stCondLst>
                        <p:cond delay="indefinite"/>
                      </p:stCondLst>
                      <p:childTnLst>
                        <p:par>
                          <p:cTn id="219" fill="hold">
                            <p:stCondLst>
                              <p:cond delay="0"/>
                            </p:stCondLst>
                            <p:childTnLst>
                              <p:par>
                                <p:cTn id="220" presetID="22" presetClass="entr" presetSubtype="4" fill="hold" grpId="0" nodeType="clickEffect">
                                  <p:stCondLst>
                                    <p:cond delay="0"/>
                                  </p:stCondLst>
                                  <p:childTnLst>
                                    <p:set>
                                      <p:cBhvr>
                                        <p:cTn id="221" dur="1" fill="hold">
                                          <p:stCondLst>
                                            <p:cond delay="0"/>
                                          </p:stCondLst>
                                        </p:cTn>
                                        <p:tgtEl>
                                          <p:spTgt spid="8">
                                            <p:graphicEl>
                                              <a:chart seriesIdx="0" categoryIdx="19" bldStep="ptInSeries"/>
                                            </p:graphicEl>
                                          </p:spTgt>
                                        </p:tgtEl>
                                        <p:attrNameLst>
                                          <p:attrName>style.visibility</p:attrName>
                                        </p:attrNameLst>
                                      </p:cBhvr>
                                      <p:to>
                                        <p:strVal val="visible"/>
                                      </p:to>
                                    </p:set>
                                    <p:animEffect transition="in" filter="wipe(down)">
                                      <p:cBhvr>
                                        <p:cTn id="222" dur="500"/>
                                        <p:tgtEl>
                                          <p:spTgt spid="8">
                                            <p:graphicEl>
                                              <a:chart seriesIdx="0" categoryIdx="19" bldStep="ptInSeries"/>
                                            </p:graphicEl>
                                          </p:spTgt>
                                        </p:tgtEl>
                                      </p:cBhvr>
                                    </p:animEffect>
                                  </p:childTnLst>
                                </p:cTn>
                              </p:par>
                            </p:childTnLst>
                          </p:cTn>
                        </p:par>
                      </p:childTnLst>
                    </p:cTn>
                  </p:par>
                  <p:par>
                    <p:cTn id="223" fill="hold">
                      <p:stCondLst>
                        <p:cond delay="indefinite"/>
                      </p:stCondLst>
                      <p:childTnLst>
                        <p:par>
                          <p:cTn id="224" fill="hold">
                            <p:stCondLst>
                              <p:cond delay="0"/>
                            </p:stCondLst>
                            <p:childTnLst>
                              <p:par>
                                <p:cTn id="225" presetID="2" presetClass="entr" presetSubtype="4" fill="hold" grpId="0" nodeType="clickEffect">
                                  <p:stCondLst>
                                    <p:cond delay="0"/>
                                  </p:stCondLst>
                                  <p:childTnLst>
                                    <p:set>
                                      <p:cBhvr>
                                        <p:cTn id="226" dur="1" fill="hold">
                                          <p:stCondLst>
                                            <p:cond delay="0"/>
                                          </p:stCondLst>
                                        </p:cTn>
                                        <p:tgtEl>
                                          <p:spTgt spid="7">
                                            <p:graphicEl>
                                              <a:chart seriesIdx="-4" categoryIdx="20" bldStep="category"/>
                                            </p:graphicEl>
                                          </p:spTgt>
                                        </p:tgtEl>
                                        <p:attrNameLst>
                                          <p:attrName>style.visibility</p:attrName>
                                        </p:attrNameLst>
                                      </p:cBhvr>
                                      <p:to>
                                        <p:strVal val="visible"/>
                                      </p:to>
                                    </p:set>
                                    <p:anim calcmode="lin" valueType="num">
                                      <p:cBhvr additive="base">
                                        <p:cTn id="227" dur="500" fill="hold"/>
                                        <p:tgtEl>
                                          <p:spTgt spid="7">
                                            <p:graphicEl>
                                              <a:chart seriesIdx="-4" categoryIdx="20" bldStep="category"/>
                                            </p:graphicEl>
                                          </p:spTgt>
                                        </p:tgtEl>
                                        <p:attrNameLst>
                                          <p:attrName>ppt_x</p:attrName>
                                        </p:attrNameLst>
                                      </p:cBhvr>
                                      <p:tavLst>
                                        <p:tav tm="0">
                                          <p:val>
                                            <p:strVal val="#ppt_x"/>
                                          </p:val>
                                        </p:tav>
                                        <p:tav tm="100000">
                                          <p:val>
                                            <p:strVal val="#ppt_x"/>
                                          </p:val>
                                        </p:tav>
                                      </p:tavLst>
                                    </p:anim>
                                    <p:anim calcmode="lin" valueType="num">
                                      <p:cBhvr additive="base">
                                        <p:cTn id="228" dur="500" fill="hold"/>
                                        <p:tgtEl>
                                          <p:spTgt spid="7">
                                            <p:graphicEl>
                                              <a:chart seriesIdx="-4" categoryIdx="20"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229" fill="hold">
                      <p:stCondLst>
                        <p:cond delay="indefinite"/>
                      </p:stCondLst>
                      <p:childTnLst>
                        <p:par>
                          <p:cTn id="230" fill="hold">
                            <p:stCondLst>
                              <p:cond delay="0"/>
                            </p:stCondLst>
                            <p:childTnLst>
                              <p:par>
                                <p:cTn id="231" presetID="22" presetClass="entr" presetSubtype="4" fill="hold" grpId="0" nodeType="clickEffect">
                                  <p:stCondLst>
                                    <p:cond delay="0"/>
                                  </p:stCondLst>
                                  <p:childTnLst>
                                    <p:set>
                                      <p:cBhvr>
                                        <p:cTn id="232" dur="1" fill="hold">
                                          <p:stCondLst>
                                            <p:cond delay="0"/>
                                          </p:stCondLst>
                                        </p:cTn>
                                        <p:tgtEl>
                                          <p:spTgt spid="8">
                                            <p:graphicEl>
                                              <a:chart seriesIdx="0" categoryIdx="20" bldStep="ptInSeries"/>
                                            </p:graphicEl>
                                          </p:spTgt>
                                        </p:tgtEl>
                                        <p:attrNameLst>
                                          <p:attrName>style.visibility</p:attrName>
                                        </p:attrNameLst>
                                      </p:cBhvr>
                                      <p:to>
                                        <p:strVal val="visible"/>
                                      </p:to>
                                    </p:set>
                                    <p:animEffect transition="in" filter="wipe(down)">
                                      <p:cBhvr>
                                        <p:cTn id="233" dur="500"/>
                                        <p:tgtEl>
                                          <p:spTgt spid="8">
                                            <p:graphicEl>
                                              <a:chart seriesIdx="0" categoryIdx="20" bldStep="ptInSeries"/>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uiExpand="1">
        <p:bldSub>
          <a:bldChart bld="category" animBg="0"/>
        </p:bldSub>
      </p:bldGraphic>
      <p:bldGraphic spid="8" grpId="0" uiExpand="1">
        <p:bldSub>
          <a:bldChart bld="seriesEl" animBg="0"/>
        </p:bldSub>
      </p:bldGraphic>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CB42A-902D-74F5-6ABA-1A57442144CD}"/>
              </a:ext>
            </a:extLst>
          </p:cNvPr>
          <p:cNvSpPr>
            <a:spLocks noGrp="1"/>
          </p:cNvSpPr>
          <p:nvPr>
            <p:ph type="title"/>
          </p:nvPr>
        </p:nvSpPr>
        <p:spPr/>
        <p:txBody>
          <a:bodyPr/>
          <a:lstStyle/>
          <a:p>
            <a:r>
              <a:rPr lang="en-US" dirty="0">
                <a:solidFill>
                  <a:schemeClr val="tx1"/>
                </a:solidFill>
              </a:rPr>
              <a:t>Intuition Challenge</a:t>
            </a:r>
          </a:p>
        </p:txBody>
      </p:sp>
      <p:sp>
        <p:nvSpPr>
          <p:cNvPr id="4" name="Content Placeholder 3">
            <a:extLst>
              <a:ext uri="{FF2B5EF4-FFF2-40B4-BE49-F238E27FC236}">
                <a16:creationId xmlns:a16="http://schemas.microsoft.com/office/drawing/2014/main" id="{A8B851B1-C1C0-63C3-2C77-142FE271521C}"/>
              </a:ext>
            </a:extLst>
          </p:cNvPr>
          <p:cNvSpPr>
            <a:spLocks noGrp="1"/>
          </p:cNvSpPr>
          <p:nvPr>
            <p:ph sz="half" idx="2"/>
          </p:nvPr>
        </p:nvSpPr>
        <p:spPr>
          <a:xfrm>
            <a:off x="4648200" y="1122697"/>
            <a:ext cx="4038600" cy="2545556"/>
          </a:xfrm>
        </p:spPr>
        <p:txBody>
          <a:bodyPr/>
          <a:lstStyle/>
          <a:p>
            <a:r>
              <a:rPr lang="en-US" dirty="0">
                <a:solidFill>
                  <a:schemeClr val="tx1"/>
                </a:solidFill>
              </a:rPr>
              <a:t>$1,000 Perpetuity</a:t>
            </a:r>
          </a:p>
          <a:p>
            <a:r>
              <a:rPr lang="en-US" dirty="0">
                <a:solidFill>
                  <a:schemeClr val="tx1"/>
                </a:solidFill>
              </a:rPr>
              <a:t>Value at different points in time when interest rates change</a:t>
            </a:r>
          </a:p>
        </p:txBody>
      </p:sp>
      <p:sp>
        <p:nvSpPr>
          <p:cNvPr id="5" name="Content Placeholder 4">
            <a:extLst>
              <a:ext uri="{FF2B5EF4-FFF2-40B4-BE49-F238E27FC236}">
                <a16:creationId xmlns:a16="http://schemas.microsoft.com/office/drawing/2014/main" id="{1DF6A22C-961C-0848-1EBC-248F35B5E66E}"/>
              </a:ext>
            </a:extLst>
          </p:cNvPr>
          <p:cNvSpPr>
            <a:spLocks noGrp="1"/>
          </p:cNvSpPr>
          <p:nvPr>
            <p:ph sz="half" idx="1"/>
          </p:nvPr>
        </p:nvSpPr>
        <p:spPr/>
        <p:txBody>
          <a:bodyPr/>
          <a:lstStyle/>
          <a:p>
            <a:endParaRPr lang="en-US"/>
          </a:p>
        </p:txBody>
      </p:sp>
    </p:spTree>
    <p:extLst>
      <p:ext uri="{BB962C8B-B14F-4D97-AF65-F5344CB8AC3E}">
        <p14:creationId xmlns:p14="http://schemas.microsoft.com/office/powerpoint/2010/main" val="46698648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88362-FB93-ED3B-68C6-887E05F1EDF1}"/>
              </a:ext>
            </a:extLst>
          </p:cNvPr>
          <p:cNvSpPr>
            <a:spLocks noGrp="1"/>
          </p:cNvSpPr>
          <p:nvPr>
            <p:ph type="title"/>
          </p:nvPr>
        </p:nvSpPr>
        <p:spPr/>
        <p:txBody>
          <a:bodyPr>
            <a:normAutofit fontScale="90000"/>
          </a:bodyPr>
          <a:lstStyle/>
          <a:p>
            <a:r>
              <a:rPr lang="en-US" dirty="0"/>
              <a:t>Unanticipated Interest Rate Changes</a:t>
            </a:r>
          </a:p>
        </p:txBody>
      </p:sp>
      <p:sp>
        <p:nvSpPr>
          <p:cNvPr id="3" name="Text Placeholder 2">
            <a:extLst>
              <a:ext uri="{FF2B5EF4-FFF2-40B4-BE49-F238E27FC236}">
                <a16:creationId xmlns:a16="http://schemas.microsoft.com/office/drawing/2014/main" id="{FC178E6D-A243-25A4-B6DE-6F64D4510FCD}"/>
              </a:ext>
            </a:extLst>
          </p:cNvPr>
          <p:cNvSpPr>
            <a:spLocks noGrp="1"/>
          </p:cNvSpPr>
          <p:nvPr>
            <p:ph type="body" idx="1"/>
          </p:nvPr>
        </p:nvSpPr>
        <p:spPr/>
        <p:txBody>
          <a:bodyPr/>
          <a:lstStyle/>
          <a:p>
            <a:r>
              <a:rPr lang="en-US" dirty="0"/>
              <a:t>Interest Rate</a:t>
            </a:r>
          </a:p>
        </p:txBody>
      </p:sp>
      <p:sp>
        <p:nvSpPr>
          <p:cNvPr id="5" name="Text Placeholder 4">
            <a:extLst>
              <a:ext uri="{FF2B5EF4-FFF2-40B4-BE49-F238E27FC236}">
                <a16:creationId xmlns:a16="http://schemas.microsoft.com/office/drawing/2014/main" id="{7207E902-D0AD-4D24-6ECD-EAABF7B5E0C4}"/>
              </a:ext>
            </a:extLst>
          </p:cNvPr>
          <p:cNvSpPr>
            <a:spLocks noGrp="1"/>
          </p:cNvSpPr>
          <p:nvPr>
            <p:ph type="body" sz="quarter" idx="3"/>
          </p:nvPr>
        </p:nvSpPr>
        <p:spPr/>
        <p:txBody>
          <a:bodyPr/>
          <a:lstStyle/>
          <a:p>
            <a:r>
              <a:rPr lang="en-US" dirty="0"/>
              <a:t>Perpetuity Value</a:t>
            </a:r>
          </a:p>
        </p:txBody>
      </p:sp>
      <p:graphicFrame>
        <p:nvGraphicFramePr>
          <p:cNvPr id="7" name="Content Placeholder 5">
            <a:extLst>
              <a:ext uri="{FF2B5EF4-FFF2-40B4-BE49-F238E27FC236}">
                <a16:creationId xmlns:a16="http://schemas.microsoft.com/office/drawing/2014/main" id="{03E7B072-1F2C-0498-250D-BE6B26A7F128}"/>
              </a:ext>
            </a:extLst>
          </p:cNvPr>
          <p:cNvGraphicFramePr>
            <a:graphicFrameLocks noGrp="1"/>
          </p:cNvGraphicFramePr>
          <p:nvPr>
            <p:ph sz="half" idx="2"/>
          </p:nvPr>
        </p:nvGraphicFramePr>
        <p:xfrm>
          <a:off x="457200" y="1630363"/>
          <a:ext cx="4040188" cy="296386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8" name="Content Placeholder 5">
            <a:extLst>
              <a:ext uri="{FF2B5EF4-FFF2-40B4-BE49-F238E27FC236}">
                <a16:creationId xmlns:a16="http://schemas.microsoft.com/office/drawing/2014/main" id="{E766D4E6-8FA6-6916-6C65-1E2754EF70E6}"/>
              </a:ext>
            </a:extLst>
          </p:cNvPr>
          <p:cNvGraphicFramePr>
            <a:graphicFrameLocks noGrp="1"/>
          </p:cNvGraphicFramePr>
          <p:nvPr>
            <p:ph sz="quarter" idx="4"/>
            <p:extLst>
              <p:ext uri="{D42A27DB-BD31-4B8C-83A1-F6EECF244321}">
                <p14:modId xmlns:p14="http://schemas.microsoft.com/office/powerpoint/2010/main" val="3015741416"/>
              </p:ext>
            </p:extLst>
          </p:nvPr>
        </p:nvGraphicFramePr>
        <p:xfrm>
          <a:off x="4645025" y="1630363"/>
          <a:ext cx="4041775" cy="2963862"/>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190119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graphicEl>
                                              <a:chart seriesIdx="-4" categoryIdx="0" bldStep="category"/>
                                            </p:graphicEl>
                                          </p:spTgt>
                                        </p:tgtEl>
                                        <p:attrNameLst>
                                          <p:attrName>style.visibility</p:attrName>
                                        </p:attrNameLst>
                                      </p:cBhvr>
                                      <p:to>
                                        <p:strVal val="visible"/>
                                      </p:to>
                                    </p:set>
                                    <p:anim calcmode="lin" valueType="num">
                                      <p:cBhvr additive="base">
                                        <p:cTn id="7" dur="500" fill="hold"/>
                                        <p:tgtEl>
                                          <p:spTgt spid="7">
                                            <p:graphicEl>
                                              <a:chart seriesIdx="-4" categoryIdx="0" bldStep="category"/>
                                            </p:graphicEl>
                                          </p:spTgt>
                                        </p:tgtEl>
                                        <p:attrNameLst>
                                          <p:attrName>ppt_x</p:attrName>
                                        </p:attrNameLst>
                                      </p:cBhvr>
                                      <p:tavLst>
                                        <p:tav tm="0">
                                          <p:val>
                                            <p:strVal val="#ppt_x"/>
                                          </p:val>
                                        </p:tav>
                                        <p:tav tm="100000">
                                          <p:val>
                                            <p:strVal val="#ppt_x"/>
                                          </p:val>
                                        </p:tav>
                                      </p:tavLst>
                                    </p:anim>
                                    <p:anim calcmode="lin" valueType="num">
                                      <p:cBhvr additive="base">
                                        <p:cTn id="8" dur="500" fill="hold"/>
                                        <p:tgtEl>
                                          <p:spTgt spid="7">
                                            <p:graphicEl>
                                              <a:chart seriesIdx="-4" categoryIdx="0"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8">
                                            <p:graphicEl>
                                              <a:chart seriesIdx="-4" categoryIdx="0" bldStep="category"/>
                                            </p:graphicEl>
                                          </p:spTgt>
                                        </p:tgtEl>
                                        <p:attrNameLst>
                                          <p:attrName>style.visibility</p:attrName>
                                        </p:attrNameLst>
                                      </p:cBhvr>
                                      <p:to>
                                        <p:strVal val="visible"/>
                                      </p:to>
                                    </p:set>
                                    <p:animEffect transition="in" filter="wipe(left)">
                                      <p:cBhvr>
                                        <p:cTn id="13" dur="500"/>
                                        <p:tgtEl>
                                          <p:spTgt spid="8">
                                            <p:graphicEl>
                                              <a:chart seriesIdx="-4" categoryIdx="0" bldStep="category"/>
                                            </p:graphicEl>
                                          </p:spTgt>
                                        </p:tgtEl>
                                      </p:cBhvr>
                                    </p:animEffect>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
                                            <p:graphicEl>
                                              <a:chart seriesIdx="-4" categoryIdx="1" bldStep="category"/>
                                            </p:graphicEl>
                                          </p:spTgt>
                                        </p:tgtEl>
                                        <p:attrNameLst>
                                          <p:attrName>style.visibility</p:attrName>
                                        </p:attrNameLst>
                                      </p:cBhvr>
                                      <p:to>
                                        <p:strVal val="visible"/>
                                      </p:to>
                                    </p:set>
                                    <p:anim calcmode="lin" valueType="num">
                                      <p:cBhvr additive="base">
                                        <p:cTn id="18" dur="500" fill="hold"/>
                                        <p:tgtEl>
                                          <p:spTgt spid="7">
                                            <p:graphicEl>
                                              <a:chart seriesIdx="-4" categoryIdx="1" bldStep="category"/>
                                            </p:graphicEl>
                                          </p:spTgt>
                                        </p:tgtEl>
                                        <p:attrNameLst>
                                          <p:attrName>ppt_x</p:attrName>
                                        </p:attrNameLst>
                                      </p:cBhvr>
                                      <p:tavLst>
                                        <p:tav tm="0">
                                          <p:val>
                                            <p:strVal val="#ppt_x"/>
                                          </p:val>
                                        </p:tav>
                                        <p:tav tm="100000">
                                          <p:val>
                                            <p:strVal val="#ppt_x"/>
                                          </p:val>
                                        </p:tav>
                                      </p:tavLst>
                                    </p:anim>
                                    <p:anim calcmode="lin" valueType="num">
                                      <p:cBhvr additive="base">
                                        <p:cTn id="19" dur="500" fill="hold"/>
                                        <p:tgtEl>
                                          <p:spTgt spid="7">
                                            <p:graphicEl>
                                              <a:chart seriesIdx="-4" categoryIdx="1"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8">
                                            <p:graphicEl>
                                              <a:chart seriesIdx="-4" categoryIdx="1" bldStep="category"/>
                                            </p:graphicEl>
                                          </p:spTgt>
                                        </p:tgtEl>
                                        <p:attrNameLst>
                                          <p:attrName>style.visibility</p:attrName>
                                        </p:attrNameLst>
                                      </p:cBhvr>
                                      <p:to>
                                        <p:strVal val="visible"/>
                                      </p:to>
                                    </p:set>
                                    <p:animEffect transition="in" filter="wipe(left)">
                                      <p:cBhvr>
                                        <p:cTn id="24" dur="500"/>
                                        <p:tgtEl>
                                          <p:spTgt spid="8">
                                            <p:graphicEl>
                                              <a:chart seriesIdx="-4" categoryIdx="1" bldStep="category"/>
                                            </p:graphicEl>
                                          </p:spTgt>
                                        </p:tgtEl>
                                      </p:cBhvr>
                                    </p:animEffect>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7">
                                            <p:graphicEl>
                                              <a:chart seriesIdx="-4" categoryIdx="2" bldStep="category"/>
                                            </p:graphicEl>
                                          </p:spTgt>
                                        </p:tgtEl>
                                        <p:attrNameLst>
                                          <p:attrName>style.visibility</p:attrName>
                                        </p:attrNameLst>
                                      </p:cBhvr>
                                      <p:to>
                                        <p:strVal val="visible"/>
                                      </p:to>
                                    </p:set>
                                    <p:anim calcmode="lin" valueType="num">
                                      <p:cBhvr additive="base">
                                        <p:cTn id="29" dur="500" fill="hold"/>
                                        <p:tgtEl>
                                          <p:spTgt spid="7">
                                            <p:graphicEl>
                                              <a:chart seriesIdx="-4" categoryIdx="2" bldStep="category"/>
                                            </p:graphicEl>
                                          </p:spTgt>
                                        </p:tgtEl>
                                        <p:attrNameLst>
                                          <p:attrName>ppt_x</p:attrName>
                                        </p:attrNameLst>
                                      </p:cBhvr>
                                      <p:tavLst>
                                        <p:tav tm="0">
                                          <p:val>
                                            <p:strVal val="#ppt_x"/>
                                          </p:val>
                                        </p:tav>
                                        <p:tav tm="100000">
                                          <p:val>
                                            <p:strVal val="#ppt_x"/>
                                          </p:val>
                                        </p:tav>
                                      </p:tavLst>
                                    </p:anim>
                                    <p:anim calcmode="lin" valueType="num">
                                      <p:cBhvr additive="base">
                                        <p:cTn id="30" dur="500" fill="hold"/>
                                        <p:tgtEl>
                                          <p:spTgt spid="7">
                                            <p:graphicEl>
                                              <a:chart seriesIdx="-4" categoryIdx="2"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8">
                                            <p:graphicEl>
                                              <a:chart seriesIdx="-4" categoryIdx="2" bldStep="category"/>
                                            </p:graphicEl>
                                          </p:spTgt>
                                        </p:tgtEl>
                                        <p:attrNameLst>
                                          <p:attrName>style.visibility</p:attrName>
                                        </p:attrNameLst>
                                      </p:cBhvr>
                                      <p:to>
                                        <p:strVal val="visible"/>
                                      </p:to>
                                    </p:set>
                                    <p:animEffect transition="in" filter="wipe(left)">
                                      <p:cBhvr>
                                        <p:cTn id="35" dur="500"/>
                                        <p:tgtEl>
                                          <p:spTgt spid="8">
                                            <p:graphicEl>
                                              <a:chart seriesIdx="-4" categoryIdx="2" bldStep="category"/>
                                            </p:graphicEl>
                                          </p:spTgt>
                                        </p:tgtEl>
                                      </p:cBhvr>
                                    </p:animEffect>
                                  </p:childTnLst>
                                </p:cTn>
                              </p:par>
                            </p:childTnLst>
                          </p:cTn>
                        </p:par>
                      </p:childTnLst>
                    </p:cTn>
                  </p:par>
                  <p:par>
                    <p:cTn id="36" fill="hold">
                      <p:stCondLst>
                        <p:cond delay="indefinite"/>
                      </p:stCondLst>
                      <p:childTnLst>
                        <p:par>
                          <p:cTn id="37" fill="hold">
                            <p:stCondLst>
                              <p:cond delay="0"/>
                            </p:stCondLst>
                            <p:childTnLst>
                              <p:par>
                                <p:cTn id="38" presetID="2" presetClass="entr" presetSubtype="4" fill="hold" grpId="0" nodeType="clickEffect">
                                  <p:stCondLst>
                                    <p:cond delay="0"/>
                                  </p:stCondLst>
                                  <p:childTnLst>
                                    <p:set>
                                      <p:cBhvr>
                                        <p:cTn id="39" dur="1" fill="hold">
                                          <p:stCondLst>
                                            <p:cond delay="0"/>
                                          </p:stCondLst>
                                        </p:cTn>
                                        <p:tgtEl>
                                          <p:spTgt spid="7">
                                            <p:graphicEl>
                                              <a:chart seriesIdx="-4" categoryIdx="3" bldStep="category"/>
                                            </p:graphicEl>
                                          </p:spTgt>
                                        </p:tgtEl>
                                        <p:attrNameLst>
                                          <p:attrName>style.visibility</p:attrName>
                                        </p:attrNameLst>
                                      </p:cBhvr>
                                      <p:to>
                                        <p:strVal val="visible"/>
                                      </p:to>
                                    </p:set>
                                    <p:anim calcmode="lin" valueType="num">
                                      <p:cBhvr additive="base">
                                        <p:cTn id="40" dur="500" fill="hold"/>
                                        <p:tgtEl>
                                          <p:spTgt spid="7">
                                            <p:graphicEl>
                                              <a:chart seriesIdx="-4" categoryIdx="3" bldStep="category"/>
                                            </p:graphicEl>
                                          </p:spTgt>
                                        </p:tgtEl>
                                        <p:attrNameLst>
                                          <p:attrName>ppt_x</p:attrName>
                                        </p:attrNameLst>
                                      </p:cBhvr>
                                      <p:tavLst>
                                        <p:tav tm="0">
                                          <p:val>
                                            <p:strVal val="#ppt_x"/>
                                          </p:val>
                                        </p:tav>
                                        <p:tav tm="100000">
                                          <p:val>
                                            <p:strVal val="#ppt_x"/>
                                          </p:val>
                                        </p:tav>
                                      </p:tavLst>
                                    </p:anim>
                                    <p:anim calcmode="lin" valueType="num">
                                      <p:cBhvr additive="base">
                                        <p:cTn id="41" dur="500" fill="hold"/>
                                        <p:tgtEl>
                                          <p:spTgt spid="7">
                                            <p:graphicEl>
                                              <a:chart seriesIdx="-4" categoryIdx="3"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8">
                                            <p:graphicEl>
                                              <a:chart seriesIdx="-4" categoryIdx="3" bldStep="category"/>
                                            </p:graphicEl>
                                          </p:spTgt>
                                        </p:tgtEl>
                                        <p:attrNameLst>
                                          <p:attrName>style.visibility</p:attrName>
                                        </p:attrNameLst>
                                      </p:cBhvr>
                                      <p:to>
                                        <p:strVal val="visible"/>
                                      </p:to>
                                    </p:set>
                                    <p:animEffect transition="in" filter="wipe(left)">
                                      <p:cBhvr>
                                        <p:cTn id="46" dur="500"/>
                                        <p:tgtEl>
                                          <p:spTgt spid="8">
                                            <p:graphicEl>
                                              <a:chart seriesIdx="-4" categoryIdx="3" bldStep="category"/>
                                            </p:graphicEl>
                                          </p:spTgt>
                                        </p:tgtEl>
                                      </p:cBhvr>
                                    </p:animEffect>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7">
                                            <p:graphicEl>
                                              <a:chart seriesIdx="-4" categoryIdx="4" bldStep="category"/>
                                            </p:graphicEl>
                                          </p:spTgt>
                                        </p:tgtEl>
                                        <p:attrNameLst>
                                          <p:attrName>style.visibility</p:attrName>
                                        </p:attrNameLst>
                                      </p:cBhvr>
                                      <p:to>
                                        <p:strVal val="visible"/>
                                      </p:to>
                                    </p:set>
                                    <p:anim calcmode="lin" valueType="num">
                                      <p:cBhvr additive="base">
                                        <p:cTn id="51" dur="500" fill="hold"/>
                                        <p:tgtEl>
                                          <p:spTgt spid="7">
                                            <p:graphicEl>
                                              <a:chart seriesIdx="-4" categoryIdx="4" bldStep="category"/>
                                            </p:graphicEl>
                                          </p:spTgt>
                                        </p:tgtEl>
                                        <p:attrNameLst>
                                          <p:attrName>ppt_x</p:attrName>
                                        </p:attrNameLst>
                                      </p:cBhvr>
                                      <p:tavLst>
                                        <p:tav tm="0">
                                          <p:val>
                                            <p:strVal val="#ppt_x"/>
                                          </p:val>
                                        </p:tav>
                                        <p:tav tm="100000">
                                          <p:val>
                                            <p:strVal val="#ppt_x"/>
                                          </p:val>
                                        </p:tav>
                                      </p:tavLst>
                                    </p:anim>
                                    <p:anim calcmode="lin" valueType="num">
                                      <p:cBhvr additive="base">
                                        <p:cTn id="52" dur="500" fill="hold"/>
                                        <p:tgtEl>
                                          <p:spTgt spid="7">
                                            <p:graphicEl>
                                              <a:chart seriesIdx="-4" categoryIdx="4"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8">
                                            <p:graphicEl>
                                              <a:chart seriesIdx="-4" categoryIdx="4" bldStep="category"/>
                                            </p:graphicEl>
                                          </p:spTgt>
                                        </p:tgtEl>
                                        <p:attrNameLst>
                                          <p:attrName>style.visibility</p:attrName>
                                        </p:attrNameLst>
                                      </p:cBhvr>
                                      <p:to>
                                        <p:strVal val="visible"/>
                                      </p:to>
                                    </p:set>
                                    <p:animEffect transition="in" filter="wipe(left)">
                                      <p:cBhvr>
                                        <p:cTn id="57" dur="500"/>
                                        <p:tgtEl>
                                          <p:spTgt spid="8">
                                            <p:graphicEl>
                                              <a:chart seriesIdx="-4" categoryIdx="4" bldStep="category"/>
                                            </p:graphicEl>
                                          </p:spTgt>
                                        </p:tgtEl>
                                      </p:cBhvr>
                                    </p:animEffect>
                                  </p:childTnLst>
                                </p:cTn>
                              </p:par>
                            </p:childTnLst>
                          </p:cTn>
                        </p:par>
                      </p:childTnLst>
                    </p:cTn>
                  </p:par>
                  <p:par>
                    <p:cTn id="58" fill="hold">
                      <p:stCondLst>
                        <p:cond delay="indefinite"/>
                      </p:stCondLst>
                      <p:childTnLst>
                        <p:par>
                          <p:cTn id="59" fill="hold">
                            <p:stCondLst>
                              <p:cond delay="0"/>
                            </p:stCondLst>
                            <p:childTnLst>
                              <p:par>
                                <p:cTn id="60" presetID="2" presetClass="entr" presetSubtype="4" fill="hold" grpId="0" nodeType="clickEffect">
                                  <p:stCondLst>
                                    <p:cond delay="0"/>
                                  </p:stCondLst>
                                  <p:childTnLst>
                                    <p:set>
                                      <p:cBhvr>
                                        <p:cTn id="61" dur="1" fill="hold">
                                          <p:stCondLst>
                                            <p:cond delay="0"/>
                                          </p:stCondLst>
                                        </p:cTn>
                                        <p:tgtEl>
                                          <p:spTgt spid="7">
                                            <p:graphicEl>
                                              <a:chart seriesIdx="-4" categoryIdx="5" bldStep="category"/>
                                            </p:graphicEl>
                                          </p:spTgt>
                                        </p:tgtEl>
                                        <p:attrNameLst>
                                          <p:attrName>style.visibility</p:attrName>
                                        </p:attrNameLst>
                                      </p:cBhvr>
                                      <p:to>
                                        <p:strVal val="visible"/>
                                      </p:to>
                                    </p:set>
                                    <p:anim calcmode="lin" valueType="num">
                                      <p:cBhvr additive="base">
                                        <p:cTn id="62" dur="500" fill="hold"/>
                                        <p:tgtEl>
                                          <p:spTgt spid="7">
                                            <p:graphicEl>
                                              <a:chart seriesIdx="-4" categoryIdx="5" bldStep="category"/>
                                            </p:graphicEl>
                                          </p:spTgt>
                                        </p:tgtEl>
                                        <p:attrNameLst>
                                          <p:attrName>ppt_x</p:attrName>
                                        </p:attrNameLst>
                                      </p:cBhvr>
                                      <p:tavLst>
                                        <p:tav tm="0">
                                          <p:val>
                                            <p:strVal val="#ppt_x"/>
                                          </p:val>
                                        </p:tav>
                                        <p:tav tm="100000">
                                          <p:val>
                                            <p:strVal val="#ppt_x"/>
                                          </p:val>
                                        </p:tav>
                                      </p:tavLst>
                                    </p:anim>
                                    <p:anim calcmode="lin" valueType="num">
                                      <p:cBhvr additive="base">
                                        <p:cTn id="63" dur="500" fill="hold"/>
                                        <p:tgtEl>
                                          <p:spTgt spid="7">
                                            <p:graphicEl>
                                              <a:chart seriesIdx="-4" categoryIdx="5"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64" fill="hold">
                      <p:stCondLst>
                        <p:cond delay="indefinite"/>
                      </p:stCondLst>
                      <p:childTnLst>
                        <p:par>
                          <p:cTn id="65" fill="hold">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8">
                                            <p:graphicEl>
                                              <a:chart seriesIdx="-4" categoryIdx="5" bldStep="category"/>
                                            </p:graphicEl>
                                          </p:spTgt>
                                        </p:tgtEl>
                                        <p:attrNameLst>
                                          <p:attrName>style.visibility</p:attrName>
                                        </p:attrNameLst>
                                      </p:cBhvr>
                                      <p:to>
                                        <p:strVal val="visible"/>
                                      </p:to>
                                    </p:set>
                                    <p:animEffect transition="in" filter="wipe(left)">
                                      <p:cBhvr>
                                        <p:cTn id="68" dur="500"/>
                                        <p:tgtEl>
                                          <p:spTgt spid="8">
                                            <p:graphicEl>
                                              <a:chart seriesIdx="-4" categoryIdx="5" bldStep="category"/>
                                            </p:graphicEl>
                                          </p:spTgt>
                                        </p:tgtEl>
                                      </p:cBhvr>
                                    </p:animEffect>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7">
                                            <p:graphicEl>
                                              <a:chart seriesIdx="-4" categoryIdx="6" bldStep="category"/>
                                            </p:graphicEl>
                                          </p:spTgt>
                                        </p:tgtEl>
                                        <p:attrNameLst>
                                          <p:attrName>style.visibility</p:attrName>
                                        </p:attrNameLst>
                                      </p:cBhvr>
                                      <p:to>
                                        <p:strVal val="visible"/>
                                      </p:to>
                                    </p:set>
                                    <p:anim calcmode="lin" valueType="num">
                                      <p:cBhvr additive="base">
                                        <p:cTn id="73" dur="500" fill="hold"/>
                                        <p:tgtEl>
                                          <p:spTgt spid="7">
                                            <p:graphicEl>
                                              <a:chart seriesIdx="-4" categoryIdx="6" bldStep="category"/>
                                            </p:graphicEl>
                                          </p:spTgt>
                                        </p:tgtEl>
                                        <p:attrNameLst>
                                          <p:attrName>ppt_x</p:attrName>
                                        </p:attrNameLst>
                                      </p:cBhvr>
                                      <p:tavLst>
                                        <p:tav tm="0">
                                          <p:val>
                                            <p:strVal val="#ppt_x"/>
                                          </p:val>
                                        </p:tav>
                                        <p:tav tm="100000">
                                          <p:val>
                                            <p:strVal val="#ppt_x"/>
                                          </p:val>
                                        </p:tav>
                                      </p:tavLst>
                                    </p:anim>
                                    <p:anim calcmode="lin" valueType="num">
                                      <p:cBhvr additive="base">
                                        <p:cTn id="74" dur="500" fill="hold"/>
                                        <p:tgtEl>
                                          <p:spTgt spid="7">
                                            <p:graphicEl>
                                              <a:chart seriesIdx="-4" categoryIdx="6"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2" presetClass="entr" presetSubtype="8" fill="hold" grpId="0" nodeType="clickEffect">
                                  <p:stCondLst>
                                    <p:cond delay="0"/>
                                  </p:stCondLst>
                                  <p:childTnLst>
                                    <p:set>
                                      <p:cBhvr>
                                        <p:cTn id="78" dur="1" fill="hold">
                                          <p:stCondLst>
                                            <p:cond delay="0"/>
                                          </p:stCondLst>
                                        </p:cTn>
                                        <p:tgtEl>
                                          <p:spTgt spid="8">
                                            <p:graphicEl>
                                              <a:chart seriesIdx="-4" categoryIdx="6" bldStep="category"/>
                                            </p:graphicEl>
                                          </p:spTgt>
                                        </p:tgtEl>
                                        <p:attrNameLst>
                                          <p:attrName>style.visibility</p:attrName>
                                        </p:attrNameLst>
                                      </p:cBhvr>
                                      <p:to>
                                        <p:strVal val="visible"/>
                                      </p:to>
                                    </p:set>
                                    <p:animEffect transition="in" filter="wipe(left)">
                                      <p:cBhvr>
                                        <p:cTn id="79" dur="500"/>
                                        <p:tgtEl>
                                          <p:spTgt spid="8">
                                            <p:graphicEl>
                                              <a:chart seriesIdx="-4" categoryIdx="6" bldStep="category"/>
                                            </p:graphicEl>
                                          </p:spTgt>
                                        </p:tgtEl>
                                      </p:cBhvr>
                                    </p:animEffect>
                                  </p:childTnLst>
                                </p:cTn>
                              </p:par>
                            </p:childTnLst>
                          </p:cTn>
                        </p:par>
                      </p:childTnLst>
                    </p:cTn>
                  </p:par>
                  <p:par>
                    <p:cTn id="80" fill="hold">
                      <p:stCondLst>
                        <p:cond delay="indefinite"/>
                      </p:stCondLst>
                      <p:childTnLst>
                        <p:par>
                          <p:cTn id="81" fill="hold">
                            <p:stCondLst>
                              <p:cond delay="0"/>
                            </p:stCondLst>
                            <p:childTnLst>
                              <p:par>
                                <p:cTn id="82" presetID="2" presetClass="entr" presetSubtype="4" fill="hold" grpId="0" nodeType="clickEffect">
                                  <p:stCondLst>
                                    <p:cond delay="0"/>
                                  </p:stCondLst>
                                  <p:childTnLst>
                                    <p:set>
                                      <p:cBhvr>
                                        <p:cTn id="83" dur="1" fill="hold">
                                          <p:stCondLst>
                                            <p:cond delay="0"/>
                                          </p:stCondLst>
                                        </p:cTn>
                                        <p:tgtEl>
                                          <p:spTgt spid="7">
                                            <p:graphicEl>
                                              <a:chart seriesIdx="-4" categoryIdx="7" bldStep="category"/>
                                            </p:graphicEl>
                                          </p:spTgt>
                                        </p:tgtEl>
                                        <p:attrNameLst>
                                          <p:attrName>style.visibility</p:attrName>
                                        </p:attrNameLst>
                                      </p:cBhvr>
                                      <p:to>
                                        <p:strVal val="visible"/>
                                      </p:to>
                                    </p:set>
                                    <p:anim calcmode="lin" valueType="num">
                                      <p:cBhvr additive="base">
                                        <p:cTn id="84" dur="500" fill="hold"/>
                                        <p:tgtEl>
                                          <p:spTgt spid="7">
                                            <p:graphicEl>
                                              <a:chart seriesIdx="-4" categoryIdx="7" bldStep="category"/>
                                            </p:graphicEl>
                                          </p:spTgt>
                                        </p:tgtEl>
                                        <p:attrNameLst>
                                          <p:attrName>ppt_x</p:attrName>
                                        </p:attrNameLst>
                                      </p:cBhvr>
                                      <p:tavLst>
                                        <p:tav tm="0">
                                          <p:val>
                                            <p:strVal val="#ppt_x"/>
                                          </p:val>
                                        </p:tav>
                                        <p:tav tm="100000">
                                          <p:val>
                                            <p:strVal val="#ppt_x"/>
                                          </p:val>
                                        </p:tav>
                                      </p:tavLst>
                                    </p:anim>
                                    <p:anim calcmode="lin" valueType="num">
                                      <p:cBhvr additive="base">
                                        <p:cTn id="85" dur="500" fill="hold"/>
                                        <p:tgtEl>
                                          <p:spTgt spid="7">
                                            <p:graphicEl>
                                              <a:chart seriesIdx="-4" categoryIdx="7"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8">
                                            <p:graphicEl>
                                              <a:chart seriesIdx="-4" categoryIdx="7" bldStep="category"/>
                                            </p:graphicEl>
                                          </p:spTgt>
                                        </p:tgtEl>
                                        <p:attrNameLst>
                                          <p:attrName>style.visibility</p:attrName>
                                        </p:attrNameLst>
                                      </p:cBhvr>
                                      <p:to>
                                        <p:strVal val="visible"/>
                                      </p:to>
                                    </p:set>
                                    <p:animEffect transition="in" filter="wipe(left)">
                                      <p:cBhvr>
                                        <p:cTn id="90" dur="500"/>
                                        <p:tgtEl>
                                          <p:spTgt spid="8">
                                            <p:graphicEl>
                                              <a:chart seriesIdx="-4" categoryIdx="7" bldStep="category"/>
                                            </p:graphicEl>
                                          </p:spTgt>
                                        </p:tgtEl>
                                      </p:cBhvr>
                                    </p:animEffect>
                                  </p:childTnLst>
                                </p:cTn>
                              </p:par>
                            </p:childTnLst>
                          </p:cTn>
                        </p:par>
                      </p:childTnLst>
                    </p:cTn>
                  </p:par>
                  <p:par>
                    <p:cTn id="91" fill="hold">
                      <p:stCondLst>
                        <p:cond delay="indefinite"/>
                      </p:stCondLst>
                      <p:childTnLst>
                        <p:par>
                          <p:cTn id="92" fill="hold">
                            <p:stCondLst>
                              <p:cond delay="0"/>
                            </p:stCondLst>
                            <p:childTnLst>
                              <p:par>
                                <p:cTn id="93" presetID="2" presetClass="entr" presetSubtype="4" fill="hold" grpId="0" nodeType="clickEffect">
                                  <p:stCondLst>
                                    <p:cond delay="0"/>
                                  </p:stCondLst>
                                  <p:childTnLst>
                                    <p:set>
                                      <p:cBhvr>
                                        <p:cTn id="94" dur="1" fill="hold">
                                          <p:stCondLst>
                                            <p:cond delay="0"/>
                                          </p:stCondLst>
                                        </p:cTn>
                                        <p:tgtEl>
                                          <p:spTgt spid="7">
                                            <p:graphicEl>
                                              <a:chart seriesIdx="-4" categoryIdx="8" bldStep="category"/>
                                            </p:graphicEl>
                                          </p:spTgt>
                                        </p:tgtEl>
                                        <p:attrNameLst>
                                          <p:attrName>style.visibility</p:attrName>
                                        </p:attrNameLst>
                                      </p:cBhvr>
                                      <p:to>
                                        <p:strVal val="visible"/>
                                      </p:to>
                                    </p:set>
                                    <p:anim calcmode="lin" valueType="num">
                                      <p:cBhvr additive="base">
                                        <p:cTn id="95" dur="500" fill="hold"/>
                                        <p:tgtEl>
                                          <p:spTgt spid="7">
                                            <p:graphicEl>
                                              <a:chart seriesIdx="-4" categoryIdx="8" bldStep="category"/>
                                            </p:graphicEl>
                                          </p:spTgt>
                                        </p:tgtEl>
                                        <p:attrNameLst>
                                          <p:attrName>ppt_x</p:attrName>
                                        </p:attrNameLst>
                                      </p:cBhvr>
                                      <p:tavLst>
                                        <p:tav tm="0">
                                          <p:val>
                                            <p:strVal val="#ppt_x"/>
                                          </p:val>
                                        </p:tav>
                                        <p:tav tm="100000">
                                          <p:val>
                                            <p:strVal val="#ppt_x"/>
                                          </p:val>
                                        </p:tav>
                                      </p:tavLst>
                                    </p:anim>
                                    <p:anim calcmode="lin" valueType="num">
                                      <p:cBhvr additive="base">
                                        <p:cTn id="96" dur="500" fill="hold"/>
                                        <p:tgtEl>
                                          <p:spTgt spid="7">
                                            <p:graphicEl>
                                              <a:chart seriesIdx="-4" categoryIdx="8"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grpId="0" nodeType="clickEffect">
                                  <p:stCondLst>
                                    <p:cond delay="0"/>
                                  </p:stCondLst>
                                  <p:childTnLst>
                                    <p:set>
                                      <p:cBhvr>
                                        <p:cTn id="100" dur="1" fill="hold">
                                          <p:stCondLst>
                                            <p:cond delay="0"/>
                                          </p:stCondLst>
                                        </p:cTn>
                                        <p:tgtEl>
                                          <p:spTgt spid="8">
                                            <p:graphicEl>
                                              <a:chart seriesIdx="-4" categoryIdx="8" bldStep="category"/>
                                            </p:graphicEl>
                                          </p:spTgt>
                                        </p:tgtEl>
                                        <p:attrNameLst>
                                          <p:attrName>style.visibility</p:attrName>
                                        </p:attrNameLst>
                                      </p:cBhvr>
                                      <p:to>
                                        <p:strVal val="visible"/>
                                      </p:to>
                                    </p:set>
                                    <p:animEffect transition="in" filter="wipe(left)">
                                      <p:cBhvr>
                                        <p:cTn id="101" dur="500"/>
                                        <p:tgtEl>
                                          <p:spTgt spid="8">
                                            <p:graphicEl>
                                              <a:chart seriesIdx="-4" categoryIdx="8" bldStep="category"/>
                                            </p:graphicEl>
                                          </p:spTgt>
                                        </p:tgtEl>
                                      </p:cBhvr>
                                    </p:animEffect>
                                  </p:childTnLst>
                                </p:cTn>
                              </p:par>
                            </p:childTnLst>
                          </p:cTn>
                        </p:par>
                      </p:childTnLst>
                    </p:cTn>
                  </p:par>
                  <p:par>
                    <p:cTn id="102" fill="hold">
                      <p:stCondLst>
                        <p:cond delay="indefinite"/>
                      </p:stCondLst>
                      <p:childTnLst>
                        <p:par>
                          <p:cTn id="103" fill="hold">
                            <p:stCondLst>
                              <p:cond delay="0"/>
                            </p:stCondLst>
                            <p:childTnLst>
                              <p:par>
                                <p:cTn id="104" presetID="2" presetClass="entr" presetSubtype="4" fill="hold" grpId="0" nodeType="clickEffect">
                                  <p:stCondLst>
                                    <p:cond delay="0"/>
                                  </p:stCondLst>
                                  <p:childTnLst>
                                    <p:set>
                                      <p:cBhvr>
                                        <p:cTn id="105" dur="1" fill="hold">
                                          <p:stCondLst>
                                            <p:cond delay="0"/>
                                          </p:stCondLst>
                                        </p:cTn>
                                        <p:tgtEl>
                                          <p:spTgt spid="7">
                                            <p:graphicEl>
                                              <a:chart seriesIdx="-4" categoryIdx="9" bldStep="category"/>
                                            </p:graphicEl>
                                          </p:spTgt>
                                        </p:tgtEl>
                                        <p:attrNameLst>
                                          <p:attrName>style.visibility</p:attrName>
                                        </p:attrNameLst>
                                      </p:cBhvr>
                                      <p:to>
                                        <p:strVal val="visible"/>
                                      </p:to>
                                    </p:set>
                                    <p:anim calcmode="lin" valueType="num">
                                      <p:cBhvr additive="base">
                                        <p:cTn id="106" dur="500" fill="hold"/>
                                        <p:tgtEl>
                                          <p:spTgt spid="7">
                                            <p:graphicEl>
                                              <a:chart seriesIdx="-4" categoryIdx="9" bldStep="category"/>
                                            </p:graphicEl>
                                          </p:spTgt>
                                        </p:tgtEl>
                                        <p:attrNameLst>
                                          <p:attrName>ppt_x</p:attrName>
                                        </p:attrNameLst>
                                      </p:cBhvr>
                                      <p:tavLst>
                                        <p:tav tm="0">
                                          <p:val>
                                            <p:strVal val="#ppt_x"/>
                                          </p:val>
                                        </p:tav>
                                        <p:tav tm="100000">
                                          <p:val>
                                            <p:strVal val="#ppt_x"/>
                                          </p:val>
                                        </p:tav>
                                      </p:tavLst>
                                    </p:anim>
                                    <p:anim calcmode="lin" valueType="num">
                                      <p:cBhvr additive="base">
                                        <p:cTn id="107" dur="500" fill="hold"/>
                                        <p:tgtEl>
                                          <p:spTgt spid="7">
                                            <p:graphicEl>
                                              <a:chart seriesIdx="-4" categoryIdx="9"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08" fill="hold">
                      <p:stCondLst>
                        <p:cond delay="indefinite"/>
                      </p:stCondLst>
                      <p:childTnLst>
                        <p:par>
                          <p:cTn id="109" fill="hold">
                            <p:stCondLst>
                              <p:cond delay="0"/>
                            </p:stCondLst>
                            <p:childTnLst>
                              <p:par>
                                <p:cTn id="110" presetID="22" presetClass="entr" presetSubtype="8" fill="hold" grpId="0" nodeType="clickEffect">
                                  <p:stCondLst>
                                    <p:cond delay="0"/>
                                  </p:stCondLst>
                                  <p:childTnLst>
                                    <p:set>
                                      <p:cBhvr>
                                        <p:cTn id="111" dur="1" fill="hold">
                                          <p:stCondLst>
                                            <p:cond delay="0"/>
                                          </p:stCondLst>
                                        </p:cTn>
                                        <p:tgtEl>
                                          <p:spTgt spid="8">
                                            <p:graphicEl>
                                              <a:chart seriesIdx="-4" categoryIdx="9" bldStep="category"/>
                                            </p:graphicEl>
                                          </p:spTgt>
                                        </p:tgtEl>
                                        <p:attrNameLst>
                                          <p:attrName>style.visibility</p:attrName>
                                        </p:attrNameLst>
                                      </p:cBhvr>
                                      <p:to>
                                        <p:strVal val="visible"/>
                                      </p:to>
                                    </p:set>
                                    <p:animEffect transition="in" filter="wipe(left)">
                                      <p:cBhvr>
                                        <p:cTn id="112" dur="500"/>
                                        <p:tgtEl>
                                          <p:spTgt spid="8">
                                            <p:graphicEl>
                                              <a:chart seriesIdx="-4" categoryIdx="9" bldStep="category"/>
                                            </p:graphicEl>
                                          </p:spTgt>
                                        </p:tgtEl>
                                      </p:cBhvr>
                                    </p:animEffect>
                                  </p:childTnLst>
                                </p:cTn>
                              </p:par>
                            </p:childTnLst>
                          </p:cTn>
                        </p:par>
                      </p:childTnLst>
                    </p:cTn>
                  </p:par>
                  <p:par>
                    <p:cTn id="113" fill="hold">
                      <p:stCondLst>
                        <p:cond delay="indefinite"/>
                      </p:stCondLst>
                      <p:childTnLst>
                        <p:par>
                          <p:cTn id="114" fill="hold">
                            <p:stCondLst>
                              <p:cond delay="0"/>
                            </p:stCondLst>
                            <p:childTnLst>
                              <p:par>
                                <p:cTn id="115" presetID="2" presetClass="entr" presetSubtype="4" fill="hold" grpId="0" nodeType="clickEffect">
                                  <p:stCondLst>
                                    <p:cond delay="0"/>
                                  </p:stCondLst>
                                  <p:childTnLst>
                                    <p:set>
                                      <p:cBhvr>
                                        <p:cTn id="116" dur="1" fill="hold">
                                          <p:stCondLst>
                                            <p:cond delay="0"/>
                                          </p:stCondLst>
                                        </p:cTn>
                                        <p:tgtEl>
                                          <p:spTgt spid="7">
                                            <p:graphicEl>
                                              <a:chart seriesIdx="-4" categoryIdx="10" bldStep="category"/>
                                            </p:graphicEl>
                                          </p:spTgt>
                                        </p:tgtEl>
                                        <p:attrNameLst>
                                          <p:attrName>style.visibility</p:attrName>
                                        </p:attrNameLst>
                                      </p:cBhvr>
                                      <p:to>
                                        <p:strVal val="visible"/>
                                      </p:to>
                                    </p:set>
                                    <p:anim calcmode="lin" valueType="num">
                                      <p:cBhvr additive="base">
                                        <p:cTn id="117" dur="500" fill="hold"/>
                                        <p:tgtEl>
                                          <p:spTgt spid="7">
                                            <p:graphicEl>
                                              <a:chart seriesIdx="-4" categoryIdx="10" bldStep="category"/>
                                            </p:graphicEl>
                                          </p:spTgt>
                                        </p:tgtEl>
                                        <p:attrNameLst>
                                          <p:attrName>ppt_x</p:attrName>
                                        </p:attrNameLst>
                                      </p:cBhvr>
                                      <p:tavLst>
                                        <p:tav tm="0">
                                          <p:val>
                                            <p:strVal val="#ppt_x"/>
                                          </p:val>
                                        </p:tav>
                                        <p:tav tm="100000">
                                          <p:val>
                                            <p:strVal val="#ppt_x"/>
                                          </p:val>
                                        </p:tav>
                                      </p:tavLst>
                                    </p:anim>
                                    <p:anim calcmode="lin" valueType="num">
                                      <p:cBhvr additive="base">
                                        <p:cTn id="118" dur="500" fill="hold"/>
                                        <p:tgtEl>
                                          <p:spTgt spid="7">
                                            <p:graphicEl>
                                              <a:chart seriesIdx="-4" categoryIdx="10"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19" fill="hold">
                      <p:stCondLst>
                        <p:cond delay="indefinite"/>
                      </p:stCondLst>
                      <p:childTnLst>
                        <p:par>
                          <p:cTn id="120" fill="hold">
                            <p:stCondLst>
                              <p:cond delay="0"/>
                            </p:stCondLst>
                            <p:childTnLst>
                              <p:par>
                                <p:cTn id="121" presetID="22" presetClass="entr" presetSubtype="8" fill="hold" grpId="0" nodeType="clickEffect">
                                  <p:stCondLst>
                                    <p:cond delay="0"/>
                                  </p:stCondLst>
                                  <p:childTnLst>
                                    <p:set>
                                      <p:cBhvr>
                                        <p:cTn id="122" dur="1" fill="hold">
                                          <p:stCondLst>
                                            <p:cond delay="0"/>
                                          </p:stCondLst>
                                        </p:cTn>
                                        <p:tgtEl>
                                          <p:spTgt spid="8">
                                            <p:graphicEl>
                                              <a:chart seriesIdx="-4" categoryIdx="10" bldStep="category"/>
                                            </p:graphicEl>
                                          </p:spTgt>
                                        </p:tgtEl>
                                        <p:attrNameLst>
                                          <p:attrName>style.visibility</p:attrName>
                                        </p:attrNameLst>
                                      </p:cBhvr>
                                      <p:to>
                                        <p:strVal val="visible"/>
                                      </p:to>
                                    </p:set>
                                    <p:animEffect transition="in" filter="wipe(left)">
                                      <p:cBhvr>
                                        <p:cTn id="123" dur="500"/>
                                        <p:tgtEl>
                                          <p:spTgt spid="8">
                                            <p:graphicEl>
                                              <a:chart seriesIdx="-4" categoryIdx="10" bldStep="category"/>
                                            </p:graphicEl>
                                          </p:spTgt>
                                        </p:tgtEl>
                                      </p:cBhvr>
                                    </p:animEffect>
                                  </p:childTnLst>
                                </p:cTn>
                              </p:par>
                            </p:childTnLst>
                          </p:cTn>
                        </p:par>
                      </p:childTnLst>
                    </p:cTn>
                  </p:par>
                  <p:par>
                    <p:cTn id="124" fill="hold">
                      <p:stCondLst>
                        <p:cond delay="indefinite"/>
                      </p:stCondLst>
                      <p:childTnLst>
                        <p:par>
                          <p:cTn id="125" fill="hold">
                            <p:stCondLst>
                              <p:cond delay="0"/>
                            </p:stCondLst>
                            <p:childTnLst>
                              <p:par>
                                <p:cTn id="126" presetID="2" presetClass="entr" presetSubtype="4" fill="hold" grpId="0" nodeType="clickEffect">
                                  <p:stCondLst>
                                    <p:cond delay="0"/>
                                  </p:stCondLst>
                                  <p:childTnLst>
                                    <p:set>
                                      <p:cBhvr>
                                        <p:cTn id="127" dur="1" fill="hold">
                                          <p:stCondLst>
                                            <p:cond delay="0"/>
                                          </p:stCondLst>
                                        </p:cTn>
                                        <p:tgtEl>
                                          <p:spTgt spid="7">
                                            <p:graphicEl>
                                              <a:chart seriesIdx="-4" categoryIdx="11" bldStep="category"/>
                                            </p:graphicEl>
                                          </p:spTgt>
                                        </p:tgtEl>
                                        <p:attrNameLst>
                                          <p:attrName>style.visibility</p:attrName>
                                        </p:attrNameLst>
                                      </p:cBhvr>
                                      <p:to>
                                        <p:strVal val="visible"/>
                                      </p:to>
                                    </p:set>
                                    <p:anim calcmode="lin" valueType="num">
                                      <p:cBhvr additive="base">
                                        <p:cTn id="128" dur="500" fill="hold"/>
                                        <p:tgtEl>
                                          <p:spTgt spid="7">
                                            <p:graphicEl>
                                              <a:chart seriesIdx="-4" categoryIdx="11" bldStep="category"/>
                                            </p:graphicEl>
                                          </p:spTgt>
                                        </p:tgtEl>
                                        <p:attrNameLst>
                                          <p:attrName>ppt_x</p:attrName>
                                        </p:attrNameLst>
                                      </p:cBhvr>
                                      <p:tavLst>
                                        <p:tav tm="0">
                                          <p:val>
                                            <p:strVal val="#ppt_x"/>
                                          </p:val>
                                        </p:tav>
                                        <p:tav tm="100000">
                                          <p:val>
                                            <p:strVal val="#ppt_x"/>
                                          </p:val>
                                        </p:tav>
                                      </p:tavLst>
                                    </p:anim>
                                    <p:anim calcmode="lin" valueType="num">
                                      <p:cBhvr additive="base">
                                        <p:cTn id="129" dur="500" fill="hold"/>
                                        <p:tgtEl>
                                          <p:spTgt spid="7">
                                            <p:graphicEl>
                                              <a:chart seriesIdx="-4" categoryIdx="11"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30" fill="hold">
                      <p:stCondLst>
                        <p:cond delay="indefinite"/>
                      </p:stCondLst>
                      <p:childTnLst>
                        <p:par>
                          <p:cTn id="131" fill="hold">
                            <p:stCondLst>
                              <p:cond delay="0"/>
                            </p:stCondLst>
                            <p:childTnLst>
                              <p:par>
                                <p:cTn id="132" presetID="22" presetClass="entr" presetSubtype="8" fill="hold" grpId="0" nodeType="clickEffect">
                                  <p:stCondLst>
                                    <p:cond delay="0"/>
                                  </p:stCondLst>
                                  <p:childTnLst>
                                    <p:set>
                                      <p:cBhvr>
                                        <p:cTn id="133" dur="1" fill="hold">
                                          <p:stCondLst>
                                            <p:cond delay="0"/>
                                          </p:stCondLst>
                                        </p:cTn>
                                        <p:tgtEl>
                                          <p:spTgt spid="8">
                                            <p:graphicEl>
                                              <a:chart seriesIdx="-4" categoryIdx="11" bldStep="category"/>
                                            </p:graphicEl>
                                          </p:spTgt>
                                        </p:tgtEl>
                                        <p:attrNameLst>
                                          <p:attrName>style.visibility</p:attrName>
                                        </p:attrNameLst>
                                      </p:cBhvr>
                                      <p:to>
                                        <p:strVal val="visible"/>
                                      </p:to>
                                    </p:set>
                                    <p:animEffect transition="in" filter="wipe(left)">
                                      <p:cBhvr>
                                        <p:cTn id="134" dur="500"/>
                                        <p:tgtEl>
                                          <p:spTgt spid="8">
                                            <p:graphicEl>
                                              <a:chart seriesIdx="-4" categoryIdx="11" bldStep="category"/>
                                            </p:graphicEl>
                                          </p:spTgt>
                                        </p:tgtEl>
                                      </p:cBhvr>
                                    </p:animEffect>
                                  </p:childTnLst>
                                </p:cTn>
                              </p:par>
                            </p:childTnLst>
                          </p:cTn>
                        </p:par>
                      </p:childTnLst>
                    </p:cTn>
                  </p:par>
                  <p:par>
                    <p:cTn id="135" fill="hold">
                      <p:stCondLst>
                        <p:cond delay="indefinite"/>
                      </p:stCondLst>
                      <p:childTnLst>
                        <p:par>
                          <p:cTn id="136" fill="hold">
                            <p:stCondLst>
                              <p:cond delay="0"/>
                            </p:stCondLst>
                            <p:childTnLst>
                              <p:par>
                                <p:cTn id="137" presetID="2" presetClass="entr" presetSubtype="4" fill="hold" grpId="0" nodeType="clickEffect">
                                  <p:stCondLst>
                                    <p:cond delay="0"/>
                                  </p:stCondLst>
                                  <p:childTnLst>
                                    <p:set>
                                      <p:cBhvr>
                                        <p:cTn id="138" dur="1" fill="hold">
                                          <p:stCondLst>
                                            <p:cond delay="0"/>
                                          </p:stCondLst>
                                        </p:cTn>
                                        <p:tgtEl>
                                          <p:spTgt spid="7">
                                            <p:graphicEl>
                                              <a:chart seriesIdx="-4" categoryIdx="12" bldStep="category"/>
                                            </p:graphicEl>
                                          </p:spTgt>
                                        </p:tgtEl>
                                        <p:attrNameLst>
                                          <p:attrName>style.visibility</p:attrName>
                                        </p:attrNameLst>
                                      </p:cBhvr>
                                      <p:to>
                                        <p:strVal val="visible"/>
                                      </p:to>
                                    </p:set>
                                    <p:anim calcmode="lin" valueType="num">
                                      <p:cBhvr additive="base">
                                        <p:cTn id="139" dur="500" fill="hold"/>
                                        <p:tgtEl>
                                          <p:spTgt spid="7">
                                            <p:graphicEl>
                                              <a:chart seriesIdx="-4" categoryIdx="12" bldStep="category"/>
                                            </p:graphicEl>
                                          </p:spTgt>
                                        </p:tgtEl>
                                        <p:attrNameLst>
                                          <p:attrName>ppt_x</p:attrName>
                                        </p:attrNameLst>
                                      </p:cBhvr>
                                      <p:tavLst>
                                        <p:tav tm="0">
                                          <p:val>
                                            <p:strVal val="#ppt_x"/>
                                          </p:val>
                                        </p:tav>
                                        <p:tav tm="100000">
                                          <p:val>
                                            <p:strVal val="#ppt_x"/>
                                          </p:val>
                                        </p:tav>
                                      </p:tavLst>
                                    </p:anim>
                                    <p:anim calcmode="lin" valueType="num">
                                      <p:cBhvr additive="base">
                                        <p:cTn id="140" dur="500" fill="hold"/>
                                        <p:tgtEl>
                                          <p:spTgt spid="7">
                                            <p:graphicEl>
                                              <a:chart seriesIdx="-4" categoryIdx="12"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41" fill="hold">
                      <p:stCondLst>
                        <p:cond delay="indefinite"/>
                      </p:stCondLst>
                      <p:childTnLst>
                        <p:par>
                          <p:cTn id="142" fill="hold">
                            <p:stCondLst>
                              <p:cond delay="0"/>
                            </p:stCondLst>
                            <p:childTnLst>
                              <p:par>
                                <p:cTn id="143" presetID="22" presetClass="entr" presetSubtype="8" fill="hold" grpId="0" nodeType="clickEffect">
                                  <p:stCondLst>
                                    <p:cond delay="0"/>
                                  </p:stCondLst>
                                  <p:childTnLst>
                                    <p:set>
                                      <p:cBhvr>
                                        <p:cTn id="144" dur="1" fill="hold">
                                          <p:stCondLst>
                                            <p:cond delay="0"/>
                                          </p:stCondLst>
                                        </p:cTn>
                                        <p:tgtEl>
                                          <p:spTgt spid="8">
                                            <p:graphicEl>
                                              <a:chart seriesIdx="-4" categoryIdx="12" bldStep="category"/>
                                            </p:graphicEl>
                                          </p:spTgt>
                                        </p:tgtEl>
                                        <p:attrNameLst>
                                          <p:attrName>style.visibility</p:attrName>
                                        </p:attrNameLst>
                                      </p:cBhvr>
                                      <p:to>
                                        <p:strVal val="visible"/>
                                      </p:to>
                                    </p:set>
                                    <p:animEffect transition="in" filter="wipe(left)">
                                      <p:cBhvr>
                                        <p:cTn id="145" dur="500"/>
                                        <p:tgtEl>
                                          <p:spTgt spid="8">
                                            <p:graphicEl>
                                              <a:chart seriesIdx="-4" categoryIdx="12" bldStep="category"/>
                                            </p:graphicEl>
                                          </p:spTgt>
                                        </p:tgtEl>
                                      </p:cBhvr>
                                    </p:animEffect>
                                  </p:childTnLst>
                                </p:cTn>
                              </p:par>
                            </p:childTnLst>
                          </p:cTn>
                        </p:par>
                      </p:childTnLst>
                    </p:cTn>
                  </p:par>
                  <p:par>
                    <p:cTn id="146" fill="hold">
                      <p:stCondLst>
                        <p:cond delay="indefinite"/>
                      </p:stCondLst>
                      <p:childTnLst>
                        <p:par>
                          <p:cTn id="147" fill="hold">
                            <p:stCondLst>
                              <p:cond delay="0"/>
                            </p:stCondLst>
                            <p:childTnLst>
                              <p:par>
                                <p:cTn id="148" presetID="2" presetClass="entr" presetSubtype="4" fill="hold" grpId="0" nodeType="clickEffect">
                                  <p:stCondLst>
                                    <p:cond delay="0"/>
                                  </p:stCondLst>
                                  <p:childTnLst>
                                    <p:set>
                                      <p:cBhvr>
                                        <p:cTn id="149" dur="1" fill="hold">
                                          <p:stCondLst>
                                            <p:cond delay="0"/>
                                          </p:stCondLst>
                                        </p:cTn>
                                        <p:tgtEl>
                                          <p:spTgt spid="7">
                                            <p:graphicEl>
                                              <a:chart seriesIdx="-4" categoryIdx="13" bldStep="category"/>
                                            </p:graphicEl>
                                          </p:spTgt>
                                        </p:tgtEl>
                                        <p:attrNameLst>
                                          <p:attrName>style.visibility</p:attrName>
                                        </p:attrNameLst>
                                      </p:cBhvr>
                                      <p:to>
                                        <p:strVal val="visible"/>
                                      </p:to>
                                    </p:set>
                                    <p:anim calcmode="lin" valueType="num">
                                      <p:cBhvr additive="base">
                                        <p:cTn id="150" dur="500" fill="hold"/>
                                        <p:tgtEl>
                                          <p:spTgt spid="7">
                                            <p:graphicEl>
                                              <a:chart seriesIdx="-4" categoryIdx="13" bldStep="category"/>
                                            </p:graphicEl>
                                          </p:spTgt>
                                        </p:tgtEl>
                                        <p:attrNameLst>
                                          <p:attrName>ppt_x</p:attrName>
                                        </p:attrNameLst>
                                      </p:cBhvr>
                                      <p:tavLst>
                                        <p:tav tm="0">
                                          <p:val>
                                            <p:strVal val="#ppt_x"/>
                                          </p:val>
                                        </p:tav>
                                        <p:tav tm="100000">
                                          <p:val>
                                            <p:strVal val="#ppt_x"/>
                                          </p:val>
                                        </p:tav>
                                      </p:tavLst>
                                    </p:anim>
                                    <p:anim calcmode="lin" valueType="num">
                                      <p:cBhvr additive="base">
                                        <p:cTn id="151" dur="500" fill="hold"/>
                                        <p:tgtEl>
                                          <p:spTgt spid="7">
                                            <p:graphicEl>
                                              <a:chart seriesIdx="-4" categoryIdx="13"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52" fill="hold">
                      <p:stCondLst>
                        <p:cond delay="indefinite"/>
                      </p:stCondLst>
                      <p:childTnLst>
                        <p:par>
                          <p:cTn id="153" fill="hold">
                            <p:stCondLst>
                              <p:cond delay="0"/>
                            </p:stCondLst>
                            <p:childTnLst>
                              <p:par>
                                <p:cTn id="154" presetID="22" presetClass="entr" presetSubtype="8" fill="hold" grpId="0" nodeType="clickEffect">
                                  <p:stCondLst>
                                    <p:cond delay="0"/>
                                  </p:stCondLst>
                                  <p:childTnLst>
                                    <p:set>
                                      <p:cBhvr>
                                        <p:cTn id="155" dur="1" fill="hold">
                                          <p:stCondLst>
                                            <p:cond delay="0"/>
                                          </p:stCondLst>
                                        </p:cTn>
                                        <p:tgtEl>
                                          <p:spTgt spid="8">
                                            <p:graphicEl>
                                              <a:chart seriesIdx="-4" categoryIdx="13" bldStep="category"/>
                                            </p:graphicEl>
                                          </p:spTgt>
                                        </p:tgtEl>
                                        <p:attrNameLst>
                                          <p:attrName>style.visibility</p:attrName>
                                        </p:attrNameLst>
                                      </p:cBhvr>
                                      <p:to>
                                        <p:strVal val="visible"/>
                                      </p:to>
                                    </p:set>
                                    <p:animEffect transition="in" filter="wipe(left)">
                                      <p:cBhvr>
                                        <p:cTn id="156" dur="500"/>
                                        <p:tgtEl>
                                          <p:spTgt spid="8">
                                            <p:graphicEl>
                                              <a:chart seriesIdx="-4" categoryIdx="13" bldStep="category"/>
                                            </p:graphicEl>
                                          </p:spTgt>
                                        </p:tgtEl>
                                      </p:cBhvr>
                                    </p:animEffect>
                                  </p:childTnLst>
                                </p:cTn>
                              </p:par>
                            </p:childTnLst>
                          </p:cTn>
                        </p:par>
                      </p:childTnLst>
                    </p:cTn>
                  </p:par>
                  <p:par>
                    <p:cTn id="157" fill="hold">
                      <p:stCondLst>
                        <p:cond delay="indefinite"/>
                      </p:stCondLst>
                      <p:childTnLst>
                        <p:par>
                          <p:cTn id="158" fill="hold">
                            <p:stCondLst>
                              <p:cond delay="0"/>
                            </p:stCondLst>
                            <p:childTnLst>
                              <p:par>
                                <p:cTn id="159" presetID="2" presetClass="entr" presetSubtype="4" fill="hold" grpId="0" nodeType="clickEffect">
                                  <p:stCondLst>
                                    <p:cond delay="0"/>
                                  </p:stCondLst>
                                  <p:childTnLst>
                                    <p:set>
                                      <p:cBhvr>
                                        <p:cTn id="160" dur="1" fill="hold">
                                          <p:stCondLst>
                                            <p:cond delay="0"/>
                                          </p:stCondLst>
                                        </p:cTn>
                                        <p:tgtEl>
                                          <p:spTgt spid="7">
                                            <p:graphicEl>
                                              <a:chart seriesIdx="-4" categoryIdx="14" bldStep="category"/>
                                            </p:graphicEl>
                                          </p:spTgt>
                                        </p:tgtEl>
                                        <p:attrNameLst>
                                          <p:attrName>style.visibility</p:attrName>
                                        </p:attrNameLst>
                                      </p:cBhvr>
                                      <p:to>
                                        <p:strVal val="visible"/>
                                      </p:to>
                                    </p:set>
                                    <p:anim calcmode="lin" valueType="num">
                                      <p:cBhvr additive="base">
                                        <p:cTn id="161" dur="500" fill="hold"/>
                                        <p:tgtEl>
                                          <p:spTgt spid="7">
                                            <p:graphicEl>
                                              <a:chart seriesIdx="-4" categoryIdx="14" bldStep="category"/>
                                            </p:graphicEl>
                                          </p:spTgt>
                                        </p:tgtEl>
                                        <p:attrNameLst>
                                          <p:attrName>ppt_x</p:attrName>
                                        </p:attrNameLst>
                                      </p:cBhvr>
                                      <p:tavLst>
                                        <p:tav tm="0">
                                          <p:val>
                                            <p:strVal val="#ppt_x"/>
                                          </p:val>
                                        </p:tav>
                                        <p:tav tm="100000">
                                          <p:val>
                                            <p:strVal val="#ppt_x"/>
                                          </p:val>
                                        </p:tav>
                                      </p:tavLst>
                                    </p:anim>
                                    <p:anim calcmode="lin" valueType="num">
                                      <p:cBhvr additive="base">
                                        <p:cTn id="162" dur="500" fill="hold"/>
                                        <p:tgtEl>
                                          <p:spTgt spid="7">
                                            <p:graphicEl>
                                              <a:chart seriesIdx="-4" categoryIdx="14"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63" fill="hold">
                      <p:stCondLst>
                        <p:cond delay="indefinite"/>
                      </p:stCondLst>
                      <p:childTnLst>
                        <p:par>
                          <p:cTn id="164" fill="hold">
                            <p:stCondLst>
                              <p:cond delay="0"/>
                            </p:stCondLst>
                            <p:childTnLst>
                              <p:par>
                                <p:cTn id="165" presetID="22" presetClass="entr" presetSubtype="8" fill="hold" grpId="0" nodeType="clickEffect">
                                  <p:stCondLst>
                                    <p:cond delay="0"/>
                                  </p:stCondLst>
                                  <p:childTnLst>
                                    <p:set>
                                      <p:cBhvr>
                                        <p:cTn id="166" dur="1" fill="hold">
                                          <p:stCondLst>
                                            <p:cond delay="0"/>
                                          </p:stCondLst>
                                        </p:cTn>
                                        <p:tgtEl>
                                          <p:spTgt spid="8">
                                            <p:graphicEl>
                                              <a:chart seriesIdx="-4" categoryIdx="14" bldStep="category"/>
                                            </p:graphicEl>
                                          </p:spTgt>
                                        </p:tgtEl>
                                        <p:attrNameLst>
                                          <p:attrName>style.visibility</p:attrName>
                                        </p:attrNameLst>
                                      </p:cBhvr>
                                      <p:to>
                                        <p:strVal val="visible"/>
                                      </p:to>
                                    </p:set>
                                    <p:animEffect transition="in" filter="wipe(left)">
                                      <p:cBhvr>
                                        <p:cTn id="167" dur="500"/>
                                        <p:tgtEl>
                                          <p:spTgt spid="8">
                                            <p:graphicEl>
                                              <a:chart seriesIdx="-4" categoryIdx="14" bldStep="category"/>
                                            </p:graphicEl>
                                          </p:spTgt>
                                        </p:tgtEl>
                                      </p:cBhvr>
                                    </p:animEffect>
                                  </p:childTnLst>
                                </p:cTn>
                              </p:par>
                            </p:childTnLst>
                          </p:cTn>
                        </p:par>
                      </p:childTnLst>
                    </p:cTn>
                  </p:par>
                  <p:par>
                    <p:cTn id="168" fill="hold">
                      <p:stCondLst>
                        <p:cond delay="indefinite"/>
                      </p:stCondLst>
                      <p:childTnLst>
                        <p:par>
                          <p:cTn id="169" fill="hold">
                            <p:stCondLst>
                              <p:cond delay="0"/>
                            </p:stCondLst>
                            <p:childTnLst>
                              <p:par>
                                <p:cTn id="170" presetID="2" presetClass="entr" presetSubtype="4" fill="hold" grpId="0" nodeType="clickEffect">
                                  <p:stCondLst>
                                    <p:cond delay="0"/>
                                  </p:stCondLst>
                                  <p:childTnLst>
                                    <p:set>
                                      <p:cBhvr>
                                        <p:cTn id="171" dur="1" fill="hold">
                                          <p:stCondLst>
                                            <p:cond delay="0"/>
                                          </p:stCondLst>
                                        </p:cTn>
                                        <p:tgtEl>
                                          <p:spTgt spid="7">
                                            <p:graphicEl>
                                              <a:chart seriesIdx="-4" categoryIdx="15" bldStep="category"/>
                                            </p:graphicEl>
                                          </p:spTgt>
                                        </p:tgtEl>
                                        <p:attrNameLst>
                                          <p:attrName>style.visibility</p:attrName>
                                        </p:attrNameLst>
                                      </p:cBhvr>
                                      <p:to>
                                        <p:strVal val="visible"/>
                                      </p:to>
                                    </p:set>
                                    <p:anim calcmode="lin" valueType="num">
                                      <p:cBhvr additive="base">
                                        <p:cTn id="172" dur="500" fill="hold"/>
                                        <p:tgtEl>
                                          <p:spTgt spid="7">
                                            <p:graphicEl>
                                              <a:chart seriesIdx="-4" categoryIdx="15" bldStep="category"/>
                                            </p:graphicEl>
                                          </p:spTgt>
                                        </p:tgtEl>
                                        <p:attrNameLst>
                                          <p:attrName>ppt_x</p:attrName>
                                        </p:attrNameLst>
                                      </p:cBhvr>
                                      <p:tavLst>
                                        <p:tav tm="0">
                                          <p:val>
                                            <p:strVal val="#ppt_x"/>
                                          </p:val>
                                        </p:tav>
                                        <p:tav tm="100000">
                                          <p:val>
                                            <p:strVal val="#ppt_x"/>
                                          </p:val>
                                        </p:tav>
                                      </p:tavLst>
                                    </p:anim>
                                    <p:anim calcmode="lin" valueType="num">
                                      <p:cBhvr additive="base">
                                        <p:cTn id="173" dur="500" fill="hold"/>
                                        <p:tgtEl>
                                          <p:spTgt spid="7">
                                            <p:graphicEl>
                                              <a:chart seriesIdx="-4" categoryIdx="15"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74" fill="hold">
                      <p:stCondLst>
                        <p:cond delay="indefinite"/>
                      </p:stCondLst>
                      <p:childTnLst>
                        <p:par>
                          <p:cTn id="175" fill="hold">
                            <p:stCondLst>
                              <p:cond delay="0"/>
                            </p:stCondLst>
                            <p:childTnLst>
                              <p:par>
                                <p:cTn id="176" presetID="22" presetClass="entr" presetSubtype="8" fill="hold" grpId="0" nodeType="clickEffect">
                                  <p:stCondLst>
                                    <p:cond delay="0"/>
                                  </p:stCondLst>
                                  <p:childTnLst>
                                    <p:set>
                                      <p:cBhvr>
                                        <p:cTn id="177" dur="1" fill="hold">
                                          <p:stCondLst>
                                            <p:cond delay="0"/>
                                          </p:stCondLst>
                                        </p:cTn>
                                        <p:tgtEl>
                                          <p:spTgt spid="8">
                                            <p:graphicEl>
                                              <a:chart seriesIdx="-4" categoryIdx="15" bldStep="category"/>
                                            </p:graphicEl>
                                          </p:spTgt>
                                        </p:tgtEl>
                                        <p:attrNameLst>
                                          <p:attrName>style.visibility</p:attrName>
                                        </p:attrNameLst>
                                      </p:cBhvr>
                                      <p:to>
                                        <p:strVal val="visible"/>
                                      </p:to>
                                    </p:set>
                                    <p:animEffect transition="in" filter="wipe(left)">
                                      <p:cBhvr>
                                        <p:cTn id="178" dur="500"/>
                                        <p:tgtEl>
                                          <p:spTgt spid="8">
                                            <p:graphicEl>
                                              <a:chart seriesIdx="-4" categoryIdx="15" bldStep="category"/>
                                            </p:graphicEl>
                                          </p:spTgt>
                                        </p:tgtEl>
                                      </p:cBhvr>
                                    </p:animEffect>
                                  </p:childTnLst>
                                </p:cTn>
                              </p:par>
                            </p:childTnLst>
                          </p:cTn>
                        </p:par>
                      </p:childTnLst>
                    </p:cTn>
                  </p:par>
                  <p:par>
                    <p:cTn id="179" fill="hold">
                      <p:stCondLst>
                        <p:cond delay="indefinite"/>
                      </p:stCondLst>
                      <p:childTnLst>
                        <p:par>
                          <p:cTn id="180" fill="hold">
                            <p:stCondLst>
                              <p:cond delay="0"/>
                            </p:stCondLst>
                            <p:childTnLst>
                              <p:par>
                                <p:cTn id="181" presetID="2" presetClass="entr" presetSubtype="4" fill="hold" grpId="0" nodeType="clickEffect">
                                  <p:stCondLst>
                                    <p:cond delay="0"/>
                                  </p:stCondLst>
                                  <p:childTnLst>
                                    <p:set>
                                      <p:cBhvr>
                                        <p:cTn id="182" dur="1" fill="hold">
                                          <p:stCondLst>
                                            <p:cond delay="0"/>
                                          </p:stCondLst>
                                        </p:cTn>
                                        <p:tgtEl>
                                          <p:spTgt spid="7">
                                            <p:graphicEl>
                                              <a:chart seriesIdx="-4" categoryIdx="16" bldStep="category"/>
                                            </p:graphicEl>
                                          </p:spTgt>
                                        </p:tgtEl>
                                        <p:attrNameLst>
                                          <p:attrName>style.visibility</p:attrName>
                                        </p:attrNameLst>
                                      </p:cBhvr>
                                      <p:to>
                                        <p:strVal val="visible"/>
                                      </p:to>
                                    </p:set>
                                    <p:anim calcmode="lin" valueType="num">
                                      <p:cBhvr additive="base">
                                        <p:cTn id="183" dur="500" fill="hold"/>
                                        <p:tgtEl>
                                          <p:spTgt spid="7">
                                            <p:graphicEl>
                                              <a:chart seriesIdx="-4" categoryIdx="16" bldStep="category"/>
                                            </p:graphicEl>
                                          </p:spTgt>
                                        </p:tgtEl>
                                        <p:attrNameLst>
                                          <p:attrName>ppt_x</p:attrName>
                                        </p:attrNameLst>
                                      </p:cBhvr>
                                      <p:tavLst>
                                        <p:tav tm="0">
                                          <p:val>
                                            <p:strVal val="#ppt_x"/>
                                          </p:val>
                                        </p:tav>
                                        <p:tav tm="100000">
                                          <p:val>
                                            <p:strVal val="#ppt_x"/>
                                          </p:val>
                                        </p:tav>
                                      </p:tavLst>
                                    </p:anim>
                                    <p:anim calcmode="lin" valueType="num">
                                      <p:cBhvr additive="base">
                                        <p:cTn id="184" dur="500" fill="hold"/>
                                        <p:tgtEl>
                                          <p:spTgt spid="7">
                                            <p:graphicEl>
                                              <a:chart seriesIdx="-4" categoryIdx="16"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85" fill="hold">
                      <p:stCondLst>
                        <p:cond delay="indefinite"/>
                      </p:stCondLst>
                      <p:childTnLst>
                        <p:par>
                          <p:cTn id="186" fill="hold">
                            <p:stCondLst>
                              <p:cond delay="0"/>
                            </p:stCondLst>
                            <p:childTnLst>
                              <p:par>
                                <p:cTn id="187" presetID="22" presetClass="entr" presetSubtype="8" fill="hold" grpId="0" nodeType="clickEffect">
                                  <p:stCondLst>
                                    <p:cond delay="0"/>
                                  </p:stCondLst>
                                  <p:childTnLst>
                                    <p:set>
                                      <p:cBhvr>
                                        <p:cTn id="188" dur="1" fill="hold">
                                          <p:stCondLst>
                                            <p:cond delay="0"/>
                                          </p:stCondLst>
                                        </p:cTn>
                                        <p:tgtEl>
                                          <p:spTgt spid="8">
                                            <p:graphicEl>
                                              <a:chart seriesIdx="-4" categoryIdx="16" bldStep="category"/>
                                            </p:graphicEl>
                                          </p:spTgt>
                                        </p:tgtEl>
                                        <p:attrNameLst>
                                          <p:attrName>style.visibility</p:attrName>
                                        </p:attrNameLst>
                                      </p:cBhvr>
                                      <p:to>
                                        <p:strVal val="visible"/>
                                      </p:to>
                                    </p:set>
                                    <p:animEffect transition="in" filter="wipe(left)">
                                      <p:cBhvr>
                                        <p:cTn id="189" dur="500"/>
                                        <p:tgtEl>
                                          <p:spTgt spid="8">
                                            <p:graphicEl>
                                              <a:chart seriesIdx="-4" categoryIdx="16" bldStep="category"/>
                                            </p:graphicEl>
                                          </p:spTgt>
                                        </p:tgtEl>
                                      </p:cBhvr>
                                    </p:animEffect>
                                  </p:childTnLst>
                                </p:cTn>
                              </p:par>
                            </p:childTnLst>
                          </p:cTn>
                        </p:par>
                      </p:childTnLst>
                    </p:cTn>
                  </p:par>
                  <p:par>
                    <p:cTn id="190" fill="hold">
                      <p:stCondLst>
                        <p:cond delay="indefinite"/>
                      </p:stCondLst>
                      <p:childTnLst>
                        <p:par>
                          <p:cTn id="191" fill="hold">
                            <p:stCondLst>
                              <p:cond delay="0"/>
                            </p:stCondLst>
                            <p:childTnLst>
                              <p:par>
                                <p:cTn id="192" presetID="2" presetClass="entr" presetSubtype="4" fill="hold" grpId="0" nodeType="clickEffect">
                                  <p:stCondLst>
                                    <p:cond delay="0"/>
                                  </p:stCondLst>
                                  <p:childTnLst>
                                    <p:set>
                                      <p:cBhvr>
                                        <p:cTn id="193" dur="1" fill="hold">
                                          <p:stCondLst>
                                            <p:cond delay="0"/>
                                          </p:stCondLst>
                                        </p:cTn>
                                        <p:tgtEl>
                                          <p:spTgt spid="7">
                                            <p:graphicEl>
                                              <a:chart seriesIdx="-4" categoryIdx="17" bldStep="category"/>
                                            </p:graphicEl>
                                          </p:spTgt>
                                        </p:tgtEl>
                                        <p:attrNameLst>
                                          <p:attrName>style.visibility</p:attrName>
                                        </p:attrNameLst>
                                      </p:cBhvr>
                                      <p:to>
                                        <p:strVal val="visible"/>
                                      </p:to>
                                    </p:set>
                                    <p:anim calcmode="lin" valueType="num">
                                      <p:cBhvr additive="base">
                                        <p:cTn id="194" dur="500" fill="hold"/>
                                        <p:tgtEl>
                                          <p:spTgt spid="7">
                                            <p:graphicEl>
                                              <a:chart seriesIdx="-4" categoryIdx="17" bldStep="category"/>
                                            </p:graphicEl>
                                          </p:spTgt>
                                        </p:tgtEl>
                                        <p:attrNameLst>
                                          <p:attrName>ppt_x</p:attrName>
                                        </p:attrNameLst>
                                      </p:cBhvr>
                                      <p:tavLst>
                                        <p:tav tm="0">
                                          <p:val>
                                            <p:strVal val="#ppt_x"/>
                                          </p:val>
                                        </p:tav>
                                        <p:tav tm="100000">
                                          <p:val>
                                            <p:strVal val="#ppt_x"/>
                                          </p:val>
                                        </p:tav>
                                      </p:tavLst>
                                    </p:anim>
                                    <p:anim calcmode="lin" valueType="num">
                                      <p:cBhvr additive="base">
                                        <p:cTn id="195" dur="500" fill="hold"/>
                                        <p:tgtEl>
                                          <p:spTgt spid="7">
                                            <p:graphicEl>
                                              <a:chart seriesIdx="-4" categoryIdx="17"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196" fill="hold">
                      <p:stCondLst>
                        <p:cond delay="indefinite"/>
                      </p:stCondLst>
                      <p:childTnLst>
                        <p:par>
                          <p:cTn id="197" fill="hold">
                            <p:stCondLst>
                              <p:cond delay="0"/>
                            </p:stCondLst>
                            <p:childTnLst>
                              <p:par>
                                <p:cTn id="198" presetID="22" presetClass="entr" presetSubtype="8" fill="hold" grpId="0" nodeType="clickEffect">
                                  <p:stCondLst>
                                    <p:cond delay="0"/>
                                  </p:stCondLst>
                                  <p:childTnLst>
                                    <p:set>
                                      <p:cBhvr>
                                        <p:cTn id="199" dur="1" fill="hold">
                                          <p:stCondLst>
                                            <p:cond delay="0"/>
                                          </p:stCondLst>
                                        </p:cTn>
                                        <p:tgtEl>
                                          <p:spTgt spid="8">
                                            <p:graphicEl>
                                              <a:chart seriesIdx="-4" categoryIdx="17" bldStep="category"/>
                                            </p:graphicEl>
                                          </p:spTgt>
                                        </p:tgtEl>
                                        <p:attrNameLst>
                                          <p:attrName>style.visibility</p:attrName>
                                        </p:attrNameLst>
                                      </p:cBhvr>
                                      <p:to>
                                        <p:strVal val="visible"/>
                                      </p:to>
                                    </p:set>
                                    <p:animEffect transition="in" filter="wipe(left)">
                                      <p:cBhvr>
                                        <p:cTn id="200" dur="500"/>
                                        <p:tgtEl>
                                          <p:spTgt spid="8">
                                            <p:graphicEl>
                                              <a:chart seriesIdx="-4" categoryIdx="17" bldStep="category"/>
                                            </p:graphicEl>
                                          </p:spTgt>
                                        </p:tgtEl>
                                      </p:cBhvr>
                                    </p:animEffect>
                                  </p:childTnLst>
                                </p:cTn>
                              </p:par>
                            </p:childTnLst>
                          </p:cTn>
                        </p:par>
                      </p:childTnLst>
                    </p:cTn>
                  </p:par>
                  <p:par>
                    <p:cTn id="201" fill="hold">
                      <p:stCondLst>
                        <p:cond delay="indefinite"/>
                      </p:stCondLst>
                      <p:childTnLst>
                        <p:par>
                          <p:cTn id="202" fill="hold">
                            <p:stCondLst>
                              <p:cond delay="0"/>
                            </p:stCondLst>
                            <p:childTnLst>
                              <p:par>
                                <p:cTn id="203" presetID="2" presetClass="entr" presetSubtype="4" fill="hold" grpId="0" nodeType="clickEffect">
                                  <p:stCondLst>
                                    <p:cond delay="0"/>
                                  </p:stCondLst>
                                  <p:childTnLst>
                                    <p:set>
                                      <p:cBhvr>
                                        <p:cTn id="204" dur="1" fill="hold">
                                          <p:stCondLst>
                                            <p:cond delay="0"/>
                                          </p:stCondLst>
                                        </p:cTn>
                                        <p:tgtEl>
                                          <p:spTgt spid="7">
                                            <p:graphicEl>
                                              <a:chart seriesIdx="-4" categoryIdx="18" bldStep="category"/>
                                            </p:graphicEl>
                                          </p:spTgt>
                                        </p:tgtEl>
                                        <p:attrNameLst>
                                          <p:attrName>style.visibility</p:attrName>
                                        </p:attrNameLst>
                                      </p:cBhvr>
                                      <p:to>
                                        <p:strVal val="visible"/>
                                      </p:to>
                                    </p:set>
                                    <p:anim calcmode="lin" valueType="num">
                                      <p:cBhvr additive="base">
                                        <p:cTn id="205" dur="500" fill="hold"/>
                                        <p:tgtEl>
                                          <p:spTgt spid="7">
                                            <p:graphicEl>
                                              <a:chart seriesIdx="-4" categoryIdx="18" bldStep="category"/>
                                            </p:graphicEl>
                                          </p:spTgt>
                                        </p:tgtEl>
                                        <p:attrNameLst>
                                          <p:attrName>ppt_x</p:attrName>
                                        </p:attrNameLst>
                                      </p:cBhvr>
                                      <p:tavLst>
                                        <p:tav tm="0">
                                          <p:val>
                                            <p:strVal val="#ppt_x"/>
                                          </p:val>
                                        </p:tav>
                                        <p:tav tm="100000">
                                          <p:val>
                                            <p:strVal val="#ppt_x"/>
                                          </p:val>
                                        </p:tav>
                                      </p:tavLst>
                                    </p:anim>
                                    <p:anim calcmode="lin" valueType="num">
                                      <p:cBhvr additive="base">
                                        <p:cTn id="206" dur="500" fill="hold"/>
                                        <p:tgtEl>
                                          <p:spTgt spid="7">
                                            <p:graphicEl>
                                              <a:chart seriesIdx="-4" categoryIdx="18"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207" fill="hold">
                      <p:stCondLst>
                        <p:cond delay="indefinite"/>
                      </p:stCondLst>
                      <p:childTnLst>
                        <p:par>
                          <p:cTn id="208" fill="hold">
                            <p:stCondLst>
                              <p:cond delay="0"/>
                            </p:stCondLst>
                            <p:childTnLst>
                              <p:par>
                                <p:cTn id="209" presetID="22" presetClass="entr" presetSubtype="8" fill="hold" grpId="0" nodeType="clickEffect">
                                  <p:stCondLst>
                                    <p:cond delay="0"/>
                                  </p:stCondLst>
                                  <p:childTnLst>
                                    <p:set>
                                      <p:cBhvr>
                                        <p:cTn id="210" dur="1" fill="hold">
                                          <p:stCondLst>
                                            <p:cond delay="0"/>
                                          </p:stCondLst>
                                        </p:cTn>
                                        <p:tgtEl>
                                          <p:spTgt spid="8">
                                            <p:graphicEl>
                                              <a:chart seriesIdx="-4" categoryIdx="18" bldStep="category"/>
                                            </p:graphicEl>
                                          </p:spTgt>
                                        </p:tgtEl>
                                        <p:attrNameLst>
                                          <p:attrName>style.visibility</p:attrName>
                                        </p:attrNameLst>
                                      </p:cBhvr>
                                      <p:to>
                                        <p:strVal val="visible"/>
                                      </p:to>
                                    </p:set>
                                    <p:animEffect transition="in" filter="wipe(left)">
                                      <p:cBhvr>
                                        <p:cTn id="211" dur="500"/>
                                        <p:tgtEl>
                                          <p:spTgt spid="8">
                                            <p:graphicEl>
                                              <a:chart seriesIdx="-4" categoryIdx="18" bldStep="category"/>
                                            </p:graphicEl>
                                          </p:spTgt>
                                        </p:tgtEl>
                                      </p:cBhvr>
                                    </p:animEffect>
                                  </p:childTnLst>
                                </p:cTn>
                              </p:par>
                            </p:childTnLst>
                          </p:cTn>
                        </p:par>
                      </p:childTnLst>
                    </p:cTn>
                  </p:par>
                  <p:par>
                    <p:cTn id="212" fill="hold">
                      <p:stCondLst>
                        <p:cond delay="indefinite"/>
                      </p:stCondLst>
                      <p:childTnLst>
                        <p:par>
                          <p:cTn id="213" fill="hold">
                            <p:stCondLst>
                              <p:cond delay="0"/>
                            </p:stCondLst>
                            <p:childTnLst>
                              <p:par>
                                <p:cTn id="214" presetID="2" presetClass="entr" presetSubtype="4" fill="hold" grpId="0" nodeType="clickEffect">
                                  <p:stCondLst>
                                    <p:cond delay="0"/>
                                  </p:stCondLst>
                                  <p:childTnLst>
                                    <p:set>
                                      <p:cBhvr>
                                        <p:cTn id="215" dur="1" fill="hold">
                                          <p:stCondLst>
                                            <p:cond delay="0"/>
                                          </p:stCondLst>
                                        </p:cTn>
                                        <p:tgtEl>
                                          <p:spTgt spid="7">
                                            <p:graphicEl>
                                              <a:chart seriesIdx="-4" categoryIdx="19" bldStep="category"/>
                                            </p:graphicEl>
                                          </p:spTgt>
                                        </p:tgtEl>
                                        <p:attrNameLst>
                                          <p:attrName>style.visibility</p:attrName>
                                        </p:attrNameLst>
                                      </p:cBhvr>
                                      <p:to>
                                        <p:strVal val="visible"/>
                                      </p:to>
                                    </p:set>
                                    <p:anim calcmode="lin" valueType="num">
                                      <p:cBhvr additive="base">
                                        <p:cTn id="216" dur="500" fill="hold"/>
                                        <p:tgtEl>
                                          <p:spTgt spid="7">
                                            <p:graphicEl>
                                              <a:chart seriesIdx="-4" categoryIdx="19" bldStep="category"/>
                                            </p:graphicEl>
                                          </p:spTgt>
                                        </p:tgtEl>
                                        <p:attrNameLst>
                                          <p:attrName>ppt_x</p:attrName>
                                        </p:attrNameLst>
                                      </p:cBhvr>
                                      <p:tavLst>
                                        <p:tav tm="0">
                                          <p:val>
                                            <p:strVal val="#ppt_x"/>
                                          </p:val>
                                        </p:tav>
                                        <p:tav tm="100000">
                                          <p:val>
                                            <p:strVal val="#ppt_x"/>
                                          </p:val>
                                        </p:tav>
                                      </p:tavLst>
                                    </p:anim>
                                    <p:anim calcmode="lin" valueType="num">
                                      <p:cBhvr additive="base">
                                        <p:cTn id="217" dur="500" fill="hold"/>
                                        <p:tgtEl>
                                          <p:spTgt spid="7">
                                            <p:graphicEl>
                                              <a:chart seriesIdx="-4" categoryIdx="19"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218" fill="hold">
                      <p:stCondLst>
                        <p:cond delay="indefinite"/>
                      </p:stCondLst>
                      <p:childTnLst>
                        <p:par>
                          <p:cTn id="219" fill="hold">
                            <p:stCondLst>
                              <p:cond delay="0"/>
                            </p:stCondLst>
                            <p:childTnLst>
                              <p:par>
                                <p:cTn id="220" presetID="22" presetClass="entr" presetSubtype="8" fill="hold" grpId="0" nodeType="clickEffect">
                                  <p:stCondLst>
                                    <p:cond delay="0"/>
                                  </p:stCondLst>
                                  <p:childTnLst>
                                    <p:set>
                                      <p:cBhvr>
                                        <p:cTn id="221" dur="1" fill="hold">
                                          <p:stCondLst>
                                            <p:cond delay="0"/>
                                          </p:stCondLst>
                                        </p:cTn>
                                        <p:tgtEl>
                                          <p:spTgt spid="8">
                                            <p:graphicEl>
                                              <a:chart seriesIdx="-4" categoryIdx="19" bldStep="category"/>
                                            </p:graphicEl>
                                          </p:spTgt>
                                        </p:tgtEl>
                                        <p:attrNameLst>
                                          <p:attrName>style.visibility</p:attrName>
                                        </p:attrNameLst>
                                      </p:cBhvr>
                                      <p:to>
                                        <p:strVal val="visible"/>
                                      </p:to>
                                    </p:set>
                                    <p:animEffect transition="in" filter="wipe(left)">
                                      <p:cBhvr>
                                        <p:cTn id="222" dur="500"/>
                                        <p:tgtEl>
                                          <p:spTgt spid="8">
                                            <p:graphicEl>
                                              <a:chart seriesIdx="-4" categoryIdx="19" bldStep="category"/>
                                            </p:graphicEl>
                                          </p:spTgt>
                                        </p:tgtEl>
                                      </p:cBhvr>
                                    </p:animEffect>
                                  </p:childTnLst>
                                </p:cTn>
                              </p:par>
                            </p:childTnLst>
                          </p:cTn>
                        </p:par>
                      </p:childTnLst>
                    </p:cTn>
                  </p:par>
                  <p:par>
                    <p:cTn id="223" fill="hold">
                      <p:stCondLst>
                        <p:cond delay="indefinite"/>
                      </p:stCondLst>
                      <p:childTnLst>
                        <p:par>
                          <p:cTn id="224" fill="hold">
                            <p:stCondLst>
                              <p:cond delay="0"/>
                            </p:stCondLst>
                            <p:childTnLst>
                              <p:par>
                                <p:cTn id="225" presetID="2" presetClass="entr" presetSubtype="4" fill="hold" grpId="0" nodeType="clickEffect">
                                  <p:stCondLst>
                                    <p:cond delay="0"/>
                                  </p:stCondLst>
                                  <p:childTnLst>
                                    <p:set>
                                      <p:cBhvr>
                                        <p:cTn id="226" dur="1" fill="hold">
                                          <p:stCondLst>
                                            <p:cond delay="0"/>
                                          </p:stCondLst>
                                        </p:cTn>
                                        <p:tgtEl>
                                          <p:spTgt spid="7">
                                            <p:graphicEl>
                                              <a:chart seriesIdx="-4" categoryIdx="20" bldStep="category"/>
                                            </p:graphicEl>
                                          </p:spTgt>
                                        </p:tgtEl>
                                        <p:attrNameLst>
                                          <p:attrName>style.visibility</p:attrName>
                                        </p:attrNameLst>
                                      </p:cBhvr>
                                      <p:to>
                                        <p:strVal val="visible"/>
                                      </p:to>
                                    </p:set>
                                    <p:anim calcmode="lin" valueType="num">
                                      <p:cBhvr additive="base">
                                        <p:cTn id="227" dur="500" fill="hold"/>
                                        <p:tgtEl>
                                          <p:spTgt spid="7">
                                            <p:graphicEl>
                                              <a:chart seriesIdx="-4" categoryIdx="20" bldStep="category"/>
                                            </p:graphicEl>
                                          </p:spTgt>
                                        </p:tgtEl>
                                        <p:attrNameLst>
                                          <p:attrName>ppt_x</p:attrName>
                                        </p:attrNameLst>
                                      </p:cBhvr>
                                      <p:tavLst>
                                        <p:tav tm="0">
                                          <p:val>
                                            <p:strVal val="#ppt_x"/>
                                          </p:val>
                                        </p:tav>
                                        <p:tav tm="100000">
                                          <p:val>
                                            <p:strVal val="#ppt_x"/>
                                          </p:val>
                                        </p:tav>
                                      </p:tavLst>
                                    </p:anim>
                                    <p:anim calcmode="lin" valueType="num">
                                      <p:cBhvr additive="base">
                                        <p:cTn id="228" dur="500" fill="hold"/>
                                        <p:tgtEl>
                                          <p:spTgt spid="7">
                                            <p:graphicEl>
                                              <a:chart seriesIdx="-4" categoryIdx="20" bldStep="category"/>
                                            </p:graphicEl>
                                          </p:spTgt>
                                        </p:tgtEl>
                                        <p:attrNameLst>
                                          <p:attrName>ppt_y</p:attrName>
                                        </p:attrNameLst>
                                      </p:cBhvr>
                                      <p:tavLst>
                                        <p:tav tm="0">
                                          <p:val>
                                            <p:strVal val="1+#ppt_h/2"/>
                                          </p:val>
                                        </p:tav>
                                        <p:tav tm="100000">
                                          <p:val>
                                            <p:strVal val="#ppt_y"/>
                                          </p:val>
                                        </p:tav>
                                      </p:tavLst>
                                    </p:anim>
                                  </p:childTnLst>
                                </p:cTn>
                              </p:par>
                            </p:childTnLst>
                          </p:cTn>
                        </p:par>
                      </p:childTnLst>
                    </p:cTn>
                  </p:par>
                  <p:par>
                    <p:cTn id="229" fill="hold">
                      <p:stCondLst>
                        <p:cond delay="indefinite"/>
                      </p:stCondLst>
                      <p:childTnLst>
                        <p:par>
                          <p:cTn id="230" fill="hold">
                            <p:stCondLst>
                              <p:cond delay="0"/>
                            </p:stCondLst>
                            <p:childTnLst>
                              <p:par>
                                <p:cTn id="231" presetID="22" presetClass="entr" presetSubtype="8" fill="hold" grpId="0" nodeType="clickEffect">
                                  <p:stCondLst>
                                    <p:cond delay="0"/>
                                  </p:stCondLst>
                                  <p:childTnLst>
                                    <p:set>
                                      <p:cBhvr>
                                        <p:cTn id="232" dur="1" fill="hold">
                                          <p:stCondLst>
                                            <p:cond delay="0"/>
                                          </p:stCondLst>
                                        </p:cTn>
                                        <p:tgtEl>
                                          <p:spTgt spid="8">
                                            <p:graphicEl>
                                              <a:chart seriesIdx="-4" categoryIdx="20" bldStep="category"/>
                                            </p:graphicEl>
                                          </p:spTgt>
                                        </p:tgtEl>
                                        <p:attrNameLst>
                                          <p:attrName>style.visibility</p:attrName>
                                        </p:attrNameLst>
                                      </p:cBhvr>
                                      <p:to>
                                        <p:strVal val="visible"/>
                                      </p:to>
                                    </p:set>
                                    <p:animEffect transition="in" filter="wipe(left)">
                                      <p:cBhvr>
                                        <p:cTn id="233" dur="500"/>
                                        <p:tgtEl>
                                          <p:spTgt spid="8">
                                            <p:graphicEl>
                                              <a:chart seriesIdx="-4" categoryIdx="20" bldStep="category"/>
                                            </p:graphic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7" grpId="0" uiExpand="1">
        <p:bldSub>
          <a:bldChart bld="category" animBg="0"/>
        </p:bldSub>
      </p:bldGraphic>
      <p:bldGraphic spid="8" grpId="0" uiExpand="1">
        <p:bldSub>
          <a:bldChart bld="category" animBg="0"/>
        </p:bldSub>
      </p:bldGraphic>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5" name="Title 1"/>
          <p:cNvSpPr>
            <a:spLocks noGrp="1"/>
          </p:cNvSpPr>
          <p:nvPr>
            <p:ph type="title"/>
          </p:nvPr>
        </p:nvSpPr>
        <p:spPr/>
        <p:txBody>
          <a:bodyPr>
            <a:normAutofit fontScale="90000"/>
          </a:bodyPr>
          <a:lstStyle/>
          <a:p>
            <a:r>
              <a:rPr lang="en-US" altLang="en-US" dirty="0">
                <a:solidFill>
                  <a:schemeClr val="tx1"/>
                </a:solidFill>
              </a:rPr>
              <a:t> What About Cash Flow Streams with Finite Lives?</a:t>
            </a:r>
          </a:p>
        </p:txBody>
      </p:sp>
      <p:sp>
        <p:nvSpPr>
          <p:cNvPr id="3" name="Content Placeholder 2"/>
          <p:cNvSpPr>
            <a:spLocks noGrp="1"/>
          </p:cNvSpPr>
          <p:nvPr>
            <p:ph idx="1"/>
          </p:nvPr>
        </p:nvSpPr>
        <p:spPr/>
        <p:txBody>
          <a:bodyPr rtlCol="0">
            <a:normAutofit/>
          </a:bodyPr>
          <a:lstStyle/>
          <a:p>
            <a:pPr fontAlgn="auto">
              <a:spcAft>
                <a:spcPts val="0"/>
              </a:spcAft>
              <a:buFont typeface="Arial"/>
              <a:buChar char="•"/>
              <a:defRPr/>
            </a:pPr>
            <a:r>
              <a:rPr lang="en-US" dirty="0">
                <a:solidFill>
                  <a:schemeClr val="tx1"/>
                </a:solidFill>
                <a:ea typeface="+mn-ea"/>
              </a:rPr>
              <a:t>Zero coupon bond</a:t>
            </a:r>
          </a:p>
          <a:p>
            <a:pPr lvl="1">
              <a:buFont typeface="Arial"/>
              <a:buChar char="•"/>
              <a:defRPr/>
            </a:pPr>
            <a:r>
              <a:rPr lang="en-US" dirty="0">
                <a:solidFill>
                  <a:schemeClr val="tx1"/>
                </a:solidFill>
              </a:rPr>
              <a:t>Constant rate</a:t>
            </a:r>
          </a:p>
          <a:p>
            <a:pPr lvl="1">
              <a:buFont typeface="Arial"/>
              <a:buChar char="•"/>
              <a:defRPr/>
            </a:pPr>
            <a:r>
              <a:rPr lang="en-US" dirty="0">
                <a:solidFill>
                  <a:schemeClr val="tx1"/>
                </a:solidFill>
                <a:ea typeface="+mn-ea"/>
              </a:rPr>
              <a:t>Rate changes</a:t>
            </a:r>
          </a:p>
          <a:p>
            <a:pPr>
              <a:defRPr/>
            </a:pPr>
            <a:r>
              <a:rPr lang="en-US" dirty="0">
                <a:solidFill>
                  <a:schemeClr val="tx1"/>
                </a:solidFill>
                <a:ea typeface="+mn-ea"/>
              </a:rPr>
              <a:t>Non-zero coupon bond</a:t>
            </a:r>
          </a:p>
          <a:p>
            <a:pPr lvl="1">
              <a:defRPr/>
            </a:pPr>
            <a:r>
              <a:rPr lang="en-US" dirty="0">
                <a:solidFill>
                  <a:schemeClr val="tx1"/>
                </a:solidFill>
              </a:rPr>
              <a:t>Constant rate</a:t>
            </a:r>
          </a:p>
          <a:p>
            <a:pPr lvl="1">
              <a:defRPr/>
            </a:pPr>
            <a:r>
              <a:rPr lang="en-US">
                <a:solidFill>
                  <a:schemeClr val="tx1"/>
                </a:solidFill>
                <a:ea typeface="+mn-ea"/>
              </a:rPr>
              <a:t>Rate changes</a:t>
            </a:r>
            <a:endParaRPr lang="en-US" dirty="0">
              <a:solidFill>
                <a:schemeClr val="tx1"/>
              </a:solidFill>
              <a:ea typeface="+mn-ea"/>
            </a:endParaRPr>
          </a:p>
        </p:txBody>
      </p:sp>
      <p:sp>
        <p:nvSpPr>
          <p:cNvPr id="4" name="Slide Number Placeholder 3"/>
          <p:cNvSpPr>
            <a:spLocks noGrp="1"/>
          </p:cNvSpPr>
          <p:nvPr>
            <p:ph type="sldNum" sz="quarter" idx="12"/>
          </p:nvPr>
        </p:nvSpPr>
        <p:spPr/>
        <p:txBody>
          <a:bodyPr/>
          <a:lstStyle>
            <a:lvl1pPr>
              <a:defRPr>
                <a:solidFill>
                  <a:schemeClr val="tx1"/>
                </a:solidFill>
                <a:latin typeface="Calibri" pitchFamily="34" charset="0"/>
                <a:ea typeface="MS PGothic" pitchFamily="34" charset="-128"/>
              </a:defRPr>
            </a:lvl1pPr>
            <a:lvl2pPr marL="742950" indent="-285750">
              <a:defRPr>
                <a:solidFill>
                  <a:schemeClr val="tx1"/>
                </a:solidFill>
                <a:latin typeface="Calibri" pitchFamily="34" charset="0"/>
                <a:ea typeface="MS PGothic" pitchFamily="34" charset="-128"/>
              </a:defRPr>
            </a:lvl2pPr>
            <a:lvl3pPr marL="1143000" indent="-228600">
              <a:defRPr>
                <a:solidFill>
                  <a:schemeClr val="tx1"/>
                </a:solidFill>
                <a:latin typeface="Calibri" pitchFamily="34" charset="0"/>
                <a:ea typeface="MS PGothic" pitchFamily="34" charset="-128"/>
              </a:defRPr>
            </a:lvl3pPr>
            <a:lvl4pPr marL="1600200" indent="-228600">
              <a:defRPr>
                <a:solidFill>
                  <a:schemeClr val="tx1"/>
                </a:solidFill>
                <a:latin typeface="Calibri" pitchFamily="34" charset="0"/>
                <a:ea typeface="MS PGothic" pitchFamily="34" charset="-128"/>
              </a:defRPr>
            </a:lvl4pPr>
            <a:lvl5pPr marL="2057400" indent="-228600">
              <a:defRPr>
                <a:solidFill>
                  <a:schemeClr val="tx1"/>
                </a:solidFill>
                <a:latin typeface="Calibri" pitchFamily="34" charset="0"/>
                <a:ea typeface="MS PGothic" pitchFamily="34" charset="-128"/>
              </a:defRPr>
            </a:lvl5pPr>
            <a:lvl6pPr marL="2514600" indent="-228600" defTabSz="457200" fontAlgn="base">
              <a:spcBef>
                <a:spcPct val="0"/>
              </a:spcBef>
              <a:spcAft>
                <a:spcPct val="0"/>
              </a:spcAft>
              <a:defRPr>
                <a:solidFill>
                  <a:schemeClr val="tx1"/>
                </a:solidFill>
                <a:latin typeface="Calibri" pitchFamily="34" charset="0"/>
                <a:ea typeface="MS PGothic" pitchFamily="34" charset="-128"/>
              </a:defRPr>
            </a:lvl6pPr>
            <a:lvl7pPr marL="2971800" indent="-228600" defTabSz="457200" fontAlgn="base">
              <a:spcBef>
                <a:spcPct val="0"/>
              </a:spcBef>
              <a:spcAft>
                <a:spcPct val="0"/>
              </a:spcAft>
              <a:defRPr>
                <a:solidFill>
                  <a:schemeClr val="tx1"/>
                </a:solidFill>
                <a:latin typeface="Calibri" pitchFamily="34" charset="0"/>
                <a:ea typeface="MS PGothic" pitchFamily="34" charset="-128"/>
              </a:defRPr>
            </a:lvl7pPr>
            <a:lvl8pPr marL="3429000" indent="-228600" defTabSz="457200" fontAlgn="base">
              <a:spcBef>
                <a:spcPct val="0"/>
              </a:spcBef>
              <a:spcAft>
                <a:spcPct val="0"/>
              </a:spcAft>
              <a:defRPr>
                <a:solidFill>
                  <a:schemeClr val="tx1"/>
                </a:solidFill>
                <a:latin typeface="Calibri" pitchFamily="34" charset="0"/>
                <a:ea typeface="MS PGothic" pitchFamily="34" charset="-128"/>
              </a:defRPr>
            </a:lvl8pPr>
            <a:lvl9pPr marL="3886200" indent="-228600" defTabSz="457200" fontAlgn="base">
              <a:spcBef>
                <a:spcPct val="0"/>
              </a:spcBef>
              <a:spcAft>
                <a:spcPct val="0"/>
              </a:spcAft>
              <a:defRPr>
                <a:solidFill>
                  <a:schemeClr val="tx1"/>
                </a:solidFill>
                <a:latin typeface="Calibri" pitchFamily="34" charset="0"/>
                <a:ea typeface="MS PGothic" pitchFamily="34" charset="-128"/>
              </a:defRPr>
            </a:lvl9pPr>
          </a:lstStyle>
          <a:p>
            <a:fld id="{634BEB1C-9573-40F1-81B7-8F94D0FBBEF6}" type="slidenum">
              <a:rPr lang="en-US" altLang="en-US"/>
              <a:pPr/>
              <a:t>17</a:t>
            </a:fld>
            <a:endParaRPr lang="en-US" altLang="en-US"/>
          </a:p>
        </p:txBody>
      </p:sp>
    </p:spTree>
    <p:extLst>
      <p:ext uri="{BB962C8B-B14F-4D97-AF65-F5344CB8AC3E}">
        <p14:creationId xmlns:p14="http://schemas.microsoft.com/office/powerpoint/2010/main" val="34275717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solidFill>
                  <a:schemeClr val="tx1"/>
                </a:solidFill>
              </a:rPr>
              <a:t>Risk</a:t>
            </a:r>
          </a:p>
        </p:txBody>
      </p:sp>
      <p:sp>
        <p:nvSpPr>
          <p:cNvPr id="3" name="Content Placeholder 2"/>
          <p:cNvSpPr>
            <a:spLocks noGrp="1"/>
          </p:cNvSpPr>
          <p:nvPr>
            <p:ph idx="1"/>
          </p:nvPr>
        </p:nvSpPr>
        <p:spPr/>
        <p:txBody>
          <a:bodyPr>
            <a:normAutofit fontScale="70000" lnSpcReduction="20000"/>
          </a:bodyPr>
          <a:lstStyle/>
          <a:p>
            <a:r>
              <a:rPr lang="en-US" dirty="0">
                <a:solidFill>
                  <a:schemeClr val="tx1"/>
                </a:solidFill>
              </a:rPr>
              <a:t>Changing interest rates is just one example of getting hit with unexpected gains and losses</a:t>
            </a:r>
          </a:p>
          <a:p>
            <a:r>
              <a:rPr lang="en-US" dirty="0">
                <a:solidFill>
                  <a:schemeClr val="tx1"/>
                </a:solidFill>
              </a:rPr>
              <a:t>Generally, cash flows are also uncertain</a:t>
            </a:r>
          </a:p>
          <a:p>
            <a:pPr lvl="1"/>
            <a:r>
              <a:rPr lang="en-US" dirty="0">
                <a:solidFill>
                  <a:schemeClr val="tx1"/>
                </a:solidFill>
              </a:rPr>
              <a:t>With debt, debtor may experience ‘financial distress’ and not pay what it owes</a:t>
            </a:r>
          </a:p>
          <a:p>
            <a:pPr lvl="1"/>
            <a:r>
              <a:rPr lang="en-US" dirty="0">
                <a:solidFill>
                  <a:schemeClr val="tx1"/>
                </a:solidFill>
              </a:rPr>
              <a:t>With other financial instruments (e.g., common stock), no payments are even promised</a:t>
            </a:r>
          </a:p>
          <a:p>
            <a:pPr lvl="2"/>
            <a:r>
              <a:rPr lang="en-US" dirty="0">
                <a:solidFill>
                  <a:schemeClr val="tx1"/>
                </a:solidFill>
              </a:rPr>
              <a:t>Cash payments on equity are intentionally variable.</a:t>
            </a:r>
          </a:p>
          <a:p>
            <a:r>
              <a:rPr lang="en-US" dirty="0">
                <a:solidFill>
                  <a:schemeClr val="tx1"/>
                </a:solidFill>
              </a:rPr>
              <a:t>How do we deal with risk?</a:t>
            </a:r>
          </a:p>
          <a:p>
            <a:pPr lvl="1"/>
            <a:r>
              <a:rPr lang="en-US" dirty="0">
                <a:solidFill>
                  <a:schemeClr val="tx1"/>
                </a:solidFill>
              </a:rPr>
              <a:t>Insurance (and hedging)</a:t>
            </a:r>
          </a:p>
          <a:p>
            <a:pPr lvl="1"/>
            <a:r>
              <a:rPr lang="en-US" b="1" dirty="0">
                <a:solidFill>
                  <a:schemeClr val="tx1"/>
                </a:solidFill>
              </a:rPr>
              <a:t>LIMITED LIABILITY ENTITIES</a:t>
            </a:r>
          </a:p>
          <a:p>
            <a:pPr lvl="1"/>
            <a:endParaRPr lang="en-US" dirty="0">
              <a:solidFill>
                <a:schemeClr val="tx1"/>
              </a:solidFill>
            </a:endParaRPr>
          </a:p>
        </p:txBody>
      </p:sp>
      <p:sp>
        <p:nvSpPr>
          <p:cNvPr id="4" name="Slide Number Placeholder 3"/>
          <p:cNvSpPr>
            <a:spLocks noGrp="1"/>
          </p:cNvSpPr>
          <p:nvPr>
            <p:ph type="sldNum" sz="quarter" idx="12"/>
          </p:nvPr>
        </p:nvSpPr>
        <p:spPr/>
        <p:txBody>
          <a:bodyPr/>
          <a:lstStyle/>
          <a:p>
            <a:fld id="{5E9B17D8-68A5-8A4C-9A5A-916968DB0419}" type="slidenum">
              <a:rPr lang="en-US" smtClean="0">
                <a:solidFill>
                  <a:schemeClr val="tx1"/>
                </a:solidFill>
              </a:rPr>
              <a:t>18</a:t>
            </a:fld>
            <a:endParaRPr lang="en-US">
              <a:solidFill>
                <a:schemeClr val="tx1"/>
              </a:solidFill>
            </a:endParaRPr>
          </a:p>
        </p:txBody>
      </p:sp>
    </p:spTree>
    <p:extLst>
      <p:ext uri="{BB962C8B-B14F-4D97-AF65-F5344CB8AC3E}">
        <p14:creationId xmlns:p14="http://schemas.microsoft.com/office/powerpoint/2010/main" val="373941487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1"/>
                </a:solidFill>
              </a:rPr>
              <a:t>Next Class</a:t>
            </a:r>
          </a:p>
        </p:txBody>
      </p:sp>
      <p:sp>
        <p:nvSpPr>
          <p:cNvPr id="3" name="Content Placeholder 2"/>
          <p:cNvSpPr>
            <a:spLocks noGrp="1"/>
          </p:cNvSpPr>
          <p:nvPr>
            <p:ph idx="1"/>
          </p:nvPr>
        </p:nvSpPr>
        <p:spPr/>
        <p:txBody>
          <a:bodyPr>
            <a:normAutofit fontScale="92500" lnSpcReduction="20000"/>
          </a:bodyPr>
          <a:lstStyle/>
          <a:p>
            <a:r>
              <a:rPr lang="en-US" dirty="0">
                <a:solidFill>
                  <a:schemeClr val="tx1"/>
                </a:solidFill>
              </a:rPr>
              <a:t>Risk is one of the factors leading to the idea that business affairs should be conducted not only by individuals, but also by legal ‘entities’ which involve many individuals and limited liability</a:t>
            </a:r>
          </a:p>
          <a:p>
            <a:r>
              <a:rPr lang="en-US" dirty="0">
                <a:solidFill>
                  <a:schemeClr val="tx1"/>
                </a:solidFill>
              </a:rPr>
              <a:t>Forming an entity to conduct business creates its own problems and gives rise to the demand for a lot of accounting</a:t>
            </a:r>
          </a:p>
          <a:p>
            <a:r>
              <a:rPr lang="en-US" dirty="0">
                <a:solidFill>
                  <a:schemeClr val="tx1"/>
                </a:solidFill>
              </a:rPr>
              <a:t>Next time, nitty-gritty business…</a:t>
            </a:r>
          </a:p>
          <a:p>
            <a:endParaRPr lang="en-US" dirty="0">
              <a:solidFill>
                <a:schemeClr val="tx1"/>
              </a:solidFill>
            </a:endParaRPr>
          </a:p>
        </p:txBody>
      </p:sp>
    </p:spTree>
    <p:extLst>
      <p:ext uri="{BB962C8B-B14F-4D97-AF65-F5344CB8AC3E}">
        <p14:creationId xmlns:p14="http://schemas.microsoft.com/office/powerpoint/2010/main" val="299704374"/>
      </p:ext>
    </p:extLst>
  </p:cSld>
  <p:clrMapOvr>
    <a:masterClrMapping/>
  </p:clrMapOvr>
</p:sld>
</file>

<file path=ppt/theme/theme1.xml><?xml version="1.0" encoding="utf-8"?>
<a:theme xmlns:a="http://schemas.openxmlformats.org/drawingml/2006/main" name="SOM_bknd_wide_blu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SOM_bknd_wide_blue</Template>
  <TotalTime>1494</TotalTime>
  <Words>735</Words>
  <Application>Microsoft Office PowerPoint</Application>
  <PresentationFormat>On-screen Show (16:9)</PresentationFormat>
  <Paragraphs>145</Paragraphs>
  <Slides>19</Slides>
  <Notes>0</Notes>
  <HiddenSlides>4</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SOM_bknd_wide_blue</vt:lpstr>
      <vt:lpstr>ACCT 2700 Foundations of Accounting &amp; Valuation </vt:lpstr>
      <vt:lpstr>Agenda</vt:lpstr>
      <vt:lpstr>Compounding Period</vt:lpstr>
      <vt:lpstr>Compounding Period</vt:lpstr>
      <vt:lpstr>Compounding Period</vt:lpstr>
      <vt:lpstr>Compounding Period</vt:lpstr>
      <vt:lpstr>Compounding Period (continued)</vt:lpstr>
      <vt:lpstr>Paths of value over time</vt:lpstr>
      <vt:lpstr>Example: $1,000 Perpetuity</vt:lpstr>
      <vt:lpstr> Changes in Interest Rate</vt:lpstr>
      <vt:lpstr>Unanticipated Interest Rate Changes</vt:lpstr>
      <vt:lpstr>Unanticipated Value Changes</vt:lpstr>
      <vt:lpstr>Unanticipated Interest Rate Changes</vt:lpstr>
      <vt:lpstr>Unanticipated Interest Rate Changes</vt:lpstr>
      <vt:lpstr>Intuition Challenge</vt:lpstr>
      <vt:lpstr>Unanticipated Interest Rate Changes</vt:lpstr>
      <vt:lpstr> What About Cash Flow Streams with Finite Lives?</vt:lpstr>
      <vt:lpstr>Risk</vt:lpstr>
      <vt:lpstr>Next Class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MGT502</dc:title>
  <dc:creator>CVI</dc:creator>
  <cp:lastModifiedBy>Antle, Rick</cp:lastModifiedBy>
  <cp:revision>33</cp:revision>
  <dcterms:created xsi:type="dcterms:W3CDTF">2014-01-26T21:23:39Z</dcterms:created>
  <dcterms:modified xsi:type="dcterms:W3CDTF">2026-01-25T22:07:57Z</dcterms:modified>
</cp:coreProperties>
</file>