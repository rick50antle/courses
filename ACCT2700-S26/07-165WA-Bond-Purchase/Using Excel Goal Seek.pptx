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58" r:id="rId5"/>
    <p:sldId id="262" r:id="rId6"/>
    <p:sldId id="261" r:id="rId7"/>
    <p:sldId id="263" r:id="rId8"/>
    <p:sldId id="265" r:id="rId9"/>
    <p:sldId id="264" r:id="rId10"/>
    <p:sldId id="266" r:id="rId11"/>
    <p:sldId id="267" r:id="rId12"/>
    <p:sldId id="268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410"/>
  </p:normalViewPr>
  <p:slideViewPr>
    <p:cSldViewPr snapToGrid="0" snapToObjects="1">
      <p:cViewPr varScale="1">
        <p:scale>
          <a:sx n="98" d="100"/>
          <a:sy n="98" d="100"/>
        </p:scale>
        <p:origin x="125" y="331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2077C41-23D2-40E5-A1B9-6D409EDDC81D}"/>
    <pc:docChg chg="modSld">
      <pc:chgData name="Antle, Rick" userId="c2afbbd2-30e4-4c8e-8af5-81913178ace3" providerId="ADAL" clId="{D2077C41-23D2-40E5-A1B9-6D409EDDC81D}" dt="2026-02-01T21:19:23.870" v="49" actId="20577"/>
      <pc:docMkLst>
        <pc:docMk/>
      </pc:docMkLst>
      <pc:sldChg chg="modSp mod">
        <pc:chgData name="Antle, Rick" userId="c2afbbd2-30e4-4c8e-8af5-81913178ace3" providerId="ADAL" clId="{D2077C41-23D2-40E5-A1B9-6D409EDDC81D}" dt="2026-02-01T21:19:23.870" v="49" actId="20577"/>
        <pc:sldMkLst>
          <pc:docMk/>
          <pc:sldMk cId="1173847269" sldId="257"/>
        </pc:sldMkLst>
        <pc:spChg chg="mod">
          <ac:chgData name="Antle, Rick" userId="c2afbbd2-30e4-4c8e-8af5-81913178ace3" providerId="ADAL" clId="{D2077C41-23D2-40E5-A1B9-6D409EDDC81D}" dt="2026-02-01T21:19:23.870" v="49" actId="20577"/>
          <ac:spMkLst>
            <pc:docMk/>
            <pc:sldMk cId="1173847269" sldId="257"/>
            <ac:spMk id="2" creationId="{00000000-0000-0000-0000-000000000000}"/>
          </ac:spMkLst>
        </pc:spChg>
        <pc:spChg chg="mod">
          <ac:chgData name="Antle, Rick" userId="c2afbbd2-30e4-4c8e-8af5-81913178ace3" providerId="ADAL" clId="{D2077C41-23D2-40E5-A1B9-6D409EDDC81D}" dt="2026-02-01T21:18:48.553" v="48" actId="20577"/>
          <ac:spMkLst>
            <pc:docMk/>
            <pc:sldMk cId="1173847269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71" y="2914650"/>
            <a:ext cx="6723529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0988" y="4528986"/>
            <a:ext cx="537881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</a:t>
            </a:r>
            <a:fld id="{89C41DDB-7C3B-0249-847C-AD2960C917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03DFB-57EE-1441-A120-C0F52985D79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895" y="1597819"/>
            <a:ext cx="8796649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ACCT2700</a:t>
            </a:r>
            <a:br>
              <a:rPr lang="en-US" dirty="0"/>
            </a:br>
            <a:r>
              <a:rPr lang="en-US" dirty="0"/>
              <a:t>Foundations of Accounting &amp; Valuation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629" y="2914650"/>
            <a:ext cx="8569450" cy="1314450"/>
          </a:xfrm>
        </p:spPr>
        <p:txBody>
          <a:bodyPr/>
          <a:lstStyle/>
          <a:p>
            <a:r>
              <a:rPr lang="en-US" dirty="0"/>
              <a:t>Using Excel Goal Seek</a:t>
            </a:r>
          </a:p>
          <a:p>
            <a:r>
              <a:rPr lang="en-US" dirty="0"/>
              <a:t>Available only on Desktop Excel</a:t>
            </a:r>
          </a:p>
        </p:txBody>
      </p:sp>
    </p:spTree>
    <p:extLst>
      <p:ext uri="{BB962C8B-B14F-4D97-AF65-F5344CB8AC3E}">
        <p14:creationId xmlns:p14="http://schemas.microsoft.com/office/powerpoint/2010/main" val="117384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779CC0-7771-4FC7-9038-A9C8E102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3" y="192024"/>
            <a:ext cx="6015207" cy="411022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E8E271-C866-4B4F-AF32-C684FA773402}"/>
              </a:ext>
            </a:extLst>
          </p:cNvPr>
          <p:cNvSpPr/>
          <p:nvPr/>
        </p:nvSpPr>
        <p:spPr>
          <a:xfrm>
            <a:off x="5522976" y="987552"/>
            <a:ext cx="1060704" cy="301752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A84F1-1BC2-4B1E-A167-062C6832F55D}"/>
              </a:ext>
            </a:extLst>
          </p:cNvPr>
          <p:cNvSpPr txBox="1"/>
          <p:nvPr/>
        </p:nvSpPr>
        <p:spPr>
          <a:xfrm>
            <a:off x="7141464" y="566928"/>
            <a:ext cx="146995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F1 holds the</a:t>
            </a:r>
          </a:p>
          <a:p>
            <a:r>
              <a:rPr lang="en-US" dirty="0"/>
              <a:t>Present Value</a:t>
            </a:r>
          </a:p>
          <a:p>
            <a:r>
              <a:rPr lang="en-US" dirty="0"/>
              <a:t>of the bond’s</a:t>
            </a:r>
          </a:p>
          <a:p>
            <a:r>
              <a:rPr lang="en-US" dirty="0"/>
              <a:t>cash flows.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94E4B-D83D-49A8-B8D6-A16AC44EB699}"/>
              </a:ext>
            </a:extLst>
          </p:cNvPr>
          <p:cNvSpPr txBox="1"/>
          <p:nvPr/>
        </p:nvSpPr>
        <p:spPr>
          <a:xfrm>
            <a:off x="7141464" y="2200656"/>
            <a:ext cx="1682064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 cash flows</a:t>
            </a:r>
          </a:p>
          <a:p>
            <a:r>
              <a:rPr lang="en-US" dirty="0"/>
              <a:t>Are determined</a:t>
            </a:r>
          </a:p>
          <a:p>
            <a:r>
              <a:rPr lang="en-US" dirty="0"/>
              <a:t>By the: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Coupon Rate</a:t>
            </a:r>
          </a:p>
        </p:txBody>
      </p:sp>
    </p:spTree>
    <p:extLst>
      <p:ext uri="{BB962C8B-B14F-4D97-AF65-F5344CB8AC3E}">
        <p14:creationId xmlns:p14="http://schemas.microsoft.com/office/powerpoint/2010/main" val="213703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779CC0-7771-4FC7-9038-A9C8E102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3" y="192024"/>
            <a:ext cx="6015207" cy="411022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E8E271-C866-4B4F-AF32-C684FA773402}"/>
              </a:ext>
            </a:extLst>
          </p:cNvPr>
          <p:cNvSpPr/>
          <p:nvPr/>
        </p:nvSpPr>
        <p:spPr>
          <a:xfrm>
            <a:off x="2395728" y="941832"/>
            <a:ext cx="1060704" cy="301752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94E4B-D83D-49A8-B8D6-A16AC44EB699}"/>
              </a:ext>
            </a:extLst>
          </p:cNvPr>
          <p:cNvSpPr txBox="1"/>
          <p:nvPr/>
        </p:nvSpPr>
        <p:spPr>
          <a:xfrm>
            <a:off x="6694099" y="344424"/>
            <a:ext cx="1904880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 cash flows</a:t>
            </a:r>
          </a:p>
          <a:p>
            <a:r>
              <a:rPr lang="en-US" dirty="0"/>
              <a:t>Are determined</a:t>
            </a:r>
          </a:p>
          <a:p>
            <a:r>
              <a:rPr lang="en-US" dirty="0"/>
              <a:t>By the: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Value (B1)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Coupon Rate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249254-4441-4DF3-BFE5-7A40551D4743}"/>
              </a:ext>
            </a:extLst>
          </p:cNvPr>
          <p:cNvSpPr/>
          <p:nvPr/>
        </p:nvSpPr>
        <p:spPr>
          <a:xfrm>
            <a:off x="2395728" y="1331976"/>
            <a:ext cx="1060704" cy="301752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9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A1446E-5F23-4291-B60C-B7EB9FBA2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1027"/>
            <a:ext cx="7699248" cy="421512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B08AF2-7236-4010-8B25-DC92B1D09423}"/>
              </a:ext>
            </a:extLst>
          </p:cNvPr>
          <p:cNvSpPr/>
          <p:nvPr/>
        </p:nvSpPr>
        <p:spPr>
          <a:xfrm>
            <a:off x="3145536" y="481584"/>
            <a:ext cx="463296" cy="301752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960A84-9E21-4674-9A10-413C2162EF69}"/>
              </a:ext>
            </a:extLst>
          </p:cNvPr>
          <p:cNvSpPr/>
          <p:nvPr/>
        </p:nvSpPr>
        <p:spPr>
          <a:xfrm>
            <a:off x="5861304" y="632460"/>
            <a:ext cx="548640" cy="565404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C652F6-778F-4F7C-9E56-A91B7A298333}"/>
              </a:ext>
            </a:extLst>
          </p:cNvPr>
          <p:cNvCxnSpPr/>
          <p:nvPr/>
        </p:nvCxnSpPr>
        <p:spPr>
          <a:xfrm flipH="1">
            <a:off x="7040880" y="1380744"/>
            <a:ext cx="9144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0FD1EE-5C4C-48FC-BDD3-DCF592551667}"/>
              </a:ext>
            </a:extLst>
          </p:cNvPr>
          <p:cNvSpPr txBox="1"/>
          <p:nvPr/>
        </p:nvSpPr>
        <p:spPr>
          <a:xfrm>
            <a:off x="6776395" y="2017776"/>
            <a:ext cx="1972591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Select: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If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Seek</a:t>
            </a:r>
          </a:p>
        </p:txBody>
      </p:sp>
    </p:spTree>
    <p:extLst>
      <p:ext uri="{BB962C8B-B14F-4D97-AF65-F5344CB8AC3E}">
        <p14:creationId xmlns:p14="http://schemas.microsoft.com/office/powerpoint/2010/main" val="1100214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4DB163-F848-437B-AC8F-73DB8511A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374" y="254063"/>
            <a:ext cx="6244874" cy="435880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969EDC-27E8-4A12-BC24-22107977C7BE}"/>
              </a:ext>
            </a:extLst>
          </p:cNvPr>
          <p:cNvSpPr/>
          <p:nvPr/>
        </p:nvSpPr>
        <p:spPr>
          <a:xfrm>
            <a:off x="5404104" y="1179576"/>
            <a:ext cx="1655064" cy="1380744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27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7369A1-D973-47D4-A2C6-19B0BC9B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67" y="689794"/>
            <a:ext cx="5510967" cy="34533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5365E2-418F-4379-92E0-55C04A4A2F22}"/>
              </a:ext>
            </a:extLst>
          </p:cNvPr>
          <p:cNvSpPr/>
          <p:nvPr/>
        </p:nvSpPr>
        <p:spPr>
          <a:xfrm>
            <a:off x="530930" y="1390514"/>
            <a:ext cx="5632704" cy="850392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900A9-061F-471C-A065-01CBA326BD1C}"/>
              </a:ext>
            </a:extLst>
          </p:cNvPr>
          <p:cNvSpPr txBox="1"/>
          <p:nvPr/>
        </p:nvSpPr>
        <p:spPr>
          <a:xfrm>
            <a:off x="6604474" y="1152059"/>
            <a:ext cx="1911421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Set cell: </a:t>
            </a:r>
            <a:r>
              <a:rPr lang="en-US" b="1" dirty="0"/>
              <a:t>F1</a:t>
            </a:r>
            <a:endParaRPr lang="en-US" dirty="0"/>
          </a:p>
          <a:p>
            <a:r>
              <a:rPr lang="en-US" dirty="0"/>
              <a:t>F1 contains the</a:t>
            </a:r>
          </a:p>
          <a:p>
            <a:r>
              <a:rPr lang="en-US" dirty="0"/>
              <a:t>formula for the PV</a:t>
            </a:r>
          </a:p>
          <a:p>
            <a:r>
              <a:rPr lang="en-US" dirty="0"/>
              <a:t>of the bond’s cash</a:t>
            </a:r>
          </a:p>
          <a:p>
            <a:r>
              <a:rPr lang="en-US" dirty="0"/>
              <a:t>flows. Excel’s goal</a:t>
            </a:r>
          </a:p>
          <a:p>
            <a:r>
              <a:rPr lang="en-US" dirty="0"/>
              <a:t>is to make this cell</a:t>
            </a:r>
          </a:p>
          <a:p>
            <a:r>
              <a:rPr lang="en-US" dirty="0"/>
              <a:t>a certain value.</a:t>
            </a:r>
          </a:p>
        </p:txBody>
      </p:sp>
    </p:spTree>
    <p:extLst>
      <p:ext uri="{BB962C8B-B14F-4D97-AF65-F5344CB8AC3E}">
        <p14:creationId xmlns:p14="http://schemas.microsoft.com/office/powerpoint/2010/main" val="324875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C17B0D-8756-4AEE-AF9F-1E521A0E9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01" y="701458"/>
            <a:ext cx="5533619" cy="359497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BFB7B8-DA75-4341-B8CC-D0B0A562CDFB}"/>
              </a:ext>
            </a:extLst>
          </p:cNvPr>
          <p:cNvSpPr/>
          <p:nvPr/>
        </p:nvSpPr>
        <p:spPr>
          <a:xfrm>
            <a:off x="602116" y="2029341"/>
            <a:ext cx="5632704" cy="850392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E0401-8A0F-4995-AA91-0F404B9335EE}"/>
              </a:ext>
            </a:extLst>
          </p:cNvPr>
          <p:cNvSpPr txBox="1"/>
          <p:nvPr/>
        </p:nvSpPr>
        <p:spPr>
          <a:xfrm>
            <a:off x="6416584" y="1477736"/>
            <a:ext cx="2512483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want the value</a:t>
            </a:r>
          </a:p>
          <a:p>
            <a:r>
              <a:rPr lang="en-US" dirty="0"/>
              <a:t>In F1 to be 50000.</a:t>
            </a:r>
          </a:p>
          <a:p>
            <a:r>
              <a:rPr lang="en-US" dirty="0"/>
              <a:t>I.e., we want the </a:t>
            </a:r>
          </a:p>
          <a:p>
            <a:r>
              <a:rPr lang="en-US" dirty="0"/>
              <a:t>Present value of the</a:t>
            </a:r>
          </a:p>
          <a:p>
            <a:r>
              <a:rPr lang="en-US" dirty="0"/>
              <a:t>Bond’s cash flows (which</a:t>
            </a:r>
          </a:p>
          <a:p>
            <a:r>
              <a:rPr lang="en-US" dirty="0"/>
              <a:t>is the value of the bond)</a:t>
            </a:r>
          </a:p>
          <a:p>
            <a:r>
              <a:rPr lang="en-US" dirty="0"/>
              <a:t>to be $50,000.</a:t>
            </a:r>
          </a:p>
        </p:txBody>
      </p:sp>
    </p:spTree>
    <p:extLst>
      <p:ext uri="{BB962C8B-B14F-4D97-AF65-F5344CB8AC3E}">
        <p14:creationId xmlns:p14="http://schemas.microsoft.com/office/powerpoint/2010/main" val="34079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578B65-FC79-47FB-B886-B6FBEE1C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89" y="814192"/>
            <a:ext cx="4565359" cy="309363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7FECB3-CCEF-4F8C-A007-82508D52DBFB}"/>
              </a:ext>
            </a:extLst>
          </p:cNvPr>
          <p:cNvSpPr/>
          <p:nvPr/>
        </p:nvSpPr>
        <p:spPr>
          <a:xfrm>
            <a:off x="350789" y="2254810"/>
            <a:ext cx="5632704" cy="850392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EA384-C729-4E7F-9CE4-110160B0F0EE}"/>
              </a:ext>
            </a:extLst>
          </p:cNvPr>
          <p:cNvSpPr txBox="1"/>
          <p:nvPr/>
        </p:nvSpPr>
        <p:spPr>
          <a:xfrm>
            <a:off x="6165256" y="2356705"/>
            <a:ext cx="2828431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Excel is to get F1 to equal</a:t>
            </a:r>
          </a:p>
          <a:p>
            <a:r>
              <a:rPr lang="en-US" dirty="0"/>
              <a:t>50,000 by changing cell </a:t>
            </a:r>
            <a:r>
              <a:rPr lang="en-US" b="1" dirty="0"/>
              <a:t>B1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F01CB-8EF5-4F0A-BA20-A765AC36021A}"/>
              </a:ext>
            </a:extLst>
          </p:cNvPr>
          <p:cNvSpPr txBox="1"/>
          <p:nvPr/>
        </p:nvSpPr>
        <p:spPr>
          <a:xfrm>
            <a:off x="6479214" y="3481901"/>
            <a:ext cx="2067233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Recall B1 is the Face</a:t>
            </a:r>
          </a:p>
          <a:p>
            <a:r>
              <a:rPr lang="en-US" dirty="0"/>
              <a:t>Value of the bonds.</a:t>
            </a:r>
          </a:p>
        </p:txBody>
      </p:sp>
    </p:spTree>
    <p:extLst>
      <p:ext uri="{BB962C8B-B14F-4D97-AF65-F5344CB8AC3E}">
        <p14:creationId xmlns:p14="http://schemas.microsoft.com/office/powerpoint/2010/main" val="32937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62201D-DC52-4DB6-A40B-C1C858EA8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48" y="355563"/>
            <a:ext cx="6317471" cy="4048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71F67C-DEAF-469E-9348-0949BD7DD759}"/>
              </a:ext>
            </a:extLst>
          </p:cNvPr>
          <p:cNvSpPr txBox="1"/>
          <p:nvPr/>
        </p:nvSpPr>
        <p:spPr>
          <a:xfrm>
            <a:off x="7196984" y="2491081"/>
            <a:ext cx="78418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Hit OK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4CD022-9A70-4422-B06B-8F5C8769D3D1}"/>
              </a:ext>
            </a:extLst>
          </p:cNvPr>
          <p:cNvCxnSpPr>
            <a:cxnSpLocks/>
          </p:cNvCxnSpPr>
          <p:nvPr/>
        </p:nvCxnSpPr>
        <p:spPr>
          <a:xfrm flipH="1" flipV="1">
            <a:off x="5331859" y="2365477"/>
            <a:ext cx="1702287" cy="3102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30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7FD65C-BF7B-47C4-BFE2-D8D223C0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33" y="563671"/>
            <a:ext cx="5233515" cy="320666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490458-4E8A-4DB3-A8C3-CAB831602089}"/>
              </a:ext>
            </a:extLst>
          </p:cNvPr>
          <p:cNvSpPr/>
          <p:nvPr/>
        </p:nvSpPr>
        <p:spPr>
          <a:xfrm>
            <a:off x="227233" y="1089764"/>
            <a:ext cx="2868400" cy="201543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AD426-58C7-4AB5-A967-8306BA8FC877}"/>
              </a:ext>
            </a:extLst>
          </p:cNvPr>
          <p:cNvSpPr txBox="1"/>
          <p:nvPr/>
        </p:nvSpPr>
        <p:spPr>
          <a:xfrm>
            <a:off x="5927262" y="1191785"/>
            <a:ext cx="2828431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It found a solution (that doesn’t always happen) and it achieved the desired value of $50,000.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1B472-9ED6-41EA-B560-E54797186BB6}"/>
              </a:ext>
            </a:extLst>
          </p:cNvPr>
          <p:cNvSpPr txBox="1"/>
          <p:nvPr/>
        </p:nvSpPr>
        <p:spPr>
          <a:xfrm>
            <a:off x="5927262" y="3580845"/>
            <a:ext cx="78418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Hit OK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79B69F-2339-4F1B-B880-A7C9671F8937}"/>
              </a:ext>
            </a:extLst>
          </p:cNvPr>
          <p:cNvCxnSpPr>
            <a:cxnSpLocks/>
          </p:cNvCxnSpPr>
          <p:nvPr/>
        </p:nvCxnSpPr>
        <p:spPr>
          <a:xfrm flipH="1" flipV="1">
            <a:off x="3277949" y="3270575"/>
            <a:ext cx="2496550" cy="4997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132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638FDF-85BE-499D-AD12-473628D3E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5" y="275573"/>
            <a:ext cx="6475729" cy="406626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C905AE-1805-47C2-A441-9C6D30A5A0DC}"/>
              </a:ext>
            </a:extLst>
          </p:cNvPr>
          <p:cNvSpPr/>
          <p:nvPr/>
        </p:nvSpPr>
        <p:spPr>
          <a:xfrm>
            <a:off x="280410" y="927178"/>
            <a:ext cx="2487842" cy="338077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0AC8CE-2ABC-415A-8C26-8CE41A485735}"/>
              </a:ext>
            </a:extLst>
          </p:cNvPr>
          <p:cNvSpPr/>
          <p:nvPr/>
        </p:nvSpPr>
        <p:spPr>
          <a:xfrm>
            <a:off x="4365983" y="876112"/>
            <a:ext cx="1408517" cy="476824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E4D60-E560-4B57-AA74-59B6859F2B70}"/>
              </a:ext>
            </a:extLst>
          </p:cNvPr>
          <p:cNvSpPr txBox="1"/>
          <p:nvPr/>
        </p:nvSpPr>
        <p:spPr>
          <a:xfrm>
            <a:off x="6152731" y="1347569"/>
            <a:ext cx="2828431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Bonds with a face value of $29,657 that have a coupon of 4.25% paid semi-annually over a 30-year life have a present value of $50,000 when the interest rate is 1.43% compounded semi-annually.</a:t>
            </a:r>
          </a:p>
        </p:txBody>
      </p:sp>
    </p:spTree>
    <p:extLst>
      <p:ext uri="{BB962C8B-B14F-4D97-AF65-F5344CB8AC3E}">
        <p14:creationId xmlns:p14="http://schemas.microsoft.com/office/powerpoint/2010/main" val="43415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2489A8-AA51-4079-A67F-555C683B1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19" y="360004"/>
            <a:ext cx="6378493" cy="394750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8798D7-D92D-4D09-B08E-0C4C106BC290}"/>
              </a:ext>
            </a:extLst>
          </p:cNvPr>
          <p:cNvSpPr/>
          <p:nvPr/>
        </p:nvSpPr>
        <p:spPr>
          <a:xfrm>
            <a:off x="581034" y="1528091"/>
            <a:ext cx="4103700" cy="450685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6A22-54F0-4293-AC36-EA21C4D4A8CA}"/>
              </a:ext>
            </a:extLst>
          </p:cNvPr>
          <p:cNvSpPr txBox="1"/>
          <p:nvPr/>
        </p:nvSpPr>
        <p:spPr>
          <a:xfrm>
            <a:off x="6905099" y="1553144"/>
            <a:ext cx="2154757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Close-up of the bond</a:t>
            </a:r>
          </a:p>
          <a:p>
            <a:r>
              <a:rPr lang="en-US" dirty="0"/>
              <a:t>Terms that generate </a:t>
            </a:r>
          </a:p>
          <a:p>
            <a:r>
              <a:rPr lang="en-US" dirty="0"/>
              <a:t>A present value of </a:t>
            </a:r>
          </a:p>
          <a:p>
            <a:r>
              <a:rPr lang="en-US" dirty="0"/>
              <a:t>$50.000.</a:t>
            </a:r>
          </a:p>
        </p:txBody>
      </p:sp>
    </p:spTree>
    <p:extLst>
      <p:ext uri="{BB962C8B-B14F-4D97-AF65-F5344CB8AC3E}">
        <p14:creationId xmlns:p14="http://schemas.microsoft.com/office/powerpoint/2010/main" val="1569172892"/>
      </p:ext>
    </p:extLst>
  </p:cSld>
  <p:clrMapOvr>
    <a:masterClrMapping/>
  </p:clrMapOvr>
</p:sld>
</file>

<file path=ppt/theme/theme1.xml><?xml version="1.0" encoding="utf-8"?>
<a:theme xmlns:a="http://schemas.openxmlformats.org/drawingml/2006/main" name="ACCT270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29B1C85-9DAF-4B68-BE90-515A793D29A8}" vid="{D0254D67-9CFA-4424-9146-F95DD8B39E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ACCT270</Template>
  <TotalTime>60</TotalTime>
  <Words>227</Words>
  <Application>Microsoft Office PowerPoint</Application>
  <PresentationFormat>On-screen Show (16:9)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ACCT270-white-wide</vt:lpstr>
      <vt:lpstr>ACCT2700 Foundations of Accounting &amp; Valuation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Yale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ACCT270 Foundations of Accounting &amp; Valuation </dc:title>
  <dc:subject/>
  <dc:creator>Antle, Rick</dc:creator>
  <cp:keywords/>
  <dc:description/>
  <cp:lastModifiedBy>Antle, Rick</cp:lastModifiedBy>
  <cp:revision>5</cp:revision>
  <dcterms:created xsi:type="dcterms:W3CDTF">2020-09-21T23:56:37Z</dcterms:created>
  <dcterms:modified xsi:type="dcterms:W3CDTF">2026-02-01T21:19:26Z</dcterms:modified>
  <cp:category/>
</cp:coreProperties>
</file>