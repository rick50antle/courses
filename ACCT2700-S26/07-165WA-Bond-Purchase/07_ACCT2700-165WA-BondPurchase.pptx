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0" r:id="rId5"/>
    <p:sldId id="261" r:id="rId6"/>
    <p:sldId id="262"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9D39E2-32B4-EF4A-83A2-FD3B3D79228E}" v="3" dt="2026-02-01T18:42:22.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6575" autoAdjust="0"/>
  </p:normalViewPr>
  <p:slideViewPr>
    <p:cSldViewPr snapToGrid="0" snapToObjects="1">
      <p:cViewPr varScale="1">
        <p:scale>
          <a:sx n="146" d="100"/>
          <a:sy n="146" d="100"/>
        </p:scale>
        <p:origin x="176" y="16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66" d="100"/>
          <a:sy n="66" d="100"/>
        </p:scale>
        <p:origin x="-2760"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5616D0A9-E2ED-5B19-8AB5-4DDADDD39AE1}"/>
    <pc:docChg chg="undo custSel modSld">
      <pc:chgData name="Antle, Rick" userId="c2afbbd2-30e4-4c8e-8af5-81913178ace3" providerId="ADAL" clId="{5616D0A9-E2ED-5B19-8AB5-4DDADDD39AE1}" dt="2026-02-01T18:48:05.984" v="127" actId="20577"/>
      <pc:docMkLst>
        <pc:docMk/>
      </pc:docMkLst>
      <pc:sldChg chg="modSp mod">
        <pc:chgData name="Antle, Rick" userId="c2afbbd2-30e4-4c8e-8af5-81913178ace3" providerId="ADAL" clId="{5616D0A9-E2ED-5B19-8AB5-4DDADDD39AE1}" dt="2026-02-01T18:40:24.786" v="15" actId="20577"/>
        <pc:sldMkLst>
          <pc:docMk/>
          <pc:sldMk cId="1423805063" sldId="256"/>
        </pc:sldMkLst>
        <pc:spChg chg="mod">
          <ac:chgData name="Antle, Rick" userId="c2afbbd2-30e4-4c8e-8af5-81913178ace3" providerId="ADAL" clId="{5616D0A9-E2ED-5B19-8AB5-4DDADDD39AE1}" dt="2026-02-01T18:40:05.579" v="0" actId="20577"/>
          <ac:spMkLst>
            <pc:docMk/>
            <pc:sldMk cId="1423805063" sldId="256"/>
            <ac:spMk id="2" creationId="{00000000-0000-0000-0000-000000000000}"/>
          </ac:spMkLst>
        </pc:spChg>
        <pc:spChg chg="mod">
          <ac:chgData name="Antle, Rick" userId="c2afbbd2-30e4-4c8e-8af5-81913178ace3" providerId="ADAL" clId="{5616D0A9-E2ED-5B19-8AB5-4DDADDD39AE1}" dt="2026-02-01T18:40:24.786" v="15" actId="20577"/>
          <ac:spMkLst>
            <pc:docMk/>
            <pc:sldMk cId="1423805063" sldId="256"/>
            <ac:spMk id="3" creationId="{00000000-0000-0000-0000-000000000000}"/>
          </ac:spMkLst>
        </pc:spChg>
      </pc:sldChg>
      <pc:sldChg chg="modSp mod">
        <pc:chgData name="Antle, Rick" userId="c2afbbd2-30e4-4c8e-8af5-81913178ace3" providerId="ADAL" clId="{5616D0A9-E2ED-5B19-8AB5-4DDADDD39AE1}" dt="2026-02-01T18:46:38.533" v="121" actId="20577"/>
        <pc:sldMkLst>
          <pc:docMk/>
          <pc:sldMk cId="3947757035" sldId="258"/>
        </pc:sldMkLst>
        <pc:spChg chg="mod">
          <ac:chgData name="Antle, Rick" userId="c2afbbd2-30e4-4c8e-8af5-81913178ace3" providerId="ADAL" clId="{5616D0A9-E2ED-5B19-8AB5-4DDADDD39AE1}" dt="2026-02-01T18:46:38.533" v="121" actId="20577"/>
          <ac:spMkLst>
            <pc:docMk/>
            <pc:sldMk cId="3947757035" sldId="258"/>
            <ac:spMk id="3" creationId="{00000000-0000-0000-0000-000000000000}"/>
          </ac:spMkLst>
        </pc:spChg>
      </pc:sldChg>
      <pc:sldChg chg="modSp mod">
        <pc:chgData name="Antle, Rick" userId="c2afbbd2-30e4-4c8e-8af5-81913178ace3" providerId="ADAL" clId="{5616D0A9-E2ED-5B19-8AB5-4DDADDD39AE1}" dt="2026-02-01T18:48:05.984" v="127" actId="20577"/>
        <pc:sldMkLst>
          <pc:docMk/>
          <pc:sldMk cId="3956332624" sldId="260"/>
        </pc:sldMkLst>
        <pc:spChg chg="mod">
          <ac:chgData name="Antle, Rick" userId="c2afbbd2-30e4-4c8e-8af5-81913178ace3" providerId="ADAL" clId="{5616D0A9-E2ED-5B19-8AB5-4DDADDD39AE1}" dt="2026-02-01T18:48:05.984" v="127" actId="20577"/>
          <ac:spMkLst>
            <pc:docMk/>
            <pc:sldMk cId="3956332624" sldId="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D90D1C-424A-7846-AA36-97BFE2B62ED2}" type="datetimeFigureOut">
              <a:rPr lang="en-US" smtClean="0"/>
              <a:pPr/>
              <a:t>2/1/26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33F7C9-BCA1-C24A-A4A2-125C46CFD211}" type="slidenum">
              <a:rPr lang="en-US" smtClean="0"/>
              <a:pPr/>
              <a:t>‹#›</a:t>
            </a:fld>
            <a:endParaRPr lang="en-US"/>
          </a:p>
        </p:txBody>
      </p:sp>
    </p:spTree>
    <p:extLst>
      <p:ext uri="{BB962C8B-B14F-4D97-AF65-F5344CB8AC3E}">
        <p14:creationId xmlns:p14="http://schemas.microsoft.com/office/powerpoint/2010/main" val="415399709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F33F7C9-BCA1-C24A-A4A2-125C46CFD211}" type="slidenum">
              <a:rPr lang="en-US" smtClean="0"/>
              <a:pPr/>
              <a:t>1</a:t>
            </a:fld>
            <a:endParaRPr lang="en-US"/>
          </a:p>
        </p:txBody>
      </p:sp>
    </p:spTree>
    <p:extLst>
      <p:ext uri="{BB962C8B-B14F-4D97-AF65-F5344CB8AC3E}">
        <p14:creationId xmlns:p14="http://schemas.microsoft.com/office/powerpoint/2010/main" val="164036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33F7C9-BCA1-C24A-A4A2-125C46CFD211}" type="slidenum">
              <a:rPr lang="en-US" smtClean="0"/>
              <a:pPr/>
              <a:t>2</a:t>
            </a:fld>
            <a:endParaRPr lang="en-US"/>
          </a:p>
        </p:txBody>
      </p:sp>
    </p:spTree>
    <p:extLst>
      <p:ext uri="{BB962C8B-B14F-4D97-AF65-F5344CB8AC3E}">
        <p14:creationId xmlns:p14="http://schemas.microsoft.com/office/powerpoint/2010/main" val="174439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33F7C9-BCA1-C24A-A4A2-125C46CFD211}" type="slidenum">
              <a:rPr lang="en-US" smtClean="0"/>
              <a:pPr/>
              <a:t>3</a:t>
            </a:fld>
            <a:endParaRPr lang="en-US"/>
          </a:p>
        </p:txBody>
      </p:sp>
    </p:spTree>
    <p:extLst>
      <p:ext uri="{BB962C8B-B14F-4D97-AF65-F5344CB8AC3E}">
        <p14:creationId xmlns:p14="http://schemas.microsoft.com/office/powerpoint/2010/main" val="520250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Excel workbook </a:t>
            </a:r>
          </a:p>
          <a:p>
            <a:endParaRPr lang="en-US" dirty="0"/>
          </a:p>
          <a:p>
            <a:r>
              <a:rPr lang="en-US" dirty="0"/>
              <a:t>Shows face value of $32,244 of  30-year bonds with 4.25% semiannual coupon priced to yield 1.85% would sell for $50,000.</a:t>
            </a:r>
          </a:p>
        </p:txBody>
      </p:sp>
      <p:sp>
        <p:nvSpPr>
          <p:cNvPr id="4" name="Slide Number Placeholder 3"/>
          <p:cNvSpPr>
            <a:spLocks noGrp="1"/>
          </p:cNvSpPr>
          <p:nvPr>
            <p:ph type="sldNum" sz="quarter" idx="10"/>
          </p:nvPr>
        </p:nvSpPr>
        <p:spPr/>
        <p:txBody>
          <a:bodyPr/>
          <a:lstStyle/>
          <a:p>
            <a:fld id="{FF33F7C9-BCA1-C24A-A4A2-125C46CFD211}" type="slidenum">
              <a:rPr lang="en-US" smtClean="0"/>
              <a:pPr/>
              <a:t>4</a:t>
            </a:fld>
            <a:endParaRPr lang="en-US"/>
          </a:p>
        </p:txBody>
      </p:sp>
    </p:spTree>
    <p:extLst>
      <p:ext uri="{BB962C8B-B14F-4D97-AF65-F5344CB8AC3E}">
        <p14:creationId xmlns:p14="http://schemas.microsoft.com/office/powerpoint/2010/main" val="3140641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Excel workbook </a:t>
            </a:r>
          </a:p>
          <a:p>
            <a:endParaRPr lang="en-US" dirty="0"/>
          </a:p>
          <a:p>
            <a:r>
              <a:rPr lang="en-US" dirty="0"/>
              <a:t>Shows face value of $45,171.24 of  30 year bonds with 4.25% semiannual coupon priced to yield 3.66% would sell for $50,000.</a:t>
            </a:r>
          </a:p>
        </p:txBody>
      </p:sp>
      <p:sp>
        <p:nvSpPr>
          <p:cNvPr id="4" name="Slide Number Placeholder 3"/>
          <p:cNvSpPr>
            <a:spLocks noGrp="1"/>
          </p:cNvSpPr>
          <p:nvPr>
            <p:ph type="sldNum" sz="quarter" idx="10"/>
          </p:nvPr>
        </p:nvSpPr>
        <p:spPr/>
        <p:txBody>
          <a:bodyPr/>
          <a:lstStyle/>
          <a:p>
            <a:fld id="{FF33F7C9-BCA1-C24A-A4A2-125C46CFD211}" type="slidenum">
              <a:rPr lang="en-US" smtClean="0"/>
              <a:pPr/>
              <a:t>5</a:t>
            </a:fld>
            <a:endParaRPr lang="en-US"/>
          </a:p>
        </p:txBody>
      </p:sp>
    </p:spTree>
    <p:extLst>
      <p:ext uri="{BB962C8B-B14F-4D97-AF65-F5344CB8AC3E}">
        <p14:creationId xmlns:p14="http://schemas.microsoft.com/office/powerpoint/2010/main" val="3524672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4147980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377400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289799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1074366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2060903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1427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2189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32080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2810856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402719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76603DFB-57EE-1441-A120-C0F52985D79B}" type="datetimeFigureOut">
              <a:rPr lang="en-US" smtClean="0"/>
              <a:pPr/>
              <a:t>2/1/26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9C41DDB-7C3B-0249-847C-AD2960C917FC}" type="slidenum">
              <a:rPr lang="en-US" smtClean="0"/>
              <a:pPr/>
              <a:t>‹#›</a:t>
            </a:fld>
            <a:endParaRPr lang="en-US"/>
          </a:p>
        </p:txBody>
      </p:sp>
    </p:spTree>
    <p:extLst>
      <p:ext uri="{BB962C8B-B14F-4D97-AF65-F5344CB8AC3E}">
        <p14:creationId xmlns:p14="http://schemas.microsoft.com/office/powerpoint/2010/main" val="2825308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7920917" y="4767263"/>
            <a:ext cx="556211"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9C41DDB-7C3B-0249-847C-AD2960C917FC}" type="slidenum">
              <a:rPr lang="en-US" smtClean="0"/>
              <a:pPr/>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580118" y="4594623"/>
            <a:ext cx="383331" cy="450221"/>
          </a:xfrm>
          <a:prstGeom prst="rect">
            <a:avLst/>
          </a:prstGeom>
        </p:spPr>
      </p:pic>
    </p:spTree>
    <p:extLst>
      <p:ext uri="{BB962C8B-B14F-4D97-AF65-F5344CB8AC3E}">
        <p14:creationId xmlns:p14="http://schemas.microsoft.com/office/powerpoint/2010/main" val="1716889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reasury.gov/resource-center/data-chart-center/interest-rates/Pages/TextView.aspx?data=yiel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7369" y="1597819"/>
            <a:ext cx="8642684" cy="1102519"/>
          </a:xfrm>
        </p:spPr>
        <p:txBody>
          <a:bodyPr>
            <a:normAutofit fontScale="90000"/>
          </a:bodyPr>
          <a:lstStyle/>
          <a:p>
            <a:r>
              <a:rPr lang="en-US" dirty="0"/>
              <a:t>ACCT2700</a:t>
            </a:r>
            <a:br>
              <a:rPr lang="en-US" dirty="0"/>
            </a:br>
            <a:r>
              <a:rPr lang="en-US" dirty="0"/>
              <a:t>Foundations of Accounting &amp; Valuation</a:t>
            </a:r>
          </a:p>
        </p:txBody>
      </p:sp>
      <p:sp>
        <p:nvSpPr>
          <p:cNvPr id="3" name="Subtitle 2"/>
          <p:cNvSpPr>
            <a:spLocks noGrp="1"/>
          </p:cNvSpPr>
          <p:nvPr>
            <p:ph type="subTitle" idx="1"/>
          </p:nvPr>
        </p:nvSpPr>
        <p:spPr/>
        <p:txBody>
          <a:bodyPr/>
          <a:lstStyle/>
          <a:p>
            <a:r>
              <a:rPr lang="en-US" dirty="0"/>
              <a:t>Session 7: Whitney Associates LLC Bond Purchase</a:t>
            </a:r>
          </a:p>
        </p:txBody>
      </p:sp>
    </p:spTree>
    <p:extLst>
      <p:ext uri="{BB962C8B-B14F-4D97-AF65-F5344CB8AC3E}">
        <p14:creationId xmlns:p14="http://schemas.microsoft.com/office/powerpoint/2010/main" val="1423805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Last Class</a:t>
            </a:r>
          </a:p>
        </p:txBody>
      </p:sp>
      <p:sp>
        <p:nvSpPr>
          <p:cNvPr id="3" name="Content Placeholder 2"/>
          <p:cNvSpPr>
            <a:spLocks noGrp="1"/>
          </p:cNvSpPr>
          <p:nvPr>
            <p:ph idx="1"/>
          </p:nvPr>
        </p:nvSpPr>
        <p:spPr/>
        <p:txBody>
          <a:bodyPr>
            <a:normAutofit lnSpcReduction="10000"/>
          </a:bodyPr>
          <a:lstStyle/>
          <a:p>
            <a:r>
              <a:rPr lang="en-US" dirty="0"/>
              <a:t>Discussed the usefulness of allowing business to be transacted through entities (corporations, etc.)</a:t>
            </a:r>
          </a:p>
          <a:p>
            <a:r>
              <a:rPr lang="en-US" dirty="0"/>
              <a:t>Decided to start our own 165 Whitney Associates LLC to invest in U.S. gov’t bonds</a:t>
            </a:r>
          </a:p>
          <a:p>
            <a:r>
              <a:rPr lang="en-US" dirty="0"/>
              <a:t>The members of the LLC (us) contributed a total of $50,000</a:t>
            </a:r>
          </a:p>
        </p:txBody>
      </p:sp>
    </p:spTree>
    <p:extLst>
      <p:ext uri="{BB962C8B-B14F-4D97-AF65-F5344CB8AC3E}">
        <p14:creationId xmlns:p14="http://schemas.microsoft.com/office/powerpoint/2010/main" val="3014654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Accounting is Useful</a:t>
            </a:r>
          </a:p>
        </p:txBody>
      </p:sp>
      <p:sp>
        <p:nvSpPr>
          <p:cNvPr id="3" name="Content Placeholder 2"/>
          <p:cNvSpPr>
            <a:spLocks noGrp="1"/>
          </p:cNvSpPr>
          <p:nvPr>
            <p:ph idx="1"/>
          </p:nvPr>
        </p:nvSpPr>
        <p:spPr>
          <a:xfrm>
            <a:off x="457200" y="1200151"/>
            <a:ext cx="8229600" cy="3790138"/>
          </a:xfrm>
        </p:spPr>
        <p:txBody>
          <a:bodyPr>
            <a:normAutofit fontScale="70000" lnSpcReduction="20000"/>
          </a:bodyPr>
          <a:lstStyle/>
          <a:p>
            <a:r>
              <a:rPr lang="en-US" dirty="0"/>
              <a:t>Decided it would be a good idea if I, the manager of 165WA, kept some accounting records.</a:t>
            </a:r>
          </a:p>
          <a:p>
            <a:r>
              <a:rPr lang="en-US" dirty="0"/>
              <a:t>We </a:t>
            </a:r>
            <a:r>
              <a:rPr lang="en-US" i="1" dirty="0"/>
              <a:t>decided</a:t>
            </a:r>
            <a:r>
              <a:rPr lang="en-US" dirty="0"/>
              <a:t> to require me to keep financial records that reflect the Fundamental Accounting Identity:</a:t>
            </a:r>
            <a:br>
              <a:rPr lang="en-US" dirty="0"/>
            </a:br>
            <a:br>
              <a:rPr lang="en-US" dirty="0"/>
            </a:br>
            <a:r>
              <a:rPr kumimoji="0" lang="en-US" sz="3100" b="1" i="0" u="none" strike="noStrike" kern="1200" cap="none" spc="0" normalizeH="0" baseline="0" noProof="0" dirty="0">
                <a:ln>
                  <a:noFill/>
                </a:ln>
                <a:solidFill>
                  <a:prstClr val="black"/>
                </a:solidFill>
                <a:effectLst/>
                <a:uLnTx/>
                <a:uFillTx/>
                <a:latin typeface="Calibri"/>
                <a:ea typeface="+mn-ea"/>
                <a:cs typeface="+mn-cs"/>
              </a:rPr>
              <a:t>Assets – Liabilities ≡ Equities</a:t>
            </a:r>
          </a:p>
          <a:p>
            <a:pPr marL="400050" lvl="1" indent="0">
              <a:buNone/>
              <a:defRPr/>
            </a:pP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prstClr val="black"/>
                </a:solidFill>
                <a:effectLst/>
                <a:uLnTx/>
                <a:uFillTx/>
                <a:latin typeface="Calibri"/>
                <a:ea typeface="+mn-ea"/>
                <a:cs typeface="+mn-cs"/>
              </a:rPr>
              <a:t>You usually see this written: Assets = Liabilities + Equities. This obscures the nature of the expression (it is an identity, not an equation) and it is best thought of as defining (numerically) equity.</a:t>
            </a:r>
            <a:br>
              <a:rPr kumimoji="0" lang="en-US" sz="4000" b="0" i="0" u="none" strike="noStrike" kern="1200" cap="none" spc="0" normalizeH="0" baseline="0" noProof="0" dirty="0">
                <a:ln>
                  <a:noFill/>
                </a:ln>
                <a:solidFill>
                  <a:prstClr val="black"/>
                </a:solidFill>
                <a:effectLst/>
                <a:uLnTx/>
                <a:uFillTx/>
                <a:latin typeface="Calibri"/>
                <a:ea typeface="+mn-ea"/>
                <a:cs typeface="+mn-cs"/>
              </a:rPr>
            </a:br>
            <a:endParaRPr lang="en-US" sz="4000" dirty="0"/>
          </a:p>
          <a:p>
            <a:r>
              <a:rPr lang="en-US" dirty="0"/>
              <a:t>Further, I should issue some financial reports to you, the owners.</a:t>
            </a:r>
          </a:p>
          <a:p>
            <a:r>
              <a:rPr lang="en-US" dirty="0"/>
              <a:t>Those reports would include </a:t>
            </a:r>
            <a:r>
              <a:rPr lang="en-US" b="1" i="1" dirty="0"/>
              <a:t>facts</a:t>
            </a:r>
            <a:r>
              <a:rPr lang="en-US" dirty="0"/>
              <a:t>, such as how much cash 165WA has, and </a:t>
            </a:r>
            <a:r>
              <a:rPr lang="en-US" b="1" i="1" dirty="0"/>
              <a:t>explanations</a:t>
            </a:r>
            <a:r>
              <a:rPr lang="en-US" dirty="0"/>
              <a:t>, such as how that cash was raised.</a:t>
            </a:r>
            <a:endParaRPr lang="en-US" sz="2400" dirty="0"/>
          </a:p>
          <a:p>
            <a:pPr marL="0" indent="0" algn="ctr">
              <a:buNone/>
            </a:pPr>
            <a:endParaRPr lang="en-US" dirty="0"/>
          </a:p>
        </p:txBody>
      </p:sp>
    </p:spTree>
    <p:extLst>
      <p:ext uri="{BB962C8B-B14F-4D97-AF65-F5344CB8AC3E}">
        <p14:creationId xmlns:p14="http://schemas.microsoft.com/office/powerpoint/2010/main" val="3947757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a:xfrm>
            <a:off x="673868" y="1063229"/>
            <a:ext cx="8229600" cy="3394472"/>
          </a:xfrm>
        </p:spPr>
        <p:txBody>
          <a:bodyPr>
            <a:normAutofit fontScale="77500" lnSpcReduction="20000"/>
          </a:bodyPr>
          <a:lstStyle/>
          <a:p>
            <a:r>
              <a:rPr lang="en-US" dirty="0"/>
              <a:t>Continue the 165WA example</a:t>
            </a:r>
          </a:p>
          <a:p>
            <a:r>
              <a:rPr lang="en-US" dirty="0"/>
              <a:t>Go through these transactions:</a:t>
            </a:r>
          </a:p>
          <a:p>
            <a:pPr lvl="1"/>
            <a:r>
              <a:rPr lang="en-US" dirty="0"/>
              <a:t>Raise $50k</a:t>
            </a:r>
          </a:p>
          <a:p>
            <a:pPr lvl="1"/>
            <a:r>
              <a:rPr lang="en-US" dirty="0"/>
              <a:t>Spend $50k cash to buy 30 year, U.S. Govt Bonds that are priced to yield 4.87% compounded semi-annually.</a:t>
            </a:r>
          </a:p>
          <a:p>
            <a:pPr marL="457200" lvl="1" indent="0" algn="ctr">
              <a:buNone/>
            </a:pPr>
            <a:r>
              <a:rPr lang="en-US" dirty="0">
                <a:hlinkClick r:id="rId3"/>
              </a:rPr>
              <a:t>U.S. Treasury site</a:t>
            </a:r>
            <a:endParaRPr lang="en-US" dirty="0"/>
          </a:p>
          <a:p>
            <a:pPr lvl="1"/>
            <a:r>
              <a:rPr lang="en-US" dirty="0"/>
              <a:t>Assumption: U.S. 30 bonds pay semi-annual coupon at a coupon rate of 4.00%.</a:t>
            </a:r>
          </a:p>
          <a:p>
            <a:r>
              <a:rPr lang="en-US" dirty="0"/>
              <a:t>Calculate the cash flows from the bonds over their 30-year life.</a:t>
            </a:r>
          </a:p>
        </p:txBody>
      </p:sp>
    </p:spTree>
    <p:extLst>
      <p:ext uri="{BB962C8B-B14F-4D97-AF65-F5344CB8AC3E}">
        <p14:creationId xmlns:p14="http://schemas.microsoft.com/office/powerpoint/2010/main" val="3956332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 (continued)</a:t>
            </a:r>
          </a:p>
        </p:txBody>
      </p:sp>
      <p:sp>
        <p:nvSpPr>
          <p:cNvPr id="3" name="Content Placeholder 2"/>
          <p:cNvSpPr>
            <a:spLocks noGrp="1"/>
          </p:cNvSpPr>
          <p:nvPr>
            <p:ph idx="1"/>
          </p:nvPr>
        </p:nvSpPr>
        <p:spPr>
          <a:xfrm>
            <a:off x="673868" y="1063229"/>
            <a:ext cx="8229600" cy="3394472"/>
          </a:xfrm>
        </p:spPr>
        <p:txBody>
          <a:bodyPr>
            <a:normAutofit fontScale="85000" lnSpcReduction="10000"/>
          </a:bodyPr>
          <a:lstStyle/>
          <a:p>
            <a:r>
              <a:rPr lang="en-US" dirty="0"/>
              <a:t>Put together financial reports at the instant the firm is established, and at the time the bonds were purchased</a:t>
            </a:r>
          </a:p>
          <a:p>
            <a:pPr lvl="1"/>
            <a:r>
              <a:rPr lang="en-US" dirty="0"/>
              <a:t>Balance Sheets (aka, Statements of Financial Position)</a:t>
            </a:r>
          </a:p>
          <a:p>
            <a:r>
              <a:rPr lang="en-US" dirty="0"/>
              <a:t>Look one year ahead and construct the balance sheet, income statement and statement of cash flows for 165WA, assuming no change in interest rates (and ignoring the term structure of interest rates).</a:t>
            </a:r>
          </a:p>
        </p:txBody>
      </p:sp>
    </p:spTree>
    <p:extLst>
      <p:ext uri="{BB962C8B-B14F-4D97-AF65-F5344CB8AC3E}">
        <p14:creationId xmlns:p14="http://schemas.microsoft.com/office/powerpoint/2010/main" val="2448484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82CB-03D7-4A68-940B-80025037836D}"/>
              </a:ext>
            </a:extLst>
          </p:cNvPr>
          <p:cNvSpPr>
            <a:spLocks noGrp="1"/>
          </p:cNvSpPr>
          <p:nvPr>
            <p:ph type="title"/>
          </p:nvPr>
        </p:nvSpPr>
        <p:spPr/>
        <p:txBody>
          <a:bodyPr/>
          <a:lstStyle/>
          <a:p>
            <a:r>
              <a:rPr lang="en-US" dirty="0"/>
              <a:t>Next Time</a:t>
            </a:r>
          </a:p>
        </p:txBody>
      </p:sp>
      <p:sp>
        <p:nvSpPr>
          <p:cNvPr id="3" name="Content Placeholder 2">
            <a:extLst>
              <a:ext uri="{FF2B5EF4-FFF2-40B4-BE49-F238E27FC236}">
                <a16:creationId xmlns:a16="http://schemas.microsoft.com/office/drawing/2014/main" id="{7EAD7B06-950F-4877-9775-F525D675EE25}"/>
              </a:ext>
            </a:extLst>
          </p:cNvPr>
          <p:cNvSpPr>
            <a:spLocks noGrp="1"/>
          </p:cNvSpPr>
          <p:nvPr>
            <p:ph idx="1"/>
          </p:nvPr>
        </p:nvSpPr>
        <p:spPr/>
        <p:txBody>
          <a:bodyPr/>
          <a:lstStyle/>
          <a:p>
            <a:r>
              <a:rPr lang="en-US" dirty="0"/>
              <a:t>Continue with the 165WA example.</a:t>
            </a:r>
          </a:p>
          <a:p>
            <a:r>
              <a:rPr lang="en-US" dirty="0"/>
              <a:t>Track the receipt of a few coupon payments.</a:t>
            </a:r>
          </a:p>
          <a:p>
            <a:r>
              <a:rPr lang="en-US" dirty="0"/>
              <a:t>Track the change in value of the U.S. Gov’t bonds assuming the interest rate does not change.</a:t>
            </a:r>
          </a:p>
          <a:p>
            <a:r>
              <a:rPr lang="en-US" dirty="0"/>
              <a:t>Make up a few more financial statements.</a:t>
            </a:r>
          </a:p>
        </p:txBody>
      </p:sp>
    </p:spTree>
    <p:extLst>
      <p:ext uri="{BB962C8B-B14F-4D97-AF65-F5344CB8AC3E}">
        <p14:creationId xmlns:p14="http://schemas.microsoft.com/office/powerpoint/2010/main" val="3895089642"/>
      </p:ext>
    </p:extLst>
  </p:cSld>
  <p:clrMapOvr>
    <a:masterClrMapping/>
  </p:clrMapOvr>
</p:sld>
</file>

<file path=ppt/theme/theme1.xml><?xml version="1.0" encoding="utf-8"?>
<a:theme xmlns:a="http://schemas.openxmlformats.org/drawingml/2006/main" name="SOM_bknd_wide_whi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SOM_bknd_wide_white.potx</Template>
  <TotalTime>10366</TotalTime>
  <Words>449</Words>
  <Application>Microsoft Macintosh PowerPoint</Application>
  <PresentationFormat>On-screen Show (16:9)</PresentationFormat>
  <Paragraphs>40</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SOM_bknd_wide_white</vt:lpstr>
      <vt:lpstr>ACCT2700 Foundations of Accounting &amp; Valuation</vt:lpstr>
      <vt:lpstr>Recall Last Class</vt:lpstr>
      <vt:lpstr>Accounting is Useful</vt:lpstr>
      <vt:lpstr>Today</vt:lpstr>
      <vt:lpstr>Today (continued)</vt:lpstr>
      <vt:lpstr>Next Time</vt:lpstr>
    </vt:vector>
  </TitlesOfParts>
  <Company>Yale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 Mattison</dc:creator>
  <cp:lastModifiedBy>Antle, Rick</cp:lastModifiedBy>
  <cp:revision>22</cp:revision>
  <dcterms:created xsi:type="dcterms:W3CDTF">2012-06-28T13:26:35Z</dcterms:created>
  <dcterms:modified xsi:type="dcterms:W3CDTF">2026-02-01T18:48:15Z</dcterms:modified>
</cp:coreProperties>
</file>