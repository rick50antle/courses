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481DC2-8F70-4351-AC30-A7B8CB471BEC}" v="10" dt="2026-02-03T17:44:01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51"/>
    <p:restoredTop sz="94252"/>
  </p:normalViewPr>
  <p:slideViewPr>
    <p:cSldViewPr snapToGrid="0" snapToObjects="1">
      <p:cViewPr varScale="1">
        <p:scale>
          <a:sx n="103" d="100"/>
          <a:sy n="103" d="100"/>
        </p:scale>
        <p:origin x="1578" y="4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B22BF353-A6D4-4E45-AB19-2E4F34336750}"/>
    <pc:docChg chg="modSld">
      <pc:chgData name="Antle, Rick" userId="c2afbbd2-30e4-4c8e-8af5-81913178ace3" providerId="ADAL" clId="{B22BF353-A6D4-4E45-AB19-2E4F34336750}" dt="2026-02-03T22:41:09.783" v="3" actId="20577"/>
      <pc:docMkLst>
        <pc:docMk/>
      </pc:docMkLst>
      <pc:sldChg chg="modSp mod">
        <pc:chgData name="Antle, Rick" userId="c2afbbd2-30e4-4c8e-8af5-81913178ace3" providerId="ADAL" clId="{B22BF353-A6D4-4E45-AB19-2E4F34336750}" dt="2026-02-03T22:41:09.783" v="3" actId="20577"/>
        <pc:sldMkLst>
          <pc:docMk/>
          <pc:sldMk cId="1747166357" sldId="260"/>
        </pc:sldMkLst>
        <pc:spChg chg="mod">
          <ac:chgData name="Antle, Rick" userId="c2afbbd2-30e4-4c8e-8af5-81913178ace3" providerId="ADAL" clId="{B22BF353-A6D4-4E45-AB19-2E4F34336750}" dt="2026-02-03T22:41:09.783" v="3" actId="20577"/>
          <ac:spMkLst>
            <pc:docMk/>
            <pc:sldMk cId="1747166357" sldId="260"/>
            <ac:spMk id="3" creationId="{00000000-0000-0000-0000-000000000000}"/>
          </ac:spMkLst>
        </pc:spChg>
      </pc:sldChg>
    </pc:docChg>
  </pc:docChgLst>
  <pc:docChgLst>
    <pc:chgData name="Antle, Rick" userId="c2afbbd2-30e4-4c8e-8af5-81913178ace3" providerId="ADAL" clId="{D2077C41-23D2-40E5-A1B9-6D409EDDC81D}"/>
    <pc:docChg chg="modSld">
      <pc:chgData name="Antle, Rick" userId="c2afbbd2-30e4-4c8e-8af5-81913178ace3" providerId="ADAL" clId="{D2077C41-23D2-40E5-A1B9-6D409EDDC81D}" dt="2026-02-03T17:44:01.814" v="10" actId="20577"/>
      <pc:docMkLst>
        <pc:docMk/>
      </pc:docMkLst>
      <pc:sldChg chg="modSp mod">
        <pc:chgData name="Antle, Rick" userId="c2afbbd2-30e4-4c8e-8af5-81913178ace3" providerId="ADAL" clId="{D2077C41-23D2-40E5-A1B9-6D409EDDC81D}" dt="2026-02-03T17:10:12.427" v="0" actId="20577"/>
        <pc:sldMkLst>
          <pc:docMk/>
          <pc:sldMk cId="167050150" sldId="256"/>
        </pc:sldMkLst>
        <pc:spChg chg="mod">
          <ac:chgData name="Antle, Rick" userId="c2afbbd2-30e4-4c8e-8af5-81913178ace3" providerId="ADAL" clId="{D2077C41-23D2-40E5-A1B9-6D409EDDC81D}" dt="2026-02-03T17:10:12.427" v="0" actId="20577"/>
          <ac:spMkLst>
            <pc:docMk/>
            <pc:sldMk cId="167050150" sldId="256"/>
            <ac:spMk id="2" creationId="{00000000-0000-0000-0000-000000000000}"/>
          </ac:spMkLst>
        </pc:spChg>
      </pc:sldChg>
      <pc:sldChg chg="modSp">
        <pc:chgData name="Antle, Rick" userId="c2afbbd2-30e4-4c8e-8af5-81913178ace3" providerId="ADAL" clId="{D2077C41-23D2-40E5-A1B9-6D409EDDC81D}" dt="2026-02-03T17:44:01.814" v="10" actId="20577"/>
        <pc:sldMkLst>
          <pc:docMk/>
          <pc:sldMk cId="3844590342" sldId="259"/>
        </pc:sldMkLst>
        <pc:spChg chg="mod">
          <ac:chgData name="Antle, Rick" userId="c2afbbd2-30e4-4c8e-8af5-81913178ace3" providerId="ADAL" clId="{D2077C41-23D2-40E5-A1B9-6D409EDDC81D}" dt="2026-02-03T17:44:01.814" v="10" actId="20577"/>
          <ac:spMkLst>
            <pc:docMk/>
            <pc:sldMk cId="3844590342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7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8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2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3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4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3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3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6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82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8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211" y="1597819"/>
            <a:ext cx="8756315" cy="110251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ACCT2700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Foundations of Accounting &amp;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Session 8: Economics &amp; Accounting in  165 Whitney Associates LLC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5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Brief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9084"/>
            <a:ext cx="8229600" cy="3945829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Financial value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Determined by stream of cash flows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Amounts of cash flows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Timing of cash flows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(Later in the course) Riskiness of cash flows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Present value of a cash flow stream at any point in time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amount of money that, if you possessed it at that time, would allow you to replicate the cash flow stream by borrowing at the assumed interest rate.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If you can borrow at that same interest rate, you could also convert the cash flow stream to its PV.</a:t>
            </a:r>
          </a:p>
          <a:p>
            <a:r>
              <a:rPr lang="en-US" b="1" dirty="0">
                <a:solidFill>
                  <a:schemeClr val="tx1"/>
                </a:solidFill>
              </a:rPr>
              <a:t>Cash flows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So far, we have looked at </a:t>
            </a:r>
            <a:r>
              <a:rPr lang="en-US" i="1" dirty="0">
                <a:solidFill>
                  <a:schemeClr val="tx1"/>
                </a:solidFill>
              </a:rPr>
              <a:t>financial instruments</a:t>
            </a:r>
            <a:r>
              <a:rPr lang="en-US" dirty="0">
                <a:solidFill>
                  <a:schemeClr val="tx1"/>
                </a:solidFill>
              </a:rPr>
              <a:t> (bonds) that promise a cash flow stream by naming a </a:t>
            </a:r>
            <a:r>
              <a:rPr lang="en-US" i="1" dirty="0">
                <a:solidFill>
                  <a:schemeClr val="tx1"/>
                </a:solidFill>
              </a:rPr>
              <a:t>face value</a:t>
            </a:r>
            <a:r>
              <a:rPr lang="en-US" dirty="0">
                <a:solidFill>
                  <a:schemeClr val="tx1"/>
                </a:solidFill>
              </a:rPr>
              <a:t>, a </a:t>
            </a:r>
            <a:r>
              <a:rPr lang="en-US" i="1" dirty="0">
                <a:solidFill>
                  <a:schemeClr val="tx1"/>
                </a:solidFill>
              </a:rPr>
              <a:t>coupon rate</a:t>
            </a:r>
            <a:r>
              <a:rPr lang="en-US" dirty="0">
                <a:solidFill>
                  <a:schemeClr val="tx1"/>
                </a:solidFill>
              </a:rPr>
              <a:t>, a </a:t>
            </a:r>
            <a:r>
              <a:rPr lang="en-US" i="1" dirty="0">
                <a:solidFill>
                  <a:schemeClr val="tx1"/>
                </a:solidFill>
              </a:rPr>
              <a:t>payment frequency</a:t>
            </a:r>
            <a:r>
              <a:rPr lang="en-US" dirty="0">
                <a:solidFill>
                  <a:schemeClr val="tx1"/>
                </a:solidFill>
              </a:rPr>
              <a:t>, and a </a:t>
            </a:r>
            <a:r>
              <a:rPr lang="en-US" i="1" dirty="0">
                <a:solidFill>
                  <a:schemeClr val="tx1"/>
                </a:solidFill>
              </a:rPr>
              <a:t>maturity date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 any given period, the </a:t>
            </a:r>
            <a:r>
              <a:rPr lang="en-US" i="1" dirty="0">
                <a:solidFill>
                  <a:schemeClr val="tx1"/>
                </a:solidFill>
              </a:rPr>
              <a:t>change in value is only by accident equal to the change in cash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indent="0" algn="ctr">
              <a:buNone/>
            </a:pPr>
            <a:r>
              <a:rPr lang="en-US" sz="4400" b="1" dirty="0">
                <a:solidFill>
                  <a:schemeClr val="tx1"/>
                </a:solidFill>
              </a:rPr>
              <a:t>Cash flows and value are related, but not identical.</a:t>
            </a:r>
          </a:p>
        </p:txBody>
      </p:sp>
    </p:spTree>
    <p:extLst>
      <p:ext uri="{BB962C8B-B14F-4D97-AF65-F5344CB8AC3E}">
        <p14:creationId xmlns:p14="http://schemas.microsoft.com/office/powerpoint/2010/main" val="413855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165 Whitney Associates LLC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4010"/>
            <a:ext cx="8229600" cy="3648183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So far, we have: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Formed LLC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Issued shares in exchange for $50k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Used $50k to buy 30-year US bonds with 4.00% coupon payable semi-annually. The bonds were priced to yield 4.87% implying that with our $50k, we could buy bonds with face value $57,902.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Drew the cash flow map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The value of 165WA’s US bonds will, at any point in time, be the present value of their remaining cash flows</a:t>
            </a:r>
          </a:p>
          <a:p>
            <a:r>
              <a:rPr lang="en-US" dirty="0">
                <a:solidFill>
                  <a:schemeClr val="tx1"/>
                </a:solidFill>
              </a:rPr>
              <a:t>Today, we will: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Draw the value map.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Do the accounting for 165WA over its first six months, including receipt of the first coupon payment.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Do Balance Sheet, Income Statement and Statement of Cash Flow for first six-months.</a:t>
            </a:r>
          </a:p>
        </p:txBody>
      </p:sp>
    </p:spTree>
    <p:extLst>
      <p:ext uri="{BB962C8B-B14F-4D97-AF65-F5344CB8AC3E}">
        <p14:creationId xmlns:p14="http://schemas.microsoft.com/office/powerpoint/2010/main" val="384459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Examine the alternative ways of accounting for a change in interest rates.</a:t>
            </a:r>
          </a:p>
          <a:p>
            <a:r>
              <a:rPr lang="en-US" dirty="0">
                <a:solidFill>
                  <a:schemeClr val="tx1"/>
                </a:solidFill>
              </a:rPr>
              <a:t>NOTES: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Problem Set 1 is due Feb 10. It is a lot of Excel.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On Feb  11 we start the real nitty-gritty accounting part of the course. HW is due </a:t>
            </a:r>
            <a:r>
              <a:rPr lang="en-US" b="1" i="1" dirty="0">
                <a:solidFill>
                  <a:schemeClr val="tx1"/>
                </a:solidFill>
              </a:rPr>
              <a:t>before class</a:t>
            </a:r>
            <a:r>
              <a:rPr lang="en-US" dirty="0">
                <a:solidFill>
                  <a:schemeClr val="tx1"/>
                </a:solidFill>
              </a:rPr>
              <a:t> (I’ll get the details up on Canvas this week).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You must do the homework to learn the material!</a:t>
            </a:r>
          </a:p>
        </p:txBody>
      </p:sp>
    </p:spTree>
    <p:extLst>
      <p:ext uri="{BB962C8B-B14F-4D97-AF65-F5344CB8AC3E}">
        <p14:creationId xmlns:p14="http://schemas.microsoft.com/office/powerpoint/2010/main" val="1747166357"/>
      </p:ext>
    </p:extLst>
  </p:cSld>
  <p:clrMapOvr>
    <a:masterClrMapping/>
  </p:clrMapOvr>
</p:sld>
</file>

<file path=ppt/theme/theme1.xml><?xml version="1.0" encoding="utf-8"?>
<a:theme xmlns:a="http://schemas.openxmlformats.org/drawingml/2006/main" name="SOM_bknd_wide_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SOM_bknd_wide_blue.potx</Template>
  <TotalTime>276</TotalTime>
  <Words>385</Words>
  <Application>Microsoft Office PowerPoint</Application>
  <PresentationFormat>On-screen Show (16:9)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SOM_bknd_wide_blue</vt:lpstr>
      <vt:lpstr>ACCT2700 Foundations of Accounting &amp; Valuation</vt:lpstr>
      <vt:lpstr>Brief Review</vt:lpstr>
      <vt:lpstr>165 Whitney Associates LLC</vt:lpstr>
      <vt:lpstr>Next Time</vt:lpstr>
    </vt:vector>
  </TitlesOfParts>
  <Company>Yale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Antle, Rick</cp:lastModifiedBy>
  <cp:revision>26</cp:revision>
  <dcterms:created xsi:type="dcterms:W3CDTF">2012-06-28T13:27:32Z</dcterms:created>
  <dcterms:modified xsi:type="dcterms:W3CDTF">2026-02-03T22:41:12Z</dcterms:modified>
</cp:coreProperties>
</file>