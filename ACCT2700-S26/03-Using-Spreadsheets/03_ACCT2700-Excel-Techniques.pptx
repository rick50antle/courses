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80" r:id="rId3"/>
    <p:sldId id="277" r:id="rId4"/>
    <p:sldId id="278" r:id="rId5"/>
    <p:sldId id="281" r:id="rId6"/>
    <p:sldId id="283" r:id="rId7"/>
    <p:sldId id="284" r:id="rId8"/>
    <p:sldId id="285" r:id="rId9"/>
    <p:sldId id="286" r:id="rId10"/>
    <p:sldId id="289" r:id="rId11"/>
    <p:sldId id="290" r:id="rId12"/>
    <p:sldId id="287" r:id="rId13"/>
    <p:sldId id="291" r:id="rId14"/>
    <p:sldId id="292" r:id="rId15"/>
    <p:sldId id="293" r:id="rId16"/>
    <p:sldId id="282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96" d="100"/>
          <a:sy n="96" d="100"/>
        </p:scale>
        <p:origin x="773" y="35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D2077C41-23D2-40E5-A1B9-6D409EDDC81D}"/>
    <pc:docChg chg="modSld">
      <pc:chgData name="Antle, Rick" userId="c2afbbd2-30e4-4c8e-8af5-81913178ace3" providerId="ADAL" clId="{D2077C41-23D2-40E5-A1B9-6D409EDDC81D}" dt="2026-01-20T21:49:27.733" v="0" actId="20577"/>
      <pc:docMkLst>
        <pc:docMk/>
      </pc:docMkLst>
      <pc:sldChg chg="modSp mod">
        <pc:chgData name="Antle, Rick" userId="c2afbbd2-30e4-4c8e-8af5-81913178ace3" providerId="ADAL" clId="{D2077C41-23D2-40E5-A1B9-6D409EDDC81D}" dt="2026-01-20T21:49:27.733" v="0" actId="20577"/>
        <pc:sldMkLst>
          <pc:docMk/>
          <pc:sldMk cId="1423805063" sldId="256"/>
        </pc:sldMkLst>
        <pc:spChg chg="mod">
          <ac:chgData name="Antle, Rick" userId="c2afbbd2-30e4-4c8e-8af5-81913178ace3" providerId="ADAL" clId="{D2077C41-23D2-40E5-A1B9-6D409EDDC81D}" dt="2026-01-20T21:49:27.733" v="0" actId="20577"/>
          <ac:spMkLst>
            <pc:docMk/>
            <pc:sldMk cId="1423805063" sldId="256"/>
            <ac:spMk id="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625959949450761E-2"/>
          <c:y val="5.3526807745851224E-2"/>
          <c:w val="0.9002258919024011"/>
          <c:h val="0.8465413993503384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0%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Sheet1!$B$2:$B$12</c:f>
              <c:numCache>
                <c:formatCode>"$"#,##0.00_);[Red]\("$"#,##0.00\)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A22-406A-BE1A-7C5A27D11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29329536"/>
        <c:axId val="2119119328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5%</c:v>
                      </c:pt>
                    </c:strCache>
                  </c:strRef>
                </c:tx>
                <c:spPr>
                  <a:ln w="38100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1.05</c:v>
                      </c:pt>
                      <c:pt idx="2">
                        <c:v>1.1025</c:v>
                      </c:pt>
                      <c:pt idx="3">
                        <c:v>1.1576250000000001</c:v>
                      </c:pt>
                      <c:pt idx="4">
                        <c:v>1.2155062500000002</c:v>
                      </c:pt>
                      <c:pt idx="5">
                        <c:v>1.2762815625000004</c:v>
                      </c:pt>
                      <c:pt idx="6">
                        <c:v>1.3400956406250004</c:v>
                      </c:pt>
                      <c:pt idx="7">
                        <c:v>1.4071004226562505</c:v>
                      </c:pt>
                      <c:pt idx="8">
                        <c:v>1.477455443789063</c:v>
                      </c:pt>
                      <c:pt idx="9">
                        <c:v>1.5513282159785162</c:v>
                      </c:pt>
                      <c:pt idx="10">
                        <c:v>1.628894626777442</c:v>
                      </c:pt>
                    </c:numCache>
                  </c:numRef>
                </c:val>
                <c:smooth val="1"/>
                <c:extLst>
                  <c:ext xmlns:c16="http://schemas.microsoft.com/office/drawing/2014/chart" uri="{C3380CC4-5D6E-409C-BE32-E72D297353CC}">
                    <c16:uniqueId val="{00000001-DA22-406A-BE1A-7C5A27D11A9D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10%</c:v>
                      </c:pt>
                    </c:strCache>
                  </c:strRef>
                </c:tx>
                <c:spPr>
                  <a:ln w="3810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1.1000000000000001</c:v>
                      </c:pt>
                      <c:pt idx="2">
                        <c:v>1.2100000000000002</c:v>
                      </c:pt>
                      <c:pt idx="3">
                        <c:v>1.3310000000000004</c:v>
                      </c:pt>
                      <c:pt idx="4">
                        <c:v>1.4641000000000006</c:v>
                      </c:pt>
                      <c:pt idx="5">
                        <c:v>1.6105100000000008</c:v>
                      </c:pt>
                      <c:pt idx="6">
                        <c:v>1.7715610000000011</c:v>
                      </c:pt>
                      <c:pt idx="7">
                        <c:v>1.9487171000000014</c:v>
                      </c:pt>
                      <c:pt idx="8">
                        <c:v>2.1435888100000016</c:v>
                      </c:pt>
                      <c:pt idx="9">
                        <c:v>2.3579476910000019</c:v>
                      </c:pt>
                      <c:pt idx="10">
                        <c:v>2.5937424601000023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DA22-406A-BE1A-7C5A27D11A9D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20%</c:v>
                      </c:pt>
                    </c:strCache>
                  </c:strRef>
                </c:tx>
                <c:spPr>
                  <a:ln w="38100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1.2</c:v>
                      </c:pt>
                      <c:pt idx="2">
                        <c:v>1.44</c:v>
                      </c:pt>
                      <c:pt idx="3">
                        <c:v>1.728</c:v>
                      </c:pt>
                      <c:pt idx="4">
                        <c:v>2.0735999999999999</c:v>
                      </c:pt>
                      <c:pt idx="5">
                        <c:v>2.4883199999999999</c:v>
                      </c:pt>
                      <c:pt idx="6">
                        <c:v>2.9859839999999997</c:v>
                      </c:pt>
                      <c:pt idx="7">
                        <c:v>3.5831807999999996</c:v>
                      </c:pt>
                      <c:pt idx="8">
                        <c:v>4.2998169599999994</c:v>
                      </c:pt>
                      <c:pt idx="9">
                        <c:v>5.1597803519999994</c:v>
                      </c:pt>
                      <c:pt idx="10">
                        <c:v>6.1917364223999991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DA22-406A-BE1A-7C5A27D11A9D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Sheet1!$F$1</c15:sqref>
                        </c15:formulaRef>
                      </c:ext>
                    </c:extLst>
                    <c:strCache>
                      <c:ptCount val="1"/>
                      <c:pt idx="0">
                        <c:v>25%</c:v>
                      </c:pt>
                    </c:strCache>
                  </c:strRef>
                </c:tx>
                <c:spPr>
                  <a:ln w="38100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Sheet1!$F$2:$F$12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1.25</c:v>
                      </c:pt>
                      <c:pt idx="2">
                        <c:v>1.5625</c:v>
                      </c:pt>
                      <c:pt idx="3">
                        <c:v>1.953125</c:v>
                      </c:pt>
                      <c:pt idx="4">
                        <c:v>2.44140625</c:v>
                      </c:pt>
                      <c:pt idx="5">
                        <c:v>3.0517578125</c:v>
                      </c:pt>
                      <c:pt idx="6">
                        <c:v>3.814697265625</c:v>
                      </c:pt>
                      <c:pt idx="7">
                        <c:v>4.76837158203125</c:v>
                      </c:pt>
                      <c:pt idx="8">
                        <c:v>5.9604644775390625</c:v>
                      </c:pt>
                      <c:pt idx="9">
                        <c:v>7.4505805969238281</c:v>
                      </c:pt>
                      <c:pt idx="10">
                        <c:v>9.3132257461547852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DA22-406A-BE1A-7C5A27D11A9D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Sheet1!$G$1</c15:sqref>
                        </c15:formulaRef>
                      </c:ext>
                    </c:extLst>
                    <c:strCache>
                      <c:ptCount val="1"/>
                      <c:pt idx="0">
                        <c:v>33%</c:v>
                      </c:pt>
                    </c:strCache>
                  </c:strRef>
                </c:tx>
                <c:spPr>
                  <a:ln w="38100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Sheet1!$G$2:$G$12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1.33</c:v>
                      </c:pt>
                      <c:pt idx="2">
                        <c:v>1.7689000000000001</c:v>
                      </c:pt>
                      <c:pt idx="3">
                        <c:v>2.3526370000000001</c:v>
                      </c:pt>
                      <c:pt idx="4">
                        <c:v>3.1290072100000001</c:v>
                      </c:pt>
                      <c:pt idx="5">
                        <c:v>4.1615795893000005</c:v>
                      </c:pt>
                      <c:pt idx="6">
                        <c:v>5.5349008537690008</c:v>
                      </c:pt>
                      <c:pt idx="7">
                        <c:v>7.3614181355127712</c:v>
                      </c:pt>
                      <c:pt idx="8">
                        <c:v>9.790686120231987</c:v>
                      </c:pt>
                      <c:pt idx="9">
                        <c:v>13.021612539908544</c:v>
                      </c:pt>
                      <c:pt idx="10">
                        <c:v>17.318744678078364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DA22-406A-BE1A-7C5A27D11A9D}"/>
                  </c:ext>
                </c:extLst>
              </c15:ser>
            </c15:filteredLineSeries>
          </c:ext>
        </c:extLst>
      </c:lineChart>
      <c:catAx>
        <c:axId val="829329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9119328"/>
        <c:crosses val="autoZero"/>
        <c:auto val="1"/>
        <c:lblAlgn val="ctr"/>
        <c:lblOffset val="100"/>
        <c:noMultiLvlLbl val="0"/>
      </c:catAx>
      <c:valAx>
        <c:axId val="2119119328"/>
        <c:scaling>
          <c:orientation val="minMax"/>
          <c:max val="18"/>
        </c:scaling>
        <c:delete val="0"/>
        <c:axPos val="l"/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9329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625959949450761E-2"/>
          <c:y val="5.3526807745851224E-2"/>
          <c:w val="0.9002258919024011"/>
          <c:h val="0.84654139935033845"/>
        </c:manualLayout>
      </c:layou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5%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Sheet1!$C$2:$C$12</c:f>
              <c:numCache>
                <c:formatCode>"$"#,##0.00_);[Red]\("$"#,##0.00\)</c:formatCode>
                <c:ptCount val="11"/>
                <c:pt idx="0">
                  <c:v>1</c:v>
                </c:pt>
                <c:pt idx="1">
                  <c:v>1.05</c:v>
                </c:pt>
                <c:pt idx="2">
                  <c:v>1.1025</c:v>
                </c:pt>
                <c:pt idx="3">
                  <c:v>1.1576250000000001</c:v>
                </c:pt>
                <c:pt idx="4">
                  <c:v>1.2155062500000002</c:v>
                </c:pt>
                <c:pt idx="5">
                  <c:v>1.2762815625000004</c:v>
                </c:pt>
                <c:pt idx="6">
                  <c:v>1.3400956406250004</c:v>
                </c:pt>
                <c:pt idx="7">
                  <c:v>1.4071004226562505</c:v>
                </c:pt>
                <c:pt idx="8">
                  <c:v>1.477455443789063</c:v>
                </c:pt>
                <c:pt idx="9">
                  <c:v>1.5513282159785162</c:v>
                </c:pt>
                <c:pt idx="10">
                  <c:v>1.628894626777442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A22-406A-BE1A-7C5A27D11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29329536"/>
        <c:axId val="2119119328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0%</c:v>
                      </c:pt>
                    </c:strCache>
                  </c:strRef>
                </c:tx>
                <c:spPr>
                  <a:ln w="3810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</c:v>
                      </c:pt>
                      <c:pt idx="2">
                        <c:v>1</c:v>
                      </c:pt>
                      <c:pt idx="3">
                        <c:v>1</c:v>
                      </c:pt>
                      <c:pt idx="4">
                        <c:v>1</c:v>
                      </c:pt>
                      <c:pt idx="5">
                        <c:v>1</c:v>
                      </c:pt>
                      <c:pt idx="6">
                        <c:v>1</c:v>
                      </c:pt>
                      <c:pt idx="7">
                        <c:v>1</c:v>
                      </c:pt>
                      <c:pt idx="8">
                        <c:v>1</c:v>
                      </c:pt>
                      <c:pt idx="9">
                        <c:v>1</c:v>
                      </c:pt>
                      <c:pt idx="10">
                        <c:v>1</c:v>
                      </c:pt>
                    </c:numCache>
                  </c:numRef>
                </c:val>
                <c:smooth val="1"/>
                <c:extLst>
                  <c:ext xmlns:c16="http://schemas.microsoft.com/office/drawing/2014/chart" uri="{C3380CC4-5D6E-409C-BE32-E72D297353CC}">
                    <c16:uniqueId val="{00000000-DA22-406A-BE1A-7C5A27D11A9D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10%</c:v>
                      </c:pt>
                    </c:strCache>
                  </c:strRef>
                </c:tx>
                <c:spPr>
                  <a:ln w="3810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1.1000000000000001</c:v>
                      </c:pt>
                      <c:pt idx="2">
                        <c:v>1.2100000000000002</c:v>
                      </c:pt>
                      <c:pt idx="3">
                        <c:v>1.3310000000000004</c:v>
                      </c:pt>
                      <c:pt idx="4">
                        <c:v>1.4641000000000006</c:v>
                      </c:pt>
                      <c:pt idx="5">
                        <c:v>1.6105100000000008</c:v>
                      </c:pt>
                      <c:pt idx="6">
                        <c:v>1.7715610000000011</c:v>
                      </c:pt>
                      <c:pt idx="7">
                        <c:v>1.9487171000000014</c:v>
                      </c:pt>
                      <c:pt idx="8">
                        <c:v>2.1435888100000016</c:v>
                      </c:pt>
                      <c:pt idx="9">
                        <c:v>2.3579476910000019</c:v>
                      </c:pt>
                      <c:pt idx="10">
                        <c:v>2.5937424601000023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DA22-406A-BE1A-7C5A27D11A9D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20%</c:v>
                      </c:pt>
                    </c:strCache>
                  </c:strRef>
                </c:tx>
                <c:spPr>
                  <a:ln w="38100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1.2</c:v>
                      </c:pt>
                      <c:pt idx="2">
                        <c:v>1.44</c:v>
                      </c:pt>
                      <c:pt idx="3">
                        <c:v>1.728</c:v>
                      </c:pt>
                      <c:pt idx="4">
                        <c:v>2.0735999999999999</c:v>
                      </c:pt>
                      <c:pt idx="5">
                        <c:v>2.4883199999999999</c:v>
                      </c:pt>
                      <c:pt idx="6">
                        <c:v>2.9859839999999997</c:v>
                      </c:pt>
                      <c:pt idx="7">
                        <c:v>3.5831807999999996</c:v>
                      </c:pt>
                      <c:pt idx="8">
                        <c:v>4.2998169599999994</c:v>
                      </c:pt>
                      <c:pt idx="9">
                        <c:v>5.1597803519999994</c:v>
                      </c:pt>
                      <c:pt idx="10">
                        <c:v>6.1917364223999991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DA22-406A-BE1A-7C5A27D11A9D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Sheet1!$F$1</c15:sqref>
                        </c15:formulaRef>
                      </c:ext>
                    </c:extLst>
                    <c:strCache>
                      <c:ptCount val="1"/>
                      <c:pt idx="0">
                        <c:v>25%</c:v>
                      </c:pt>
                    </c:strCache>
                  </c:strRef>
                </c:tx>
                <c:spPr>
                  <a:ln w="38100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Sheet1!$F$2:$F$12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1.25</c:v>
                      </c:pt>
                      <c:pt idx="2">
                        <c:v>1.5625</c:v>
                      </c:pt>
                      <c:pt idx="3">
                        <c:v>1.953125</c:v>
                      </c:pt>
                      <c:pt idx="4">
                        <c:v>2.44140625</c:v>
                      </c:pt>
                      <c:pt idx="5">
                        <c:v>3.0517578125</c:v>
                      </c:pt>
                      <c:pt idx="6">
                        <c:v>3.814697265625</c:v>
                      </c:pt>
                      <c:pt idx="7">
                        <c:v>4.76837158203125</c:v>
                      </c:pt>
                      <c:pt idx="8">
                        <c:v>5.9604644775390625</c:v>
                      </c:pt>
                      <c:pt idx="9">
                        <c:v>7.4505805969238281</c:v>
                      </c:pt>
                      <c:pt idx="10">
                        <c:v>9.3132257461547852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DA22-406A-BE1A-7C5A27D11A9D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Sheet1!$G$1</c15:sqref>
                        </c15:formulaRef>
                      </c:ext>
                    </c:extLst>
                    <c:strCache>
                      <c:ptCount val="1"/>
                      <c:pt idx="0">
                        <c:v>33%</c:v>
                      </c:pt>
                    </c:strCache>
                  </c:strRef>
                </c:tx>
                <c:spPr>
                  <a:ln w="38100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Sheet1!$G$2:$G$12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1.33</c:v>
                      </c:pt>
                      <c:pt idx="2">
                        <c:v>1.7689000000000001</c:v>
                      </c:pt>
                      <c:pt idx="3">
                        <c:v>2.3526370000000001</c:v>
                      </c:pt>
                      <c:pt idx="4">
                        <c:v>3.1290072100000001</c:v>
                      </c:pt>
                      <c:pt idx="5">
                        <c:v>4.1615795893000005</c:v>
                      </c:pt>
                      <c:pt idx="6">
                        <c:v>5.5349008537690008</c:v>
                      </c:pt>
                      <c:pt idx="7">
                        <c:v>7.3614181355127712</c:v>
                      </c:pt>
                      <c:pt idx="8">
                        <c:v>9.790686120231987</c:v>
                      </c:pt>
                      <c:pt idx="9">
                        <c:v>13.021612539908544</c:v>
                      </c:pt>
                      <c:pt idx="10">
                        <c:v>17.318744678078364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DA22-406A-BE1A-7C5A27D11A9D}"/>
                  </c:ext>
                </c:extLst>
              </c15:ser>
            </c15:filteredLineSeries>
          </c:ext>
        </c:extLst>
      </c:lineChart>
      <c:catAx>
        <c:axId val="829329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9119328"/>
        <c:crosses val="autoZero"/>
        <c:auto val="1"/>
        <c:lblAlgn val="ctr"/>
        <c:lblOffset val="100"/>
        <c:noMultiLvlLbl val="0"/>
      </c:catAx>
      <c:valAx>
        <c:axId val="2119119328"/>
        <c:scaling>
          <c:orientation val="minMax"/>
          <c:max val="18"/>
        </c:scaling>
        <c:delete val="0"/>
        <c:axPos val="l"/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93295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625959949450761E-2"/>
          <c:y val="5.3526807745851224E-2"/>
          <c:w val="0.9002258919024011"/>
          <c:h val="0.84654139935033845"/>
        </c:manualLayout>
      </c:layou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10%</c:v>
                </c:pt>
              </c:strCache>
            </c:strRef>
          </c:tx>
          <c:spPr>
            <a:ln w="3810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Sheet1!$D$2:$D$12</c:f>
              <c:numCache>
                <c:formatCode>"$"#,##0.00_);[Red]\("$"#,##0.00\)</c:formatCode>
                <c:ptCount val="11"/>
                <c:pt idx="0">
                  <c:v>1</c:v>
                </c:pt>
                <c:pt idx="1">
                  <c:v>1.1000000000000001</c:v>
                </c:pt>
                <c:pt idx="2">
                  <c:v>1.2100000000000002</c:v>
                </c:pt>
                <c:pt idx="3">
                  <c:v>1.3310000000000004</c:v>
                </c:pt>
                <c:pt idx="4">
                  <c:v>1.4641000000000006</c:v>
                </c:pt>
                <c:pt idx="5">
                  <c:v>1.6105100000000008</c:v>
                </c:pt>
                <c:pt idx="6">
                  <c:v>1.7715610000000011</c:v>
                </c:pt>
                <c:pt idx="7">
                  <c:v>1.9487171000000014</c:v>
                </c:pt>
                <c:pt idx="8">
                  <c:v>2.1435888100000016</c:v>
                </c:pt>
                <c:pt idx="9">
                  <c:v>2.3579476910000019</c:v>
                </c:pt>
                <c:pt idx="10">
                  <c:v>2.5937424601000023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1-DA22-406A-BE1A-7C5A27D11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29329536"/>
        <c:axId val="2119119328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0%</c:v>
                      </c:pt>
                    </c:strCache>
                  </c:strRef>
                </c:tx>
                <c:spPr>
                  <a:ln w="3810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</c:v>
                      </c:pt>
                      <c:pt idx="2">
                        <c:v>1</c:v>
                      </c:pt>
                      <c:pt idx="3">
                        <c:v>1</c:v>
                      </c:pt>
                      <c:pt idx="4">
                        <c:v>1</c:v>
                      </c:pt>
                      <c:pt idx="5">
                        <c:v>1</c:v>
                      </c:pt>
                      <c:pt idx="6">
                        <c:v>1</c:v>
                      </c:pt>
                      <c:pt idx="7">
                        <c:v>1</c:v>
                      </c:pt>
                      <c:pt idx="8">
                        <c:v>1</c:v>
                      </c:pt>
                      <c:pt idx="9">
                        <c:v>1</c:v>
                      </c:pt>
                      <c:pt idx="10">
                        <c:v>1</c:v>
                      </c:pt>
                    </c:numCache>
                  </c:numRef>
                </c:val>
                <c:smooth val="1"/>
                <c:extLst>
                  <c:ext xmlns:c16="http://schemas.microsoft.com/office/drawing/2014/chart" uri="{C3380CC4-5D6E-409C-BE32-E72D297353CC}">
                    <c16:uniqueId val="{00000000-DA22-406A-BE1A-7C5A27D11A9D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5%</c:v>
                      </c:pt>
                    </c:strCache>
                  </c:strRef>
                </c:tx>
                <c:spPr>
                  <a:ln w="38100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Sheet1!$C$2:$C$12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1.05</c:v>
                      </c:pt>
                      <c:pt idx="2">
                        <c:v>1.1025</c:v>
                      </c:pt>
                      <c:pt idx="3">
                        <c:v>1.1576250000000001</c:v>
                      </c:pt>
                      <c:pt idx="4">
                        <c:v>1.2155062500000002</c:v>
                      </c:pt>
                      <c:pt idx="5">
                        <c:v>1.2762815625000004</c:v>
                      </c:pt>
                      <c:pt idx="6">
                        <c:v>1.3400956406250004</c:v>
                      </c:pt>
                      <c:pt idx="7">
                        <c:v>1.4071004226562505</c:v>
                      </c:pt>
                      <c:pt idx="8">
                        <c:v>1.477455443789063</c:v>
                      </c:pt>
                      <c:pt idx="9">
                        <c:v>1.5513282159785162</c:v>
                      </c:pt>
                      <c:pt idx="10">
                        <c:v>1.628894626777442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1-DA22-406A-BE1A-7C5A27D11A9D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20%</c:v>
                      </c:pt>
                    </c:strCache>
                  </c:strRef>
                </c:tx>
                <c:spPr>
                  <a:ln w="38100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1.2</c:v>
                      </c:pt>
                      <c:pt idx="2">
                        <c:v>1.44</c:v>
                      </c:pt>
                      <c:pt idx="3">
                        <c:v>1.728</c:v>
                      </c:pt>
                      <c:pt idx="4">
                        <c:v>2.0735999999999999</c:v>
                      </c:pt>
                      <c:pt idx="5">
                        <c:v>2.4883199999999999</c:v>
                      </c:pt>
                      <c:pt idx="6">
                        <c:v>2.9859839999999997</c:v>
                      </c:pt>
                      <c:pt idx="7">
                        <c:v>3.5831807999999996</c:v>
                      </c:pt>
                      <c:pt idx="8">
                        <c:v>4.2998169599999994</c:v>
                      </c:pt>
                      <c:pt idx="9">
                        <c:v>5.1597803519999994</c:v>
                      </c:pt>
                      <c:pt idx="10">
                        <c:v>6.1917364223999991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DA22-406A-BE1A-7C5A27D11A9D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Sheet1!$F$1</c15:sqref>
                        </c15:formulaRef>
                      </c:ext>
                    </c:extLst>
                    <c:strCache>
                      <c:ptCount val="1"/>
                      <c:pt idx="0">
                        <c:v>25%</c:v>
                      </c:pt>
                    </c:strCache>
                  </c:strRef>
                </c:tx>
                <c:spPr>
                  <a:ln w="38100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Sheet1!$F$2:$F$12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1.25</c:v>
                      </c:pt>
                      <c:pt idx="2">
                        <c:v>1.5625</c:v>
                      </c:pt>
                      <c:pt idx="3">
                        <c:v>1.953125</c:v>
                      </c:pt>
                      <c:pt idx="4">
                        <c:v>2.44140625</c:v>
                      </c:pt>
                      <c:pt idx="5">
                        <c:v>3.0517578125</c:v>
                      </c:pt>
                      <c:pt idx="6">
                        <c:v>3.814697265625</c:v>
                      </c:pt>
                      <c:pt idx="7">
                        <c:v>4.76837158203125</c:v>
                      </c:pt>
                      <c:pt idx="8">
                        <c:v>5.9604644775390625</c:v>
                      </c:pt>
                      <c:pt idx="9">
                        <c:v>7.4505805969238281</c:v>
                      </c:pt>
                      <c:pt idx="10">
                        <c:v>9.3132257461547852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DA22-406A-BE1A-7C5A27D11A9D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Sheet1!$G$1</c15:sqref>
                        </c15:formulaRef>
                      </c:ext>
                    </c:extLst>
                    <c:strCache>
                      <c:ptCount val="1"/>
                      <c:pt idx="0">
                        <c:v>33%</c:v>
                      </c:pt>
                    </c:strCache>
                  </c:strRef>
                </c:tx>
                <c:spPr>
                  <a:ln w="38100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Sheet1!$G$2:$G$12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1.33</c:v>
                      </c:pt>
                      <c:pt idx="2">
                        <c:v>1.7689000000000001</c:v>
                      </c:pt>
                      <c:pt idx="3">
                        <c:v>2.3526370000000001</c:v>
                      </c:pt>
                      <c:pt idx="4">
                        <c:v>3.1290072100000001</c:v>
                      </c:pt>
                      <c:pt idx="5">
                        <c:v>4.1615795893000005</c:v>
                      </c:pt>
                      <c:pt idx="6">
                        <c:v>5.5349008537690008</c:v>
                      </c:pt>
                      <c:pt idx="7">
                        <c:v>7.3614181355127712</c:v>
                      </c:pt>
                      <c:pt idx="8">
                        <c:v>9.790686120231987</c:v>
                      </c:pt>
                      <c:pt idx="9">
                        <c:v>13.021612539908544</c:v>
                      </c:pt>
                      <c:pt idx="10">
                        <c:v>17.318744678078364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DA22-406A-BE1A-7C5A27D11A9D}"/>
                  </c:ext>
                </c:extLst>
              </c15:ser>
            </c15:filteredLineSeries>
          </c:ext>
        </c:extLst>
      </c:lineChart>
      <c:catAx>
        <c:axId val="829329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9119328"/>
        <c:crosses val="autoZero"/>
        <c:auto val="1"/>
        <c:lblAlgn val="ctr"/>
        <c:lblOffset val="100"/>
        <c:noMultiLvlLbl val="0"/>
      </c:catAx>
      <c:valAx>
        <c:axId val="2119119328"/>
        <c:scaling>
          <c:orientation val="minMax"/>
          <c:max val="18"/>
        </c:scaling>
        <c:delete val="0"/>
        <c:axPos val="l"/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9329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625959949450761E-2"/>
          <c:y val="5.3526807745851224E-2"/>
          <c:w val="0.9002258919024011"/>
          <c:h val="0.84654139935033845"/>
        </c:manualLayout>
      </c:layou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20%</c:v>
                </c:pt>
              </c:strCache>
            </c:strRef>
          </c:tx>
          <c:spPr>
            <a:ln w="3810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Sheet1!$E$2:$E$12</c:f>
              <c:numCache>
                <c:formatCode>"$"#,##0.00_);[Red]\("$"#,##0.00\)</c:formatCode>
                <c:ptCount val="11"/>
                <c:pt idx="0">
                  <c:v>1</c:v>
                </c:pt>
                <c:pt idx="1">
                  <c:v>1.2</c:v>
                </c:pt>
                <c:pt idx="2">
                  <c:v>1.44</c:v>
                </c:pt>
                <c:pt idx="3">
                  <c:v>1.728</c:v>
                </c:pt>
                <c:pt idx="4">
                  <c:v>2.0735999999999999</c:v>
                </c:pt>
                <c:pt idx="5">
                  <c:v>2.4883199999999999</c:v>
                </c:pt>
                <c:pt idx="6">
                  <c:v>2.9859839999999997</c:v>
                </c:pt>
                <c:pt idx="7">
                  <c:v>3.5831807999999996</c:v>
                </c:pt>
                <c:pt idx="8">
                  <c:v>4.2998169599999994</c:v>
                </c:pt>
                <c:pt idx="9">
                  <c:v>5.1597803519999994</c:v>
                </c:pt>
                <c:pt idx="10">
                  <c:v>6.1917364223999991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2-DA22-406A-BE1A-7C5A27D11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29329536"/>
        <c:axId val="2119119328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0%</c:v>
                      </c:pt>
                    </c:strCache>
                  </c:strRef>
                </c:tx>
                <c:spPr>
                  <a:ln w="3810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</c:v>
                      </c:pt>
                      <c:pt idx="2">
                        <c:v>1</c:v>
                      </c:pt>
                      <c:pt idx="3">
                        <c:v>1</c:v>
                      </c:pt>
                      <c:pt idx="4">
                        <c:v>1</c:v>
                      </c:pt>
                      <c:pt idx="5">
                        <c:v>1</c:v>
                      </c:pt>
                      <c:pt idx="6">
                        <c:v>1</c:v>
                      </c:pt>
                      <c:pt idx="7">
                        <c:v>1</c:v>
                      </c:pt>
                      <c:pt idx="8">
                        <c:v>1</c:v>
                      </c:pt>
                      <c:pt idx="9">
                        <c:v>1</c:v>
                      </c:pt>
                      <c:pt idx="10">
                        <c:v>1</c:v>
                      </c:pt>
                    </c:numCache>
                  </c:numRef>
                </c:val>
                <c:smooth val="1"/>
                <c:extLst>
                  <c:ext xmlns:c16="http://schemas.microsoft.com/office/drawing/2014/chart" uri="{C3380CC4-5D6E-409C-BE32-E72D297353CC}">
                    <c16:uniqueId val="{00000000-DA22-406A-BE1A-7C5A27D11A9D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5%</c:v>
                      </c:pt>
                    </c:strCache>
                  </c:strRef>
                </c:tx>
                <c:spPr>
                  <a:ln w="38100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Sheet1!$C$2:$C$12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1.05</c:v>
                      </c:pt>
                      <c:pt idx="2">
                        <c:v>1.1025</c:v>
                      </c:pt>
                      <c:pt idx="3">
                        <c:v>1.1576250000000001</c:v>
                      </c:pt>
                      <c:pt idx="4">
                        <c:v>1.2155062500000002</c:v>
                      </c:pt>
                      <c:pt idx="5">
                        <c:v>1.2762815625000004</c:v>
                      </c:pt>
                      <c:pt idx="6">
                        <c:v>1.3400956406250004</c:v>
                      </c:pt>
                      <c:pt idx="7">
                        <c:v>1.4071004226562505</c:v>
                      </c:pt>
                      <c:pt idx="8">
                        <c:v>1.477455443789063</c:v>
                      </c:pt>
                      <c:pt idx="9">
                        <c:v>1.5513282159785162</c:v>
                      </c:pt>
                      <c:pt idx="10">
                        <c:v>1.628894626777442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1-DA22-406A-BE1A-7C5A27D11A9D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10%</c:v>
                      </c:pt>
                    </c:strCache>
                  </c:strRef>
                </c:tx>
                <c:spPr>
                  <a:ln w="3810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1.1000000000000001</c:v>
                      </c:pt>
                      <c:pt idx="2">
                        <c:v>1.2100000000000002</c:v>
                      </c:pt>
                      <c:pt idx="3">
                        <c:v>1.3310000000000004</c:v>
                      </c:pt>
                      <c:pt idx="4">
                        <c:v>1.4641000000000006</c:v>
                      </c:pt>
                      <c:pt idx="5">
                        <c:v>1.6105100000000008</c:v>
                      </c:pt>
                      <c:pt idx="6">
                        <c:v>1.7715610000000011</c:v>
                      </c:pt>
                      <c:pt idx="7">
                        <c:v>1.9487171000000014</c:v>
                      </c:pt>
                      <c:pt idx="8">
                        <c:v>2.1435888100000016</c:v>
                      </c:pt>
                      <c:pt idx="9">
                        <c:v>2.3579476910000019</c:v>
                      </c:pt>
                      <c:pt idx="10">
                        <c:v>2.5937424601000023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DA22-406A-BE1A-7C5A27D11A9D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Sheet1!$F$1</c15:sqref>
                        </c15:formulaRef>
                      </c:ext>
                    </c:extLst>
                    <c:strCache>
                      <c:ptCount val="1"/>
                      <c:pt idx="0">
                        <c:v>25%</c:v>
                      </c:pt>
                    </c:strCache>
                  </c:strRef>
                </c:tx>
                <c:spPr>
                  <a:ln w="38100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Sheet1!$F$2:$F$12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1.25</c:v>
                      </c:pt>
                      <c:pt idx="2">
                        <c:v>1.5625</c:v>
                      </c:pt>
                      <c:pt idx="3">
                        <c:v>1.953125</c:v>
                      </c:pt>
                      <c:pt idx="4">
                        <c:v>2.44140625</c:v>
                      </c:pt>
                      <c:pt idx="5">
                        <c:v>3.0517578125</c:v>
                      </c:pt>
                      <c:pt idx="6">
                        <c:v>3.814697265625</c:v>
                      </c:pt>
                      <c:pt idx="7">
                        <c:v>4.76837158203125</c:v>
                      </c:pt>
                      <c:pt idx="8">
                        <c:v>5.9604644775390625</c:v>
                      </c:pt>
                      <c:pt idx="9">
                        <c:v>7.4505805969238281</c:v>
                      </c:pt>
                      <c:pt idx="10">
                        <c:v>9.3132257461547852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DA22-406A-BE1A-7C5A27D11A9D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Sheet1!$G$1</c15:sqref>
                        </c15:formulaRef>
                      </c:ext>
                    </c:extLst>
                    <c:strCache>
                      <c:ptCount val="1"/>
                      <c:pt idx="0">
                        <c:v>33%</c:v>
                      </c:pt>
                    </c:strCache>
                  </c:strRef>
                </c:tx>
                <c:spPr>
                  <a:ln w="38100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Sheet1!$G$2:$G$12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1.33</c:v>
                      </c:pt>
                      <c:pt idx="2">
                        <c:v>1.7689000000000001</c:v>
                      </c:pt>
                      <c:pt idx="3">
                        <c:v>2.3526370000000001</c:v>
                      </c:pt>
                      <c:pt idx="4">
                        <c:v>3.1290072100000001</c:v>
                      </c:pt>
                      <c:pt idx="5">
                        <c:v>4.1615795893000005</c:v>
                      </c:pt>
                      <c:pt idx="6">
                        <c:v>5.5349008537690008</c:v>
                      </c:pt>
                      <c:pt idx="7">
                        <c:v>7.3614181355127712</c:v>
                      </c:pt>
                      <c:pt idx="8">
                        <c:v>9.790686120231987</c:v>
                      </c:pt>
                      <c:pt idx="9">
                        <c:v>13.021612539908544</c:v>
                      </c:pt>
                      <c:pt idx="10">
                        <c:v>17.318744678078364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DA22-406A-BE1A-7C5A27D11A9D}"/>
                  </c:ext>
                </c:extLst>
              </c15:ser>
            </c15:filteredLineSeries>
          </c:ext>
        </c:extLst>
      </c:lineChart>
      <c:catAx>
        <c:axId val="829329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9119328"/>
        <c:crosses val="autoZero"/>
        <c:auto val="1"/>
        <c:lblAlgn val="ctr"/>
        <c:lblOffset val="100"/>
        <c:noMultiLvlLbl val="0"/>
      </c:catAx>
      <c:valAx>
        <c:axId val="2119119328"/>
        <c:scaling>
          <c:orientation val="minMax"/>
          <c:max val="18"/>
        </c:scaling>
        <c:delete val="0"/>
        <c:axPos val="l"/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9329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625959949450761E-2"/>
          <c:y val="5.3526807745851224E-2"/>
          <c:w val="0.9002258919024011"/>
          <c:h val="0.84654139935033845"/>
        </c:manualLayout>
      </c:layou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25%</c:v>
                </c:pt>
              </c:strCache>
            </c:strRef>
          </c:tx>
          <c:spPr>
            <a:ln w="3810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Sheet1!$F$2:$F$12</c:f>
              <c:numCache>
                <c:formatCode>"$"#,##0.00_);[Red]\("$"#,##0.00\)</c:formatCode>
                <c:ptCount val="11"/>
                <c:pt idx="0">
                  <c:v>1</c:v>
                </c:pt>
                <c:pt idx="1">
                  <c:v>1.25</c:v>
                </c:pt>
                <c:pt idx="2">
                  <c:v>1.5625</c:v>
                </c:pt>
                <c:pt idx="3">
                  <c:v>1.953125</c:v>
                </c:pt>
                <c:pt idx="4">
                  <c:v>2.44140625</c:v>
                </c:pt>
                <c:pt idx="5">
                  <c:v>3.0517578125</c:v>
                </c:pt>
                <c:pt idx="6">
                  <c:v>3.814697265625</c:v>
                </c:pt>
                <c:pt idx="7">
                  <c:v>4.76837158203125</c:v>
                </c:pt>
                <c:pt idx="8">
                  <c:v>5.9604644775390625</c:v>
                </c:pt>
                <c:pt idx="9">
                  <c:v>7.4505805969238281</c:v>
                </c:pt>
                <c:pt idx="10">
                  <c:v>9.3132257461547852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3-DA22-406A-BE1A-7C5A27D11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29329536"/>
        <c:axId val="2119119328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0%</c:v>
                      </c:pt>
                    </c:strCache>
                  </c:strRef>
                </c:tx>
                <c:spPr>
                  <a:ln w="3810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</c:v>
                      </c:pt>
                      <c:pt idx="2">
                        <c:v>1</c:v>
                      </c:pt>
                      <c:pt idx="3">
                        <c:v>1</c:v>
                      </c:pt>
                      <c:pt idx="4">
                        <c:v>1</c:v>
                      </c:pt>
                      <c:pt idx="5">
                        <c:v>1</c:v>
                      </c:pt>
                      <c:pt idx="6">
                        <c:v>1</c:v>
                      </c:pt>
                      <c:pt idx="7">
                        <c:v>1</c:v>
                      </c:pt>
                      <c:pt idx="8">
                        <c:v>1</c:v>
                      </c:pt>
                      <c:pt idx="9">
                        <c:v>1</c:v>
                      </c:pt>
                      <c:pt idx="10">
                        <c:v>1</c:v>
                      </c:pt>
                    </c:numCache>
                  </c:numRef>
                </c:val>
                <c:smooth val="1"/>
                <c:extLst>
                  <c:ext xmlns:c16="http://schemas.microsoft.com/office/drawing/2014/chart" uri="{C3380CC4-5D6E-409C-BE32-E72D297353CC}">
                    <c16:uniqueId val="{00000000-DA22-406A-BE1A-7C5A27D11A9D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5%</c:v>
                      </c:pt>
                    </c:strCache>
                  </c:strRef>
                </c:tx>
                <c:spPr>
                  <a:ln w="38100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Sheet1!$C$2:$C$12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1.05</c:v>
                      </c:pt>
                      <c:pt idx="2">
                        <c:v>1.1025</c:v>
                      </c:pt>
                      <c:pt idx="3">
                        <c:v>1.1576250000000001</c:v>
                      </c:pt>
                      <c:pt idx="4">
                        <c:v>1.2155062500000002</c:v>
                      </c:pt>
                      <c:pt idx="5">
                        <c:v>1.2762815625000004</c:v>
                      </c:pt>
                      <c:pt idx="6">
                        <c:v>1.3400956406250004</c:v>
                      </c:pt>
                      <c:pt idx="7">
                        <c:v>1.4071004226562505</c:v>
                      </c:pt>
                      <c:pt idx="8">
                        <c:v>1.477455443789063</c:v>
                      </c:pt>
                      <c:pt idx="9">
                        <c:v>1.5513282159785162</c:v>
                      </c:pt>
                      <c:pt idx="10">
                        <c:v>1.628894626777442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1-DA22-406A-BE1A-7C5A27D11A9D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10%</c:v>
                      </c:pt>
                    </c:strCache>
                  </c:strRef>
                </c:tx>
                <c:spPr>
                  <a:ln w="3810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1.1000000000000001</c:v>
                      </c:pt>
                      <c:pt idx="2">
                        <c:v>1.2100000000000002</c:v>
                      </c:pt>
                      <c:pt idx="3">
                        <c:v>1.3310000000000004</c:v>
                      </c:pt>
                      <c:pt idx="4">
                        <c:v>1.4641000000000006</c:v>
                      </c:pt>
                      <c:pt idx="5">
                        <c:v>1.6105100000000008</c:v>
                      </c:pt>
                      <c:pt idx="6">
                        <c:v>1.7715610000000011</c:v>
                      </c:pt>
                      <c:pt idx="7">
                        <c:v>1.9487171000000014</c:v>
                      </c:pt>
                      <c:pt idx="8">
                        <c:v>2.1435888100000016</c:v>
                      </c:pt>
                      <c:pt idx="9">
                        <c:v>2.3579476910000019</c:v>
                      </c:pt>
                      <c:pt idx="10">
                        <c:v>2.5937424601000023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DA22-406A-BE1A-7C5A27D11A9D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20%</c:v>
                      </c:pt>
                    </c:strCache>
                  </c:strRef>
                </c:tx>
                <c:spPr>
                  <a:ln w="38100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1.2</c:v>
                      </c:pt>
                      <c:pt idx="2">
                        <c:v>1.44</c:v>
                      </c:pt>
                      <c:pt idx="3">
                        <c:v>1.728</c:v>
                      </c:pt>
                      <c:pt idx="4">
                        <c:v>2.0735999999999999</c:v>
                      </c:pt>
                      <c:pt idx="5">
                        <c:v>2.4883199999999999</c:v>
                      </c:pt>
                      <c:pt idx="6">
                        <c:v>2.9859839999999997</c:v>
                      </c:pt>
                      <c:pt idx="7">
                        <c:v>3.5831807999999996</c:v>
                      </c:pt>
                      <c:pt idx="8">
                        <c:v>4.2998169599999994</c:v>
                      </c:pt>
                      <c:pt idx="9">
                        <c:v>5.1597803519999994</c:v>
                      </c:pt>
                      <c:pt idx="10">
                        <c:v>6.1917364223999991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DA22-406A-BE1A-7C5A27D11A9D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Sheet1!$G$1</c15:sqref>
                        </c15:formulaRef>
                      </c:ext>
                    </c:extLst>
                    <c:strCache>
                      <c:ptCount val="1"/>
                      <c:pt idx="0">
                        <c:v>33%</c:v>
                      </c:pt>
                    </c:strCache>
                  </c:strRef>
                </c:tx>
                <c:spPr>
                  <a:ln w="38100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Sheet1!$G$2:$G$12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1.33</c:v>
                      </c:pt>
                      <c:pt idx="2">
                        <c:v>1.7689000000000001</c:v>
                      </c:pt>
                      <c:pt idx="3">
                        <c:v>2.3526370000000001</c:v>
                      </c:pt>
                      <c:pt idx="4">
                        <c:v>3.1290072100000001</c:v>
                      </c:pt>
                      <c:pt idx="5">
                        <c:v>4.1615795893000005</c:v>
                      </c:pt>
                      <c:pt idx="6">
                        <c:v>5.5349008537690008</c:v>
                      </c:pt>
                      <c:pt idx="7">
                        <c:v>7.3614181355127712</c:v>
                      </c:pt>
                      <c:pt idx="8">
                        <c:v>9.790686120231987</c:v>
                      </c:pt>
                      <c:pt idx="9">
                        <c:v>13.021612539908544</c:v>
                      </c:pt>
                      <c:pt idx="10">
                        <c:v>17.318744678078364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DA22-406A-BE1A-7C5A27D11A9D}"/>
                  </c:ext>
                </c:extLst>
              </c15:ser>
            </c15:filteredLineSeries>
          </c:ext>
        </c:extLst>
      </c:lineChart>
      <c:catAx>
        <c:axId val="829329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9119328"/>
        <c:crosses val="autoZero"/>
        <c:auto val="1"/>
        <c:lblAlgn val="ctr"/>
        <c:lblOffset val="100"/>
        <c:noMultiLvlLbl val="0"/>
      </c:catAx>
      <c:valAx>
        <c:axId val="2119119328"/>
        <c:scaling>
          <c:orientation val="minMax"/>
          <c:max val="18"/>
        </c:scaling>
        <c:delete val="0"/>
        <c:axPos val="l"/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9329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625959949450761E-2"/>
          <c:y val="5.3526807745851224E-2"/>
          <c:w val="0.9002258919024011"/>
          <c:h val="0.84654139935033845"/>
        </c:manualLayout>
      </c:layout>
      <c:lineChart>
        <c:grouping val="standard"/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33%</c:v>
                </c:pt>
              </c:strCache>
            </c:strRef>
          </c:tx>
          <c:spPr>
            <a:ln w="381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Sheet1!$G$2:$G$12</c:f>
              <c:numCache>
                <c:formatCode>"$"#,##0.00_);[Red]\("$"#,##0.00\)</c:formatCode>
                <c:ptCount val="11"/>
                <c:pt idx="0">
                  <c:v>1</c:v>
                </c:pt>
                <c:pt idx="1">
                  <c:v>1.33</c:v>
                </c:pt>
                <c:pt idx="2">
                  <c:v>1.7689000000000001</c:v>
                </c:pt>
                <c:pt idx="3">
                  <c:v>2.3526370000000001</c:v>
                </c:pt>
                <c:pt idx="4">
                  <c:v>3.1290072100000001</c:v>
                </c:pt>
                <c:pt idx="5">
                  <c:v>4.1615795893000005</c:v>
                </c:pt>
                <c:pt idx="6">
                  <c:v>5.5349008537690008</c:v>
                </c:pt>
                <c:pt idx="7">
                  <c:v>7.3614181355127712</c:v>
                </c:pt>
                <c:pt idx="8">
                  <c:v>9.790686120231987</c:v>
                </c:pt>
                <c:pt idx="9">
                  <c:v>13.021612539908544</c:v>
                </c:pt>
                <c:pt idx="10">
                  <c:v>17.318744678078364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4-DA22-406A-BE1A-7C5A27D11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29329536"/>
        <c:axId val="2119119328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0%</c:v>
                      </c:pt>
                    </c:strCache>
                  </c:strRef>
                </c:tx>
                <c:spPr>
                  <a:ln w="3810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</c:v>
                      </c:pt>
                      <c:pt idx="2">
                        <c:v>1</c:v>
                      </c:pt>
                      <c:pt idx="3">
                        <c:v>1</c:v>
                      </c:pt>
                      <c:pt idx="4">
                        <c:v>1</c:v>
                      </c:pt>
                      <c:pt idx="5">
                        <c:v>1</c:v>
                      </c:pt>
                      <c:pt idx="6">
                        <c:v>1</c:v>
                      </c:pt>
                      <c:pt idx="7">
                        <c:v>1</c:v>
                      </c:pt>
                      <c:pt idx="8">
                        <c:v>1</c:v>
                      </c:pt>
                      <c:pt idx="9">
                        <c:v>1</c:v>
                      </c:pt>
                      <c:pt idx="10">
                        <c:v>1</c:v>
                      </c:pt>
                    </c:numCache>
                  </c:numRef>
                </c:val>
                <c:smooth val="1"/>
                <c:extLst>
                  <c:ext xmlns:c16="http://schemas.microsoft.com/office/drawing/2014/chart" uri="{C3380CC4-5D6E-409C-BE32-E72D297353CC}">
                    <c16:uniqueId val="{00000000-DA22-406A-BE1A-7C5A27D11A9D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5%</c:v>
                      </c:pt>
                    </c:strCache>
                  </c:strRef>
                </c:tx>
                <c:spPr>
                  <a:ln w="38100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Sheet1!$C$2:$C$12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1.05</c:v>
                      </c:pt>
                      <c:pt idx="2">
                        <c:v>1.1025</c:v>
                      </c:pt>
                      <c:pt idx="3">
                        <c:v>1.1576250000000001</c:v>
                      </c:pt>
                      <c:pt idx="4">
                        <c:v>1.2155062500000002</c:v>
                      </c:pt>
                      <c:pt idx="5">
                        <c:v>1.2762815625000004</c:v>
                      </c:pt>
                      <c:pt idx="6">
                        <c:v>1.3400956406250004</c:v>
                      </c:pt>
                      <c:pt idx="7">
                        <c:v>1.4071004226562505</c:v>
                      </c:pt>
                      <c:pt idx="8">
                        <c:v>1.477455443789063</c:v>
                      </c:pt>
                      <c:pt idx="9">
                        <c:v>1.5513282159785162</c:v>
                      </c:pt>
                      <c:pt idx="10">
                        <c:v>1.628894626777442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1-DA22-406A-BE1A-7C5A27D11A9D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10%</c:v>
                      </c:pt>
                    </c:strCache>
                  </c:strRef>
                </c:tx>
                <c:spPr>
                  <a:ln w="3810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1.1000000000000001</c:v>
                      </c:pt>
                      <c:pt idx="2">
                        <c:v>1.2100000000000002</c:v>
                      </c:pt>
                      <c:pt idx="3">
                        <c:v>1.3310000000000004</c:v>
                      </c:pt>
                      <c:pt idx="4">
                        <c:v>1.4641000000000006</c:v>
                      </c:pt>
                      <c:pt idx="5">
                        <c:v>1.6105100000000008</c:v>
                      </c:pt>
                      <c:pt idx="6">
                        <c:v>1.7715610000000011</c:v>
                      </c:pt>
                      <c:pt idx="7">
                        <c:v>1.9487171000000014</c:v>
                      </c:pt>
                      <c:pt idx="8">
                        <c:v>2.1435888100000016</c:v>
                      </c:pt>
                      <c:pt idx="9">
                        <c:v>2.3579476910000019</c:v>
                      </c:pt>
                      <c:pt idx="10">
                        <c:v>2.5937424601000023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DA22-406A-BE1A-7C5A27D11A9D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20%</c:v>
                      </c:pt>
                    </c:strCache>
                  </c:strRef>
                </c:tx>
                <c:spPr>
                  <a:ln w="38100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1.2</c:v>
                      </c:pt>
                      <c:pt idx="2">
                        <c:v>1.44</c:v>
                      </c:pt>
                      <c:pt idx="3">
                        <c:v>1.728</c:v>
                      </c:pt>
                      <c:pt idx="4">
                        <c:v>2.0735999999999999</c:v>
                      </c:pt>
                      <c:pt idx="5">
                        <c:v>2.4883199999999999</c:v>
                      </c:pt>
                      <c:pt idx="6">
                        <c:v>2.9859839999999997</c:v>
                      </c:pt>
                      <c:pt idx="7">
                        <c:v>3.5831807999999996</c:v>
                      </c:pt>
                      <c:pt idx="8">
                        <c:v>4.2998169599999994</c:v>
                      </c:pt>
                      <c:pt idx="9">
                        <c:v>5.1597803519999994</c:v>
                      </c:pt>
                      <c:pt idx="10">
                        <c:v>6.1917364223999991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DA22-406A-BE1A-7C5A27D11A9D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Sheet1!$F$1</c15:sqref>
                        </c15:formulaRef>
                      </c:ext>
                    </c:extLst>
                    <c:strCache>
                      <c:ptCount val="1"/>
                      <c:pt idx="0">
                        <c:v>25%</c:v>
                      </c:pt>
                    </c:strCache>
                  </c:strRef>
                </c:tx>
                <c:spPr>
                  <a:ln w="38100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Sheet1!$F$2:$F$12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1.25</c:v>
                      </c:pt>
                      <c:pt idx="2">
                        <c:v>1.5625</c:v>
                      </c:pt>
                      <c:pt idx="3">
                        <c:v>1.953125</c:v>
                      </c:pt>
                      <c:pt idx="4">
                        <c:v>2.44140625</c:v>
                      </c:pt>
                      <c:pt idx="5">
                        <c:v>3.0517578125</c:v>
                      </c:pt>
                      <c:pt idx="6">
                        <c:v>3.814697265625</c:v>
                      </c:pt>
                      <c:pt idx="7">
                        <c:v>4.76837158203125</c:v>
                      </c:pt>
                      <c:pt idx="8">
                        <c:v>5.9604644775390625</c:v>
                      </c:pt>
                      <c:pt idx="9">
                        <c:v>7.4505805969238281</c:v>
                      </c:pt>
                      <c:pt idx="10">
                        <c:v>9.3132257461547852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DA22-406A-BE1A-7C5A27D11A9D}"/>
                  </c:ext>
                </c:extLst>
              </c15:ser>
            </c15:filteredLineSeries>
          </c:ext>
        </c:extLst>
      </c:lineChart>
      <c:catAx>
        <c:axId val="829329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9119328"/>
        <c:crosses val="autoZero"/>
        <c:auto val="1"/>
        <c:lblAlgn val="ctr"/>
        <c:lblOffset val="100"/>
        <c:noMultiLvlLbl val="0"/>
      </c:catAx>
      <c:valAx>
        <c:axId val="2119119328"/>
        <c:scaling>
          <c:orientation val="minMax"/>
          <c:max val="18"/>
        </c:scaling>
        <c:delete val="0"/>
        <c:axPos val="l"/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9329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625959949450761E-2"/>
          <c:y val="5.3526807745851224E-2"/>
          <c:w val="0.9002258919024011"/>
          <c:h val="0.8465413993503384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0%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Sheet1!$B$2:$B$12</c:f>
              <c:numCache>
                <c:formatCode>"$"#,##0.00_);[Red]\("$"#,##0.00\)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A22-406A-BE1A-7C5A27D11A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5%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Sheet1!$C$2:$C$12</c:f>
              <c:numCache>
                <c:formatCode>"$"#,##0.00_);[Red]\("$"#,##0.00\)</c:formatCode>
                <c:ptCount val="11"/>
                <c:pt idx="0">
                  <c:v>1</c:v>
                </c:pt>
                <c:pt idx="1">
                  <c:v>1.05</c:v>
                </c:pt>
                <c:pt idx="2">
                  <c:v>1.1025</c:v>
                </c:pt>
                <c:pt idx="3">
                  <c:v>1.1576250000000001</c:v>
                </c:pt>
                <c:pt idx="4">
                  <c:v>1.2155062500000002</c:v>
                </c:pt>
                <c:pt idx="5">
                  <c:v>1.2762815625000004</c:v>
                </c:pt>
                <c:pt idx="6">
                  <c:v>1.3400956406250004</c:v>
                </c:pt>
                <c:pt idx="7">
                  <c:v>1.4071004226562505</c:v>
                </c:pt>
                <c:pt idx="8">
                  <c:v>1.477455443789063</c:v>
                </c:pt>
                <c:pt idx="9">
                  <c:v>1.5513282159785162</c:v>
                </c:pt>
                <c:pt idx="10">
                  <c:v>1.628894626777442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A22-406A-BE1A-7C5A27D11A9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10%</c:v>
                </c:pt>
              </c:strCache>
            </c:strRef>
          </c:tx>
          <c:spPr>
            <a:ln w="3810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Sheet1!$D$2:$D$12</c:f>
              <c:numCache>
                <c:formatCode>"$"#,##0.00_);[Red]\("$"#,##0.00\)</c:formatCode>
                <c:ptCount val="11"/>
                <c:pt idx="0">
                  <c:v>1</c:v>
                </c:pt>
                <c:pt idx="1">
                  <c:v>1.1000000000000001</c:v>
                </c:pt>
                <c:pt idx="2">
                  <c:v>1.2100000000000002</c:v>
                </c:pt>
                <c:pt idx="3">
                  <c:v>1.3310000000000004</c:v>
                </c:pt>
                <c:pt idx="4">
                  <c:v>1.4641000000000006</c:v>
                </c:pt>
                <c:pt idx="5">
                  <c:v>1.6105100000000008</c:v>
                </c:pt>
                <c:pt idx="6">
                  <c:v>1.7715610000000011</c:v>
                </c:pt>
                <c:pt idx="7">
                  <c:v>1.9487171000000014</c:v>
                </c:pt>
                <c:pt idx="8">
                  <c:v>2.1435888100000016</c:v>
                </c:pt>
                <c:pt idx="9">
                  <c:v>2.3579476910000019</c:v>
                </c:pt>
                <c:pt idx="10">
                  <c:v>2.5937424601000023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1-DA22-406A-BE1A-7C5A27D11A9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20%</c:v>
                </c:pt>
              </c:strCache>
            </c:strRef>
          </c:tx>
          <c:spPr>
            <a:ln w="3810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Sheet1!$E$2:$E$12</c:f>
              <c:numCache>
                <c:formatCode>"$"#,##0.00_);[Red]\("$"#,##0.00\)</c:formatCode>
                <c:ptCount val="11"/>
                <c:pt idx="0">
                  <c:v>1</c:v>
                </c:pt>
                <c:pt idx="1">
                  <c:v>1.2</c:v>
                </c:pt>
                <c:pt idx="2">
                  <c:v>1.44</c:v>
                </c:pt>
                <c:pt idx="3">
                  <c:v>1.728</c:v>
                </c:pt>
                <c:pt idx="4">
                  <c:v>2.0735999999999999</c:v>
                </c:pt>
                <c:pt idx="5">
                  <c:v>2.4883199999999999</c:v>
                </c:pt>
                <c:pt idx="6">
                  <c:v>2.9859839999999997</c:v>
                </c:pt>
                <c:pt idx="7">
                  <c:v>3.5831807999999996</c:v>
                </c:pt>
                <c:pt idx="8">
                  <c:v>4.2998169599999994</c:v>
                </c:pt>
                <c:pt idx="9">
                  <c:v>5.1597803519999994</c:v>
                </c:pt>
                <c:pt idx="10">
                  <c:v>6.1917364223999991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2-DA22-406A-BE1A-7C5A27D11A9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25%</c:v>
                </c:pt>
              </c:strCache>
            </c:strRef>
          </c:tx>
          <c:spPr>
            <a:ln w="3810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Sheet1!$F$2:$F$12</c:f>
              <c:numCache>
                <c:formatCode>"$"#,##0.00_);[Red]\("$"#,##0.00\)</c:formatCode>
                <c:ptCount val="11"/>
                <c:pt idx="0">
                  <c:v>1</c:v>
                </c:pt>
                <c:pt idx="1">
                  <c:v>1.25</c:v>
                </c:pt>
                <c:pt idx="2">
                  <c:v>1.5625</c:v>
                </c:pt>
                <c:pt idx="3">
                  <c:v>1.953125</c:v>
                </c:pt>
                <c:pt idx="4">
                  <c:v>2.44140625</c:v>
                </c:pt>
                <c:pt idx="5">
                  <c:v>3.0517578125</c:v>
                </c:pt>
                <c:pt idx="6">
                  <c:v>3.814697265625</c:v>
                </c:pt>
                <c:pt idx="7">
                  <c:v>4.76837158203125</c:v>
                </c:pt>
                <c:pt idx="8">
                  <c:v>5.9604644775390625</c:v>
                </c:pt>
                <c:pt idx="9">
                  <c:v>7.4505805969238281</c:v>
                </c:pt>
                <c:pt idx="10">
                  <c:v>9.3132257461547852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3-DA22-406A-BE1A-7C5A27D11A9D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33%</c:v>
                </c:pt>
              </c:strCache>
            </c:strRef>
          </c:tx>
          <c:spPr>
            <a:ln w="381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Sheet1!$G$2:$G$12</c:f>
              <c:numCache>
                <c:formatCode>"$"#,##0.00_);[Red]\("$"#,##0.00\)</c:formatCode>
                <c:ptCount val="11"/>
                <c:pt idx="0">
                  <c:v>1</c:v>
                </c:pt>
                <c:pt idx="1">
                  <c:v>1.33</c:v>
                </c:pt>
                <c:pt idx="2">
                  <c:v>1.7689000000000001</c:v>
                </c:pt>
                <c:pt idx="3">
                  <c:v>2.3526370000000001</c:v>
                </c:pt>
                <c:pt idx="4">
                  <c:v>3.1290072100000001</c:v>
                </c:pt>
                <c:pt idx="5">
                  <c:v>4.1615795893000005</c:v>
                </c:pt>
                <c:pt idx="6">
                  <c:v>5.5349008537690008</c:v>
                </c:pt>
                <c:pt idx="7">
                  <c:v>7.3614181355127712</c:v>
                </c:pt>
                <c:pt idx="8">
                  <c:v>9.790686120231987</c:v>
                </c:pt>
                <c:pt idx="9">
                  <c:v>13.021612539908544</c:v>
                </c:pt>
                <c:pt idx="10">
                  <c:v>17.318744678078364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4-DA22-406A-BE1A-7C5A27D11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29329536"/>
        <c:axId val="2119119328"/>
      </c:lineChart>
      <c:catAx>
        <c:axId val="829329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9119328"/>
        <c:crosses val="autoZero"/>
        <c:auto val="1"/>
        <c:lblAlgn val="ctr"/>
        <c:lblOffset val="100"/>
        <c:noMultiLvlLbl val="0"/>
      </c:catAx>
      <c:valAx>
        <c:axId val="2119119328"/>
        <c:scaling>
          <c:orientation val="minMax"/>
          <c:max val="18"/>
        </c:scaling>
        <c:delete val="0"/>
        <c:axPos val="l"/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9329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625959949450761E-2"/>
          <c:y val="5.3526807745851224E-2"/>
          <c:w val="0.9002258919024011"/>
          <c:h val="0.8465413993503384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8%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Sheet1!$B$2:$B$12</c:f>
              <c:numCache>
                <c:formatCode>"$"#,##0.00_);[Red]\("$"#,##0.00\)</c:formatCode>
                <c:ptCount val="11"/>
                <c:pt idx="0">
                  <c:v>1</c:v>
                </c:pt>
                <c:pt idx="1">
                  <c:v>1.08</c:v>
                </c:pt>
                <c:pt idx="2">
                  <c:v>1.1664000000000001</c:v>
                </c:pt>
                <c:pt idx="3">
                  <c:v>1.2597120000000002</c:v>
                </c:pt>
                <c:pt idx="4">
                  <c:v>1.3604889600000003</c:v>
                </c:pt>
                <c:pt idx="5">
                  <c:v>1.4693280768000003</c:v>
                </c:pt>
                <c:pt idx="6">
                  <c:v>1.5868743229440005</c:v>
                </c:pt>
                <c:pt idx="7">
                  <c:v>1.7138242687795207</c:v>
                </c:pt>
                <c:pt idx="8">
                  <c:v>1.8509302102818825</c:v>
                </c:pt>
                <c:pt idx="9">
                  <c:v>1.9990046271044333</c:v>
                </c:pt>
                <c:pt idx="10">
                  <c:v>2.1589249972727882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A22-406A-BE1A-7C5A27D11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29329536"/>
        <c:axId val="2119119328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5%</c:v>
                      </c:pt>
                    </c:strCache>
                  </c:strRef>
                </c:tx>
                <c:spPr>
                  <a:ln w="38100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1.05</c:v>
                      </c:pt>
                      <c:pt idx="2">
                        <c:v>1.1025</c:v>
                      </c:pt>
                      <c:pt idx="3">
                        <c:v>1.1576250000000001</c:v>
                      </c:pt>
                      <c:pt idx="4">
                        <c:v>1.2155062500000002</c:v>
                      </c:pt>
                      <c:pt idx="5">
                        <c:v>1.2762815625000004</c:v>
                      </c:pt>
                      <c:pt idx="6">
                        <c:v>1.3400956406250004</c:v>
                      </c:pt>
                      <c:pt idx="7">
                        <c:v>1.4071004226562505</c:v>
                      </c:pt>
                      <c:pt idx="8">
                        <c:v>1.477455443789063</c:v>
                      </c:pt>
                      <c:pt idx="9">
                        <c:v>1.5513282159785162</c:v>
                      </c:pt>
                      <c:pt idx="10">
                        <c:v>1.628894626777442</c:v>
                      </c:pt>
                    </c:numCache>
                  </c:numRef>
                </c:val>
                <c:smooth val="1"/>
                <c:extLst>
                  <c:ext xmlns:c16="http://schemas.microsoft.com/office/drawing/2014/chart" uri="{C3380CC4-5D6E-409C-BE32-E72D297353CC}">
                    <c16:uniqueId val="{00000001-DA22-406A-BE1A-7C5A27D11A9D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10%</c:v>
                      </c:pt>
                    </c:strCache>
                  </c:strRef>
                </c:tx>
                <c:spPr>
                  <a:ln w="3810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1.1000000000000001</c:v>
                      </c:pt>
                      <c:pt idx="2">
                        <c:v>1.2100000000000002</c:v>
                      </c:pt>
                      <c:pt idx="3">
                        <c:v>1.3310000000000004</c:v>
                      </c:pt>
                      <c:pt idx="4">
                        <c:v>1.4641000000000006</c:v>
                      </c:pt>
                      <c:pt idx="5">
                        <c:v>1.6105100000000008</c:v>
                      </c:pt>
                      <c:pt idx="6">
                        <c:v>1.7715610000000011</c:v>
                      </c:pt>
                      <c:pt idx="7">
                        <c:v>1.9487171000000014</c:v>
                      </c:pt>
                      <c:pt idx="8">
                        <c:v>2.1435888100000016</c:v>
                      </c:pt>
                      <c:pt idx="9">
                        <c:v>2.3579476910000019</c:v>
                      </c:pt>
                      <c:pt idx="10">
                        <c:v>2.5937424601000023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DA22-406A-BE1A-7C5A27D11A9D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20%</c:v>
                      </c:pt>
                    </c:strCache>
                  </c:strRef>
                </c:tx>
                <c:spPr>
                  <a:ln w="38100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1.2</c:v>
                      </c:pt>
                      <c:pt idx="2">
                        <c:v>1.44</c:v>
                      </c:pt>
                      <c:pt idx="3">
                        <c:v>1.728</c:v>
                      </c:pt>
                      <c:pt idx="4">
                        <c:v>2.0735999999999999</c:v>
                      </c:pt>
                      <c:pt idx="5">
                        <c:v>2.4883199999999999</c:v>
                      </c:pt>
                      <c:pt idx="6">
                        <c:v>2.9859839999999997</c:v>
                      </c:pt>
                      <c:pt idx="7">
                        <c:v>3.5831807999999996</c:v>
                      </c:pt>
                      <c:pt idx="8">
                        <c:v>4.2998169599999994</c:v>
                      </c:pt>
                      <c:pt idx="9">
                        <c:v>5.1597803519999994</c:v>
                      </c:pt>
                      <c:pt idx="10">
                        <c:v>6.1917364223999991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DA22-406A-BE1A-7C5A27D11A9D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Sheet1!$F$1</c15:sqref>
                        </c15:formulaRef>
                      </c:ext>
                    </c:extLst>
                    <c:strCache>
                      <c:ptCount val="1"/>
                      <c:pt idx="0">
                        <c:v>25%</c:v>
                      </c:pt>
                    </c:strCache>
                  </c:strRef>
                </c:tx>
                <c:spPr>
                  <a:ln w="38100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Sheet1!$F$2:$F$12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1.25</c:v>
                      </c:pt>
                      <c:pt idx="2">
                        <c:v>1.5625</c:v>
                      </c:pt>
                      <c:pt idx="3">
                        <c:v>1.953125</c:v>
                      </c:pt>
                      <c:pt idx="4">
                        <c:v>2.44140625</c:v>
                      </c:pt>
                      <c:pt idx="5">
                        <c:v>3.0517578125</c:v>
                      </c:pt>
                      <c:pt idx="6">
                        <c:v>3.814697265625</c:v>
                      </c:pt>
                      <c:pt idx="7">
                        <c:v>4.76837158203125</c:v>
                      </c:pt>
                      <c:pt idx="8">
                        <c:v>5.9604644775390625</c:v>
                      </c:pt>
                      <c:pt idx="9">
                        <c:v>7.4505805969238281</c:v>
                      </c:pt>
                      <c:pt idx="10">
                        <c:v>9.3132257461547852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DA22-406A-BE1A-7C5A27D11A9D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Sheet1!$G$1</c15:sqref>
                        </c15:formulaRef>
                      </c:ext>
                    </c:extLst>
                    <c:strCache>
                      <c:ptCount val="1"/>
                      <c:pt idx="0">
                        <c:v>33%</c:v>
                      </c:pt>
                    </c:strCache>
                  </c:strRef>
                </c:tx>
                <c:spPr>
                  <a:ln w="38100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Sheet1!$G$2:$G$12</c15:sqref>
                        </c15:formulaRef>
                      </c:ext>
                    </c:extLst>
                    <c:numCache>
                      <c:formatCode>"$"#,##0.00_);[Red]\("$"#,##0.00\)</c:formatCode>
                      <c:ptCount val="11"/>
                      <c:pt idx="0">
                        <c:v>1</c:v>
                      </c:pt>
                      <c:pt idx="1">
                        <c:v>1.33</c:v>
                      </c:pt>
                      <c:pt idx="2">
                        <c:v>1.7689000000000001</c:v>
                      </c:pt>
                      <c:pt idx="3">
                        <c:v>2.3526370000000001</c:v>
                      </c:pt>
                      <c:pt idx="4">
                        <c:v>3.1290072100000001</c:v>
                      </c:pt>
                      <c:pt idx="5">
                        <c:v>4.1615795893000005</c:v>
                      </c:pt>
                      <c:pt idx="6">
                        <c:v>5.5349008537690008</c:v>
                      </c:pt>
                      <c:pt idx="7">
                        <c:v>7.3614181355127712</c:v>
                      </c:pt>
                      <c:pt idx="8">
                        <c:v>9.790686120231987</c:v>
                      </c:pt>
                      <c:pt idx="9">
                        <c:v>13.021612539908544</c:v>
                      </c:pt>
                      <c:pt idx="10">
                        <c:v>17.318744678078364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DA22-406A-BE1A-7C5A27D11A9D}"/>
                  </c:ext>
                </c:extLst>
              </c15:ser>
            </c15:filteredLineSeries>
          </c:ext>
        </c:extLst>
      </c:lineChart>
      <c:catAx>
        <c:axId val="829329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9119328"/>
        <c:crosses val="autoZero"/>
        <c:auto val="1"/>
        <c:lblAlgn val="ctr"/>
        <c:lblOffset val="100"/>
        <c:noMultiLvlLbl val="0"/>
      </c:catAx>
      <c:valAx>
        <c:axId val="2119119328"/>
        <c:scaling>
          <c:orientation val="minMax"/>
          <c:max val="2.2000000000000002"/>
          <c:min val="1"/>
        </c:scaling>
        <c:delete val="0"/>
        <c:axPos val="l"/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9329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E17C84-E841-4A1B-8E7D-BC4DD04288AF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F4A8F-D9C2-45B3-A773-85D873088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49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5F4A8F-D9C2-45B3-A773-85D8730888F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804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837" y="4539059"/>
            <a:ext cx="388599" cy="4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8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9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6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0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1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5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95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08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03DFB-57EE-1441-A120-C0F52985D79B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837" y="4539059"/>
            <a:ext cx="388599" cy="4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8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5533" y="1597819"/>
            <a:ext cx="8767234" cy="1102519"/>
          </a:xfrm>
        </p:spPr>
        <p:txBody>
          <a:bodyPr>
            <a:noAutofit/>
          </a:bodyPr>
          <a:lstStyle/>
          <a:p>
            <a:r>
              <a:rPr lang="en-US" sz="4000" b="1"/>
              <a:t>ACCT 2700</a:t>
            </a:r>
            <a:br>
              <a:rPr lang="en-US" sz="4000" b="1" dirty="0"/>
            </a:br>
            <a:r>
              <a:rPr lang="en-US" sz="4000" b="1" dirty="0"/>
              <a:t>Foundations of Accounting &amp; Valuation</a:t>
            </a:r>
            <a:br>
              <a:rPr lang="en-US" sz="3600" dirty="0"/>
            </a:br>
            <a:endParaRPr lang="en-US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4862" y="2914650"/>
            <a:ext cx="7593338" cy="131445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Session 3: Excel Techniques</a:t>
            </a:r>
          </a:p>
        </p:txBody>
      </p:sp>
    </p:spTree>
    <p:extLst>
      <p:ext uri="{BB962C8B-B14F-4D97-AF65-F5344CB8AC3E}">
        <p14:creationId xmlns:p14="http://schemas.microsoft.com/office/powerpoint/2010/main" val="1423805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7A9818-0C41-4B7B-5B91-F663FAF8345D}"/>
              </a:ext>
            </a:extLst>
          </p:cNvPr>
          <p:cNvSpPr txBox="1"/>
          <p:nvPr/>
        </p:nvSpPr>
        <p:spPr>
          <a:xfrm>
            <a:off x="400050" y="1092200"/>
            <a:ext cx="82931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/>
              <a:t>(T)he Mesopotamians charged interest on loans before they discovered how to put wheels on carts.</a:t>
            </a:r>
          </a:p>
          <a:p>
            <a:pPr algn="r"/>
            <a:r>
              <a:rPr lang="en-US" sz="1200" dirty="0"/>
              <a:t>Chancellor, E., </a:t>
            </a:r>
            <a:r>
              <a:rPr lang="en-US" sz="1200" i="1" dirty="0"/>
              <a:t>The Price of Time: The Real Story of Interest Rates,</a:t>
            </a:r>
          </a:p>
          <a:p>
            <a:pPr algn="r"/>
            <a:r>
              <a:rPr lang="en-US" sz="1200" dirty="0"/>
              <a:t>Atlantic Monthly Press, 2022, p. 3</a:t>
            </a:r>
          </a:p>
        </p:txBody>
      </p:sp>
    </p:spTree>
    <p:extLst>
      <p:ext uri="{BB962C8B-B14F-4D97-AF65-F5344CB8AC3E}">
        <p14:creationId xmlns:p14="http://schemas.microsoft.com/office/powerpoint/2010/main" val="338341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More on compounding &amp; discounting</a:t>
            </a:r>
          </a:p>
          <a:p>
            <a:r>
              <a:rPr lang="en-US" dirty="0"/>
              <a:t>Excel techniques</a:t>
            </a:r>
          </a:p>
          <a:p>
            <a:pPr lvl="1"/>
            <a:r>
              <a:rPr lang="en-US" dirty="0"/>
              <a:t>Likely is a big disparity in the class in familiarity with spreadsheets</a:t>
            </a:r>
          </a:p>
          <a:p>
            <a:pPr lvl="1"/>
            <a:r>
              <a:rPr lang="en-US" dirty="0"/>
              <a:t>Again, I am going to start from the beginning</a:t>
            </a:r>
          </a:p>
          <a:p>
            <a:r>
              <a:rPr lang="en-US" dirty="0"/>
              <a:t>Along the way, we will remind ourselves of some things, and introduce a few more</a:t>
            </a:r>
          </a:p>
        </p:txBody>
      </p:sp>
    </p:spTree>
    <p:extLst>
      <p:ext uri="{BB962C8B-B14F-4D97-AF65-F5344CB8AC3E}">
        <p14:creationId xmlns:p14="http://schemas.microsoft.com/office/powerpoint/2010/main" val="1497234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Fundamentals of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Auto-fill</a:t>
            </a:r>
          </a:p>
          <a:p>
            <a:r>
              <a:rPr lang="en-US" dirty="0"/>
              <a:t>Copy &amp; Paste</a:t>
            </a:r>
          </a:p>
          <a:p>
            <a:r>
              <a:rPr lang="en-US" dirty="0"/>
              <a:t>Absolute and relative references</a:t>
            </a:r>
          </a:p>
          <a:p>
            <a:r>
              <a:rPr lang="en-US" dirty="0"/>
              <a:t>Formula notation</a:t>
            </a:r>
          </a:p>
          <a:p>
            <a:r>
              <a:rPr lang="en-US" dirty="0" err="1"/>
              <a:t>Autosum</a:t>
            </a:r>
            <a:endParaRPr lang="en-US" dirty="0"/>
          </a:p>
          <a:p>
            <a:r>
              <a:rPr lang="en-US" dirty="0"/>
              <a:t>Names</a:t>
            </a:r>
          </a:p>
        </p:txBody>
      </p:sp>
    </p:spTree>
    <p:extLst>
      <p:ext uri="{BB962C8B-B14F-4D97-AF65-F5344CB8AC3E}">
        <p14:creationId xmlns:p14="http://schemas.microsoft.com/office/powerpoint/2010/main" val="3960507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Everything We Did Last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Interest rate, 6%</a:t>
            </a:r>
          </a:p>
          <a:p>
            <a:r>
              <a:rPr lang="en-US" dirty="0"/>
              <a:t>$83.96</a:t>
            </a:r>
          </a:p>
          <a:p>
            <a:r>
              <a:rPr lang="en-US" dirty="0"/>
              <a:t>$100 three periods hence</a:t>
            </a:r>
          </a:p>
          <a:p>
            <a:r>
              <a:rPr lang="en-US" dirty="0"/>
              <a:t>$50, $40, $1.42</a:t>
            </a:r>
          </a:p>
          <a:p>
            <a:r>
              <a:rPr lang="en-US" dirty="0"/>
              <a:t>Annuity in arrears of $31.41 for three periods</a:t>
            </a:r>
          </a:p>
          <a:p>
            <a:r>
              <a:rPr lang="en-US" dirty="0"/>
              <a:t>$100 face, 6% coupon, 3 period maturity bond</a:t>
            </a:r>
          </a:p>
          <a:p>
            <a:r>
              <a:rPr lang="en-US" dirty="0"/>
              <a:t>Zero coupon, $119.10 face, 3 period maturity bond</a:t>
            </a:r>
          </a:p>
        </p:txBody>
      </p:sp>
    </p:spTree>
    <p:extLst>
      <p:ext uri="{BB962C8B-B14F-4D97-AF65-F5344CB8AC3E}">
        <p14:creationId xmlns:p14="http://schemas.microsoft.com/office/powerpoint/2010/main" val="2444817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E5C7-DDFC-BFE7-40E6-6C3B7276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of $1 at Various Rates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4CDADA0-0E8F-F698-3ED9-EE220A4755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200150"/>
          <a:ext cx="8229600" cy="339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F6372D5-41D6-E72E-878A-849D348299A1}"/>
              </a:ext>
            </a:extLst>
          </p:cNvPr>
          <p:cNvSpPr txBox="1"/>
          <p:nvPr/>
        </p:nvSpPr>
        <p:spPr>
          <a:xfrm>
            <a:off x="4334006" y="4594225"/>
            <a:ext cx="495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Time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ED5FB-31C1-6828-DDD8-E06E1E2228DD}"/>
              </a:ext>
            </a:extLst>
          </p:cNvPr>
          <p:cNvSpPr txBox="1"/>
          <p:nvPr/>
        </p:nvSpPr>
        <p:spPr>
          <a:xfrm>
            <a:off x="53372" y="2054355"/>
            <a:ext cx="403828" cy="1405898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pPr algn="r"/>
            <a:r>
              <a:rPr lang="en-US" sz="1200" dirty="0"/>
              <a:t>Amount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1F2E0F-4BCE-B43D-DA65-B76E9182321B}"/>
              </a:ext>
            </a:extLst>
          </p:cNvPr>
          <p:cNvSpPr txBox="1"/>
          <p:nvPr/>
        </p:nvSpPr>
        <p:spPr>
          <a:xfrm>
            <a:off x="4623089" y="1973100"/>
            <a:ext cx="8114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0%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B1CE3F5C-F412-508E-A4A5-EE2BACD0F991}"/>
              </a:ext>
            </a:extLst>
          </p:cNvPr>
          <p:cNvSpPr txBox="1"/>
          <p:nvPr/>
        </p:nvSpPr>
        <p:spPr>
          <a:xfrm>
            <a:off x="959042" y="384985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$1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17E5EE33-012F-7063-864D-61C2A6B89283}"/>
              </a:ext>
            </a:extLst>
          </p:cNvPr>
          <p:cNvSpPr txBox="1"/>
          <p:nvPr/>
        </p:nvSpPr>
        <p:spPr>
          <a:xfrm>
            <a:off x="8092495" y="384985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$1</a:t>
            </a:r>
          </a:p>
        </p:txBody>
      </p:sp>
    </p:spTree>
    <p:extLst>
      <p:ext uri="{BB962C8B-B14F-4D97-AF65-F5344CB8AC3E}">
        <p14:creationId xmlns:p14="http://schemas.microsoft.com/office/powerpoint/2010/main" val="128560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Chart bld="series" animBg="0"/>
        </p:bldSub>
      </p:bldGraphic>
      <p:bldP spid="9" grpId="0"/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E5C7-DDFC-BFE7-40E6-6C3B7276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of $1 at Various Rates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4CDADA0-0E8F-F698-3ED9-EE220A4755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200150"/>
          <a:ext cx="8229600" cy="339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F6372D5-41D6-E72E-878A-849D348299A1}"/>
              </a:ext>
            </a:extLst>
          </p:cNvPr>
          <p:cNvSpPr txBox="1"/>
          <p:nvPr/>
        </p:nvSpPr>
        <p:spPr>
          <a:xfrm>
            <a:off x="4334006" y="4594225"/>
            <a:ext cx="495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Time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ED5FB-31C1-6828-DDD8-E06E1E2228DD}"/>
              </a:ext>
            </a:extLst>
          </p:cNvPr>
          <p:cNvSpPr txBox="1"/>
          <p:nvPr/>
        </p:nvSpPr>
        <p:spPr>
          <a:xfrm>
            <a:off x="53372" y="2054355"/>
            <a:ext cx="403828" cy="1405898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pPr algn="r"/>
            <a:r>
              <a:rPr lang="en-US" sz="1200" dirty="0"/>
              <a:t>Amount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6E72FE-DE90-5D31-E74C-B60F742D55AD}"/>
              </a:ext>
            </a:extLst>
          </p:cNvPr>
          <p:cNvSpPr txBox="1"/>
          <p:nvPr/>
        </p:nvSpPr>
        <p:spPr>
          <a:xfrm>
            <a:off x="4472257" y="1872046"/>
            <a:ext cx="8114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6">
                    <a:lumMod val="50000"/>
                  </a:schemeClr>
                </a:solidFill>
              </a:rPr>
              <a:t>5%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65467080-210A-104A-602F-566FA3486343}"/>
              </a:ext>
            </a:extLst>
          </p:cNvPr>
          <p:cNvSpPr txBox="1"/>
          <p:nvPr/>
        </p:nvSpPr>
        <p:spPr>
          <a:xfrm>
            <a:off x="8130192" y="3718331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$1.63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B1CE3F5C-F412-508E-A4A5-EE2BACD0F991}"/>
              </a:ext>
            </a:extLst>
          </p:cNvPr>
          <p:cNvSpPr txBox="1"/>
          <p:nvPr/>
        </p:nvSpPr>
        <p:spPr>
          <a:xfrm>
            <a:off x="959042" y="384985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$1</a:t>
            </a:r>
          </a:p>
        </p:txBody>
      </p:sp>
    </p:spTree>
    <p:extLst>
      <p:ext uri="{BB962C8B-B14F-4D97-AF65-F5344CB8AC3E}">
        <p14:creationId xmlns:p14="http://schemas.microsoft.com/office/powerpoint/2010/main" val="1104971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Chart bld="series" animBg="0"/>
        </p:bldSub>
      </p:bldGraphic>
      <p:bldP spid="10" grpId="0" uiExpand="1"/>
      <p:bldP spid="22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E5C7-DDFC-BFE7-40E6-6C3B7276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of $1 at Various Rates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4CDADA0-0E8F-F698-3ED9-EE220A4755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200150"/>
          <a:ext cx="8229600" cy="339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F6372D5-41D6-E72E-878A-849D348299A1}"/>
              </a:ext>
            </a:extLst>
          </p:cNvPr>
          <p:cNvSpPr txBox="1"/>
          <p:nvPr/>
        </p:nvSpPr>
        <p:spPr>
          <a:xfrm>
            <a:off x="4334006" y="4594225"/>
            <a:ext cx="495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Time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ED5FB-31C1-6828-DDD8-E06E1E2228DD}"/>
              </a:ext>
            </a:extLst>
          </p:cNvPr>
          <p:cNvSpPr txBox="1"/>
          <p:nvPr/>
        </p:nvSpPr>
        <p:spPr>
          <a:xfrm>
            <a:off x="53372" y="2054355"/>
            <a:ext cx="403828" cy="1405898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pPr algn="r"/>
            <a:r>
              <a:rPr lang="en-US" sz="1200" dirty="0"/>
              <a:t>Amount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AC4E79-52C7-46DA-6C50-91849D3F0A64}"/>
              </a:ext>
            </a:extLst>
          </p:cNvPr>
          <p:cNvSpPr txBox="1"/>
          <p:nvPr/>
        </p:nvSpPr>
        <p:spPr>
          <a:xfrm>
            <a:off x="4450916" y="1748708"/>
            <a:ext cx="10711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3">
                    <a:lumMod val="75000"/>
                  </a:schemeClr>
                </a:solidFill>
              </a:rPr>
              <a:t>10%</a:t>
            </a: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097CAE95-45F9-11D1-A43C-0D94800CE1EE}"/>
              </a:ext>
            </a:extLst>
          </p:cNvPr>
          <p:cNvSpPr txBox="1"/>
          <p:nvPr/>
        </p:nvSpPr>
        <p:spPr>
          <a:xfrm>
            <a:off x="8116376" y="3573672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$2.59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B1CE3F5C-F412-508E-A4A5-EE2BACD0F991}"/>
              </a:ext>
            </a:extLst>
          </p:cNvPr>
          <p:cNvSpPr txBox="1"/>
          <p:nvPr/>
        </p:nvSpPr>
        <p:spPr>
          <a:xfrm>
            <a:off x="959042" y="384985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$1</a:t>
            </a:r>
          </a:p>
        </p:txBody>
      </p:sp>
    </p:spTree>
    <p:extLst>
      <p:ext uri="{BB962C8B-B14F-4D97-AF65-F5344CB8AC3E}">
        <p14:creationId xmlns:p14="http://schemas.microsoft.com/office/powerpoint/2010/main" val="222833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Chart bld="series" animBg="0"/>
        </p:bldSub>
      </p:bldGraphic>
      <p:bldP spid="11" grpId="0"/>
      <p:bldP spid="21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E5C7-DDFC-BFE7-40E6-6C3B7276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of $1 at Various Rates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4CDADA0-0E8F-F698-3ED9-EE220A4755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200150"/>
          <a:ext cx="8229600" cy="339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F6372D5-41D6-E72E-878A-849D348299A1}"/>
              </a:ext>
            </a:extLst>
          </p:cNvPr>
          <p:cNvSpPr txBox="1"/>
          <p:nvPr/>
        </p:nvSpPr>
        <p:spPr>
          <a:xfrm>
            <a:off x="4334006" y="4594225"/>
            <a:ext cx="495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Time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ED5FB-31C1-6828-DDD8-E06E1E2228DD}"/>
              </a:ext>
            </a:extLst>
          </p:cNvPr>
          <p:cNvSpPr txBox="1"/>
          <p:nvPr/>
        </p:nvSpPr>
        <p:spPr>
          <a:xfrm>
            <a:off x="53372" y="2054355"/>
            <a:ext cx="403828" cy="1405898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pPr algn="r"/>
            <a:r>
              <a:rPr lang="en-US" sz="1200" dirty="0"/>
              <a:t>Amount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95584F-416B-F70A-BC7E-729E163D37D3}"/>
              </a:ext>
            </a:extLst>
          </p:cNvPr>
          <p:cNvSpPr txBox="1"/>
          <p:nvPr/>
        </p:nvSpPr>
        <p:spPr>
          <a:xfrm>
            <a:off x="4394350" y="1895795"/>
            <a:ext cx="10711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7030A0"/>
                </a:solidFill>
              </a:rPr>
              <a:t>20%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B1CE3F5C-F412-508E-A4A5-EE2BACD0F991}"/>
              </a:ext>
            </a:extLst>
          </p:cNvPr>
          <p:cNvSpPr txBox="1"/>
          <p:nvPr/>
        </p:nvSpPr>
        <p:spPr>
          <a:xfrm>
            <a:off x="959042" y="384985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$1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17E5EE33-012F-7063-864D-61C2A6B89283}"/>
              </a:ext>
            </a:extLst>
          </p:cNvPr>
          <p:cNvSpPr txBox="1"/>
          <p:nvPr/>
        </p:nvSpPr>
        <p:spPr>
          <a:xfrm>
            <a:off x="8191151" y="2973724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$6.19</a:t>
            </a:r>
          </a:p>
        </p:txBody>
      </p:sp>
    </p:spTree>
    <p:extLst>
      <p:ext uri="{BB962C8B-B14F-4D97-AF65-F5344CB8AC3E}">
        <p14:creationId xmlns:p14="http://schemas.microsoft.com/office/powerpoint/2010/main" val="218041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6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Chart bld="series" animBg="0"/>
        </p:bldSub>
      </p:bldGraphic>
      <p:bldP spid="12" grpId="0"/>
      <p:bldP spid="23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E5C7-DDFC-BFE7-40E6-6C3B7276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of $1 at Various Rates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4CDADA0-0E8F-F698-3ED9-EE220A4755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200150"/>
          <a:ext cx="8229600" cy="339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F6372D5-41D6-E72E-878A-849D348299A1}"/>
              </a:ext>
            </a:extLst>
          </p:cNvPr>
          <p:cNvSpPr txBox="1"/>
          <p:nvPr/>
        </p:nvSpPr>
        <p:spPr>
          <a:xfrm>
            <a:off x="4334006" y="4594225"/>
            <a:ext cx="495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Time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ED5FB-31C1-6828-DDD8-E06E1E2228DD}"/>
              </a:ext>
            </a:extLst>
          </p:cNvPr>
          <p:cNvSpPr txBox="1"/>
          <p:nvPr/>
        </p:nvSpPr>
        <p:spPr>
          <a:xfrm>
            <a:off x="53372" y="2054355"/>
            <a:ext cx="403828" cy="1405898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pPr algn="r"/>
            <a:r>
              <a:rPr lang="en-US" sz="1200" dirty="0"/>
              <a:t>Amount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95584F-416B-F70A-BC7E-729E163D37D3}"/>
              </a:ext>
            </a:extLst>
          </p:cNvPr>
          <p:cNvSpPr txBox="1"/>
          <p:nvPr/>
        </p:nvSpPr>
        <p:spPr>
          <a:xfrm>
            <a:off x="4394350" y="1895795"/>
            <a:ext cx="10775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B0F0"/>
                </a:solidFill>
              </a:rPr>
              <a:t>25%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B1CE3F5C-F412-508E-A4A5-EE2BACD0F991}"/>
              </a:ext>
            </a:extLst>
          </p:cNvPr>
          <p:cNvSpPr txBox="1"/>
          <p:nvPr/>
        </p:nvSpPr>
        <p:spPr>
          <a:xfrm>
            <a:off x="959042" y="384985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$1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17E5EE33-012F-7063-864D-61C2A6B89283}"/>
              </a:ext>
            </a:extLst>
          </p:cNvPr>
          <p:cNvSpPr txBox="1"/>
          <p:nvPr/>
        </p:nvSpPr>
        <p:spPr>
          <a:xfrm>
            <a:off x="8191151" y="2487887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$9.31</a:t>
            </a:r>
          </a:p>
        </p:txBody>
      </p:sp>
    </p:spTree>
    <p:extLst>
      <p:ext uri="{BB962C8B-B14F-4D97-AF65-F5344CB8AC3E}">
        <p14:creationId xmlns:p14="http://schemas.microsoft.com/office/powerpoint/2010/main" val="167517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Chart bld="series" animBg="0"/>
        </p:bldSub>
      </p:bldGraphic>
      <p:bldP spid="12" grpId="0"/>
      <p:bldP spid="23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E5C7-DDFC-BFE7-40E6-6C3B7276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of $1 at Various Rates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4CDADA0-0E8F-F698-3ED9-EE220A4755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200150"/>
          <a:ext cx="8229600" cy="339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F6372D5-41D6-E72E-878A-849D348299A1}"/>
              </a:ext>
            </a:extLst>
          </p:cNvPr>
          <p:cNvSpPr txBox="1"/>
          <p:nvPr/>
        </p:nvSpPr>
        <p:spPr>
          <a:xfrm>
            <a:off x="4334006" y="4594225"/>
            <a:ext cx="495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Time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ED5FB-31C1-6828-DDD8-E06E1E2228DD}"/>
              </a:ext>
            </a:extLst>
          </p:cNvPr>
          <p:cNvSpPr txBox="1"/>
          <p:nvPr/>
        </p:nvSpPr>
        <p:spPr>
          <a:xfrm>
            <a:off x="53372" y="2054355"/>
            <a:ext cx="403828" cy="1405898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pPr algn="r"/>
            <a:r>
              <a:rPr lang="en-US" sz="1200" dirty="0"/>
              <a:t>Amount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95584F-416B-F70A-BC7E-729E163D37D3}"/>
              </a:ext>
            </a:extLst>
          </p:cNvPr>
          <p:cNvSpPr txBox="1"/>
          <p:nvPr/>
        </p:nvSpPr>
        <p:spPr>
          <a:xfrm>
            <a:off x="4244037" y="1887634"/>
            <a:ext cx="17331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33.33%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B1CE3F5C-F412-508E-A4A5-EE2BACD0F991}"/>
              </a:ext>
            </a:extLst>
          </p:cNvPr>
          <p:cNvSpPr txBox="1"/>
          <p:nvPr/>
        </p:nvSpPr>
        <p:spPr>
          <a:xfrm>
            <a:off x="959042" y="384985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$1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17E5EE33-012F-7063-864D-61C2A6B89283}"/>
              </a:ext>
            </a:extLst>
          </p:cNvPr>
          <p:cNvSpPr txBox="1"/>
          <p:nvPr/>
        </p:nvSpPr>
        <p:spPr>
          <a:xfrm>
            <a:off x="7961507" y="1063229"/>
            <a:ext cx="10438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$17.32</a:t>
            </a:r>
          </a:p>
        </p:txBody>
      </p:sp>
    </p:spTree>
    <p:extLst>
      <p:ext uri="{BB962C8B-B14F-4D97-AF65-F5344CB8AC3E}">
        <p14:creationId xmlns:p14="http://schemas.microsoft.com/office/powerpoint/2010/main" val="1727000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Chart bld="series" animBg="0"/>
        </p:bldSub>
      </p:bldGraphic>
      <p:bldP spid="12" grpId="0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E5C7-DDFC-BFE7-40E6-6C3B7276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of $1 at Various Rates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4CDADA0-0E8F-F698-3ED9-EE220A4755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200150"/>
          <a:ext cx="8229600" cy="339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F6372D5-41D6-E72E-878A-849D348299A1}"/>
              </a:ext>
            </a:extLst>
          </p:cNvPr>
          <p:cNvSpPr txBox="1"/>
          <p:nvPr/>
        </p:nvSpPr>
        <p:spPr>
          <a:xfrm>
            <a:off x="4334006" y="4594225"/>
            <a:ext cx="495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Time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ED5FB-31C1-6828-DDD8-E06E1E2228DD}"/>
              </a:ext>
            </a:extLst>
          </p:cNvPr>
          <p:cNvSpPr txBox="1"/>
          <p:nvPr/>
        </p:nvSpPr>
        <p:spPr>
          <a:xfrm>
            <a:off x="53372" y="2054355"/>
            <a:ext cx="403828" cy="1405898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pPr algn="r"/>
            <a:r>
              <a:rPr lang="en-US" sz="1200" dirty="0"/>
              <a:t>Amount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5DF25CF2-79AB-2453-256F-336BBE91A6A6}"/>
              </a:ext>
            </a:extLst>
          </p:cNvPr>
          <p:cNvSpPr txBox="1"/>
          <p:nvPr/>
        </p:nvSpPr>
        <p:spPr>
          <a:xfrm>
            <a:off x="8022431" y="1018233"/>
            <a:ext cx="1039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$17.32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B1CE3F5C-F412-508E-A4A5-EE2BACD0F991}"/>
              </a:ext>
            </a:extLst>
          </p:cNvPr>
          <p:cNvSpPr txBox="1"/>
          <p:nvPr/>
        </p:nvSpPr>
        <p:spPr>
          <a:xfrm>
            <a:off x="959042" y="384985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$1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17E5EE33-012F-7063-864D-61C2A6B89283}"/>
              </a:ext>
            </a:extLst>
          </p:cNvPr>
          <p:cNvSpPr txBox="1"/>
          <p:nvPr/>
        </p:nvSpPr>
        <p:spPr>
          <a:xfrm>
            <a:off x="8092495" y="384985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$1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946D99C2-896E-C4B1-2FD5-BD635B59ACDA}"/>
              </a:ext>
            </a:extLst>
          </p:cNvPr>
          <p:cNvSpPr txBox="1"/>
          <p:nvPr/>
        </p:nvSpPr>
        <p:spPr>
          <a:xfrm>
            <a:off x="8191151" y="2973724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$6.19</a:t>
            </a:r>
          </a:p>
        </p:txBody>
      </p:sp>
    </p:spTree>
    <p:extLst>
      <p:ext uri="{BB962C8B-B14F-4D97-AF65-F5344CB8AC3E}">
        <p14:creationId xmlns:p14="http://schemas.microsoft.com/office/powerpoint/2010/main" val="201460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E5C7-DDFC-BFE7-40E6-6C3B7276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of $1 at Various Rates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4CDADA0-0E8F-F698-3ED9-EE220A4755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6132" y="1310849"/>
          <a:ext cx="6974909" cy="339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F6372D5-41D6-E72E-878A-849D348299A1}"/>
              </a:ext>
            </a:extLst>
          </p:cNvPr>
          <p:cNvSpPr txBox="1"/>
          <p:nvPr/>
        </p:nvSpPr>
        <p:spPr>
          <a:xfrm>
            <a:off x="4334006" y="4594225"/>
            <a:ext cx="495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Time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ED5FB-31C1-6828-DDD8-E06E1E2228DD}"/>
              </a:ext>
            </a:extLst>
          </p:cNvPr>
          <p:cNvSpPr txBox="1"/>
          <p:nvPr/>
        </p:nvSpPr>
        <p:spPr>
          <a:xfrm>
            <a:off x="491783" y="2083583"/>
            <a:ext cx="403828" cy="1405898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pPr algn="r"/>
            <a:r>
              <a:rPr lang="en-US" sz="1200" dirty="0"/>
              <a:t>Amount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95584F-416B-F70A-BC7E-729E163D37D3}"/>
              </a:ext>
            </a:extLst>
          </p:cNvPr>
          <p:cNvSpPr txBox="1"/>
          <p:nvPr/>
        </p:nvSpPr>
        <p:spPr>
          <a:xfrm>
            <a:off x="4275551" y="1415528"/>
            <a:ext cx="8178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8%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B1CE3F5C-F412-508E-A4A5-EE2BACD0F991}"/>
              </a:ext>
            </a:extLst>
          </p:cNvPr>
          <p:cNvSpPr txBox="1"/>
          <p:nvPr/>
        </p:nvSpPr>
        <p:spPr>
          <a:xfrm>
            <a:off x="1472608" y="413256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$1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17E5EE33-012F-7063-864D-61C2A6B89283}"/>
              </a:ext>
            </a:extLst>
          </p:cNvPr>
          <p:cNvSpPr txBox="1"/>
          <p:nvPr/>
        </p:nvSpPr>
        <p:spPr>
          <a:xfrm>
            <a:off x="7798415" y="1310849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$2.16</a:t>
            </a:r>
          </a:p>
        </p:txBody>
      </p:sp>
    </p:spTree>
    <p:extLst>
      <p:ext uri="{BB962C8B-B14F-4D97-AF65-F5344CB8AC3E}">
        <p14:creationId xmlns:p14="http://schemas.microsoft.com/office/powerpoint/2010/main" val="405714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Chart bld="series" animBg="0"/>
        </p:bldSub>
      </p:bldGraphic>
      <p:bldP spid="12" grpId="0"/>
      <p:bldP spid="23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 Few Things to 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Pictures are nice, but you have to </a:t>
            </a:r>
            <a:r>
              <a:rPr lang="en-US"/>
              <a:t>be aware …</a:t>
            </a:r>
            <a:endParaRPr lang="en-US" dirty="0"/>
          </a:p>
          <a:p>
            <a:r>
              <a:rPr lang="en-US" dirty="0"/>
              <a:t>How are the axes scaled?</a:t>
            </a:r>
          </a:p>
          <a:p>
            <a:r>
              <a:rPr lang="en-US" dirty="0"/>
              <a:t>How is the graph proportioned?</a:t>
            </a:r>
          </a:p>
          <a:p>
            <a:r>
              <a:rPr lang="en-US" dirty="0"/>
              <a:t>Good idea to have some intuitive benchmarks, such as doubling your money,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673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Deeper into discounting</a:t>
            </a:r>
          </a:p>
          <a:p>
            <a:r>
              <a:rPr lang="en-US" dirty="0"/>
              <a:t>Compounding period</a:t>
            </a:r>
          </a:p>
          <a:p>
            <a:pPr lvl="1"/>
            <a:r>
              <a:rPr lang="en-US" dirty="0"/>
              <a:t>You might notice I have used the word ‘period’ instead of any particular unit of time like ‘year’</a:t>
            </a:r>
          </a:p>
          <a:p>
            <a:r>
              <a:rPr lang="en-US" dirty="0"/>
              <a:t>Perpetuities</a:t>
            </a:r>
          </a:p>
          <a:p>
            <a:r>
              <a:rPr lang="en-US" dirty="0"/>
              <a:t>Growing cash flows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884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7A9818-0C41-4B7B-5B91-F663FAF8345D}"/>
              </a:ext>
            </a:extLst>
          </p:cNvPr>
          <p:cNvSpPr txBox="1"/>
          <p:nvPr/>
        </p:nvSpPr>
        <p:spPr>
          <a:xfrm>
            <a:off x="400050" y="1092200"/>
            <a:ext cx="8293100" cy="29238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/>
              <a:t>The highest chargeable interest rates may have been capped by Hammurabi, but he didn’t specify over what time period.</a:t>
            </a:r>
          </a:p>
          <a:p>
            <a:pPr algn="r"/>
            <a:r>
              <a:rPr lang="en-US" sz="1200" dirty="0"/>
              <a:t>Chancellor, E., </a:t>
            </a:r>
            <a:r>
              <a:rPr lang="en-US" sz="1200" i="1" dirty="0"/>
              <a:t>The Price of Time: The Real Story of Interest Rates,</a:t>
            </a:r>
          </a:p>
          <a:p>
            <a:pPr algn="r"/>
            <a:r>
              <a:rPr lang="en-US" sz="1200" dirty="0"/>
              <a:t>Atlantic Monthly Press, 2022, p. 10</a:t>
            </a:r>
          </a:p>
        </p:txBody>
      </p:sp>
    </p:spTree>
    <p:extLst>
      <p:ext uri="{BB962C8B-B14F-4D97-AF65-F5344CB8AC3E}">
        <p14:creationId xmlns:p14="http://schemas.microsoft.com/office/powerpoint/2010/main" val="79804169"/>
      </p:ext>
    </p:extLst>
  </p:cSld>
  <p:clrMapOvr>
    <a:masterClrMapping/>
  </p:clrMapOvr>
</p:sld>
</file>

<file path=ppt/theme/theme1.xml><?xml version="1.0" encoding="utf-8"?>
<a:theme xmlns:a="http://schemas.openxmlformats.org/drawingml/2006/main" name="SOM_bknd_wide_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SOM_bknd_wide_white.potx</Template>
  <TotalTime>645</TotalTime>
  <Words>423</Words>
  <Application>Microsoft Office PowerPoint</Application>
  <PresentationFormat>On-screen Show (16:9)</PresentationFormat>
  <Paragraphs>90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SOM_bknd_wide_white</vt:lpstr>
      <vt:lpstr>ACCT 2700 Foundations of Accounting &amp; Valuation </vt:lpstr>
      <vt:lpstr>PowerPoint Presentation</vt:lpstr>
      <vt:lpstr>Agenda</vt:lpstr>
      <vt:lpstr>Fundamentals of Excel</vt:lpstr>
      <vt:lpstr>Everything We Did Last Class</vt:lpstr>
      <vt:lpstr>Growth of $1 at Various Rates</vt:lpstr>
      <vt:lpstr>Growth of $1 at Various Rates</vt:lpstr>
      <vt:lpstr>Growth of $1 at Various Rates</vt:lpstr>
      <vt:lpstr>Growth of $1 at Various Rates</vt:lpstr>
      <vt:lpstr>Growth of $1 at Various Rates</vt:lpstr>
      <vt:lpstr>Growth of $1 at Various Rates</vt:lpstr>
      <vt:lpstr>Growth of $1 at Various Rates</vt:lpstr>
      <vt:lpstr>Growth of $1 at Various Rates</vt:lpstr>
      <vt:lpstr>A Few Things to Notice</vt:lpstr>
      <vt:lpstr>Next Time</vt:lpstr>
      <vt:lpstr>PowerPoint Presentation</vt:lpstr>
    </vt:vector>
  </TitlesOfParts>
  <Company>Yale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 Mattison</dc:creator>
  <cp:lastModifiedBy>Antle, Rick</cp:lastModifiedBy>
  <cp:revision>20</cp:revision>
  <dcterms:created xsi:type="dcterms:W3CDTF">2012-06-28T13:26:35Z</dcterms:created>
  <dcterms:modified xsi:type="dcterms:W3CDTF">2026-01-21T13:46:06Z</dcterms:modified>
</cp:coreProperties>
</file>