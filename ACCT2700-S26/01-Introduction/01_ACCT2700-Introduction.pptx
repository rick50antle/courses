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83" r:id="rId5"/>
    <p:sldId id="260" r:id="rId6"/>
    <p:sldId id="261" r:id="rId7"/>
    <p:sldId id="28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07" r:id="rId16"/>
    <p:sldId id="324" r:id="rId17"/>
    <p:sldId id="320" r:id="rId18"/>
    <p:sldId id="330" r:id="rId19"/>
    <p:sldId id="282" r:id="rId20"/>
    <p:sldId id="269" r:id="rId21"/>
    <p:sldId id="270" r:id="rId22"/>
    <p:sldId id="280" r:id="rId23"/>
    <p:sldId id="321" r:id="rId24"/>
    <p:sldId id="271" r:id="rId25"/>
    <p:sldId id="272" r:id="rId26"/>
    <p:sldId id="273" r:id="rId27"/>
    <p:sldId id="274" r:id="rId28"/>
    <p:sldId id="275" r:id="rId29"/>
    <p:sldId id="276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EEB21-BB7F-46A5-9086-FFED6809AAAE}" v="104" dt="2026-01-12T03:04:54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2"/>
  </p:normalViewPr>
  <p:slideViewPr>
    <p:cSldViewPr snapToGrid="0" snapToObjects="1">
      <p:cViewPr varScale="1">
        <p:scale>
          <a:sx n="96" d="100"/>
          <a:sy n="96" d="100"/>
        </p:scale>
        <p:origin x="773" y="3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587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custSel modSld">
      <pc:chgData name="Antle, Rick" userId="c2afbbd2-30e4-4c8e-8af5-81913178ace3" providerId="ADAL" clId="{D2077C41-23D2-40E5-A1B9-6D409EDDC81D}" dt="2026-01-13T15:36:50.498" v="103" actId="20577"/>
      <pc:docMkLst>
        <pc:docMk/>
      </pc:docMkLst>
      <pc:sldChg chg="modSp mod">
        <pc:chgData name="Antle, Rick" userId="c2afbbd2-30e4-4c8e-8af5-81913178ace3" providerId="ADAL" clId="{D2077C41-23D2-40E5-A1B9-6D409EDDC81D}" dt="2026-01-13T15:36:50.498" v="103" actId="20577"/>
        <pc:sldMkLst>
          <pc:docMk/>
          <pc:sldMk cId="604637547" sldId="257"/>
        </pc:sldMkLst>
        <pc:spChg chg="mod">
          <ac:chgData name="Antle, Rick" userId="c2afbbd2-30e4-4c8e-8af5-81913178ace3" providerId="ADAL" clId="{D2077C41-23D2-40E5-A1B9-6D409EDDC81D}" dt="2026-01-13T15:36:50.498" v="103" actId="20577"/>
          <ac:spMkLst>
            <pc:docMk/>
            <pc:sldMk cId="604637547" sldId="257"/>
            <ac:spMk id="2" creationId="{00000000-0000-0000-0000-000000000000}"/>
          </ac:spMkLst>
        </pc:spChg>
      </pc:sldChg>
      <pc:sldChg chg="modSp mod modAnim">
        <pc:chgData name="Antle, Rick" userId="c2afbbd2-30e4-4c8e-8af5-81913178ace3" providerId="ADAL" clId="{D2077C41-23D2-40E5-A1B9-6D409EDDC81D}" dt="2026-01-12T03:03:38.904" v="102" actId="20577"/>
        <pc:sldMkLst>
          <pc:docMk/>
          <pc:sldMk cId="23516531" sldId="275"/>
        </pc:sldMkLst>
        <pc:spChg chg="mod">
          <ac:chgData name="Antle, Rick" userId="c2afbbd2-30e4-4c8e-8af5-81913178ace3" providerId="ADAL" clId="{D2077C41-23D2-40E5-A1B9-6D409EDDC81D}" dt="2026-01-12T03:03:38.904" v="102" actId="20577"/>
          <ac:spMkLst>
            <pc:docMk/>
            <pc:sldMk cId="23516531" sldId="275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ra1\Dropbox\MGT502\MGT502Fall13\Work%20Space\Madoff%20returns%2020130804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1\Dropbox\MGT502\MGT502Fall13\Work%20Space\Madoff%20returns%202013080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Sheet1!$D$33</c:f>
              <c:strCache>
                <c:ptCount val="1"/>
                <c:pt idx="0">
                  <c:v>Tbills</c:v>
                </c:pt>
              </c:strCache>
            </c:strRef>
          </c:tx>
          <c:marker>
            <c:symbol val="none"/>
          </c:marker>
          <c:cat>
            <c:numRef>
              <c:f>Sheet1!$E$1:$E$14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</c:numCache>
            </c:numRef>
          </c:cat>
          <c:val>
            <c:numRef>
              <c:f>Sheet1!$D$34:$D$48</c:f>
              <c:numCache>
                <c:formatCode>0.0000</c:formatCode>
                <c:ptCount val="15"/>
                <c:pt idx="0">
                  <c:v>1</c:v>
                </c:pt>
                <c:pt idx="1">
                  <c:v>1.0543</c:v>
                </c:pt>
                <c:pt idx="2">
                  <c:v>1.0909896400000001</c:v>
                </c:pt>
                <c:pt idx="3">
                  <c:v>1.1240466260919999</c:v>
                </c:pt>
                <c:pt idx="4">
                  <c:v>1.173392272977438</c:v>
                </c:pt>
                <c:pt idx="5">
                  <c:v>1.2392195794914731</c:v>
                </c:pt>
                <c:pt idx="6">
                  <c:v>1.302915465877335</c:v>
                </c:pt>
                <c:pt idx="7">
                  <c:v>1.3705367785563689</c:v>
                </c:pt>
                <c:pt idx="8">
                  <c:v>1.4371448659942081</c:v>
                </c:pt>
                <c:pt idx="9">
                  <c:v>1.5061278195619301</c:v>
                </c:pt>
                <c:pt idx="10">
                  <c:v>1.5961942631717341</c:v>
                </c:pt>
                <c:pt idx="11">
                  <c:v>1.649347532135353</c:v>
                </c:pt>
                <c:pt idx="12">
                  <c:v>1.6759020274027321</c:v>
                </c:pt>
                <c:pt idx="13">
                  <c:v>1.6931638182849791</c:v>
                </c:pt>
                <c:pt idx="14">
                  <c:v>1.717376060886455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71-43B9-854E-B47B52CEA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447544"/>
        <c:axId val="186447928"/>
      </c:lineChart>
      <c:catAx>
        <c:axId val="186447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6447928"/>
        <c:crosses val="autoZero"/>
        <c:auto val="1"/>
        <c:lblAlgn val="ctr"/>
        <c:lblOffset val="100"/>
        <c:noMultiLvlLbl val="0"/>
      </c:catAx>
      <c:valAx>
        <c:axId val="186447928"/>
        <c:scaling>
          <c:orientation val="minMax"/>
          <c:max val="6"/>
          <c:min val="0"/>
        </c:scaling>
        <c:delete val="0"/>
        <c:axPos val="l"/>
        <c:majorGridlines/>
        <c:numFmt formatCode="0.0000" sourceLinked="1"/>
        <c:majorTickMark val="out"/>
        <c:minorTickMark val="none"/>
        <c:tickLblPos val="nextTo"/>
        <c:crossAx val="18644754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S&amp;P500</a:t>
            </a:r>
            <a:r>
              <a:rPr lang="en-US" baseline="0" dirty="0"/>
              <a:t> Index (Ignores Dividends)</a:t>
            </a:r>
            <a:endParaRPr lang="en-US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Sheet1!$C$33</c:f>
              <c:strCache>
                <c:ptCount val="1"/>
                <c:pt idx="0">
                  <c:v>S&amp;P500</c:v>
                </c:pt>
              </c:strCache>
            </c:strRef>
          </c:tx>
          <c:marker>
            <c:symbol val="none"/>
          </c:marker>
          <c:cat>
            <c:numRef>
              <c:f>Sheet1!$E$1:$E$14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</c:numCache>
            </c:numRef>
          </c:cat>
          <c:val>
            <c:numRef>
              <c:f>Sheet1!$C$34:$C$48</c:f>
              <c:numCache>
                <c:formatCode>0.0000</c:formatCode>
                <c:ptCount val="15"/>
                <c:pt idx="0">
                  <c:v>1</c:v>
                </c:pt>
                <c:pt idx="1">
                  <c:v>1.3046</c:v>
                </c:pt>
                <c:pt idx="2">
                  <c:v>1.4040105199999999</c:v>
                </c:pt>
                <c:pt idx="3">
                  <c:v>1.545534780416</c:v>
                </c:pt>
                <c:pt idx="4">
                  <c:v>1.565935839517492</c:v>
                </c:pt>
                <c:pt idx="5">
                  <c:v>2.1544145280081648</c:v>
                </c:pt>
                <c:pt idx="6">
                  <c:v>2.649068103638839</c:v>
                </c:pt>
                <c:pt idx="7">
                  <c:v>3.5327972230127571</c:v>
                </c:pt>
                <c:pt idx="8">
                  <c:v>4.542470669349802</c:v>
                </c:pt>
                <c:pt idx="9">
                  <c:v>5.498206498181001</c:v>
                </c:pt>
                <c:pt idx="10">
                  <c:v>4.9978697068465303</c:v>
                </c:pt>
                <c:pt idx="11">
                  <c:v>4.4036229987024802</c:v>
                </c:pt>
                <c:pt idx="12">
                  <c:v>3.43042231598923</c:v>
                </c:pt>
                <c:pt idx="13">
                  <c:v>4.4142674362149412</c:v>
                </c:pt>
                <c:pt idx="14">
                  <c:v>4.8945397332751268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31-43B9-8BD4-FBE14F987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227480"/>
        <c:axId val="186227864"/>
      </c:lineChart>
      <c:catAx>
        <c:axId val="186227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6227864"/>
        <c:crosses val="autoZero"/>
        <c:auto val="1"/>
        <c:lblAlgn val="ctr"/>
        <c:lblOffset val="100"/>
        <c:noMultiLvlLbl val="0"/>
      </c:catAx>
      <c:valAx>
        <c:axId val="186227864"/>
        <c:scaling>
          <c:orientation val="minMax"/>
        </c:scaling>
        <c:delete val="0"/>
        <c:axPos val="l"/>
        <c:majorGridlines/>
        <c:numFmt formatCode="0.0000" sourceLinked="1"/>
        <c:majorTickMark val="out"/>
        <c:minorTickMark val="none"/>
        <c:tickLblPos val="nextTo"/>
        <c:crossAx val="18622748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0.22118</cdr:x>
      <cdr:y>0.50499</cdr:y>
    </cdr:from>
    <cdr:to>
      <cdr:x>0.32778</cdr:x>
      <cdr:y>0.73805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6E4919B3-9D17-46CA-BAD9-C5EE2ACBB025}"/>
            </a:ext>
          </a:extLst>
        </cdr:cNvPr>
        <cdr:cNvSpPr txBox="1"/>
      </cdr:nvSpPr>
      <cdr:spPr>
        <a:xfrm xmlns:a="http://schemas.openxmlformats.org/drawingml/2006/main">
          <a:off x="1897043" y="198127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F803-BC00-471F-8558-CF8CC1EF0AA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1E791-6A01-4C49-970B-DC3B0E898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4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85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48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6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6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07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42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58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17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1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02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87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47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57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2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58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57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73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58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63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60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14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48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685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491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71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988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1272" y="4767263"/>
            <a:ext cx="79552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46136" y="4767263"/>
            <a:ext cx="740664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36992" y="4767263"/>
            <a:ext cx="74980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7848" y="4767263"/>
            <a:ext cx="75895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doff_investment_scanda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.com/profiles/jordan-valinsky" TargetMode="External"/><Relationship Id="rId3" Type="http://schemas.openxmlformats.org/officeDocument/2006/relationships/hyperlink" Target="https://en.wikipedia.org/wiki/Federal_prison" TargetMode="External"/><Relationship Id="rId7" Type="http://schemas.openxmlformats.org/officeDocument/2006/relationships/hyperlink" Target="https://www.cnn.com/2020/03/05/business/bernie-madoff-release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nn.com/2019/07/24/business/bernie-madoff-commute/index.html" TargetMode="External"/><Relationship Id="rId11" Type="http://schemas.openxmlformats.org/officeDocument/2006/relationships/hyperlink" Target="https://apnews.com/article/bernie-madoff-dead-9d9bd8065708384e0bf0c840bd1ae711" TargetMode="External"/><Relationship Id="rId5" Type="http://schemas.openxmlformats.org/officeDocument/2006/relationships/image" Target="../media/image6.jpeg"/><Relationship Id="rId10" Type="http://schemas.openxmlformats.org/officeDocument/2006/relationships/hyperlink" Target="https://www.cnn.com/2020/02/05/business/bernie-madoff-prison-release-request/index.html" TargetMode="External"/><Relationship Id="rId4" Type="http://schemas.openxmlformats.org/officeDocument/2006/relationships/hyperlink" Target="https://en.wikipedia.org/wiki/Restitution" TargetMode="External"/><Relationship Id="rId9" Type="http://schemas.openxmlformats.org/officeDocument/2006/relationships/hyperlink" Target="https://www.cnn.com/busines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hyperlink" Target="https://www.madofftrustee.com/" TargetMode="External"/><Relationship Id="rId4" Type="http://schemas.openxmlformats.org/officeDocument/2006/relationships/hyperlink" Target="https://www.nytimes.com/2009/05/29/business/29claims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mOi3c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euters.com/article/madoff-fees/baker-hostetler-fees-pass-1-25-billion-as-madoff-case-lives-on-idUSL1N2M7395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om.yale.edu/insights/where-did-madoffs-money-go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MUtU0tOmN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youtube.com/watch?v=NuO6dNjNMtU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public/artifacts/2c312b22-abcb-4219-96e7-a3e69850fce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15" y="1771539"/>
            <a:ext cx="8665535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 2700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940" y="3270176"/>
            <a:ext cx="6973165" cy="711052"/>
          </a:xfrm>
        </p:spPr>
        <p:txBody>
          <a:bodyPr/>
          <a:lstStyle/>
          <a:p>
            <a:r>
              <a:rPr lang="en-US" dirty="0"/>
              <a:t>Session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60463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course in accounting &amp; valuation</a:t>
            </a:r>
          </a:p>
          <a:p>
            <a:pPr lvl="1"/>
            <a:r>
              <a:rPr lang="en-US" dirty="0"/>
              <a:t>I assume you have no background</a:t>
            </a:r>
          </a:p>
          <a:p>
            <a:r>
              <a:rPr lang="en-US" dirty="0"/>
              <a:t>Course details &amp; expectations</a:t>
            </a:r>
          </a:p>
          <a:p>
            <a:r>
              <a:rPr lang="en-US" dirty="0"/>
              <a:t>Overview of topics</a:t>
            </a:r>
          </a:p>
          <a:p>
            <a:r>
              <a:rPr lang="en-US" dirty="0"/>
              <a:t>But FIRST, I have an investment opportunity for you…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5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Investment - 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$50,000 minimum investment</a:t>
            </a:r>
          </a:p>
          <a:p>
            <a:r>
              <a:rPr lang="en-US" dirty="0"/>
              <a:t>Additions can be made monthly</a:t>
            </a:r>
          </a:p>
          <a:p>
            <a:r>
              <a:rPr lang="en-US" dirty="0"/>
              <a:t>Redemptions can be obtained monthly</a:t>
            </a:r>
          </a:p>
          <a:p>
            <a:r>
              <a:rPr lang="en-US" dirty="0"/>
              <a:t>Fees: 1% of Assets Under Management (AUM)</a:t>
            </a:r>
          </a:p>
          <a:p>
            <a:r>
              <a:rPr lang="en-US" dirty="0"/>
              <a:t>Want to invest?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E0DD-2A51-4102-BD5D-15DDD7D3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track record?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7C52E-7499-459E-B7BF-CCA83D204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Question:</a:t>
            </a:r>
          </a:p>
        </p:txBody>
      </p:sp>
    </p:spTree>
    <p:extLst>
      <p:ext uri="{BB962C8B-B14F-4D97-AF65-F5344CB8AC3E}">
        <p14:creationId xmlns:p14="http://schemas.microsoft.com/office/powerpoint/2010/main" val="391866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 Annual Track Record (Actual)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082341"/>
              </p:ext>
            </p:extLst>
          </p:nvPr>
        </p:nvGraphicFramePr>
        <p:xfrm>
          <a:off x="3186618" y="1001480"/>
          <a:ext cx="2797058" cy="366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Year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Percentage Return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18.58%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14.67%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11.68%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11.49%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12.95%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12.99%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14.00%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13.40%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14.18%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11.55%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10.68%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9.33%</a:t>
                      </a:r>
                    </a:p>
                  </a:txBody>
                  <a:tcPr marL="12700" marR="12700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32935" y="1297174"/>
            <a:ext cx="3920265" cy="33695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77491" y="1584251"/>
            <a:ext cx="3452426" cy="3082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2055" y="1860695"/>
            <a:ext cx="3232298" cy="27422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86618" y="2179674"/>
            <a:ext cx="2797058" cy="248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4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37746"/>
            <a:ext cx="8597900" cy="4391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8438" y="464344"/>
            <a:ext cx="165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FS Performance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2708DB-AB9A-4D63-9548-1845619D942E}"/>
              </a:ext>
            </a:extLst>
          </p:cNvPr>
          <p:cNvSpPr/>
          <p:nvPr/>
        </p:nvSpPr>
        <p:spPr>
          <a:xfrm>
            <a:off x="750275" y="3382160"/>
            <a:ext cx="460510" cy="460510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F783B-9311-4552-A177-7318E6893B07}"/>
              </a:ext>
            </a:extLst>
          </p:cNvPr>
          <p:cNvSpPr txBox="1"/>
          <p:nvPr/>
        </p:nvSpPr>
        <p:spPr>
          <a:xfrm>
            <a:off x="720969" y="34290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969DD-8402-4C20-98E3-AA48C6286B48}"/>
              </a:ext>
            </a:extLst>
          </p:cNvPr>
          <p:cNvSpPr txBox="1"/>
          <p:nvPr/>
        </p:nvSpPr>
        <p:spPr>
          <a:xfrm>
            <a:off x="7700319" y="6481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</a:t>
            </a:r>
          </a:p>
        </p:txBody>
      </p:sp>
    </p:spTree>
    <p:extLst>
      <p:ext uri="{BB962C8B-B14F-4D97-AF65-F5344CB8AC3E}">
        <p14:creationId xmlns:p14="http://schemas.microsoft.com/office/powerpoint/2010/main" val="401619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123 L -1.66667E-6 0.00093 C 0.0092 -0.00741 0.00104 -0.00309 0.0099 -0.00586 C 0.01059 -0.00617 0.01111 -0.00679 0.01181 -0.0071 C 0.01268 -0.00741 0.01372 -0.00772 0.01459 -0.00833 C 0.01511 -0.00864 0.0158 -0.00895 0.01667 -0.00926 C 0.01788 -0.00988 0.01927 -0.01018 0.02066 -0.01049 C 0.02136 -0.0108 0.02205 -0.01142 0.02274 -0.01173 C 0.02379 -0.01204 0.02483 -0.01235 0.0257 -0.01265 C 0.02674 -0.01327 0.02761 -0.01481 0.02865 -0.01543 C 0.02934 -0.01605 0.03056 -0.01605 0.03125 -0.01636 C 0.03802 -0.02006 0.03264 -0.01821 0.03993 -0.02006 C 0.04375 -0.02191 0.04097 -0.02068 0.04636 -0.02222 C 0.04757 -0.02253 0.04861 -0.02315 0.04983 -0.02376 C 0.05052 -0.02407 0.05122 -0.02469 0.05191 -0.02469 C 0.05313 -0.025 0.05417 -0.02469 0.05556 -0.02469 L 0.20399 -0.08704 L 0.39219 -0.21173 L 0.53594 -0.34321 L 0.64045 -0.4392 L 0.76354 -0.54012 " pathEditMode="relative" rAng="0" ptsTypes="AAAAAAAAAAAAAAAAAAAAA">
                                      <p:cBhvr>
                                        <p:cTn id="1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77" y="-2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E0DD-2A51-4102-BD5D-15DDD7D3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other opportunities?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7C52E-7499-459E-B7BF-CCA83D204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Question:</a:t>
            </a:r>
          </a:p>
        </p:txBody>
      </p:sp>
    </p:spTree>
    <p:extLst>
      <p:ext uri="{BB962C8B-B14F-4D97-AF65-F5344CB8AC3E}">
        <p14:creationId xmlns:p14="http://schemas.microsoft.com/office/powerpoint/2010/main" val="92473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37583"/>
              </p:ext>
            </p:extLst>
          </p:nvPr>
        </p:nvGraphicFramePr>
        <p:xfrm>
          <a:off x="283449" y="425301"/>
          <a:ext cx="8577101" cy="3923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6055B7-5569-46EE-BCA2-E833A0638787}"/>
              </a:ext>
            </a:extLst>
          </p:cNvPr>
          <p:cNvSpPr txBox="1"/>
          <p:nvPr/>
        </p:nvSpPr>
        <p:spPr>
          <a:xfrm>
            <a:off x="723482" y="335112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5B93C89-9DB4-494C-BE0B-C1B67631DF16}"/>
              </a:ext>
            </a:extLst>
          </p:cNvPr>
          <p:cNvSpPr/>
          <p:nvPr/>
        </p:nvSpPr>
        <p:spPr>
          <a:xfrm>
            <a:off x="750275" y="3340252"/>
            <a:ext cx="460510" cy="460510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DD8F0-418A-4715-8CF4-683C13D9B53C}"/>
              </a:ext>
            </a:extLst>
          </p:cNvPr>
          <p:cNvSpPr txBox="1"/>
          <p:nvPr/>
        </p:nvSpPr>
        <p:spPr>
          <a:xfrm>
            <a:off x="7455878" y="291402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$1.72</a:t>
            </a:r>
          </a:p>
        </p:txBody>
      </p:sp>
    </p:spTree>
    <p:extLst>
      <p:ext uri="{BB962C8B-B14F-4D97-AF65-F5344CB8AC3E}">
        <p14:creationId xmlns:p14="http://schemas.microsoft.com/office/powerpoint/2010/main" val="128566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062 L -1.66667E-6 0.00061 C 0.00886 -0.00155 0.00087 -0.00093 0.00955 -0.00124 C 0.01007 -0.00124 0.01059 -0.00124 0.01129 -0.00155 C 0.01215 -0.00155 0.01337 -0.00155 0.01424 -0.00155 C 0.01459 -0.00155 0.01528 -0.00186 0.01615 -0.00186 C 0.01736 -0.00186 0.01875 -0.00186 0.01997 -0.00186 C 0.02066 -0.00216 0.02136 -0.00216 0.02205 -0.00216 C 0.02309 -0.00216 0.02413 -0.00216 0.02483 -0.00247 C 0.02587 -0.00247 0.02691 -0.00278 0.02795 -0.00278 C 0.02865 -0.00278 0.02969 -0.00278 0.03038 -0.00278 C 0.03698 -0.0034 0.03177 -0.00309 0.03889 -0.0034 C 0.04288 -0.00371 0.04011 -0.00371 0.04531 -0.00371 C 0.04653 -0.00402 0.04757 -0.00402 0.04879 -0.00402 C 0.04931 -0.00402 0.05 -0.00433 0.0507 -0.00433 C 0.05191 -0.00433 0.05313 -0.00433 0.05434 -0.00433 L 0.20035 -0.0142 L 0.38507 -0.0355 L 0.52656 -0.0571 L 0.62899 -0.07284 L 0.75035 -0.08951 " pathEditMode="relative" rAng="0" ptsTypes="AAAAAAAAAAAAAAAAAAAAA">
                                      <p:cBhvr>
                                        <p:cTn id="14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17" y="-4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14" y="793867"/>
            <a:ext cx="7549371" cy="3622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70520" y="428625"/>
            <a:ext cx="296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FS with Comparison to T-Bills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6B602-5B9F-418B-8892-8B9767AA476A}"/>
              </a:ext>
            </a:extLst>
          </p:cNvPr>
          <p:cNvSpPr txBox="1"/>
          <p:nvPr/>
        </p:nvSpPr>
        <p:spPr>
          <a:xfrm>
            <a:off x="1142999" y="343480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344A1-3552-4F44-9B1F-02050C202666}"/>
              </a:ext>
            </a:extLst>
          </p:cNvPr>
          <p:cNvSpPr txBox="1"/>
          <p:nvPr/>
        </p:nvSpPr>
        <p:spPr>
          <a:xfrm>
            <a:off x="1142999" y="343480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DBE5C-61AA-4DA4-A437-6E1C3E30949C}"/>
              </a:ext>
            </a:extLst>
          </p:cNvPr>
          <p:cNvSpPr txBox="1"/>
          <p:nvPr/>
        </p:nvSpPr>
        <p:spPr>
          <a:xfrm>
            <a:off x="7125957" y="306547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$1.72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C0C12-7895-4B6F-8608-F236AF97AA35}"/>
              </a:ext>
            </a:extLst>
          </p:cNvPr>
          <p:cNvSpPr txBox="1"/>
          <p:nvPr/>
        </p:nvSpPr>
        <p:spPr>
          <a:xfrm>
            <a:off x="7271634" y="11898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</a:t>
            </a:r>
          </a:p>
        </p:txBody>
      </p:sp>
    </p:spTree>
    <p:extLst>
      <p:ext uri="{BB962C8B-B14F-4D97-AF65-F5344CB8AC3E}">
        <p14:creationId xmlns:p14="http://schemas.microsoft.com/office/powerpoint/2010/main" val="325974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0.13159 -0.01172 L 0.35607 -0.04012 L 0.52326 -0.06358 L 0.66163 -0.06882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073" y="-34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29 -0.02222 L 0.18159 -0.06327 L 0.24878 -0.09413 L 0.34305 -0.16481 L 0.42691 -0.23889 L 0.50191 -0.29938 L 0.57118 -0.3608 L 0.65521 -0.43055 L 0.65069 -0.43487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9" grpId="0"/>
      <p:bldP spid="9" grpId="1"/>
      <p:bldP spid="9" grpId="2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46864"/>
              </p:ext>
            </p:extLst>
          </p:nvPr>
        </p:nvGraphicFramePr>
        <p:xfrm>
          <a:off x="283449" y="372140"/>
          <a:ext cx="8577101" cy="4061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369E63-BE93-4C40-BAD6-D705B2FB7087}"/>
              </a:ext>
            </a:extLst>
          </p:cNvPr>
          <p:cNvSpPr txBox="1"/>
          <p:nvPr/>
        </p:nvSpPr>
        <p:spPr>
          <a:xfrm>
            <a:off x="699186" y="33645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D1D382-E570-47FF-9557-F50BB42A7955}"/>
              </a:ext>
            </a:extLst>
          </p:cNvPr>
          <p:cNvSpPr/>
          <p:nvPr/>
        </p:nvSpPr>
        <p:spPr>
          <a:xfrm>
            <a:off x="679938" y="3337700"/>
            <a:ext cx="460510" cy="460510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AECCC-1B7F-4A32-BCCB-9E14AEB95FA9}"/>
              </a:ext>
            </a:extLst>
          </p:cNvPr>
          <p:cNvSpPr txBox="1"/>
          <p:nvPr/>
        </p:nvSpPr>
        <p:spPr>
          <a:xfrm>
            <a:off x="7637584" y="126609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$4.89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98288-AD56-4A3A-90AB-29C77DEAD31B}"/>
              </a:ext>
            </a:extLst>
          </p:cNvPr>
          <p:cNvSpPr txBox="1"/>
          <p:nvPr/>
        </p:nvSpPr>
        <p:spPr>
          <a:xfrm>
            <a:off x="7605078" y="1524000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+ dividends</a:t>
            </a:r>
          </a:p>
        </p:txBody>
      </p:sp>
    </p:spTree>
    <p:extLst>
      <p:ext uri="{BB962C8B-B14F-4D97-AF65-F5344CB8AC3E}">
        <p14:creationId xmlns:p14="http://schemas.microsoft.com/office/powerpoint/2010/main" val="413999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401 L 0.06771 -0.02932 L 0.16649 -0.05309 L 0.22153 -0.05648 L 0.26701 -0.10895 L 0.32604 -0.17068 L 0.37726 -0.26173 L 0.47604 -0.4679 L 0.58177 -0.35062 L 0.63177 -0.25371 L 0.68368 -0.35185 L 0.73125 -0.40093 " pathEditMode="relative" ptsTypes="AAAAAAAAAA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5" grpId="2" animBg="1"/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16695"/>
            <a:ext cx="8597900" cy="42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9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you like FS?</a:t>
            </a:r>
          </a:p>
          <a:p>
            <a:r>
              <a:rPr lang="en-US" dirty="0"/>
              <a:t>What are your criteria for saying that you do or you don’t like it?</a:t>
            </a:r>
          </a:p>
          <a:p>
            <a:r>
              <a:rPr lang="en-US" dirty="0"/>
              <a:t>Any concerns?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1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More Due Diligence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of the date at which the performance information ends, FS had $5.1 billion in assets.</a:t>
            </a:r>
          </a:p>
          <a:p>
            <a:r>
              <a:rPr lang="en-US" dirty="0"/>
              <a:t>FS is part of a firm that had $8.3 billion in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9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1200151"/>
            <a:ext cx="8564563" cy="3394472"/>
          </a:xfrm>
        </p:spPr>
        <p:txBody>
          <a:bodyPr>
            <a:normAutofit/>
          </a:bodyPr>
          <a:lstStyle/>
          <a:p>
            <a:r>
              <a:rPr lang="en-US" dirty="0"/>
              <a:t>FS was actually the Fairfield Sentry Fund, headquartered in Greenwich, CT</a:t>
            </a:r>
          </a:p>
          <a:p>
            <a:r>
              <a:rPr lang="en-US" dirty="0"/>
              <a:t>Time period was from the end of 1990 to the middle of 2004</a:t>
            </a:r>
          </a:p>
          <a:p>
            <a:r>
              <a:rPr lang="en-US" dirty="0"/>
              <a:t>Their wizardry – invest all the money in another hedge fund, BLMIS, ran by this man…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5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a/a4/BernardMadoff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811" y="384973"/>
            <a:ext cx="3590290" cy="437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15371" y="384973"/>
            <a:ext cx="2506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Bernard L. Madoff</a:t>
            </a:r>
          </a:p>
        </p:txBody>
      </p:sp>
    </p:spTree>
    <p:extLst>
      <p:ext uri="{BB962C8B-B14F-4D97-AF65-F5344CB8AC3E}">
        <p14:creationId xmlns:p14="http://schemas.microsoft.com/office/powerpoint/2010/main" val="90284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26858" y="412940"/>
            <a:ext cx="25004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Federal Correctional Complex, Butner (FCC Butner) North Carolina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6931" y="3860528"/>
            <a:ext cx="317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150 years in </a:t>
            </a:r>
            <a:r>
              <a:rPr lang="en-US" dirty="0">
                <a:hlinkClick r:id="rId3" tooltip="Federal prison"/>
              </a:rPr>
              <a:t>federal prison</a:t>
            </a:r>
            <a:r>
              <a:rPr lang="en-US" dirty="0"/>
              <a:t> and</a:t>
            </a:r>
            <a:br>
              <a:rPr lang="en-US" dirty="0"/>
            </a:br>
            <a:r>
              <a:rPr lang="en-US" dirty="0"/>
              <a:t>$170 billion in </a:t>
            </a:r>
            <a:r>
              <a:rPr lang="en-US" dirty="0">
                <a:hlinkClick r:id="rId4" tooltip="Restitution"/>
              </a:rPr>
              <a:t>restitution</a:t>
            </a:r>
            <a:endParaRPr lang="en-US" dirty="0"/>
          </a:p>
        </p:txBody>
      </p:sp>
      <p:pic>
        <p:nvPicPr>
          <p:cNvPr id="2" name="Picture 2" descr="Butner.FCI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00" y="1596991"/>
            <a:ext cx="2812827" cy="205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01531-68E4-438B-9045-995D14890505}"/>
              </a:ext>
            </a:extLst>
          </p:cNvPr>
          <p:cNvSpPr txBox="1"/>
          <p:nvPr/>
        </p:nvSpPr>
        <p:spPr>
          <a:xfrm>
            <a:off x="4008645" y="1313187"/>
            <a:ext cx="4656221" cy="3528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he was 81, Madoff, who </a:t>
            </a:r>
            <a:r>
              <a:rPr lang="en-US" sz="1600" dirty="0">
                <a:hlinkClick r:id="rId6"/>
              </a:rPr>
              <a:t>orchestrated the largest Ponzi scheme in history</a:t>
            </a:r>
            <a:r>
              <a:rPr lang="en-US" sz="1600" dirty="0"/>
              <a:t>, asked for compassionate release from prison, saying he has less than 18 months to live.</a:t>
            </a:r>
          </a:p>
          <a:p>
            <a:r>
              <a:rPr lang="en-US" sz="800" dirty="0">
                <a:hlinkClick r:id="rId7"/>
              </a:rPr>
              <a:t>https://www.cnn.com/2020/03/05/business/bernie-madoff-release/index.html</a:t>
            </a:r>
            <a:endParaRPr lang="en-US" sz="800" dirty="0"/>
          </a:p>
          <a:p>
            <a:endParaRPr lang="en-US" sz="800" dirty="0"/>
          </a:p>
          <a:p>
            <a:r>
              <a:rPr lang="en-US" sz="1500" b="1" dirty="0"/>
              <a:t>Bernie Madoff should die in prison, US government says</a:t>
            </a:r>
          </a:p>
          <a:p>
            <a:r>
              <a:rPr lang="en-US" sz="900" dirty="0"/>
              <a:t>By </a:t>
            </a:r>
            <a:r>
              <a:rPr lang="en-US" sz="900" dirty="0">
                <a:hlinkClick r:id="rId8"/>
              </a:rPr>
              <a:t>Jordan </a:t>
            </a:r>
            <a:r>
              <a:rPr lang="en-US" sz="900" dirty="0" err="1">
                <a:hlinkClick r:id="rId8"/>
              </a:rPr>
              <a:t>Valinsky</a:t>
            </a:r>
            <a:r>
              <a:rPr lang="en-US" sz="900" dirty="0"/>
              <a:t>, </a:t>
            </a:r>
            <a:r>
              <a:rPr lang="en-US" sz="900" dirty="0">
                <a:hlinkClick r:id="rId9"/>
              </a:rPr>
              <a:t>CNN Business</a:t>
            </a:r>
            <a:endParaRPr lang="en-US" sz="900" dirty="0"/>
          </a:p>
          <a:p>
            <a:r>
              <a:rPr lang="en-US" sz="900" dirty="0"/>
              <a:t>Updated 9:48 AM ET, Thu March 5, 2020</a:t>
            </a:r>
          </a:p>
          <a:p>
            <a:endParaRPr lang="en-US" sz="1350" dirty="0"/>
          </a:p>
          <a:p>
            <a:r>
              <a:rPr lang="en-US" sz="1350" b="1" dirty="0"/>
              <a:t>New York (CNN Business) - </a:t>
            </a:r>
            <a:r>
              <a:rPr lang="en-US" sz="1350" dirty="0"/>
              <a:t>Bernard Madoff should not be </a:t>
            </a:r>
            <a:r>
              <a:rPr lang="en-US" sz="1350" dirty="0">
                <a:hlinkClick r:id="rId10"/>
              </a:rPr>
              <a:t>released early</a:t>
            </a:r>
            <a:r>
              <a:rPr lang="en-US" sz="1350" dirty="0"/>
              <a:t> from his 150-year prison sentence, even though he has terminal kidney failure, federal prosecutors said Wednesday.</a:t>
            </a:r>
          </a:p>
          <a:p>
            <a:endParaRPr lang="en-US" sz="1350" dirty="0"/>
          </a:p>
          <a:p>
            <a:r>
              <a:rPr lang="en-US" sz="1350" dirty="0"/>
              <a:t>He died in prison on April 14,2021.</a:t>
            </a:r>
          </a:p>
          <a:p>
            <a:r>
              <a:rPr lang="en-US" sz="788" dirty="0">
                <a:hlinkClick r:id="rId11"/>
              </a:rPr>
              <a:t>https://apnews.com/article/bernie-madoff-dead-9d9bd8065708384e0bf0c840bd1ae711</a:t>
            </a:r>
            <a:endParaRPr lang="en-US" sz="788" dirty="0"/>
          </a:p>
          <a:p>
            <a:endParaRPr lang="en-US" sz="788" dirty="0"/>
          </a:p>
        </p:txBody>
      </p:sp>
    </p:spTree>
    <p:extLst>
      <p:ext uri="{BB962C8B-B14F-4D97-AF65-F5344CB8AC3E}">
        <p14:creationId xmlns:p14="http://schemas.microsoft.com/office/powerpoint/2010/main" val="2957145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DD1A-B542-4E35-A2DD-06184198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Up the Mess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8E68C-614D-4049-9790-925CCA8E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A96F9-01B5-445F-A159-A01043FE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941" y="1331706"/>
            <a:ext cx="3098519" cy="34752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7A14D8-F322-4E89-9461-A3F9434C5522}"/>
              </a:ext>
            </a:extLst>
          </p:cNvPr>
          <p:cNvSpPr/>
          <p:nvPr/>
        </p:nvSpPr>
        <p:spPr>
          <a:xfrm>
            <a:off x="4742683" y="940119"/>
            <a:ext cx="362103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https://www.nytimes.com/2009/05/29/business/29claims.html</a:t>
            </a:r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EF571-04DC-4E25-B0F4-B89DF3D72F90}"/>
              </a:ext>
            </a:extLst>
          </p:cNvPr>
          <p:cNvSpPr/>
          <p:nvPr/>
        </p:nvSpPr>
        <p:spPr>
          <a:xfrm>
            <a:off x="1172921" y="878564"/>
            <a:ext cx="19720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hlinkClick r:id="rId5"/>
              </a:rPr>
              <a:t>https://www.madofftrustee.com/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4AE90-4105-435B-A6A9-CBFAFDD7A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5" y="1186339"/>
            <a:ext cx="3075147" cy="37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DD1A-B542-4E35-A2DD-06184198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of Cleaning Up the Mess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8E68C-614D-4049-9790-925CCA8E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90181-E7AF-8756-68BA-45F7FFC0DAC1}"/>
              </a:ext>
            </a:extLst>
          </p:cNvPr>
          <p:cNvSpPr txBox="1"/>
          <p:nvPr/>
        </p:nvSpPr>
        <p:spPr>
          <a:xfrm>
            <a:off x="693420" y="1063229"/>
            <a:ext cx="7840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“Lawyers tasked with sifting through the fallout of Bernie Madoff’s historic Ponzi scheme on behalf of investors have earned more than $1.4 billion in fees between the unraveling of Madoff’s fraud in 2008 and his death on Wednesday.</a:t>
            </a:r>
          </a:p>
          <a:p>
            <a:endParaRPr lang="en-US" dirty="0"/>
          </a:p>
          <a:p>
            <a:r>
              <a:rPr lang="en-US" dirty="0"/>
              <a:t>By far, the lion’s share of approved fees - $1,250,562,343.08 to be exact - have gone to Baker &amp; Hostetler, which has been the home of Irving Picard, the court-appointed trustee overseeing the liquidation of Bernard L. Madoff Investment Securities LLC, since December 2008.</a:t>
            </a:r>
          </a:p>
          <a:p>
            <a:endParaRPr lang="en-US" dirty="0"/>
          </a:p>
          <a:p>
            <a:r>
              <a:rPr lang="en-US" dirty="0"/>
              <a:t>To read the full story on Westlaw Today, click here: </a:t>
            </a:r>
            <a:r>
              <a:rPr lang="en-US" dirty="0">
                <a:hlinkClick r:id="rId3"/>
              </a:rPr>
              <a:t>bit.ly/3mOi3cy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sz="1200" dirty="0"/>
              <a:t>From: </a:t>
            </a:r>
            <a:r>
              <a:rPr lang="en-US" sz="1200" dirty="0">
                <a:hlinkClick r:id="rId4"/>
              </a:rPr>
              <a:t>https://www.reuters.com/article/madoff-fees/baker-hostetler-fees-pass-1-25-billion-as-madoff-case-lives-on-idUSL1N2M7395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53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987A-3449-0E43-956A-59B5778D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this video…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86F11-2DA4-5644-91BB-6317422A8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https://insights.som.yale.edu/insights/where-did-madoffs-money-go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57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and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finance part of this story is that these returns are too good to be true.</a:t>
            </a:r>
          </a:p>
          <a:p>
            <a:pPr lvl="1"/>
            <a:r>
              <a:rPr lang="en-US" i="1" dirty="0"/>
              <a:t>Combination</a:t>
            </a:r>
            <a:r>
              <a:rPr lang="en-US" dirty="0"/>
              <a:t> of risk and return is suspicious.</a:t>
            </a:r>
          </a:p>
          <a:p>
            <a:r>
              <a:rPr lang="en-US" dirty="0"/>
              <a:t>By looking at the financial returns on an investment in BLMIS, we can see the </a:t>
            </a:r>
            <a:r>
              <a:rPr lang="en-US" i="1" dirty="0"/>
              <a:t>symptoms</a:t>
            </a:r>
            <a:r>
              <a:rPr lang="en-US" dirty="0"/>
              <a:t> of a flawed wealth-generation process.</a:t>
            </a:r>
          </a:p>
          <a:p>
            <a:r>
              <a:rPr lang="en-US" dirty="0"/>
              <a:t>The accounting part is more of the “nuts and bolts” i.e., accounting can show us the </a:t>
            </a:r>
            <a:r>
              <a:rPr lang="en-US" i="1" dirty="0"/>
              <a:t>disease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5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Ponzi</a:t>
            </a:r>
            <a:r>
              <a:rPr lang="en-US" dirty="0"/>
              <a:t>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Work by inviting/encouraging/inducing people to make a key mistake:</a:t>
            </a:r>
          </a:p>
          <a:p>
            <a:r>
              <a:rPr lang="en-US" dirty="0"/>
              <a:t>Confuse </a:t>
            </a:r>
            <a:r>
              <a:rPr lang="en-US" b="1" i="1" dirty="0"/>
              <a:t>creation</a:t>
            </a:r>
            <a:r>
              <a:rPr lang="en-US" dirty="0"/>
              <a:t> of wealth with the  </a:t>
            </a:r>
            <a:r>
              <a:rPr lang="en-US" b="1" i="1" dirty="0"/>
              <a:t>redistribution</a:t>
            </a:r>
            <a:r>
              <a:rPr lang="en-US" dirty="0"/>
              <a:t> of wealth.</a:t>
            </a:r>
          </a:p>
          <a:p>
            <a:r>
              <a:rPr lang="en-US" dirty="0"/>
              <a:t>Accounting words: confusing </a:t>
            </a:r>
            <a:r>
              <a:rPr lang="en-US" b="1" i="1" dirty="0"/>
              <a:t>income</a:t>
            </a:r>
            <a:r>
              <a:rPr lang="en-US" dirty="0"/>
              <a:t> (or </a:t>
            </a:r>
            <a:r>
              <a:rPr lang="en-US" b="1" i="1" dirty="0"/>
              <a:t>profit</a:t>
            </a:r>
            <a:r>
              <a:rPr lang="en-US" dirty="0"/>
              <a:t>)</a:t>
            </a:r>
            <a:r>
              <a:rPr lang="en-US" b="1" i="1" dirty="0"/>
              <a:t> generating activities</a:t>
            </a:r>
            <a:r>
              <a:rPr lang="en-US" dirty="0"/>
              <a:t> with </a:t>
            </a:r>
            <a:r>
              <a:rPr lang="en-US" b="1" i="1" dirty="0"/>
              <a:t>financing</a:t>
            </a:r>
            <a:r>
              <a:rPr lang="en-US" dirty="0"/>
              <a:t>, or </a:t>
            </a:r>
            <a:r>
              <a:rPr lang="en-US" b="1" i="1" dirty="0"/>
              <a:t>capital raising (and returning) activities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AC4F-B32E-4926-880A-0472EF288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Investment Game</a:t>
            </a:r>
          </a:p>
        </p:txBody>
      </p:sp>
    </p:spTree>
    <p:extLst>
      <p:ext uri="{BB962C8B-B14F-4D97-AF65-F5344CB8AC3E}">
        <p14:creationId xmlns:p14="http://schemas.microsoft.com/office/powerpoint/2010/main" val="2021664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8C37-DB74-40BA-8E66-9FB493B8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Extent of Damage Caused by Failure to Assess Value and Value Creation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47263-AEFB-49FD-AB86-04F5D17A14FC}"/>
              </a:ext>
            </a:extLst>
          </p:cNvPr>
          <p:cNvSpPr/>
          <p:nvPr/>
        </p:nvSpPr>
        <p:spPr>
          <a:xfrm>
            <a:off x="4708923" y="3947726"/>
            <a:ext cx="385419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https://www.youtube.com/watch?v=lMUtU0tOmNE</a:t>
            </a:r>
            <a:endParaRPr lang="en-US" sz="1350" dirty="0"/>
          </a:p>
          <a:p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73EF7-FDA3-4436-9630-E6CAE5591740}"/>
              </a:ext>
            </a:extLst>
          </p:cNvPr>
          <p:cNvSpPr/>
          <p:nvPr/>
        </p:nvSpPr>
        <p:spPr>
          <a:xfrm>
            <a:off x="748742" y="3947726"/>
            <a:ext cx="387182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4"/>
              </a:rPr>
              <a:t>https://www.youtube.com/watch?v=NuO6dNjNMtU</a:t>
            </a:r>
            <a:endParaRPr lang="en-US" sz="1350" dirty="0"/>
          </a:p>
          <a:p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5BC05-F0C2-49C8-B3B6-2DF65775B7CA}"/>
              </a:ext>
            </a:extLst>
          </p:cNvPr>
          <p:cNvSpPr txBox="1"/>
          <p:nvPr/>
        </p:nvSpPr>
        <p:spPr>
          <a:xfrm>
            <a:off x="1470766" y="1473906"/>
            <a:ext cx="6048579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The pyramid scheme phenomenon in Albania is important because its scale relative</a:t>
            </a:r>
          </a:p>
          <a:p>
            <a:r>
              <a:rPr lang="en-US" sz="1350" dirty="0"/>
              <a:t>to the size of the economy was unprecedented, and because the political and social</a:t>
            </a:r>
          </a:p>
          <a:p>
            <a:r>
              <a:rPr lang="en-US" sz="1350" dirty="0"/>
              <a:t>consequences of the pyramid schemes were profound.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7F71D-4442-4C34-B645-69ED1C7EBD95}"/>
              </a:ext>
            </a:extLst>
          </p:cNvPr>
          <p:cNvSpPr txBox="1"/>
          <p:nvPr/>
        </p:nvSpPr>
        <p:spPr>
          <a:xfrm>
            <a:off x="3187335" y="2166404"/>
            <a:ext cx="4293394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/>
              <a:t>Jarvis, C., “The Rise and Fall of the Pyramid Schemes in Albania”, IMF Staff Papers Vol. 47, No 1., p. 1.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65246-251A-4BF7-AC26-CBF8FE3CDD9A}"/>
              </a:ext>
            </a:extLst>
          </p:cNvPr>
          <p:cNvSpPr txBox="1"/>
          <p:nvPr/>
        </p:nvSpPr>
        <p:spPr>
          <a:xfrm>
            <a:off x="1245400" y="3664771"/>
            <a:ext cx="664547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YOUTUBE links you might find interesting – no warranty or endorsement should be inferred!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A10AC-73B6-45D9-ADE7-2CF8149C2B30}"/>
              </a:ext>
            </a:extLst>
          </p:cNvPr>
          <p:cNvSpPr txBox="1"/>
          <p:nvPr/>
        </p:nvSpPr>
        <p:spPr>
          <a:xfrm>
            <a:off x="1470766" y="2389037"/>
            <a:ext cx="62469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"In the wake of a nationwide catastrophic collapse of savings that led to losses totaling</a:t>
            </a:r>
          </a:p>
          <a:p>
            <a:r>
              <a:rPr lang="en-US" sz="1350" dirty="0"/>
              <a:t> about 40% of the Albanian gross domestic product, the authors detected apparent </a:t>
            </a:r>
          </a:p>
          <a:p>
            <a:r>
              <a:rPr lang="en-US" sz="1350" dirty="0"/>
              <a:t>long-term deleterious health effects of financial loss and downward intergenerational </a:t>
            </a:r>
          </a:p>
          <a:p>
            <a:r>
              <a:rPr lang="en-US" sz="1350" dirty="0"/>
              <a:t>subjective social mobility."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E6950-7025-446B-A36F-8EB58EC680B7}"/>
              </a:ext>
            </a:extLst>
          </p:cNvPr>
          <p:cNvSpPr txBox="1"/>
          <p:nvPr/>
        </p:nvSpPr>
        <p:spPr>
          <a:xfrm>
            <a:off x="1612232" y="3280629"/>
            <a:ext cx="5868497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Burazeri</a:t>
            </a:r>
            <a:r>
              <a:rPr lang="en-US" sz="788" dirty="0"/>
              <a:t>, G., A. </a:t>
            </a:r>
            <a:r>
              <a:rPr lang="en-US" sz="788" dirty="0" err="1"/>
              <a:t>Goda</a:t>
            </a:r>
            <a:r>
              <a:rPr lang="en-US" sz="788" dirty="0"/>
              <a:t>, G. </a:t>
            </a:r>
            <a:r>
              <a:rPr lang="en-US" sz="788" dirty="0" err="1"/>
              <a:t>Sulo</a:t>
            </a:r>
            <a:r>
              <a:rPr lang="en-US" sz="788" dirty="0"/>
              <a:t>, J. </a:t>
            </a:r>
            <a:r>
              <a:rPr lang="en-US" sz="788" dirty="0" err="1"/>
              <a:t>Stefa</a:t>
            </a:r>
            <a:r>
              <a:rPr lang="en-US" sz="788" dirty="0"/>
              <a:t>, and J. D. </a:t>
            </a:r>
            <a:r>
              <a:rPr lang="en-US" sz="788" dirty="0" err="1"/>
              <a:t>Kark</a:t>
            </a:r>
            <a:r>
              <a:rPr lang="en-US" sz="788" dirty="0"/>
              <a:t>, "Financial loss in pyramid savings schemes, downward social mobility and acute coronary syndrome in transitional Albania," </a:t>
            </a:r>
            <a:r>
              <a:rPr lang="en-US" sz="788" i="1" dirty="0"/>
              <a:t>Journal of Epidemiology and Community Health (1979-)</a:t>
            </a:r>
            <a:r>
              <a:rPr lang="en-US" sz="788" dirty="0"/>
              <a:t>, Vol. 62, No. 7 (July 2008) pp. 620-626.</a:t>
            </a:r>
          </a:p>
        </p:txBody>
      </p:sp>
    </p:spTree>
    <p:extLst>
      <p:ext uri="{BB962C8B-B14F-4D97-AF65-F5344CB8AC3E}">
        <p14:creationId xmlns:p14="http://schemas.microsoft.com/office/powerpoint/2010/main" val="67564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BLMIS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Madoff claimed that, before every financial statement date, he converted all the stock and options that he supposedly held into T-bills (basically, cash).</a:t>
            </a:r>
          </a:p>
          <a:p>
            <a:r>
              <a:rPr lang="en-US" dirty="0"/>
              <a:t>If true, what would a balance sheet look like? Suppose he held $50 billion in T-bills and had no liabilities.</a:t>
            </a:r>
          </a:p>
          <a:p>
            <a:pPr marL="457200" lvl="1" indent="0">
              <a:buNone/>
            </a:pPr>
            <a:r>
              <a:rPr lang="en-US" dirty="0"/>
              <a:t>A = L + E or $50b in T-bills = 0 </a:t>
            </a:r>
            <a:r>
              <a:rPr lang="en-US" dirty="0" err="1"/>
              <a:t>liabs</a:t>
            </a:r>
            <a:r>
              <a:rPr lang="en-US" dirty="0"/>
              <a:t> +$50b equity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He Have Been Caught?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Good set of financial statements</a:t>
            </a:r>
          </a:p>
          <a:p>
            <a:pPr lvl="1"/>
            <a:r>
              <a:rPr lang="en-US" dirty="0"/>
              <a:t>Give a clear picture of financial position at points in time</a:t>
            </a:r>
          </a:p>
          <a:p>
            <a:pPr lvl="1"/>
            <a:r>
              <a:rPr lang="en-US" dirty="0"/>
              <a:t>Give an indication of how much wealth was created during periods of time</a:t>
            </a:r>
          </a:p>
          <a:p>
            <a:pPr lvl="1"/>
            <a:r>
              <a:rPr lang="en-US" dirty="0"/>
              <a:t>Track flows of money and label redistributions as such</a:t>
            </a:r>
          </a:p>
          <a:p>
            <a:r>
              <a:rPr lang="en-US" dirty="0"/>
              <a:t>Should be audited</a:t>
            </a:r>
          </a:p>
          <a:p>
            <a:pPr lvl="1"/>
            <a:r>
              <a:rPr lang="en-US" dirty="0"/>
              <a:t>BLMIS’s auditor was a sham:</a:t>
            </a:r>
          </a:p>
          <a:p>
            <a:pPr lvl="2"/>
            <a:r>
              <a:rPr lang="en-US" dirty="0" err="1"/>
              <a:t>Friehling</a:t>
            </a:r>
            <a:r>
              <a:rPr lang="en-US" dirty="0"/>
              <a:t> &amp; Horowitz, CPAs, P.C.</a:t>
            </a:r>
          </a:p>
          <a:p>
            <a:pPr lvl="3"/>
            <a:r>
              <a:rPr lang="en-US" dirty="0"/>
              <a:t>3-person firm with a shopping center store front office</a:t>
            </a:r>
          </a:p>
          <a:p>
            <a:pPr lvl="3"/>
            <a:r>
              <a:rPr lang="en-US" dirty="0"/>
              <a:t>Did no auditing of BLMIS</a:t>
            </a:r>
          </a:p>
          <a:p>
            <a:pPr lvl="1"/>
            <a:r>
              <a:rPr lang="en-US" dirty="0"/>
              <a:t>All they had to do was verify whether BLMIS did in fact hold the T-bills it claimed to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AutoShape 2" descr="Image result for Friehling &amp; Horowit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031391" y="2322732"/>
            <a:ext cx="2544573" cy="1030747"/>
            <a:chOff x="6142227" y="2857549"/>
            <a:chExt cx="2544573" cy="1030747"/>
          </a:xfrm>
        </p:grpSpPr>
        <p:pic>
          <p:nvPicPr>
            <p:cNvPr id="2052" name="Picture 4" descr="f?id=49c10ed114b9b9b800f79f9e&amp;maxX=340&amp;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227" y="3272728"/>
              <a:ext cx="871221" cy="6155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http://www.gannett-cdn.com/-mm-/d84a0a3cfff878e5ceb2a7549eee76f2afdb7a0c/c=58-0-342-213&amp;r=x408&amp;c=540x405/local/-/media/Westchester/2014/12/15/B9315387554Z.1_20141215131958_000_GGJ9DCAP0.1-0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2471" y="2857549"/>
              <a:ext cx="1374329" cy="1030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4028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with a high-level, finance view</a:t>
            </a:r>
          </a:p>
          <a:p>
            <a:r>
              <a:rPr lang="en-US" dirty="0"/>
              <a:t>Got to a nitty-gritty accounting view</a:t>
            </a:r>
          </a:p>
          <a:p>
            <a:r>
              <a:rPr lang="en-US" dirty="0"/>
              <a:t>That is the idea of this course</a:t>
            </a:r>
          </a:p>
          <a:p>
            <a:pPr lvl="1"/>
            <a:r>
              <a:rPr lang="en-US" dirty="0"/>
              <a:t>Go from the valuation perspective of the money</a:t>
            </a:r>
          </a:p>
          <a:p>
            <a:pPr lvl="1"/>
            <a:r>
              <a:rPr lang="en-US" dirty="0"/>
              <a:t>To the accounting perspective of the creation of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4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Two interwoven parts</a:t>
            </a:r>
          </a:p>
          <a:p>
            <a:pPr lvl="1"/>
            <a:r>
              <a:rPr lang="en-US" dirty="0"/>
              <a:t>Valuation: first and last parts of the course</a:t>
            </a:r>
          </a:p>
          <a:p>
            <a:pPr lvl="1"/>
            <a:r>
              <a:rPr lang="en-US" dirty="0"/>
              <a:t>Accounting: middle part</a:t>
            </a:r>
          </a:p>
          <a:p>
            <a:r>
              <a:rPr lang="en-US" dirty="0"/>
              <a:t>Valuation</a:t>
            </a:r>
          </a:p>
          <a:p>
            <a:pPr lvl="1"/>
            <a:r>
              <a:rPr lang="en-US" dirty="0"/>
              <a:t>Time, money and value</a:t>
            </a:r>
          </a:p>
          <a:p>
            <a:pPr lvl="1"/>
            <a:r>
              <a:rPr lang="en-US" dirty="0"/>
              <a:t>Risk and return</a:t>
            </a:r>
          </a:p>
          <a:p>
            <a:r>
              <a:rPr lang="en-US" dirty="0"/>
              <a:t>Accounting</a:t>
            </a:r>
          </a:p>
          <a:p>
            <a:pPr lvl="1"/>
            <a:r>
              <a:rPr lang="en-US" dirty="0"/>
              <a:t>Balance sheets, income statements and statements of cash flows</a:t>
            </a:r>
          </a:p>
          <a:p>
            <a:pPr lvl="1"/>
            <a:r>
              <a:rPr lang="en-US" dirty="0"/>
              <a:t>Cash flow statements, in particular, reconcile the value creation story with the cash flow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5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Two problem sets</a:t>
            </a:r>
          </a:p>
          <a:p>
            <a:r>
              <a:rPr lang="en-US" dirty="0"/>
              <a:t>Homework; AG essential</a:t>
            </a:r>
          </a:p>
          <a:p>
            <a:r>
              <a:rPr lang="en-US" dirty="0"/>
              <a:t>Two-part final exam</a:t>
            </a:r>
          </a:p>
          <a:p>
            <a:pPr lvl="1"/>
            <a:r>
              <a:rPr lang="en-US" dirty="0"/>
              <a:t>Take home:</a:t>
            </a:r>
          </a:p>
          <a:p>
            <a:pPr lvl="2"/>
            <a:r>
              <a:rPr lang="en-US" dirty="0"/>
              <a:t>Part A: </a:t>
            </a:r>
            <a:r>
              <a:rPr lang="en-US" b="1" dirty="0"/>
              <a:t>Required</a:t>
            </a:r>
            <a:r>
              <a:rPr lang="en-US" dirty="0"/>
              <a:t>, virtually </a:t>
            </a:r>
            <a:r>
              <a:rPr lang="en-US" b="1" dirty="0"/>
              <a:t>flawless answer </a:t>
            </a:r>
            <a:r>
              <a:rPr lang="en-US" dirty="0"/>
              <a:t>required, gets a </a:t>
            </a:r>
            <a:r>
              <a:rPr lang="en-US" b="1" dirty="0"/>
              <a:t>B</a:t>
            </a:r>
            <a:r>
              <a:rPr lang="en-US" dirty="0"/>
              <a:t> for the course</a:t>
            </a:r>
          </a:p>
          <a:p>
            <a:pPr lvl="2"/>
            <a:r>
              <a:rPr lang="en-US" dirty="0"/>
              <a:t>Part B: </a:t>
            </a:r>
            <a:r>
              <a:rPr lang="en-US" b="1" dirty="0"/>
              <a:t>Optional</a:t>
            </a:r>
            <a:r>
              <a:rPr lang="en-US" dirty="0"/>
              <a:t>, virtually </a:t>
            </a:r>
            <a:r>
              <a:rPr lang="en-US" b="1" dirty="0"/>
              <a:t>flawless answer </a:t>
            </a:r>
            <a:r>
              <a:rPr lang="en-US" dirty="0"/>
              <a:t>required, gets a </a:t>
            </a:r>
            <a:r>
              <a:rPr lang="en-US" b="1" dirty="0"/>
              <a:t>B+</a:t>
            </a:r>
            <a:r>
              <a:rPr lang="en-US" dirty="0"/>
              <a:t> for the course</a:t>
            </a:r>
          </a:p>
          <a:p>
            <a:pPr lvl="1"/>
            <a:r>
              <a:rPr lang="en-US" dirty="0"/>
              <a:t>In class: </a:t>
            </a:r>
            <a:r>
              <a:rPr lang="en-US" b="1" dirty="0"/>
              <a:t>Optional</a:t>
            </a:r>
            <a:r>
              <a:rPr lang="en-US" dirty="0"/>
              <a:t>, </a:t>
            </a:r>
            <a:r>
              <a:rPr lang="en-US" b="1" dirty="0"/>
              <a:t>hard</a:t>
            </a:r>
            <a:r>
              <a:rPr lang="en-US" dirty="0"/>
              <a:t>, </a:t>
            </a:r>
            <a:r>
              <a:rPr lang="en-US" b="1" dirty="0"/>
              <a:t>A</a:t>
            </a:r>
            <a:r>
              <a:rPr lang="en-US" dirty="0"/>
              <a:t>’s </a:t>
            </a:r>
            <a:r>
              <a:rPr lang="en-US" b="1" dirty="0"/>
              <a:t>only</a:t>
            </a:r>
            <a:r>
              <a:rPr lang="en-US" dirty="0"/>
              <a:t> for </a:t>
            </a:r>
            <a:r>
              <a:rPr lang="en-US" b="1" i="1" dirty="0"/>
              <a:t>outstanding</a:t>
            </a:r>
            <a:r>
              <a:rPr lang="en-US" dirty="0"/>
              <a:t> performance</a:t>
            </a:r>
          </a:p>
          <a:p>
            <a:r>
              <a:rPr lang="en-US" dirty="0"/>
              <a:t>Here’s another explanation: </a:t>
            </a:r>
            <a:r>
              <a:rPr lang="en-US" dirty="0">
                <a:hlinkClick r:id="rId3"/>
              </a:rPr>
              <a:t>Grading System</a:t>
            </a:r>
            <a:endParaRPr lang="en-US" dirty="0"/>
          </a:p>
          <a:p>
            <a:r>
              <a:rPr lang="en-US" dirty="0"/>
              <a:t>You need to come to </a:t>
            </a:r>
            <a:r>
              <a:rPr lang="en-US" b="1" i="1" dirty="0"/>
              <a:t>every</a:t>
            </a:r>
            <a:r>
              <a:rPr lang="en-US" dirty="0"/>
              <a:t> class and do </a:t>
            </a:r>
            <a:r>
              <a:rPr lang="en-US" b="1" i="1" dirty="0"/>
              <a:t>all</a:t>
            </a:r>
            <a:r>
              <a:rPr lang="en-US" dirty="0"/>
              <a:t> the homework to </a:t>
            </a:r>
            <a:r>
              <a:rPr lang="en-US" b="1" i="1" dirty="0"/>
              <a:t>learn</a:t>
            </a:r>
            <a:r>
              <a:rPr lang="en-US" dirty="0"/>
              <a:t> this material</a:t>
            </a:r>
          </a:p>
          <a:p>
            <a:pPr lvl="1"/>
            <a:r>
              <a:rPr lang="en-US" dirty="0"/>
              <a:t>It will be </a:t>
            </a:r>
            <a:r>
              <a:rPr lang="en-US" b="1" dirty="0"/>
              <a:t>a lot of 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and money: Compound growth</a:t>
            </a:r>
          </a:p>
          <a:p>
            <a:r>
              <a:rPr lang="en-US" dirty="0"/>
              <a:t>Present values, discounting, etc.,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ACCT270-white-wide</Template>
  <TotalTime>4306</TotalTime>
  <Words>1387</Words>
  <Application>Microsoft Office PowerPoint</Application>
  <PresentationFormat>On-screen Show (16:9)</PresentationFormat>
  <Paragraphs>216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ACCT270-white-wide</vt:lpstr>
      <vt:lpstr>ACCT 2700 Foundations of Accounting &amp; Valuation </vt:lpstr>
      <vt:lpstr>Today</vt:lpstr>
      <vt:lpstr>Potential Investment - FS</vt:lpstr>
      <vt:lpstr>Is there a track record?</vt:lpstr>
      <vt:lpstr>FS Annual Track Record (Actual)</vt:lpstr>
      <vt:lpstr>PowerPoint Presentation</vt:lpstr>
      <vt:lpstr>What are other opportunities?</vt:lpstr>
      <vt:lpstr>PowerPoint Presentation</vt:lpstr>
      <vt:lpstr>PowerPoint Presentation</vt:lpstr>
      <vt:lpstr>PowerPoint Presentation</vt:lpstr>
      <vt:lpstr>PowerPoint Presentation</vt:lpstr>
      <vt:lpstr>Decision?</vt:lpstr>
      <vt:lpstr>A Little More Due Diligence</vt:lpstr>
      <vt:lpstr>Even More Information</vt:lpstr>
      <vt:lpstr>PowerPoint Presentation</vt:lpstr>
      <vt:lpstr>PowerPoint Presentation</vt:lpstr>
      <vt:lpstr>Cleaning Up the Mess</vt:lpstr>
      <vt:lpstr>Costs of Cleaning Up the Mess</vt:lpstr>
      <vt:lpstr>Watch this video…</vt:lpstr>
      <vt:lpstr>Accounting and Finance</vt:lpstr>
      <vt:lpstr>Ponzi Schemes</vt:lpstr>
      <vt:lpstr>Investment Game</vt:lpstr>
      <vt:lpstr>Extent of Damage Caused by Failure to Assess Value and Value Creation</vt:lpstr>
      <vt:lpstr>BLMIS Accounting</vt:lpstr>
      <vt:lpstr>How Could He Have Been Caught?</vt:lpstr>
      <vt:lpstr>Recap</vt:lpstr>
      <vt:lpstr>Course</vt:lpstr>
      <vt:lpstr>Grades, etc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 270 Foundations of Accounting &amp; Valuation</dc:title>
  <dc:creator>rantle</dc:creator>
  <cp:lastModifiedBy>Antle, Rick</cp:lastModifiedBy>
  <cp:revision>33</cp:revision>
  <dcterms:created xsi:type="dcterms:W3CDTF">2016-01-19T21:04:12Z</dcterms:created>
  <dcterms:modified xsi:type="dcterms:W3CDTF">2026-01-13T15:36:53Z</dcterms:modified>
</cp:coreProperties>
</file>