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269" r:id="rId4"/>
    <p:sldId id="279" r:id="rId5"/>
    <p:sldId id="280" r:id="rId6"/>
    <p:sldId id="270" r:id="rId7"/>
    <p:sldId id="271" r:id="rId8"/>
    <p:sldId id="272" r:id="rId9"/>
    <p:sldId id="273" r:id="rId10"/>
    <p:sldId id="274" r:id="rId11"/>
    <p:sldId id="275" r:id="rId12"/>
    <p:sldId id="267" r:id="rId13"/>
    <p:sldId id="276" r:id="rId14"/>
    <p:sldId id="277" r:id="rId15"/>
    <p:sldId id="265" r:id="rId16"/>
    <p:sldId id="264" r:id="rId17"/>
    <p:sldId id="266" r:id="rId18"/>
    <p:sldId id="278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59" r:id="rId27"/>
    <p:sldId id="260" r:id="rId28"/>
    <p:sldId id="261" r:id="rId29"/>
    <p:sldId id="262" r:id="rId30"/>
    <p:sldId id="263" r:id="rId31"/>
    <p:sldId id="268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D2077C41-23D2-40E5-A1B9-6D409EDDC81D}"/>
    <pc:docChg chg="modSld">
      <pc:chgData name="Antle, Rick" userId="c2afbbd2-30e4-4c8e-8af5-81913178ace3" providerId="ADAL" clId="{D2077C41-23D2-40E5-A1B9-6D409EDDC81D}" dt="2026-02-10T22:24:59.824" v="0" actId="20577"/>
      <pc:docMkLst>
        <pc:docMk/>
      </pc:docMkLst>
      <pc:sldChg chg="modSp mod">
        <pc:chgData name="Antle, Rick" userId="c2afbbd2-30e4-4c8e-8af5-81913178ace3" providerId="ADAL" clId="{D2077C41-23D2-40E5-A1B9-6D409EDDC81D}" dt="2026-02-10T22:24:59.824" v="0" actId="20577"/>
        <pc:sldMkLst>
          <pc:docMk/>
          <pc:sldMk cId="1423805063" sldId="256"/>
        </pc:sldMkLst>
        <pc:spChg chg="mod">
          <ac:chgData name="Antle, Rick" userId="c2afbbd2-30e4-4c8e-8af5-81913178ace3" providerId="ADAL" clId="{D2077C41-23D2-40E5-A1B9-6D409EDDC81D}" dt="2026-02-10T22:24:59.824" v="0" actId="20577"/>
          <ac:spMkLst>
            <pc:docMk/>
            <pc:sldMk cId="1423805063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C16BC-4577-D341-BF59-BA51E3F3E6A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D8C29-11EF-C043-9677-97ED55FA2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1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2968423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3332673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2725583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2781781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1350850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1022038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941735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709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820670" cy="273844"/>
          </a:xfr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03DFB-57EE-1441-A120-C0F52985D79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15084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884" y="4530494"/>
            <a:ext cx="372441" cy="43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hyperlink" Target="https://www.nytimes.com/2004/09/30/business/merck-pulls-vioxx-painkiller-from-market-and-stock-plunge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781" y="1597819"/>
            <a:ext cx="8819071" cy="1102519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Georgia"/>
              </a:rPr>
              <a:t>ACCT 2700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CADCFC"/>
                </a:solidFill>
                <a:latin typeface="Georgia"/>
              </a:rPr>
              <a:t>Foundations of Accounting &amp; 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>
                <a:solidFill>
                  <a:srgbClr val="E8C547"/>
                </a:solidFill>
                <a:latin typeface="Calibri"/>
              </a:rPr>
              <a:t>Session 10: Introduction to Accounting</a:t>
            </a:r>
          </a:p>
        </p:txBody>
      </p:sp>
    </p:spTree>
    <p:extLst>
      <p:ext uri="{BB962C8B-B14F-4D97-AF65-F5344CB8AC3E}">
        <p14:creationId xmlns:p14="http://schemas.microsoft.com/office/powerpoint/2010/main" val="142380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8C547"/>
                </a:solidFill>
                <a:latin typeface="Georgia"/>
              </a:rPr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E8EDF2"/>
                </a:solidFill>
              </a:rPr>
              <a:t>There is a lot of material on the Learning Accounting site assignment for today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Entity and transactions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Framework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Financial statements 101</a:t>
            </a:r>
          </a:p>
          <a:p>
            <a:r>
              <a:rPr lang="en-US" dirty="0">
                <a:solidFill>
                  <a:srgbClr val="E8EDF2"/>
                </a:solidFill>
              </a:rPr>
              <a:t>Make sure you go through this thoroughly, watch all the videos,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>
                <a:solidFill>
                  <a:srgbClr val="E8EDF2"/>
                </a:solidFill>
              </a:r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9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683512" y="1380728"/>
            <a:ext cx="3375108" cy="3129410"/>
          </a:xfrm>
          <a:prstGeom prst="ellipse">
            <a:avLst/>
          </a:prstGeom>
          <a:solidFill>
            <a:srgbClr val="0F2B46"/>
          </a:solidFill>
          <a:ln w="19050">
            <a:solidFill>
              <a:srgbClr val="0A1F33"/>
            </a:solidFill>
          </a:ln>
        </p:spPr>
        <p:txBody>
          <a:bodyPr rtlCol="0" anchor="ctr"/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Organization</a:t>
            </a:r>
            <a:r>
              <a:rPr lang="en-US">
                <a:solidFill>
                  <a:srgbClr val="FFFFFF"/>
                </a:solidFill>
              </a:rPr>
              <a:t xml:space="preserve"> </a:t>
            </a:r>
            <a:r>
              <a:rPr lang="en-US" sz="1000">
                <a:solidFill>
                  <a:srgbClr val="FFFFFF"/>
                </a:solidFill>
              </a:rPr>
              <a:t>(Corporation, LLC, Partnership, Not-for-profit, etc. – the accounting entity)</a:t>
            </a:r>
          </a:p>
        </p:txBody>
      </p:sp>
      <p:sp>
        <p:nvSpPr>
          <p:cNvPr id="10" name="Oval 9"/>
          <p:cNvSpPr/>
          <p:nvPr/>
        </p:nvSpPr>
        <p:spPr>
          <a:xfrm>
            <a:off x="3819501" y="139820"/>
            <a:ext cx="1143906" cy="98457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txBody>
          <a:bodyPr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Money providers</a:t>
            </a:r>
          </a:p>
          <a:p>
            <a:pPr algn="ctr"/>
            <a:r>
              <a:rPr lang="en-US" sz="800">
                <a:solidFill>
                  <a:srgbClr val="FFFFFF"/>
                </a:solidFill>
              </a:rPr>
              <a:t>(shareholders)</a:t>
            </a:r>
          </a:p>
        </p:txBody>
      </p:sp>
      <p:sp>
        <p:nvSpPr>
          <p:cNvPr id="11" name="Oval 10"/>
          <p:cNvSpPr/>
          <p:nvPr/>
        </p:nvSpPr>
        <p:spPr>
          <a:xfrm>
            <a:off x="448570" y="1424162"/>
            <a:ext cx="1287458" cy="126421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9A7209"/>
            </a:solidFill>
          </a:ln>
        </p:spPr>
        <p:txBody>
          <a:bodyPr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Governments</a:t>
            </a:r>
          </a:p>
        </p:txBody>
      </p:sp>
      <p:sp>
        <p:nvSpPr>
          <p:cNvPr id="12" name="Oval 11"/>
          <p:cNvSpPr/>
          <p:nvPr/>
        </p:nvSpPr>
        <p:spPr>
          <a:xfrm>
            <a:off x="6613700" y="2178738"/>
            <a:ext cx="1215900" cy="1087579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txBody>
          <a:bodyPr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Employees</a:t>
            </a:r>
            <a:endParaRPr lang="en-US" sz="800"/>
          </a:p>
        </p:txBody>
      </p:sp>
      <p:sp>
        <p:nvSpPr>
          <p:cNvPr id="13" name="Oval 12"/>
          <p:cNvSpPr/>
          <p:nvPr/>
        </p:nvSpPr>
        <p:spPr>
          <a:xfrm>
            <a:off x="5954473" y="550543"/>
            <a:ext cx="1143906" cy="98457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txBody>
          <a:bodyPr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Money Providers</a:t>
            </a:r>
          </a:p>
          <a:p>
            <a:pPr algn="ctr"/>
            <a:r>
              <a:rPr lang="en-US" sz="800">
                <a:solidFill>
                  <a:srgbClr val="FFFFFF"/>
                </a:solidFill>
              </a:rPr>
              <a:t>(bankers, bond market)</a:t>
            </a:r>
          </a:p>
        </p:txBody>
      </p:sp>
      <p:sp>
        <p:nvSpPr>
          <p:cNvPr id="14" name="Oval 13"/>
          <p:cNvSpPr/>
          <p:nvPr/>
        </p:nvSpPr>
        <p:spPr>
          <a:xfrm>
            <a:off x="1468050" y="362001"/>
            <a:ext cx="1245030" cy="117311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txBody>
          <a:bodyPr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Suppliers</a:t>
            </a:r>
          </a:p>
        </p:txBody>
      </p:sp>
      <p:sp>
        <p:nvSpPr>
          <p:cNvPr id="15" name="Oval 14"/>
          <p:cNvSpPr/>
          <p:nvPr/>
        </p:nvSpPr>
        <p:spPr>
          <a:xfrm>
            <a:off x="6156280" y="3647911"/>
            <a:ext cx="1215900" cy="1087579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txBody>
          <a:bodyPr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Managers</a:t>
            </a:r>
            <a:endParaRPr lang="en-US" sz="800"/>
          </a:p>
        </p:txBody>
      </p:sp>
      <p:sp>
        <p:nvSpPr>
          <p:cNvPr id="16" name="TextBox 15"/>
          <p:cNvSpPr txBox="1"/>
          <p:nvPr/>
        </p:nvSpPr>
        <p:spPr>
          <a:xfrm>
            <a:off x="6922510" y="4808688"/>
            <a:ext cx="21421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F2B46"/>
                </a:solidFill>
              </a:rPr>
              <a:t>Source: SOM Professor Shyam Sunder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252685" y="1124390"/>
            <a:ext cx="0" cy="256338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19" name="Straight Arrow Connector 18"/>
          <p:cNvCxnSpPr/>
          <p:nvPr/>
        </p:nvCxnSpPr>
        <p:spPr>
          <a:xfrm>
            <a:off x="2405971" y="1478711"/>
            <a:ext cx="690103" cy="419272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20" name="Straight Arrow Connector 19"/>
          <p:cNvCxnSpPr>
            <a:endCxn id="5" idx="7"/>
          </p:cNvCxnSpPr>
          <p:nvPr/>
        </p:nvCxnSpPr>
        <p:spPr>
          <a:xfrm flipH="1">
            <a:off x="5564347" y="1380728"/>
            <a:ext cx="548571" cy="458291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21" name="Straight Arrow Connector 20"/>
          <p:cNvCxnSpPr/>
          <p:nvPr/>
        </p:nvCxnSpPr>
        <p:spPr>
          <a:xfrm flipV="1">
            <a:off x="4535117" y="1124390"/>
            <a:ext cx="0" cy="259379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22" name="Straight Arrow Connector 21"/>
          <p:cNvCxnSpPr/>
          <p:nvPr/>
        </p:nvCxnSpPr>
        <p:spPr>
          <a:xfrm flipV="1">
            <a:off x="5668304" y="1478712"/>
            <a:ext cx="581517" cy="478775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23" name="Straight Arrow Connector 22"/>
          <p:cNvCxnSpPr/>
          <p:nvPr/>
        </p:nvCxnSpPr>
        <p:spPr>
          <a:xfrm flipH="1" flipV="1">
            <a:off x="1736028" y="2178738"/>
            <a:ext cx="1025304" cy="300197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24" name="Straight Arrow Connector 23"/>
          <p:cNvCxnSpPr/>
          <p:nvPr/>
        </p:nvCxnSpPr>
        <p:spPr>
          <a:xfrm flipH="1" flipV="1">
            <a:off x="5865739" y="3603418"/>
            <a:ext cx="441372" cy="215299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25" name="Straight Arrow Connector 24"/>
          <p:cNvCxnSpPr>
            <a:stCxn id="12" idx="2"/>
          </p:cNvCxnSpPr>
          <p:nvPr/>
        </p:nvCxnSpPr>
        <p:spPr>
          <a:xfrm flipH="1">
            <a:off x="6058620" y="2722528"/>
            <a:ext cx="555080" cy="0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40" name="Straight Arrow Connector 39"/>
          <p:cNvCxnSpPr/>
          <p:nvPr/>
        </p:nvCxnSpPr>
        <p:spPr>
          <a:xfrm flipH="1" flipV="1">
            <a:off x="2560204" y="1274582"/>
            <a:ext cx="742909" cy="440908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41" name="Straight Arrow Connector 40"/>
          <p:cNvCxnSpPr/>
          <p:nvPr/>
        </p:nvCxnSpPr>
        <p:spPr>
          <a:xfrm>
            <a:off x="5739914" y="3914973"/>
            <a:ext cx="429117" cy="203905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42" name="Straight Arrow Connector 41"/>
          <p:cNvCxnSpPr/>
          <p:nvPr/>
        </p:nvCxnSpPr>
        <p:spPr>
          <a:xfrm flipV="1">
            <a:off x="6058620" y="2975025"/>
            <a:ext cx="634989" cy="1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52" name="Straight Arrow Connector 51"/>
          <p:cNvCxnSpPr>
            <a:stCxn id="11" idx="5"/>
          </p:cNvCxnSpPr>
          <p:nvPr/>
        </p:nvCxnSpPr>
        <p:spPr>
          <a:xfrm>
            <a:off x="1547484" y="2503234"/>
            <a:ext cx="1165596" cy="318333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sp>
        <p:nvSpPr>
          <p:cNvPr id="65" name="Oval 64"/>
          <p:cNvSpPr/>
          <p:nvPr/>
        </p:nvSpPr>
        <p:spPr>
          <a:xfrm>
            <a:off x="915552" y="3282867"/>
            <a:ext cx="1287458" cy="126421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txBody>
          <a:bodyPr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Customers</a:t>
            </a:r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2159508" y="3593956"/>
            <a:ext cx="674834" cy="238266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cxnSp>
        <p:nvCxnSpPr>
          <p:cNvPr id="73" name="Straight Arrow Connector 72"/>
          <p:cNvCxnSpPr/>
          <p:nvPr/>
        </p:nvCxnSpPr>
        <p:spPr>
          <a:xfrm flipV="1">
            <a:off x="2110954" y="3375088"/>
            <a:ext cx="650378" cy="217542"/>
          </a:xfrm>
          <a:prstGeom prst="straightConnector1">
            <a:avLst/>
          </a:prstGeom>
          <a:ln w="19050">
            <a:solidFill>
              <a:srgbClr val="E8C547"/>
            </a:solidFill>
            <a:tailEnd type="arrow"/>
          </a:ln>
        </p:spPr>
      </p:cxnSp>
      <p:sp>
        <p:nvSpPr>
          <p:cNvPr id="75" name="TextBox 74"/>
          <p:cNvSpPr txBox="1"/>
          <p:nvPr/>
        </p:nvSpPr>
        <p:spPr>
          <a:xfrm>
            <a:off x="3812404" y="1050415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600">
                <a:solidFill>
                  <a:srgbClr val="E8C547"/>
                </a:solidFill>
              </a:rPr>
              <a:t>$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58050" y="1050415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600">
                <a:solidFill>
                  <a:srgbClr val="E8C547"/>
                </a:solidFill>
              </a:rPr>
              <a:t>$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17474" y="122903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600">
                <a:solidFill>
                  <a:srgbClr val="E8C547"/>
                </a:solidFill>
              </a:rPr>
              <a:t>$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05451" y="171549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600">
                <a:solidFill>
                  <a:srgbClr val="E8C547"/>
                </a:solidFill>
              </a:rPr>
              <a:t>$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98991" y="304156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600">
                <a:solidFill>
                  <a:srgbClr val="E8C547"/>
                </a:solidFill>
              </a:rPr>
              <a:t>$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2181" y="4025662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600">
                <a:solidFill>
                  <a:srgbClr val="E8C547"/>
                </a:solidFill>
              </a:rPr>
              <a:t>$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53682" y="308165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600">
                <a:solidFill>
                  <a:srgbClr val="E8C547"/>
                </a:solidFill>
              </a:rPr>
              <a:t>$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50623" y="1089916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600">
                <a:solidFill>
                  <a:srgbClr val="E8C547"/>
                </a:solidFill>
              </a:rPr>
              <a:t>$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5579" y="1983756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z="1600">
                <a:solidFill>
                  <a:srgbClr val="E8C547"/>
                </a:solidFill>
              </a:rPr>
              <a:t>$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18763" y="3144367"/>
            <a:ext cx="1272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Salaries &amp; wages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83068" y="3426384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Management Services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07831" y="3041561"/>
            <a:ext cx="729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Revenue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8172" y="4408579"/>
            <a:ext cx="1272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Salaries &amp; wages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83068" y="2340435"/>
            <a:ext cx="538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Labor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06409" y="3980378"/>
            <a:ext cx="724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Goods &amp;</a:t>
            </a:r>
          </a:p>
          <a:p>
            <a:r>
              <a:rPr lang="en-US" sz="1200">
                <a:solidFill>
                  <a:srgbClr val="0F2B46"/>
                </a:solidFill>
              </a:rPr>
              <a:t>Services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36344" y="1574817"/>
            <a:ext cx="854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Goods &amp;</a:t>
            </a:r>
          </a:p>
          <a:p>
            <a:r>
              <a:rPr lang="en-US" sz="1200">
                <a:solidFill>
                  <a:srgbClr val="0F2B46"/>
                </a:solidFill>
              </a:rPr>
              <a:t xml:space="preserve">Services </a:t>
            </a:r>
          </a:p>
          <a:p>
            <a:r>
              <a:rPr lang="en-US" sz="1200">
                <a:solidFill>
                  <a:srgbClr val="0F2B46"/>
                </a:solidFill>
              </a:rPr>
              <a:t>(Expenses)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82057" y="2076089"/>
            <a:ext cx="54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Taxes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7024" y="2677358"/>
            <a:ext cx="1755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Defense, police, courts,</a:t>
            </a:r>
          </a:p>
          <a:p>
            <a:r>
              <a:rPr lang="en-US" sz="1200">
                <a:solidFill>
                  <a:srgbClr val="0F2B46"/>
                </a:solidFill>
              </a:rPr>
              <a:t>roads, etc. (Public goods)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03860" y="560678"/>
            <a:ext cx="11620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Equity</a:t>
            </a:r>
          </a:p>
          <a:p>
            <a:r>
              <a:rPr lang="en-US" sz="1200">
                <a:solidFill>
                  <a:srgbClr val="0F2B46"/>
                </a:solidFill>
              </a:rPr>
              <a:t>(dividends &amp;</a:t>
            </a:r>
          </a:p>
          <a:p>
            <a:r>
              <a:rPr lang="en-US" sz="1200">
                <a:solidFill>
                  <a:srgbClr val="0F2B46"/>
                </a:solidFill>
              </a:rPr>
              <a:t>ownership</a:t>
            </a:r>
          </a:p>
          <a:p>
            <a:r>
              <a:rPr lang="en-US" sz="1200">
                <a:solidFill>
                  <a:srgbClr val="0F2B46"/>
                </a:solidFill>
              </a:rPr>
              <a:t>claims they can</a:t>
            </a:r>
          </a:p>
          <a:p>
            <a:r>
              <a:rPr lang="en-US" sz="1200">
                <a:solidFill>
                  <a:srgbClr val="0F2B46"/>
                </a:solidFill>
              </a:rPr>
              <a:t>sell)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44335" y="1759483"/>
            <a:ext cx="1818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F2B46"/>
                </a:solidFill>
              </a:rPr>
              <a:t>Debt (principal &amp; interest)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187455" y="302789"/>
            <a:ext cx="19877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E8C547"/>
                </a:solidFill>
              </a:rPr>
              <a:t>Accounting system</a:t>
            </a:r>
          </a:p>
          <a:p>
            <a:r>
              <a:rPr lang="en-US" b="1">
                <a:solidFill>
                  <a:srgbClr val="E8C547"/>
                </a:solidFill>
              </a:rPr>
              <a:t xml:space="preserve">keeps track of all </a:t>
            </a:r>
          </a:p>
          <a:p>
            <a:r>
              <a:rPr lang="en-US" b="1">
                <a:solidFill>
                  <a:srgbClr val="E8C547"/>
                </a:solidFill>
              </a:rPr>
              <a:t>this!!!</a:t>
            </a:r>
          </a:p>
        </p:txBody>
      </p:sp>
      <p:sp>
        <p:nvSpPr>
          <p:cNvPr id="200" name="AccentBar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F2B46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14116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  <p:bldP spid="12" grpId="0" animBg="1"/>
      <p:bldP spid="65" grpId="0" animBg="1"/>
      <p:bldP spid="14" grpId="0" animBg="1"/>
      <p:bldP spid="15" grpId="0" animBg="1"/>
      <p:bldP spid="11" grpId="0" animBg="1"/>
      <p:bldP spid="75" grpId="0"/>
      <p:bldP spid="76" grpId="0"/>
      <p:bldP spid="77" grpId="0"/>
      <p:bldP spid="78" grpId="0"/>
      <p:bldP spid="79" grpId="0"/>
      <p:bldP spid="80" grpId="0"/>
      <p:bldP spid="81" grpId="0"/>
      <p:bldP spid="89" grpId="0"/>
      <p:bldP spid="90" grpId="0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99" grpId="0"/>
      <p:bldP spid="99" grpId="1"/>
      <p:bldP spid="103" grpId="0"/>
      <p:bldP spid="103" grpId="1"/>
      <p:bldP spid="106" grpId="0"/>
      <p:bldP spid="106" grpId="1"/>
      <p:bldP spid="108" grpId="0"/>
      <p:bldP spid="108" grpId="1"/>
      <p:bldP spid="109" grpId="0"/>
      <p:bldP spid="109" grpId="1"/>
      <p:bldP spid="110" grpId="0"/>
      <p:bldP spid="1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DAE1-A0CE-1EAB-B0F3-0F254D5C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8C547"/>
                </a:solidFill>
                <a:latin typeface="Georgia"/>
              </a:rPr>
              <a:t>Three-Part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56548-2CD9-E801-A959-E28BF2587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rPr lang="en-US" b="1" dirty="0">
                <a:solidFill>
                  <a:srgbClr val="E8EDF2"/>
                </a:solidFill>
              </a:rPr>
              <a:t>Aspirations</a:t>
            </a:r>
            <a:r>
              <a:rPr lang="en-US" dirty="0">
                <a:solidFill>
                  <a:srgbClr val="E8EDF2"/>
                </a:solidFill>
              </a:rPr>
              <a:t>: Show value and how it changes. Noble. Lofty purpose. Big help in creating/maintaining a civilized society.</a:t>
            </a:r>
          </a:p>
          <a:p>
            <a:pPr/>
            <a:r>
              <a:rPr lang="en-US" dirty="0">
                <a:solidFill>
                  <a:srgbClr val="E8EDF2"/>
                </a:solidFill>
              </a:rPr>
              <a:t xml:space="preserve">Accounting </a:t>
            </a:r>
            <a:r>
              <a:rPr lang="en-US" b="1" dirty="0">
                <a:solidFill>
                  <a:srgbClr val="E8EDF2"/>
                </a:solidFill>
              </a:rPr>
              <a:t>Conventions</a:t>
            </a:r>
            <a:r>
              <a:rPr lang="en-US" dirty="0">
                <a:solidFill>
                  <a:srgbClr val="E8EDF2"/>
                </a:solidFill>
              </a:rPr>
              <a:t>: Aspirations meet real world, need conventions. Don’t get your hopes up too high!</a:t>
            </a:r>
          </a:p>
          <a:p>
            <a:pPr/>
            <a:r>
              <a:rPr lang="en-US" dirty="0">
                <a:solidFill>
                  <a:srgbClr val="E8EDF2"/>
                </a:solidFill>
              </a:rPr>
              <a:t xml:space="preserve">Institutional </a:t>
            </a:r>
            <a:r>
              <a:rPr lang="en-US" b="1" dirty="0">
                <a:solidFill>
                  <a:srgbClr val="E8EDF2"/>
                </a:solidFill>
              </a:rPr>
              <a:t>Context</a:t>
            </a:r>
            <a:r>
              <a:rPr lang="en-US" dirty="0">
                <a:solidFill>
                  <a:srgbClr val="E8EDF2"/>
                </a:solidFill>
              </a:rPr>
              <a:t>: Aspirations meet real world, accounting is done by people in a social/economic/political context. Watch out!</a:t>
            </a:r>
          </a:p>
        </p:txBody>
      </p:sp>
    </p:spTree>
    <p:extLst>
      <p:ext uri="{BB962C8B-B14F-4D97-AF65-F5344CB8AC3E}">
        <p14:creationId xmlns:p14="http://schemas.microsoft.com/office/powerpoint/2010/main" val="339756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>
                <a:solidFill>
                  <a:srgbClr val="0F2B46"/>
                </a:solidFill>
              </a:rPr>
              <a:pPr/>
              <a:t>5</a:t>
            </a:fld>
            <a:endParaRPr lang="en-US" sz="140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1" y="2393157"/>
            <a:ext cx="7751763" cy="862013"/>
            <a:chOff x="624" y="1632"/>
            <a:chExt cx="4882" cy="724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4848" y="1968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0F2B46"/>
                  </a:solidFill>
                </a:rPr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24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1066801" y="1364456"/>
            <a:ext cx="1890713" cy="914400"/>
            <a:chOff x="672" y="768"/>
            <a:chExt cx="1191" cy="768"/>
          </a:xfrm>
        </p:grpSpPr>
        <p:sp>
          <p:nvSpPr>
            <p:cNvPr id="7187" name="Text Box 36"/>
            <p:cNvSpPr txBox="1">
              <a:spLocks noChangeArrowheads="1"/>
            </p:cNvSpPr>
            <p:nvPr/>
          </p:nvSpPr>
          <p:spPr bwMode="auto">
            <a:xfrm>
              <a:off x="672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F2B46"/>
                  </a:solidFill>
                </a:rPr>
                <a:t>Balance sheet</a:t>
              </a:r>
            </a:p>
          </p:txBody>
        </p:sp>
        <p:sp>
          <p:nvSpPr>
            <p:cNvPr id="7188" name="Line 39"/>
            <p:cNvSpPr>
              <a:spLocks noChangeShapeType="1"/>
            </p:cNvSpPr>
            <p:nvPr/>
          </p:nvSpPr>
          <p:spPr bwMode="auto">
            <a:xfrm>
              <a:off x="124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657601" y="1364456"/>
            <a:ext cx="1890713" cy="914400"/>
            <a:chOff x="2304" y="768"/>
            <a:chExt cx="1191" cy="768"/>
          </a:xfrm>
        </p:grpSpPr>
        <p:sp>
          <p:nvSpPr>
            <p:cNvPr id="7185" name="Text Box 37"/>
            <p:cNvSpPr txBox="1">
              <a:spLocks noChangeArrowheads="1"/>
            </p:cNvSpPr>
            <p:nvPr/>
          </p:nvSpPr>
          <p:spPr bwMode="auto">
            <a:xfrm>
              <a:off x="2304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F2B46"/>
                  </a:solidFill>
                </a:rPr>
                <a:t>Balance sheet</a:t>
              </a:r>
            </a:p>
          </p:txBody>
        </p:sp>
        <p:sp>
          <p:nvSpPr>
            <p:cNvPr id="7186" name="Line 41"/>
            <p:cNvSpPr>
              <a:spLocks noChangeShapeType="1"/>
            </p:cNvSpPr>
            <p:nvPr/>
          </p:nvSpPr>
          <p:spPr bwMode="auto">
            <a:xfrm>
              <a:off x="292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248401" y="1364456"/>
            <a:ext cx="1890713" cy="914400"/>
            <a:chOff x="3936" y="768"/>
            <a:chExt cx="1191" cy="768"/>
          </a:xfrm>
        </p:grpSpPr>
        <p:sp>
          <p:nvSpPr>
            <p:cNvPr id="7183" name="Text Box 38"/>
            <p:cNvSpPr txBox="1">
              <a:spLocks noChangeArrowheads="1"/>
            </p:cNvSpPr>
            <p:nvPr/>
          </p:nvSpPr>
          <p:spPr bwMode="auto">
            <a:xfrm>
              <a:off x="3936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F2B46"/>
                  </a:solidFill>
                </a:rPr>
                <a:t>Balance sheet</a:t>
              </a:r>
            </a:p>
          </p:txBody>
        </p:sp>
        <p:sp>
          <p:nvSpPr>
            <p:cNvPr id="7184" name="Line 42"/>
            <p:cNvSpPr>
              <a:spLocks noChangeShapeType="1"/>
            </p:cNvSpPr>
            <p:nvPr/>
          </p:nvSpPr>
          <p:spPr bwMode="auto">
            <a:xfrm>
              <a:off x="4560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51"/>
          <p:cNvGrpSpPr>
            <a:grpSpLocks/>
          </p:cNvGrpSpPr>
          <p:nvPr/>
        </p:nvGrpSpPr>
        <p:grpSpPr bwMode="auto">
          <a:xfrm>
            <a:off x="1549745" y="2775607"/>
            <a:ext cx="3159344" cy="2059781"/>
            <a:chOff x="1004" y="1969"/>
            <a:chExt cx="1989" cy="1730"/>
          </a:xfrm>
        </p:grpSpPr>
        <p:sp>
          <p:nvSpPr>
            <p:cNvPr id="7181" name="AutoShape 43"/>
            <p:cNvSpPr>
              <a:spLocks/>
            </p:cNvSpPr>
            <p:nvPr/>
          </p:nvSpPr>
          <p:spPr bwMode="auto">
            <a:xfrm rot="5423058">
              <a:off x="1967" y="1297"/>
              <a:ext cx="288" cy="1632"/>
            </a:xfrm>
            <a:prstGeom prst="rightBrace">
              <a:avLst>
                <a:gd name="adj1" fmla="val 47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2" name="Text Box 45"/>
            <p:cNvSpPr txBox="1">
              <a:spLocks noChangeArrowheads="1"/>
            </p:cNvSpPr>
            <p:nvPr/>
          </p:nvSpPr>
          <p:spPr bwMode="auto">
            <a:xfrm>
              <a:off x="1004" y="2381"/>
              <a:ext cx="1989" cy="1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F2B46"/>
                  </a:solidFill>
                </a:rPr>
                <a:t>Income statement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F2B46"/>
                  </a:solidFill>
                </a:rPr>
                <a:t>Cash flow statement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F2B46"/>
                  </a:solidFill>
                </a:rPr>
                <a:t>Statement of changes</a:t>
              </a:r>
            </a:p>
            <a:p>
              <a:r>
                <a:rPr lang="en-US" dirty="0">
                  <a:solidFill>
                    <a:srgbClr val="0F2B46"/>
                  </a:solidFill>
                </a:rPr>
                <a:t>in Shareholders’ Equity</a:t>
              </a:r>
            </a:p>
          </p:txBody>
        </p:sp>
      </p:grpSp>
      <p:grpSp>
        <p:nvGrpSpPr>
          <p:cNvPr id="8" name="Group 52"/>
          <p:cNvGrpSpPr>
            <a:grpSpLocks/>
          </p:cNvGrpSpPr>
          <p:nvPr/>
        </p:nvGrpSpPr>
        <p:grpSpPr bwMode="auto">
          <a:xfrm>
            <a:off x="4666991" y="2805733"/>
            <a:ext cx="3472066" cy="2043112"/>
            <a:chOff x="2928" y="1968"/>
            <a:chExt cx="2186" cy="1716"/>
          </a:xfrm>
        </p:grpSpPr>
        <p:sp>
          <p:nvSpPr>
            <p:cNvPr id="7179" name="AutoShape 44"/>
            <p:cNvSpPr>
              <a:spLocks/>
            </p:cNvSpPr>
            <p:nvPr/>
          </p:nvSpPr>
          <p:spPr bwMode="auto">
            <a:xfrm rot="5423058">
              <a:off x="3600" y="1296"/>
              <a:ext cx="288" cy="1632"/>
            </a:xfrm>
            <a:prstGeom prst="rightBrace">
              <a:avLst>
                <a:gd name="adj1" fmla="val 47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Text Box 46"/>
            <p:cNvSpPr txBox="1">
              <a:spLocks noChangeArrowheads="1"/>
            </p:cNvSpPr>
            <p:nvPr/>
          </p:nvSpPr>
          <p:spPr bwMode="auto">
            <a:xfrm>
              <a:off x="3125" y="2366"/>
              <a:ext cx="1989" cy="1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F2B46"/>
                  </a:solidFill>
                </a:rPr>
                <a:t>Income statement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F2B46"/>
                  </a:solidFill>
                </a:rPr>
                <a:t>Cash flow statement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F2B46"/>
                  </a:solidFill>
                </a:rPr>
                <a:t>Statement of changes</a:t>
              </a:r>
            </a:p>
            <a:p>
              <a:r>
                <a:rPr lang="en-US" dirty="0">
                  <a:solidFill>
                    <a:srgbClr val="0F2B46"/>
                  </a:solidFill>
                </a:rPr>
                <a:t>in Shareholders’ Equity</a:t>
              </a:r>
            </a:p>
          </p:txBody>
        </p:sp>
      </p:grp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F2B46"/>
                </a:solidFill>
                <a:latin typeface="Times New Roman" charset="0"/>
              </a:rPr>
              <a:t>Most Important Figure</a:t>
            </a:r>
          </a:p>
        </p:txBody>
      </p:sp>
    </p:spTree>
    <p:extLst>
      <p:ext uri="{BB962C8B-B14F-4D97-AF65-F5344CB8AC3E}">
        <p14:creationId xmlns:p14="http://schemas.microsoft.com/office/powerpoint/2010/main" val="398460755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CF92-D5A0-486E-8029-D5799C198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8C547"/>
                </a:solidFill>
                <a:latin typeface="Georgia"/>
              </a:rPr>
              <a:t>Uncle Pennybags’ Generosity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52B3B-7EF4-4B02-95C4-3A14AFC2A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E8EDF2"/>
                </a:solidFill>
              </a:rPr>
              <a:t>An Exploration of Financial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245D5-42BA-43B6-997A-83AE54818CEB}"/>
              </a:ext>
            </a:extLst>
          </p:cNvPr>
          <p:cNvSpPr txBox="1"/>
          <p:nvPr/>
        </p:nvSpPr>
        <p:spPr>
          <a:xfrm>
            <a:off x="7642193" y="4752000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E8EDF2"/>
                </a:solidFill>
              </a:rPr>
              <a:t>© 2021 Rick Antle</a:t>
            </a:r>
          </a:p>
        </p:txBody>
      </p:sp>
    </p:spTree>
    <p:extLst>
      <p:ext uri="{BB962C8B-B14F-4D97-AF65-F5344CB8AC3E}">
        <p14:creationId xmlns:p14="http://schemas.microsoft.com/office/powerpoint/2010/main" val="66772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vector graphics  Description automatically generated">
            <a:extLst>
              <a:ext uri="{FF2B5EF4-FFF2-40B4-BE49-F238E27FC236}">
                <a16:creationId xmlns:a16="http://schemas.microsoft.com/office/drawing/2014/main" id="{C7AF23DD-3CCF-4442-8E78-C74678A54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16" y="315532"/>
            <a:ext cx="4505046" cy="42693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F77E0D-62E1-41BD-9485-947BC2BDD2AB}"/>
              </a:ext>
            </a:extLst>
          </p:cNvPr>
          <p:cNvSpPr txBox="1"/>
          <p:nvPr/>
        </p:nvSpPr>
        <p:spPr>
          <a:xfrm>
            <a:off x="4672305" y="4890903"/>
            <a:ext cx="42819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solidFill>
                  <a:srgbClr val="0F2B46"/>
                </a:solidFill>
              </a:rPr>
              <a:t>Source: https://www.cleanpng.com/png-computer-icons-rich-uncle-pennybags-blog-clip-art-5688280/download-png.html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353D8F-7A7E-4A35-B2DC-A6DFEBBD040C}"/>
              </a:ext>
            </a:extLst>
          </p:cNvPr>
          <p:cNvSpPr txBox="1"/>
          <p:nvPr/>
        </p:nvSpPr>
        <p:spPr>
          <a:xfrm>
            <a:off x="251158" y="631063"/>
            <a:ext cx="491673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F2B46"/>
                </a:solidFill>
              </a:rPr>
              <a:t xml:space="preserve">Your uncle, Mr. Pennybags, was a bit </a:t>
            </a:r>
          </a:p>
          <a:p>
            <a:r>
              <a:rPr lang="en-US" dirty="0">
                <a:solidFill>
                  <a:srgbClr val="0F2B46"/>
                </a:solidFill>
              </a:rPr>
              <a:t>of a risk taker with a propensity to start</a:t>
            </a:r>
          </a:p>
          <a:p>
            <a:r>
              <a:rPr lang="en-US" dirty="0">
                <a:solidFill>
                  <a:srgbClr val="0F2B46"/>
                </a:solidFill>
              </a:rPr>
              <a:t>new businesses. He started 4 on Jan 1, 202X</a:t>
            </a:r>
          </a:p>
          <a:p>
            <a:r>
              <a:rPr lang="en-US" dirty="0">
                <a:solidFill>
                  <a:srgbClr val="0F2B46"/>
                </a:solidFill>
              </a:rPr>
              <a:t xml:space="preserve">and has decided to give them to you and your </a:t>
            </a:r>
          </a:p>
          <a:p>
            <a:r>
              <a:rPr lang="en-US" dirty="0">
                <a:solidFill>
                  <a:srgbClr val="0F2B46"/>
                </a:solidFill>
              </a:rPr>
              <a:t xml:space="preserve">3 siblings. He drew your name out of his hat, </a:t>
            </a:r>
          </a:p>
          <a:p>
            <a:r>
              <a:rPr lang="en-US" dirty="0">
                <a:solidFill>
                  <a:srgbClr val="0F2B46"/>
                </a:solidFill>
              </a:rPr>
              <a:t>so you get first choice.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BCE5C-4A20-4E00-9E0C-F36235172D7C}"/>
              </a:ext>
            </a:extLst>
          </p:cNvPr>
          <p:cNvSpPr txBox="1"/>
          <p:nvPr/>
        </p:nvSpPr>
        <p:spPr>
          <a:xfrm>
            <a:off x="251158" y="2385389"/>
            <a:ext cx="50836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F2B46"/>
                </a:solidFill>
              </a:rPr>
              <a:t>You are aware that, in addition to his generosity,</a:t>
            </a:r>
          </a:p>
          <a:p>
            <a:r>
              <a:rPr lang="en-US" dirty="0">
                <a:solidFill>
                  <a:srgbClr val="0F2B46"/>
                </a:solidFill>
              </a:rPr>
              <a:t xml:space="preserve">Mr. Pennybags, is a bit annoying. He never </a:t>
            </a:r>
          </a:p>
          <a:p>
            <a:r>
              <a:rPr lang="en-US" dirty="0">
                <a:solidFill>
                  <a:srgbClr val="0F2B46"/>
                </a:solidFill>
              </a:rPr>
              <a:t>passes up an opportunity to teach you what</a:t>
            </a:r>
          </a:p>
          <a:p>
            <a:r>
              <a:rPr lang="en-US" dirty="0">
                <a:solidFill>
                  <a:srgbClr val="0F2B46"/>
                </a:solidFill>
              </a:rPr>
              <a:t>he considers to be the most important</a:t>
            </a:r>
          </a:p>
          <a:p>
            <a:r>
              <a:rPr lang="en-US" dirty="0">
                <a:solidFill>
                  <a:srgbClr val="0F2B46"/>
                </a:solidFill>
              </a:rPr>
              <a:t>lessons that he had to learn “the hard way.”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425182-00E6-4BC0-84BB-887834C95964}"/>
              </a:ext>
            </a:extLst>
          </p:cNvPr>
          <p:cNvSpPr txBox="1"/>
          <p:nvPr/>
        </p:nvSpPr>
        <p:spPr>
          <a:xfrm>
            <a:off x="251158" y="3862717"/>
            <a:ext cx="5019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F2B46"/>
                </a:solidFill>
              </a:rPr>
              <a:t>The lesson accompanying this gift, he tells you,</a:t>
            </a:r>
          </a:p>
          <a:p>
            <a:r>
              <a:rPr lang="en-US" dirty="0">
                <a:solidFill>
                  <a:srgbClr val="0F2B46"/>
                </a:solidFill>
              </a:rPr>
              <a:t>is about financial statements.</a:t>
            </a:r>
          </a:p>
        </p:txBody>
      </p:sp>
    </p:spTree>
    <p:extLst>
      <p:ext uri="{BB962C8B-B14F-4D97-AF65-F5344CB8AC3E}">
        <p14:creationId xmlns:p14="http://schemas.microsoft.com/office/powerpoint/2010/main" val="325164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A93A73-8B3C-4FB8-9FD2-373F86D0C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833" y="0"/>
            <a:ext cx="56110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99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4D5644-949C-4D16-8F28-85723F470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11" y="0"/>
            <a:ext cx="56592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15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FCD216-D4D2-4219-B885-127EA708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708" y="0"/>
            <a:ext cx="56412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8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E2E049-2689-45C4-B374-79AA3332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170" y="0"/>
            <a:ext cx="56110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1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able  Description automatically generated">
            <a:extLst>
              <a:ext uri="{FF2B5EF4-FFF2-40B4-BE49-F238E27FC236}">
                <a16:creationId xmlns:a16="http://schemas.microsoft.com/office/drawing/2014/main" id="{76F716C6-C273-49D6-8814-7299C4C4D4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8" t="6453" r="7565" b="13239"/>
          <a:stretch/>
        </p:blipFill>
        <p:spPr>
          <a:xfrm>
            <a:off x="1083499" y="87682"/>
            <a:ext cx="7079181" cy="500414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AE17349-7E68-F44C-A742-DD69A76ADC89}"/>
              </a:ext>
            </a:extLst>
          </p:cNvPr>
          <p:cNvSpPr/>
          <p:nvPr/>
        </p:nvSpPr>
        <p:spPr>
          <a:xfrm>
            <a:off x="1006549" y="4325511"/>
            <a:ext cx="7095460" cy="61225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7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41694-30AC-4400-9D91-042F70A97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98" y="0"/>
            <a:ext cx="6866604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95A52A-42C6-47CF-A38D-CE0E3DFDAC81}"/>
              </a:ext>
            </a:extLst>
          </p:cNvPr>
          <p:cNvSpPr/>
          <p:nvPr/>
        </p:nvSpPr>
        <p:spPr>
          <a:xfrm>
            <a:off x="1006549" y="4118344"/>
            <a:ext cx="7095460" cy="971107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21DC26-EC72-46C2-827B-1F5337069F34}"/>
              </a:ext>
            </a:extLst>
          </p:cNvPr>
          <p:cNvSpPr/>
          <p:nvPr/>
        </p:nvSpPr>
        <p:spPr>
          <a:xfrm>
            <a:off x="3164959" y="4118344"/>
            <a:ext cx="1329070" cy="971107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A8D96C-2929-444F-905D-61F9C5BB928E}"/>
              </a:ext>
            </a:extLst>
          </p:cNvPr>
          <p:cNvSpPr/>
          <p:nvPr/>
        </p:nvSpPr>
        <p:spPr>
          <a:xfrm>
            <a:off x="4483398" y="4118344"/>
            <a:ext cx="3521904" cy="971107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8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1EA6BF5-E786-49E6-8D04-78047499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528" y="3387795"/>
            <a:ext cx="5586024" cy="1686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FF00B2-FF39-4715-812C-906CA73DE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397" y="1637654"/>
            <a:ext cx="5651956" cy="17129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9F09A1-6F58-4256-8E4D-0CB10E123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727" y="0"/>
            <a:ext cx="5676625" cy="16714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98F2B8C-4FFE-4527-9ABD-7B8EA6D51EB7}"/>
              </a:ext>
            </a:extLst>
          </p:cNvPr>
          <p:cNvSpPr/>
          <p:nvPr/>
        </p:nvSpPr>
        <p:spPr>
          <a:xfrm>
            <a:off x="5422604" y="694660"/>
            <a:ext cx="1240465" cy="96402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50329C-9726-4917-81D7-98A26CCD2DD1}"/>
              </a:ext>
            </a:extLst>
          </p:cNvPr>
          <p:cNvSpPr/>
          <p:nvPr/>
        </p:nvSpPr>
        <p:spPr>
          <a:xfrm>
            <a:off x="5369441" y="2293087"/>
            <a:ext cx="1240465" cy="1123508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5F5EA0-50D9-4363-BB88-9761FF852568}"/>
              </a:ext>
            </a:extLst>
          </p:cNvPr>
          <p:cNvSpPr/>
          <p:nvPr/>
        </p:nvSpPr>
        <p:spPr>
          <a:xfrm>
            <a:off x="5369441" y="3989798"/>
            <a:ext cx="1240465" cy="1123508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3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A52A6-292C-421A-AD0D-9ABBF0AA4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98" y="44278"/>
            <a:ext cx="4053016" cy="5099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A1F42B-AC5F-48CB-85E3-E0C4C06A4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85" y="59209"/>
            <a:ext cx="3987114" cy="50250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663481-6635-44F3-A92E-E6004893C171}"/>
              </a:ext>
            </a:extLst>
          </p:cNvPr>
          <p:cNvSpPr/>
          <p:nvPr/>
        </p:nvSpPr>
        <p:spPr>
          <a:xfrm>
            <a:off x="3007649" y="1104830"/>
            <a:ext cx="1240465" cy="3979459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97EC6-B4CE-4C16-89C7-C5A9FDE7054E}"/>
              </a:ext>
            </a:extLst>
          </p:cNvPr>
          <p:cNvSpPr/>
          <p:nvPr/>
        </p:nvSpPr>
        <p:spPr>
          <a:xfrm>
            <a:off x="7585334" y="1154449"/>
            <a:ext cx="1240465" cy="385703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4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1569E-D1E9-44D3-9ABD-1EA5368B8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525" y="183589"/>
            <a:ext cx="3954162" cy="21747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F6CC78-6CB4-4479-9115-92F2F5ED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525" y="2431997"/>
            <a:ext cx="4020065" cy="22242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FD89B4-5AEE-409C-A037-6EA74AE1C6FC}"/>
              </a:ext>
            </a:extLst>
          </p:cNvPr>
          <p:cNvSpPr/>
          <p:nvPr/>
        </p:nvSpPr>
        <p:spPr>
          <a:xfrm>
            <a:off x="2388782" y="850606"/>
            <a:ext cx="4274288" cy="808074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3FC914-A2D7-4807-8171-7E36AAD00B7E}"/>
              </a:ext>
            </a:extLst>
          </p:cNvPr>
          <p:cNvSpPr/>
          <p:nvPr/>
        </p:nvSpPr>
        <p:spPr>
          <a:xfrm>
            <a:off x="2388782" y="3157871"/>
            <a:ext cx="4274288" cy="808074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2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272A2B-3E5E-4EB5-BA0B-0EABC0D4B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922" y="484740"/>
            <a:ext cx="3921211" cy="44649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D977A1-85C9-4733-9CF4-A9A3FAD9B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37" y="412740"/>
            <a:ext cx="4053016" cy="45884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FA418B-89CC-4A19-9264-73E6D22CBAF8}"/>
              </a:ext>
            </a:extLst>
          </p:cNvPr>
          <p:cNvSpPr/>
          <p:nvPr/>
        </p:nvSpPr>
        <p:spPr>
          <a:xfrm>
            <a:off x="201537" y="1254642"/>
            <a:ext cx="3987691" cy="956929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4ADC4F-FCD4-4B5E-AB36-94BFAFD0D0D2}"/>
              </a:ext>
            </a:extLst>
          </p:cNvPr>
          <p:cNvSpPr/>
          <p:nvPr/>
        </p:nvSpPr>
        <p:spPr>
          <a:xfrm>
            <a:off x="4864442" y="1254642"/>
            <a:ext cx="3987691" cy="956929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3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  Description automatically generated with medium confidence">
            <a:extLst>
              <a:ext uri="{FF2B5EF4-FFF2-40B4-BE49-F238E27FC236}">
                <a16:creationId xmlns:a16="http://schemas.microsoft.com/office/drawing/2014/main" id="{5E38507B-81D4-4A81-943A-1A276DA7BA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18" t="10472" r="10387" b="17321"/>
          <a:stretch/>
        </p:blipFill>
        <p:spPr>
          <a:xfrm>
            <a:off x="1077238" y="282881"/>
            <a:ext cx="7221255" cy="486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67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E8C547"/>
                </a:solidFill>
                <a:latin typeface="Georgia"/>
              </a:rPr>
              <a:t>Merck &amp; Vioxx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E8EDF2"/>
                </a:solidFill>
              </a:rPr>
              <a:t>Accounting recognition rules exclude a lot…</a:t>
            </a:r>
          </a:p>
        </p:txBody>
      </p:sp>
    </p:spTree>
    <p:extLst>
      <p:ext uri="{BB962C8B-B14F-4D97-AF65-F5344CB8AC3E}">
        <p14:creationId xmlns:p14="http://schemas.microsoft.com/office/powerpoint/2010/main" val="38032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F2B46"/>
                </a:solidFill>
              </a:rPr>
              <a:t>Market Reaction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3B18F-84AF-44AE-BCD2-C5EA57CC8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48" y="351652"/>
            <a:ext cx="7381103" cy="44401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93C0B2-7D3E-422D-BFE4-C30A4BE028DF}"/>
              </a:ext>
            </a:extLst>
          </p:cNvPr>
          <p:cNvSpPr txBox="1"/>
          <p:nvPr/>
        </p:nvSpPr>
        <p:spPr>
          <a:xfrm>
            <a:off x="6248400" y="4705350"/>
            <a:ext cx="25619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F2B46"/>
                </a:solidFill>
              </a:rPr>
              <a:t>Source: Yale Case 08-016 Merck and Vioxx (A)</a:t>
            </a:r>
          </a:p>
        </p:txBody>
      </p:sp>
    </p:spTree>
    <p:extLst>
      <p:ext uri="{BB962C8B-B14F-4D97-AF65-F5344CB8AC3E}">
        <p14:creationId xmlns:p14="http://schemas.microsoft.com/office/powerpoint/2010/main" val="377901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8C547"/>
                </a:solidFill>
                <a:latin typeface="Georgia"/>
              </a:rPr>
              <a:t>Link to News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349"/>
            <a:ext cx="8229600" cy="3318273"/>
          </a:xfrm>
        </p:spPr>
        <p:txBody>
          <a:bodyPr/>
          <a:lstStyle/>
          <a:p>
            <a:r>
              <a:rPr lang="en-US" sz="2800" dirty="0">
                <a:solidFill>
                  <a:srgbClr val="E8EDF2"/>
                </a:solidFill>
                <a:hlinkClick r:id="rId3"/>
              </a:rPr>
              <a:t>https://www.nytimes.com/2004/09/30/business/merck-pulls-vioxx-painkiller-from-market-and-stock-plunges.html</a:t>
            </a:r>
            <a:endParaRPr lang="en-US" sz="2800" dirty="0"/>
          </a:p>
          <a:p>
            <a:pPr lvl="1"/>
            <a:r>
              <a:rPr lang="en-US" sz="2400" dirty="0">
                <a:solidFill>
                  <a:srgbClr val="E8EDF2"/>
                </a:solidFill>
              </a:rPr>
              <a:t>Reports that Merck’s market capitalization fell by about $25 bn.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4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71E3-8E1D-4A71-B0E5-1C97183FB13F}" type="slidenum">
              <a:rPr lang="en-US" altLang="en-US">
                <a:solidFill>
                  <a:srgbClr val="0F2B46"/>
                </a:solidFill>
              </a:rPr>
              <a:pPr/>
              <a:t>22</a:t>
            </a:fld>
            <a:endParaRPr lang="en-US" altLang="en-US"/>
          </a:p>
        </p:txBody>
      </p:sp>
      <p:pic>
        <p:nvPicPr>
          <p:cNvPr id="57348" name="Picture 4" descr="{058E5815-BF8E-46FD-840A-19798D0BEDC2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175148"/>
            <a:ext cx="4800600" cy="279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209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662F9-A20F-4847-BA47-0F6E0A96C4B8}" type="slidenum">
              <a:rPr lang="en-US" altLang="en-US">
                <a:solidFill>
                  <a:srgbClr val="E8EDF2"/>
                </a:solidFill>
              </a:rPr>
              <a:pPr/>
              <a:t>23</a:t>
            </a:fld>
            <a:endParaRPr lang="en-US" alt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514350"/>
          </a:xfrm>
        </p:spPr>
        <p:txBody>
          <a:bodyPr>
            <a:noAutofit/>
          </a:bodyPr>
          <a:lstStyle/>
          <a:p>
            <a:r>
              <a:rPr lang="en-US" altLang="en-US" b="1" dirty="0">
                <a:solidFill>
                  <a:srgbClr val="E8C547"/>
                </a:solidFill>
                <a:latin typeface="Georgia"/>
              </a:rPr>
              <a:t>Merck &amp; Co., Inc.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00150"/>
            <a:ext cx="8534400" cy="30861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cs typeface="Times New Roman" pitchFamily="18" charset="0"/>
              </a:rPr>
              <a:t>7</a:t>
            </a:r>
            <a:r>
              <a:rPr lang="en-US" altLang="en-US" sz="2400" dirty="0">
                <a:solidFill>
                  <a:schemeClr val="bg1"/>
                </a:solidFill>
                <a:cs typeface="Times New Roman" pitchFamily="18" charset="0"/>
              </a:rPr>
              <a:t>. </a:t>
            </a:r>
            <a:r>
              <a:rPr lang="en-US" altLang="en-US" sz="2400" dirty="0">
                <a:solidFill>
                  <a:schemeClr val="bg1"/>
                </a:solidFill>
              </a:rPr>
              <a:t>From Note 11: “The Company records accruals for contingencies when it is probable that a liability has been incurred and the amount can be reasonably estimated.”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dirty="0">
              <a:solidFill>
                <a:schemeClr val="bg1"/>
              </a:solidFill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dirty="0">
              <a:solidFill>
                <a:schemeClr val="bg1"/>
              </a:solidFill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cs typeface="Times New Roman" pitchFamily="18" charset="0"/>
              </a:rPr>
              <a:t>8</a:t>
            </a:r>
            <a:r>
              <a:rPr lang="en-US" altLang="en-US" sz="2400" dirty="0">
                <a:solidFill>
                  <a:schemeClr val="bg1"/>
                </a:solidFill>
                <a:cs typeface="Times New Roman" pitchFamily="18" charset="0"/>
              </a:rPr>
              <a:t xml:space="preserve">. </a:t>
            </a:r>
            <a:r>
              <a:rPr lang="en-US" altLang="en-US" sz="2400" dirty="0">
                <a:solidFill>
                  <a:schemeClr val="bg1"/>
                </a:solidFill>
              </a:rPr>
              <a:t>From Note 11: “Legal defense costs expected to be incurred in connection with a loss contingency are accrued when probable and reasonably estimable.”</a:t>
            </a:r>
            <a:br>
              <a:rPr lang="en-US" altLang="en-US" sz="2400" dirty="0">
                <a:solidFill>
                  <a:schemeClr val="bg1"/>
                </a:solidFill>
                <a:cs typeface="Times New Roman" pitchFamily="18" charset="0"/>
              </a:rPr>
            </a:br>
            <a:endParaRPr lang="en-US" altLang="en-US" sz="2400" dirty="0">
              <a:solidFill>
                <a:schemeClr val="bg1"/>
              </a:solidFill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chemeClr val="bg1"/>
                </a:solidFill>
                <a:cs typeface="Times New Roman" pitchFamily="18" charset="0"/>
              </a:rPr>
              <a:t xml:space="preserve"> </a:t>
            </a:r>
            <a:endParaRPr lang="en-US" altLang="en-US" sz="1800" dirty="0">
              <a:solidFill>
                <a:schemeClr val="bg1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55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37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8C547"/>
                </a:solidFill>
                <a:latin typeface="Georgia"/>
              </a:rPr>
              <a:t>But Seriously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E8EDF2"/>
                </a:solidFill>
              </a:rPr>
              <a:t>Suppose Merck did have a good idea about its ultimate losses in litigation – say, $4.85 bn.</a:t>
            </a:r>
          </a:p>
          <a:p>
            <a:r>
              <a:rPr lang="en-US" dirty="0">
                <a:solidFill>
                  <a:srgbClr val="E8EDF2"/>
                </a:solidFill>
              </a:rPr>
              <a:t>Also suppose that accounting conventions required Merck to book the liability.</a:t>
            </a:r>
          </a:p>
          <a:p>
            <a:r>
              <a:rPr lang="en-US" dirty="0">
                <a:solidFill>
                  <a:srgbClr val="E8EDF2"/>
                </a:solidFill>
              </a:rPr>
              <a:t>What would you do the next day in court if you were the plaintiffs’ attorneys?</a:t>
            </a:r>
          </a:p>
        </p:txBody>
      </p:sp>
    </p:spTree>
    <p:extLst>
      <p:ext uri="{BB962C8B-B14F-4D97-AF65-F5344CB8AC3E}">
        <p14:creationId xmlns:p14="http://schemas.microsoft.com/office/powerpoint/2010/main" val="375441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8C547"/>
                </a:solidFill>
                <a:latin typeface="Georgia"/>
              </a:rPr>
              <a:t>Accounting Neutrality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E8EDF2"/>
                </a:solidFill>
              </a:rPr>
              <a:t>Accounting rule makers often hold themselves out to be the passive recorders of events – i.e., that they are just reporting the “facts” and the consequences aren’t their department.</a:t>
            </a:r>
          </a:p>
          <a:p>
            <a:r>
              <a:rPr lang="en-US" dirty="0">
                <a:solidFill>
                  <a:srgbClr val="E8EDF2"/>
                </a:solidFill>
              </a:rPr>
              <a:t>Of course, the world doesn’t work that way. The results we see are impacted by the accounting we do (and by the accounting we expect to be done).</a:t>
            </a:r>
          </a:p>
          <a:p>
            <a:r>
              <a:rPr lang="en-US" dirty="0">
                <a:solidFill>
                  <a:srgbClr val="E8EDF2"/>
                </a:solidFill>
              </a:rPr>
              <a:t>That’s your dose of high-flying, ivory tower stuff. Now let’s get to debits and credits!</a:t>
            </a:r>
          </a:p>
        </p:txBody>
      </p:sp>
    </p:spTree>
    <p:extLst>
      <p:ext uri="{BB962C8B-B14F-4D97-AF65-F5344CB8AC3E}">
        <p14:creationId xmlns:p14="http://schemas.microsoft.com/office/powerpoint/2010/main" val="406341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8C547"/>
                </a:solidFill>
                <a:latin typeface="Georgia"/>
              </a:rPr>
              <a:t>A Brief Logic Exercise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7144860"/>
              </p:ext>
            </p:extLst>
          </p:nvPr>
        </p:nvGraphicFramePr>
        <p:xfrm>
          <a:off x="457200" y="1200150"/>
          <a:ext cx="82296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Value can be …</a:t>
                      </a:r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Which …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Created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Increases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</a:rPr>
                        <a:t xml:space="preserve"> the social ‘pie’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Consumed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Decreases the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</a:rPr>
                        <a:t xml:space="preserve"> social ‘pie’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Redistributed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Re-divides the social ‘pie’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409" y="2794916"/>
            <a:ext cx="7455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>The processes which result in value creation, consumption, and redistribution</a:t>
            </a:r>
          </a:p>
          <a:p>
            <a:r>
              <a:rPr lang="en-US">
                <a:solidFill>
                  <a:srgbClr val="E8EDF2"/>
                </a:solidFill>
              </a:rPr>
              <a:t>occur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161" y="3536867"/>
            <a:ext cx="7923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>We have seen that ‘value events’ are not automatically coincident with cash flows.</a:t>
            </a:r>
          </a:p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>
                <a:solidFill>
                  <a:srgbClr val="E8EDF2"/>
                </a:solidFill>
              </a:r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7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8C547"/>
                </a:solidFill>
                <a:latin typeface="Georgia"/>
              </a:rPr>
              <a:t>Possibilities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087760"/>
              </p:ext>
            </p:extLst>
          </p:nvPr>
        </p:nvGraphicFramePr>
        <p:xfrm>
          <a:off x="457200" y="1200150"/>
          <a:ext cx="82296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5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8EDF2"/>
                          </a:solidFill>
                        </a:rPr>
                        <a:t xml:space="preserve">Cash Flow </a:t>
                      </a:r>
                      <a:r>
                        <a:rPr lang="en-US" sz="1400" baseline="0">
                          <a:solidFill>
                            <a:srgbClr val="E8EDF2"/>
                          </a:solidFill>
                        </a:rPr>
                        <a:t>Occurs</a:t>
                      </a:r>
                      <a:endParaRPr lang="en-US" sz="140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8EDF2"/>
                          </a:solidFill>
                        </a:rPr>
                        <a:t>Value Creation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8EDF2"/>
                          </a:solidFill>
                        </a:rPr>
                        <a:t>Value Consumption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Before Value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 xml:space="preserve"> Event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Liability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Asset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Coincident with Value Event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Just count the cash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Just count the cash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After the Value Event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Asset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Liability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>
                <a:solidFill>
                  <a:srgbClr val="E8EDF2"/>
                </a:solidFill>
              </a:r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2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8555"/>
            <a:ext cx="8229600" cy="857250"/>
          </a:xfrm>
        </p:spPr>
        <p:txBody>
          <a:bodyPr/>
          <a:lstStyle/>
          <a:p>
            <a:r>
              <a:rPr lang="en-US" b="1">
                <a:solidFill>
                  <a:srgbClr val="E8C547"/>
                </a:solidFill>
                <a:latin typeface="Georgia"/>
              </a:rPr>
              <a:t xml:space="preserve">Suppose Value is Created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095114" y="2498312"/>
            <a:ext cx="6844453" cy="17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319509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183124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78255" y="1070189"/>
            <a:ext cx="852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E8EDF2"/>
                </a:solidFill>
              </a:rPr>
              <a:t>HERE</a:t>
            </a:r>
          </a:p>
        </p:txBody>
      </p:sp>
      <p:sp>
        <p:nvSpPr>
          <p:cNvPr id="10" name="Left Brace 9"/>
          <p:cNvSpPr/>
          <p:nvPr/>
        </p:nvSpPr>
        <p:spPr>
          <a:xfrm rot="16200000">
            <a:off x="4054539" y="1601764"/>
            <a:ext cx="393557" cy="38636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30968" y="3947105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>Period of 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8742" y="1455084"/>
            <a:ext cx="2971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>If all the value is received in cash in the current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5526" y="1301022"/>
            <a:ext cx="2669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>If all the value is received in cash in the future</a:t>
            </a:r>
            <a:endParaRPr lang="en-US" b="1"/>
          </a:p>
        </p:txBody>
      </p:sp>
      <p:sp>
        <p:nvSpPr>
          <p:cNvPr id="14" name="TextBox 13"/>
          <p:cNvSpPr txBox="1"/>
          <p:nvPr/>
        </p:nvSpPr>
        <p:spPr>
          <a:xfrm>
            <a:off x="6692355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E8EDF2"/>
                </a:solidFill>
              </a:rPr>
              <a:t>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705" y="1162523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>If all the value has been received in cash in the past</a:t>
            </a:r>
            <a:endParaRPr lang="en-US" b="1"/>
          </a:p>
        </p:txBody>
      </p:sp>
      <p:sp>
        <p:nvSpPr>
          <p:cNvPr id="16" name="TextBox 15"/>
          <p:cNvSpPr txBox="1"/>
          <p:nvPr/>
        </p:nvSpPr>
        <p:spPr>
          <a:xfrm>
            <a:off x="1095113" y="284647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E8EDF2"/>
                </a:solidFill>
              </a:rPr>
              <a:t>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5180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E8EDF2"/>
                </a:solidFill>
              </a:rPr>
              <a:t>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1012" y="2099193"/>
            <a:ext cx="1976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>Just count the cash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3549" y="2044862"/>
            <a:ext cx="200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 xml:space="preserve">Must have an </a:t>
            </a:r>
            <a:r>
              <a:rPr lang="en-US" b="1">
                <a:solidFill>
                  <a:srgbClr val="E8EDF2"/>
                </a:solidFill>
              </a:rPr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00" y="2098823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 xml:space="preserve">Must have a </a:t>
            </a:r>
            <a:r>
              <a:rPr lang="en-US" b="1">
                <a:solidFill>
                  <a:srgbClr val="E8EDF2"/>
                </a:solidFill>
              </a:rPr>
              <a:t>liability</a:t>
            </a:r>
          </a:p>
        </p:txBody>
      </p:sp>
      <p:cxnSp>
        <p:nvCxnSpPr>
          <p:cNvPr id="23" name="Straight Arrow Connector 22"/>
          <p:cNvCxnSpPr>
            <a:stCxn id="16" idx="0"/>
          </p:cNvCxnSpPr>
          <p:nvPr/>
        </p:nvCxnSpPr>
        <p:spPr>
          <a:xfrm flipV="1">
            <a:off x="1437834" y="2515425"/>
            <a:ext cx="881676" cy="3310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0"/>
          </p:cNvCxnSpPr>
          <p:nvPr/>
        </p:nvCxnSpPr>
        <p:spPr>
          <a:xfrm flipH="1" flipV="1">
            <a:off x="6183127" y="2515425"/>
            <a:ext cx="851949" cy="3235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>
                <a:solidFill>
                  <a:srgbClr val="E8EDF2"/>
                </a:solidFill>
              </a:r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5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rgbClr val="E8C547"/>
                </a:solidFill>
                <a:latin typeface="Georgia"/>
              </a:rPr>
              <a:t xml:space="preserve">Suppose Value is Consumed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095114" y="2498312"/>
            <a:ext cx="6844453" cy="17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319509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183124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78255" y="931690"/>
            <a:ext cx="852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E8EDF2"/>
                </a:solidFill>
              </a:rPr>
              <a:t>HERE</a:t>
            </a:r>
          </a:p>
        </p:txBody>
      </p:sp>
      <p:sp>
        <p:nvSpPr>
          <p:cNvPr id="10" name="Left Brace 9"/>
          <p:cNvSpPr/>
          <p:nvPr/>
        </p:nvSpPr>
        <p:spPr>
          <a:xfrm rot="16200000">
            <a:off x="4054539" y="1601764"/>
            <a:ext cx="393557" cy="38636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30968" y="3947105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>Period of 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077" y="1400116"/>
            <a:ext cx="3200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>If all the value is paid for with current cash disbursements, just count the cash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5526" y="1400116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 xml:space="preserve">If all the value is to be paid for in cash in the future, must create a </a:t>
            </a:r>
            <a:r>
              <a:rPr lang="en-US" b="1">
                <a:solidFill>
                  <a:srgbClr val="E8EDF2"/>
                </a:solidFill>
              </a:rPr>
              <a:t>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2355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E8EDF2"/>
                </a:solidFill>
              </a:rPr>
              <a:t>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" y="1508771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E8EDF2"/>
                </a:solidFill>
              </a:rPr>
              <a:t xml:space="preserve">If all the value has paid for in cash in the past, must create an </a:t>
            </a:r>
            <a:r>
              <a:rPr lang="en-US" b="1">
                <a:solidFill>
                  <a:srgbClr val="E8EDF2"/>
                </a:solidFill>
              </a:rPr>
              <a:t>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113" y="284647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E8EDF2"/>
                </a:solidFill>
              </a:rPr>
              <a:t>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5180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E8EDF2"/>
                </a:solidFill>
              </a:rPr>
              <a:t>HERE</a:t>
            </a:r>
          </a:p>
        </p:txBody>
      </p:sp>
      <p:cxnSp>
        <p:nvCxnSpPr>
          <p:cNvPr id="4" name="Straight Arrow Connector 3"/>
          <p:cNvCxnSpPr>
            <a:stCxn id="16" idx="0"/>
          </p:cNvCxnSpPr>
          <p:nvPr/>
        </p:nvCxnSpPr>
        <p:spPr>
          <a:xfrm flipV="1">
            <a:off x="1437834" y="2515425"/>
            <a:ext cx="881676" cy="3310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0"/>
          </p:cNvCxnSpPr>
          <p:nvPr/>
        </p:nvCxnSpPr>
        <p:spPr>
          <a:xfrm flipH="1" flipV="1">
            <a:off x="6183127" y="2515425"/>
            <a:ext cx="851949" cy="3235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>
                <a:solidFill>
                  <a:srgbClr val="E8EDF2"/>
                </a:solidFill>
              </a:r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4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9569D-CE87-4A16-908A-CC957F2C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8C547"/>
                </a:solidFill>
                <a:latin typeface="Georgia"/>
              </a:rPr>
              <a:t>Dig In!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75B3C-E77E-48AE-9281-362C166BD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E8EDF2"/>
                </a:solidFill>
              </a:rPr>
              <a:t>Recording transactions and preserving the accounting identity.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E8EDF2"/>
                </a:solidFill>
              </a:rPr>
              <a:t>Accounting Identity: Debits and Credits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>
                <a:solidFill>
                  <a:srgbClr val="E8EDF2"/>
                </a:solidFill>
              </a:r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6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8C547"/>
                </a:solidFill>
                <a:latin typeface="Georgia"/>
              </a:rPr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8EDF2"/>
                </a:solidFill>
              </a:rPr>
              <a:t>More on financial statements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Balance Sheets (aka) Statements of Financial Position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Income Statements</a:t>
            </a:r>
          </a:p>
          <a:p>
            <a:r>
              <a:rPr lang="en-US" dirty="0">
                <a:solidFill>
                  <a:srgbClr val="E8EDF2"/>
                </a:solidFill>
              </a:rPr>
              <a:t>Debits, credits and how accounting works!</a:t>
            </a:r>
          </a:p>
        </p:txBody>
      </p:sp>
    </p:spTree>
    <p:extLst>
      <p:ext uri="{BB962C8B-B14F-4D97-AF65-F5344CB8AC3E}">
        <p14:creationId xmlns:p14="http://schemas.microsoft.com/office/powerpoint/2010/main" val="381575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SOM_bknd_wide_blue">
  <a:themeElements>
    <a:clrScheme name="MidnightExecutive">
      <a:dk1>
        <a:srgbClr val="1C2833"/>
      </a:dk1>
      <a:lt1>
        <a:srgbClr val="FFFFFF"/>
      </a:lt1>
      <a:dk2>
        <a:srgbClr val="0F2B46"/>
      </a:dk2>
      <a:lt2>
        <a:srgbClr val="F7F9FC"/>
      </a:lt2>
      <a:accent1>
        <a:srgbClr val="2E86AB"/>
      </a:accent1>
      <a:accent2>
        <a:srgbClr val="E8C547"/>
      </a:accent2>
      <a:accent3>
        <a:srgbClr val="48A9A6"/>
      </a:accent3>
      <a:accent4>
        <a:srgbClr val="4D648D"/>
      </a:accent4>
      <a:accent5>
        <a:srgbClr val="1B6CA8"/>
      </a:accent5>
      <a:accent6>
        <a:srgbClr val="D4A843"/>
      </a:accent6>
      <a:hlink>
        <a:srgbClr val="2E86AB"/>
      </a:hlink>
      <a:folHlink>
        <a:srgbClr val="4D648D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000" dist="15000" dir="5400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50000" dist="15000" dir="5400000" rotWithShape="0">
              <a:srgbClr val="000000">
                <a:alpha val="18000"/>
              </a:srgbClr>
            </a:outerShdw>
          </a:effectLst>
        </a:effectStyle>
        <a:effectStyle>
          <a:effectLst>
            <a:outerShdw blurRad="50000" dist="15000" dir="5400000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SOM_bknd_wide_white.potx</Template>
  <TotalTime>54</TotalTime>
  <Words>971</Words>
  <Application>Microsoft Macintosh PowerPoint</Application>
  <PresentationFormat>On-screen Show (16:9)</PresentationFormat>
  <Paragraphs>184</Paragraphs>
  <Slides>31</Slides>
  <Notes>8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Georgia</vt:lpstr>
      <vt:lpstr>Times New Roman</vt:lpstr>
      <vt:lpstr>SOM_bknd_wide_blue</vt:lpstr>
      <vt:lpstr>ACCT2700 Foundations of Accounting &amp; Valuation</vt:lpstr>
      <vt:lpstr>Today</vt:lpstr>
      <vt:lpstr>PowerPoint Presentation</vt:lpstr>
      <vt:lpstr>Framework</vt:lpstr>
      <vt:lpstr>Most Important Figure</vt:lpstr>
      <vt:lpstr>Uncle Pennybags’ Generosity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Merck &amp; Vioxx</vt:lpstr>
      <vt:lpstr>Market Reaction</vt:lpstr>
      <vt:lpstr>Link to News Coverage</vt:lpstr>
      <vt:lpstr>PowerPoint Presentation</vt:lpstr>
      <vt:lpstr>Merck &amp; Co., Inc.</vt:lpstr>
      <vt:lpstr>But Seriously …</vt:lpstr>
      <vt:lpstr>Accounting Neutrality</vt:lpstr>
      <vt:lpstr>A Brief Logic Exercise</vt:lpstr>
      <vt:lpstr>Possibilities</vt:lpstr>
      <vt:lpstr>Suppose Value is Created </vt:lpstr>
      <vt:lpstr>Suppose Value is Consumed </vt:lpstr>
      <vt:lpstr>Dig In!</vt:lpstr>
      <vt:lpstr>Next Time</vt:lpstr>
    </vt:vector>
  </TitlesOfParts>
  <Company>Yale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Mattison</dc:creator>
  <cp:lastModifiedBy>Antle, Rick</cp:lastModifiedBy>
  <cp:revision>2</cp:revision>
  <dcterms:created xsi:type="dcterms:W3CDTF">2012-06-28T13:26:35Z</dcterms:created>
  <dcterms:modified xsi:type="dcterms:W3CDTF">2026-02-10T23:18:50Z</dcterms:modified>
</cp:coreProperties>
</file>