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66" r:id="rId3"/>
    <p:sldId id="269" r:id="rId4"/>
    <p:sldId id="274" r:id="rId5"/>
    <p:sldId id="271" r:id="rId6"/>
    <p:sldId id="264" r:id="rId7"/>
    <p:sldId id="270" r:id="rId8"/>
    <p:sldId id="278" r:id="rId9"/>
    <p:sldId id="267" r:id="rId10"/>
    <p:sldId id="275" r:id="rId11"/>
    <p:sldId id="272" r:id="rId12"/>
    <p:sldId id="268" r:id="rId13"/>
    <p:sldId id="276" r:id="rId14"/>
    <p:sldId id="277" r:id="rId15"/>
    <p:sldId id="265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20" autoAdjust="0"/>
    <p:restoredTop sz="96301"/>
  </p:normalViewPr>
  <p:slideViewPr>
    <p:cSldViewPr snapToGrid="0" snapToObjects="1">
      <p:cViewPr varScale="1">
        <p:scale>
          <a:sx n="166" d="100"/>
          <a:sy n="166" d="100"/>
        </p:scale>
        <p:origin x="192" y="24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5616D0A9-E2ED-5B19-8AB5-4DDADDD39AE1}"/>
    <pc:docChg chg="modSld">
      <pc:chgData name="Antle, Rick" userId="c2afbbd2-30e4-4c8e-8af5-81913178ace3" providerId="ADAL" clId="{5616D0A9-E2ED-5B19-8AB5-4DDADDD39AE1}" dt="2026-02-16T00:08:32.963" v="29" actId="20577"/>
      <pc:docMkLst>
        <pc:docMk/>
      </pc:docMkLst>
      <pc:sldChg chg="modSp mod">
        <pc:chgData name="Antle, Rick" userId="c2afbbd2-30e4-4c8e-8af5-81913178ace3" providerId="ADAL" clId="{5616D0A9-E2ED-5B19-8AB5-4DDADDD39AE1}" dt="2026-02-16T00:08:32.963" v="29" actId="20577"/>
        <pc:sldMkLst>
          <pc:docMk/>
          <pc:sldMk cId="1173847269" sldId="257"/>
        </pc:sldMkLst>
        <pc:spChg chg="mod">
          <ac:chgData name="Antle, Rick" userId="c2afbbd2-30e4-4c8e-8af5-81913178ace3" providerId="ADAL" clId="{5616D0A9-E2ED-5B19-8AB5-4DDADDD39AE1}" dt="2026-02-16T00:08:23.128" v="0" actId="20577"/>
          <ac:spMkLst>
            <pc:docMk/>
            <pc:sldMk cId="1173847269" sldId="257"/>
            <ac:spMk id="2" creationId="{00000000-0000-0000-0000-000000000000}"/>
          </ac:spMkLst>
        </pc:spChg>
        <pc:spChg chg="mod">
          <ac:chgData name="Antle, Rick" userId="c2afbbd2-30e4-4c8e-8af5-81913178ace3" providerId="ADAL" clId="{5616D0A9-E2ED-5B19-8AB5-4DDADDD39AE1}" dt="2026-02-16T00:08:32.963" v="29" actId="20577"/>
          <ac:spMkLst>
            <pc:docMk/>
            <pc:sldMk cId="1173847269" sldId="25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22FAAB-828C-431A-A26A-B06869D12B20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C34BBB-8F5B-47F3-9605-925FCF430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81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1285993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2021597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2532570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4093939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55283" indent="-29049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61974" indent="-23239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26763" indent="-23239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91553" indent="-23239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56342" indent="-23239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021132" indent="-23239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85921" indent="-23239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950711" indent="-23239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2C7AB46F-30D7-4646-8B63-0FE61E078F06}" type="slidenum">
              <a:rPr lang="en-US" sz="1200"/>
              <a:pPr/>
              <a:t>10</a:t>
            </a:fld>
            <a:endParaRPr 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3263"/>
            <a:ext cx="6165850" cy="3468687"/>
          </a:xfrm>
          <a:solidFill>
            <a:srgbClr val="FFFFFF"/>
          </a:solidFill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126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1271" y="2914650"/>
            <a:ext cx="6723529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410E-4263-46DA-988B-2B2C4E7D31F6}" type="datetime1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837" y="4539059"/>
            <a:ext cx="388599" cy="45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8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5BCD2-7C55-4412-81B8-74C5CB8A4670}" type="datetime1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6119" y="4764818"/>
            <a:ext cx="537881" cy="2738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 </a:t>
            </a:r>
            <a:fld id="{89C41DDB-7C3B-0249-847C-AD2960C917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009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512DA-A1CD-48F3-A192-77599844E781}" type="datetime1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99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BA097-89A8-4D39-B238-7C55E10726B2}" type="datetime1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6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F27A7-63E9-4E4A-A6EE-B04E211230F3}" type="datetime1">
              <a:rPr lang="en-US" smtClean="0"/>
              <a:t>2/15/26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03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24079-DD87-441C-829D-CB213A3264DC}" type="datetime1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57968" y="4767263"/>
            <a:ext cx="486032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0A479-586D-425A-9FAF-F2559E635483}" type="datetime1">
              <a:rPr lang="en-US" smtClean="0"/>
              <a:t>2/15/26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25016" y="4767263"/>
            <a:ext cx="490152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6F33-A9FC-433D-A442-AACD40BBD40F}" type="datetime1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1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37C33-DD57-4B44-9FB8-FDB3DF4B4F53}" type="datetime1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56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91F1-A4C3-45B4-812B-8F0CAE7B6789}" type="datetime1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95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C8F8-85BE-4270-A222-72F9B20EA95D}" type="datetime1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08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542F4-C3B6-438E-BDD0-97C8661A1CE6}" type="datetime1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837" y="4539059"/>
            <a:ext cx="388599" cy="45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88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895" y="1597819"/>
            <a:ext cx="8796649" cy="1102519"/>
          </a:xfrm>
        </p:spPr>
        <p:txBody>
          <a:bodyPr>
            <a:normAutofit fontScale="90000"/>
          </a:bodyPr>
          <a:lstStyle/>
          <a:p>
            <a:r>
              <a:rPr lang="en-US" dirty="0"/>
              <a:t>ACCT2700</a:t>
            </a:r>
            <a:br>
              <a:rPr lang="en-US" dirty="0"/>
            </a:br>
            <a:r>
              <a:rPr lang="en-US" dirty="0"/>
              <a:t>Foundations of Accounting &amp; Valuation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9629" y="2914650"/>
            <a:ext cx="8569450" cy="1314450"/>
          </a:xfrm>
        </p:spPr>
        <p:txBody>
          <a:bodyPr/>
          <a:lstStyle/>
          <a:p>
            <a:r>
              <a:rPr lang="en-US" dirty="0"/>
              <a:t>Session 11: Using the Accounting Identity</a:t>
            </a:r>
          </a:p>
        </p:txBody>
      </p:sp>
    </p:spTree>
    <p:extLst>
      <p:ext uri="{BB962C8B-B14F-4D97-AF65-F5344CB8AC3E}">
        <p14:creationId xmlns:p14="http://schemas.microsoft.com/office/powerpoint/2010/main" val="1173847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Things to Consider and Work 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ADD28-9496-D047-836A-CAF3DB307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Accounting Identity: Debits and Credits</a:t>
            </a:r>
          </a:p>
          <a:p>
            <a:r>
              <a:rPr lang="en-US" dirty="0"/>
              <a:t>Rick and Stan’s Business</a:t>
            </a:r>
          </a:p>
          <a:p>
            <a:pPr lvl="1"/>
            <a:r>
              <a:rPr lang="en-US" dirty="0"/>
              <a:t>Into to YALEiE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CBDD0-B525-4C52-A3FF-3687F932A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86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990600" y="2650039"/>
            <a:ext cx="8008991" cy="461963"/>
            <a:chOff x="624" y="1500"/>
            <a:chExt cx="5044" cy="388"/>
          </a:xfrm>
        </p:grpSpPr>
        <p:sp>
          <p:nvSpPr>
            <p:cNvPr id="7189" name="Text Box 32"/>
            <p:cNvSpPr txBox="1">
              <a:spLocks noChangeArrowheads="1"/>
            </p:cNvSpPr>
            <p:nvPr/>
          </p:nvSpPr>
          <p:spPr bwMode="auto">
            <a:xfrm>
              <a:off x="5010" y="1500"/>
              <a:ext cx="65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/>
                <a:t>time</a:t>
              </a:r>
            </a:p>
          </p:txBody>
        </p:sp>
        <p:grpSp>
          <p:nvGrpSpPr>
            <p:cNvPr id="7190" name="Group 47"/>
            <p:cNvGrpSpPr>
              <a:grpSpLocks/>
            </p:cNvGrpSpPr>
            <p:nvPr/>
          </p:nvGrpSpPr>
          <p:grpSpPr bwMode="auto">
            <a:xfrm>
              <a:off x="624" y="1632"/>
              <a:ext cx="4368" cy="192"/>
              <a:chOff x="624" y="1632"/>
              <a:chExt cx="4368" cy="192"/>
            </a:xfrm>
          </p:grpSpPr>
          <p:sp>
            <p:nvSpPr>
              <p:cNvPr id="7191" name="Line 31"/>
              <p:cNvSpPr>
                <a:spLocks noChangeShapeType="1"/>
              </p:cNvSpPr>
              <p:nvPr/>
            </p:nvSpPr>
            <p:spPr bwMode="auto">
              <a:xfrm>
                <a:off x="624" y="1728"/>
                <a:ext cx="436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3" name="Line 34"/>
              <p:cNvSpPr>
                <a:spLocks noChangeShapeType="1"/>
              </p:cNvSpPr>
              <p:nvPr/>
            </p:nvSpPr>
            <p:spPr bwMode="auto">
              <a:xfrm>
                <a:off x="2928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5" name="Group 49"/>
          <p:cNvGrpSpPr>
            <a:grpSpLocks/>
          </p:cNvGrpSpPr>
          <p:nvPr/>
        </p:nvGrpSpPr>
        <p:grpSpPr bwMode="auto">
          <a:xfrm>
            <a:off x="3657600" y="1691880"/>
            <a:ext cx="1890713" cy="1013222"/>
            <a:chOff x="2304" y="583"/>
            <a:chExt cx="1191" cy="851"/>
          </a:xfrm>
        </p:grpSpPr>
        <p:sp>
          <p:nvSpPr>
            <p:cNvPr id="7185" name="Text Box 37"/>
            <p:cNvSpPr txBox="1">
              <a:spLocks noChangeArrowheads="1"/>
            </p:cNvSpPr>
            <p:nvPr/>
          </p:nvSpPr>
          <p:spPr bwMode="auto">
            <a:xfrm>
              <a:off x="2304" y="583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Balance sheet</a:t>
              </a:r>
            </a:p>
          </p:txBody>
        </p:sp>
        <p:sp>
          <p:nvSpPr>
            <p:cNvPr id="7186" name="Line 41"/>
            <p:cNvSpPr>
              <a:spLocks noChangeShapeType="1"/>
            </p:cNvSpPr>
            <p:nvPr/>
          </p:nvSpPr>
          <p:spPr bwMode="auto">
            <a:xfrm>
              <a:off x="2928" y="100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charset="0"/>
              </a:rPr>
              <a:t>Financial Position at a Point in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074127"/>
            <a:ext cx="304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Snapshot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Point in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Often called a </a:t>
            </a:r>
            <a:r>
              <a:rPr lang="en-US" b="1" i="1" dirty="0"/>
              <a:t>Statement of Financial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5038" y="1273365"/>
            <a:ext cx="13500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For-profit: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Equities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9000" y="1270602"/>
            <a:ext cx="16140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Not- for-profit: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 Assets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4800" y="3088995"/>
            <a:ext cx="32898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Assets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Future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Owned or controlled by entity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Arising from past transaction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3800" y="3151056"/>
            <a:ext cx="32898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Probable future sacrifice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Obligation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Arising from past transaction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36950" y="3156953"/>
            <a:ext cx="187102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Assets - Liabilities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For-profit:</a:t>
            </a:r>
            <a:endParaRPr lang="en-US" b="1" dirty="0"/>
          </a:p>
          <a:p>
            <a:pPr lvl="1"/>
            <a:r>
              <a:rPr lang="en-US" b="1" dirty="0"/>
              <a:t>Equity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Not-for-profit:</a:t>
            </a:r>
          </a:p>
          <a:p>
            <a:pPr lvl="1"/>
            <a:r>
              <a:rPr lang="en-US" b="1" dirty="0"/>
              <a:t>Net Assets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FA91BE-CEDC-4A12-8486-D57EC3AE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93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  <p:bldP spid="8" grpId="0" uiExpand="1" build="allAtOnce"/>
      <p:bldP spid="8" grpId="1" build="allAtOnce"/>
      <p:bldP spid="34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Asset</a:t>
            </a:r>
          </a:p>
          <a:p>
            <a:pPr lvl="1"/>
            <a:r>
              <a:rPr lang="en-US" dirty="0"/>
              <a:t>Probable future economic benefit</a:t>
            </a:r>
          </a:p>
          <a:p>
            <a:pPr lvl="1"/>
            <a:r>
              <a:rPr lang="en-US" dirty="0"/>
              <a:t>Owned or controlled by entity</a:t>
            </a:r>
          </a:p>
          <a:p>
            <a:pPr lvl="1"/>
            <a:r>
              <a:rPr lang="en-US" dirty="0"/>
              <a:t>Arising from a past transaction or event (Key: Sufficient evidence of existence)</a:t>
            </a:r>
          </a:p>
          <a:p>
            <a:r>
              <a:rPr lang="en-US" dirty="0"/>
              <a:t>Liability</a:t>
            </a:r>
          </a:p>
          <a:p>
            <a:pPr lvl="1"/>
            <a:r>
              <a:rPr lang="en-US" dirty="0"/>
              <a:t>Probable future sacrifice</a:t>
            </a:r>
          </a:p>
          <a:p>
            <a:pPr lvl="1"/>
            <a:r>
              <a:rPr lang="en-US" dirty="0"/>
              <a:t>Obligation</a:t>
            </a:r>
          </a:p>
          <a:p>
            <a:pPr lvl="1"/>
            <a:r>
              <a:rPr lang="en-US" dirty="0"/>
              <a:t>Arising from a past transaction or event (Keys: Evidence and separation between likelihood of a sacrifice and recognition in accounts.)</a:t>
            </a:r>
          </a:p>
          <a:p>
            <a:r>
              <a:rPr lang="en-US" dirty="0"/>
              <a:t>Equity</a:t>
            </a:r>
          </a:p>
          <a:p>
            <a:pPr lvl="1"/>
            <a:r>
              <a:rPr lang="en-US" dirty="0"/>
              <a:t>Difference between assets and liabilities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363E2C-323C-4524-8954-39E0B7649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89C41DDB-7C3B-0249-847C-AD2960C917FC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19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400"/>
              <a:pPr/>
              <a:t>5</a:t>
            </a:fld>
            <a:endParaRPr lang="en-US" sz="1400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990601" y="2221708"/>
            <a:ext cx="7980410" cy="461963"/>
            <a:chOff x="624" y="1488"/>
            <a:chExt cx="5026" cy="388"/>
          </a:xfrm>
        </p:grpSpPr>
        <p:sp>
          <p:nvSpPr>
            <p:cNvPr id="7189" name="Text Box 32"/>
            <p:cNvSpPr txBox="1">
              <a:spLocks noChangeArrowheads="1"/>
            </p:cNvSpPr>
            <p:nvPr/>
          </p:nvSpPr>
          <p:spPr bwMode="auto">
            <a:xfrm>
              <a:off x="4992" y="1488"/>
              <a:ext cx="65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/>
                <a:t>time</a:t>
              </a:r>
            </a:p>
          </p:txBody>
        </p:sp>
        <p:grpSp>
          <p:nvGrpSpPr>
            <p:cNvPr id="7190" name="Group 47"/>
            <p:cNvGrpSpPr>
              <a:grpSpLocks/>
            </p:cNvGrpSpPr>
            <p:nvPr/>
          </p:nvGrpSpPr>
          <p:grpSpPr bwMode="auto">
            <a:xfrm>
              <a:off x="624" y="1632"/>
              <a:ext cx="4368" cy="192"/>
              <a:chOff x="624" y="1632"/>
              <a:chExt cx="4368" cy="192"/>
            </a:xfrm>
          </p:grpSpPr>
          <p:sp>
            <p:nvSpPr>
              <p:cNvPr id="7191" name="Line 31"/>
              <p:cNvSpPr>
                <a:spLocks noChangeShapeType="1"/>
              </p:cNvSpPr>
              <p:nvPr/>
            </p:nvSpPr>
            <p:spPr bwMode="auto">
              <a:xfrm>
                <a:off x="624" y="1728"/>
                <a:ext cx="436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2" name="Line 33"/>
              <p:cNvSpPr>
                <a:spLocks noChangeShapeType="1"/>
              </p:cNvSpPr>
              <p:nvPr/>
            </p:nvSpPr>
            <p:spPr bwMode="auto">
              <a:xfrm>
                <a:off x="1248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3" name="Line 34"/>
              <p:cNvSpPr>
                <a:spLocks noChangeShapeType="1"/>
              </p:cNvSpPr>
              <p:nvPr/>
            </p:nvSpPr>
            <p:spPr bwMode="auto">
              <a:xfrm>
                <a:off x="2928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4" name="Line 35"/>
              <p:cNvSpPr>
                <a:spLocks noChangeShapeType="1"/>
              </p:cNvSpPr>
              <p:nvPr/>
            </p:nvSpPr>
            <p:spPr bwMode="auto">
              <a:xfrm>
                <a:off x="4560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1066801" y="1364456"/>
            <a:ext cx="1890713" cy="914400"/>
            <a:chOff x="672" y="768"/>
            <a:chExt cx="1191" cy="768"/>
          </a:xfrm>
        </p:grpSpPr>
        <p:sp>
          <p:nvSpPr>
            <p:cNvPr id="7187" name="Text Box 36"/>
            <p:cNvSpPr txBox="1">
              <a:spLocks noChangeArrowheads="1"/>
            </p:cNvSpPr>
            <p:nvPr/>
          </p:nvSpPr>
          <p:spPr bwMode="auto">
            <a:xfrm>
              <a:off x="672" y="768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Balance sheet</a:t>
              </a:r>
            </a:p>
          </p:txBody>
        </p:sp>
        <p:sp>
          <p:nvSpPr>
            <p:cNvPr id="7188" name="Line 39"/>
            <p:cNvSpPr>
              <a:spLocks noChangeShapeType="1"/>
            </p:cNvSpPr>
            <p:nvPr/>
          </p:nvSpPr>
          <p:spPr bwMode="auto">
            <a:xfrm>
              <a:off x="1248" y="110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9"/>
          <p:cNvGrpSpPr>
            <a:grpSpLocks/>
          </p:cNvGrpSpPr>
          <p:nvPr/>
        </p:nvGrpSpPr>
        <p:grpSpPr bwMode="auto">
          <a:xfrm>
            <a:off x="3657601" y="1364456"/>
            <a:ext cx="1890713" cy="914400"/>
            <a:chOff x="2304" y="768"/>
            <a:chExt cx="1191" cy="768"/>
          </a:xfrm>
        </p:grpSpPr>
        <p:sp>
          <p:nvSpPr>
            <p:cNvPr id="7185" name="Text Box 37"/>
            <p:cNvSpPr txBox="1">
              <a:spLocks noChangeArrowheads="1"/>
            </p:cNvSpPr>
            <p:nvPr/>
          </p:nvSpPr>
          <p:spPr bwMode="auto">
            <a:xfrm>
              <a:off x="2304" y="768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Balance sheet</a:t>
              </a:r>
            </a:p>
          </p:txBody>
        </p:sp>
        <p:sp>
          <p:nvSpPr>
            <p:cNvPr id="7186" name="Line 41"/>
            <p:cNvSpPr>
              <a:spLocks noChangeShapeType="1"/>
            </p:cNvSpPr>
            <p:nvPr/>
          </p:nvSpPr>
          <p:spPr bwMode="auto">
            <a:xfrm>
              <a:off x="2928" y="110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50"/>
          <p:cNvGrpSpPr>
            <a:grpSpLocks/>
          </p:cNvGrpSpPr>
          <p:nvPr/>
        </p:nvGrpSpPr>
        <p:grpSpPr bwMode="auto">
          <a:xfrm>
            <a:off x="6248401" y="1364456"/>
            <a:ext cx="1890713" cy="914400"/>
            <a:chOff x="3936" y="768"/>
            <a:chExt cx="1191" cy="768"/>
          </a:xfrm>
        </p:grpSpPr>
        <p:sp>
          <p:nvSpPr>
            <p:cNvPr id="7183" name="Text Box 38"/>
            <p:cNvSpPr txBox="1">
              <a:spLocks noChangeArrowheads="1"/>
            </p:cNvSpPr>
            <p:nvPr/>
          </p:nvSpPr>
          <p:spPr bwMode="auto">
            <a:xfrm>
              <a:off x="3936" y="768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Balance sheet</a:t>
              </a:r>
            </a:p>
          </p:txBody>
        </p:sp>
        <p:sp>
          <p:nvSpPr>
            <p:cNvPr id="7184" name="Line 42"/>
            <p:cNvSpPr>
              <a:spLocks noChangeShapeType="1"/>
            </p:cNvSpPr>
            <p:nvPr/>
          </p:nvSpPr>
          <p:spPr bwMode="auto">
            <a:xfrm>
              <a:off x="4560" y="110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81" name="AutoShape 43"/>
          <p:cNvSpPr>
            <a:spLocks/>
          </p:cNvSpPr>
          <p:nvPr/>
        </p:nvSpPr>
        <p:spPr bwMode="auto">
          <a:xfrm rot="5423058">
            <a:off x="3180504" y="1669705"/>
            <a:ext cx="342900" cy="2592283"/>
          </a:xfrm>
          <a:prstGeom prst="rightBrace">
            <a:avLst>
              <a:gd name="adj1" fmla="val 47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9" name="AutoShape 44"/>
          <p:cNvSpPr>
            <a:spLocks/>
          </p:cNvSpPr>
          <p:nvPr/>
        </p:nvSpPr>
        <p:spPr bwMode="auto">
          <a:xfrm rot="5423058">
            <a:off x="5772819" y="1668590"/>
            <a:ext cx="342900" cy="2592137"/>
          </a:xfrm>
          <a:prstGeom prst="rightBrace">
            <a:avLst>
              <a:gd name="adj1" fmla="val 47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charset="0"/>
              </a:rPr>
              <a:t>Explanations of Changes: For-profit</a:t>
            </a:r>
          </a:p>
        </p:txBody>
      </p:sp>
      <p:sp>
        <p:nvSpPr>
          <p:cNvPr id="7182" name="Text Box 45"/>
          <p:cNvSpPr txBox="1">
            <a:spLocks noChangeArrowheads="1"/>
          </p:cNvSpPr>
          <p:nvPr/>
        </p:nvSpPr>
        <p:spPr bwMode="auto">
          <a:xfrm>
            <a:off x="1747281" y="3171852"/>
            <a:ext cx="2815194" cy="1200329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Income Statement</a:t>
            </a:r>
          </a:p>
          <a:p>
            <a:r>
              <a:rPr lang="en-US" dirty="0"/>
              <a:t>Cash Flow Statement</a:t>
            </a:r>
          </a:p>
          <a:p>
            <a:r>
              <a:rPr lang="en-US" dirty="0"/>
              <a:t>St. Changes in SE</a:t>
            </a:r>
          </a:p>
        </p:txBody>
      </p:sp>
      <p:sp>
        <p:nvSpPr>
          <p:cNvPr id="24" name="Text Box 45"/>
          <p:cNvSpPr txBox="1">
            <a:spLocks noChangeArrowheads="1"/>
          </p:cNvSpPr>
          <p:nvPr/>
        </p:nvSpPr>
        <p:spPr bwMode="auto">
          <a:xfrm>
            <a:off x="4844281" y="3171852"/>
            <a:ext cx="2815194" cy="1200329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Income Statement</a:t>
            </a:r>
          </a:p>
          <a:p>
            <a:r>
              <a:rPr lang="en-US" dirty="0"/>
              <a:t>Cash Flow Statement</a:t>
            </a:r>
          </a:p>
          <a:p>
            <a:r>
              <a:rPr lang="en-US" dirty="0"/>
              <a:t>St. Changes in SE</a:t>
            </a:r>
          </a:p>
        </p:txBody>
      </p:sp>
    </p:spTree>
    <p:extLst>
      <p:ext uri="{BB962C8B-B14F-4D97-AF65-F5344CB8AC3E}">
        <p14:creationId xmlns:p14="http://schemas.microsoft.com/office/powerpoint/2010/main" val="314784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1" grpId="0" animBg="1"/>
      <p:bldP spid="7179" grpId="0" animBg="1"/>
      <p:bldP spid="7182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400"/>
              <a:pPr/>
              <a:t>6</a:t>
            </a:fld>
            <a:endParaRPr lang="en-US" sz="1400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990601" y="2226470"/>
            <a:ext cx="8055038" cy="461963"/>
            <a:chOff x="624" y="1492"/>
            <a:chExt cx="5073" cy="388"/>
          </a:xfrm>
        </p:grpSpPr>
        <p:sp>
          <p:nvSpPr>
            <p:cNvPr id="7189" name="Text Box 32"/>
            <p:cNvSpPr txBox="1">
              <a:spLocks noChangeArrowheads="1"/>
            </p:cNvSpPr>
            <p:nvPr/>
          </p:nvSpPr>
          <p:spPr bwMode="auto">
            <a:xfrm>
              <a:off x="5039" y="1492"/>
              <a:ext cx="65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/>
                <a:t>time</a:t>
              </a:r>
            </a:p>
          </p:txBody>
        </p:sp>
        <p:grpSp>
          <p:nvGrpSpPr>
            <p:cNvPr id="7190" name="Group 47"/>
            <p:cNvGrpSpPr>
              <a:grpSpLocks/>
            </p:cNvGrpSpPr>
            <p:nvPr/>
          </p:nvGrpSpPr>
          <p:grpSpPr bwMode="auto">
            <a:xfrm>
              <a:off x="624" y="1632"/>
              <a:ext cx="4368" cy="192"/>
              <a:chOff x="624" y="1632"/>
              <a:chExt cx="4368" cy="192"/>
            </a:xfrm>
          </p:grpSpPr>
          <p:sp>
            <p:nvSpPr>
              <p:cNvPr id="7191" name="Line 31"/>
              <p:cNvSpPr>
                <a:spLocks noChangeShapeType="1"/>
              </p:cNvSpPr>
              <p:nvPr/>
            </p:nvSpPr>
            <p:spPr bwMode="auto">
              <a:xfrm>
                <a:off x="624" y="1728"/>
                <a:ext cx="436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2" name="Line 33"/>
              <p:cNvSpPr>
                <a:spLocks noChangeShapeType="1"/>
              </p:cNvSpPr>
              <p:nvPr/>
            </p:nvSpPr>
            <p:spPr bwMode="auto">
              <a:xfrm>
                <a:off x="1248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3" name="Line 34"/>
              <p:cNvSpPr>
                <a:spLocks noChangeShapeType="1"/>
              </p:cNvSpPr>
              <p:nvPr/>
            </p:nvSpPr>
            <p:spPr bwMode="auto">
              <a:xfrm>
                <a:off x="2928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4" name="Line 35"/>
              <p:cNvSpPr>
                <a:spLocks noChangeShapeType="1"/>
              </p:cNvSpPr>
              <p:nvPr/>
            </p:nvSpPr>
            <p:spPr bwMode="auto">
              <a:xfrm>
                <a:off x="4560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1066801" y="1364456"/>
            <a:ext cx="1890713" cy="914400"/>
            <a:chOff x="672" y="768"/>
            <a:chExt cx="1191" cy="768"/>
          </a:xfrm>
        </p:grpSpPr>
        <p:sp>
          <p:nvSpPr>
            <p:cNvPr id="7187" name="Text Box 36"/>
            <p:cNvSpPr txBox="1">
              <a:spLocks noChangeArrowheads="1"/>
            </p:cNvSpPr>
            <p:nvPr/>
          </p:nvSpPr>
          <p:spPr bwMode="auto">
            <a:xfrm>
              <a:off x="672" y="768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Balance sheet</a:t>
              </a:r>
            </a:p>
          </p:txBody>
        </p:sp>
        <p:sp>
          <p:nvSpPr>
            <p:cNvPr id="7188" name="Line 39"/>
            <p:cNvSpPr>
              <a:spLocks noChangeShapeType="1"/>
            </p:cNvSpPr>
            <p:nvPr/>
          </p:nvSpPr>
          <p:spPr bwMode="auto">
            <a:xfrm>
              <a:off x="1248" y="110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9"/>
          <p:cNvGrpSpPr>
            <a:grpSpLocks/>
          </p:cNvGrpSpPr>
          <p:nvPr/>
        </p:nvGrpSpPr>
        <p:grpSpPr bwMode="auto">
          <a:xfrm>
            <a:off x="3657601" y="1364456"/>
            <a:ext cx="1890713" cy="914400"/>
            <a:chOff x="2304" y="768"/>
            <a:chExt cx="1191" cy="768"/>
          </a:xfrm>
        </p:grpSpPr>
        <p:sp>
          <p:nvSpPr>
            <p:cNvPr id="7185" name="Text Box 37"/>
            <p:cNvSpPr txBox="1">
              <a:spLocks noChangeArrowheads="1"/>
            </p:cNvSpPr>
            <p:nvPr/>
          </p:nvSpPr>
          <p:spPr bwMode="auto">
            <a:xfrm>
              <a:off x="2304" y="768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Balance sheet</a:t>
              </a:r>
            </a:p>
          </p:txBody>
        </p:sp>
        <p:sp>
          <p:nvSpPr>
            <p:cNvPr id="7186" name="Line 41"/>
            <p:cNvSpPr>
              <a:spLocks noChangeShapeType="1"/>
            </p:cNvSpPr>
            <p:nvPr/>
          </p:nvSpPr>
          <p:spPr bwMode="auto">
            <a:xfrm>
              <a:off x="2928" y="110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50"/>
          <p:cNvGrpSpPr>
            <a:grpSpLocks/>
          </p:cNvGrpSpPr>
          <p:nvPr/>
        </p:nvGrpSpPr>
        <p:grpSpPr bwMode="auto">
          <a:xfrm>
            <a:off x="6248401" y="1364456"/>
            <a:ext cx="1890713" cy="914400"/>
            <a:chOff x="3936" y="768"/>
            <a:chExt cx="1191" cy="768"/>
          </a:xfrm>
        </p:grpSpPr>
        <p:sp>
          <p:nvSpPr>
            <p:cNvPr id="7183" name="Text Box 38"/>
            <p:cNvSpPr txBox="1">
              <a:spLocks noChangeArrowheads="1"/>
            </p:cNvSpPr>
            <p:nvPr/>
          </p:nvSpPr>
          <p:spPr bwMode="auto">
            <a:xfrm>
              <a:off x="3936" y="768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Balance sheet</a:t>
              </a:r>
            </a:p>
          </p:txBody>
        </p:sp>
        <p:sp>
          <p:nvSpPr>
            <p:cNvPr id="7184" name="Line 42"/>
            <p:cNvSpPr>
              <a:spLocks noChangeShapeType="1"/>
            </p:cNvSpPr>
            <p:nvPr/>
          </p:nvSpPr>
          <p:spPr bwMode="auto">
            <a:xfrm>
              <a:off x="4560" y="110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81" name="AutoShape 43"/>
          <p:cNvSpPr>
            <a:spLocks/>
          </p:cNvSpPr>
          <p:nvPr/>
        </p:nvSpPr>
        <p:spPr bwMode="auto">
          <a:xfrm rot="5423058">
            <a:off x="3180504" y="1669705"/>
            <a:ext cx="342900" cy="2592283"/>
          </a:xfrm>
          <a:prstGeom prst="rightBrace">
            <a:avLst>
              <a:gd name="adj1" fmla="val 47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9" name="AutoShape 44"/>
          <p:cNvSpPr>
            <a:spLocks/>
          </p:cNvSpPr>
          <p:nvPr/>
        </p:nvSpPr>
        <p:spPr bwMode="auto">
          <a:xfrm rot="5423058">
            <a:off x="5772819" y="1668590"/>
            <a:ext cx="342900" cy="2592137"/>
          </a:xfrm>
          <a:prstGeom prst="rightBrace">
            <a:avLst>
              <a:gd name="adj1" fmla="val 47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>
          <a:xfrm>
            <a:off x="322288" y="278604"/>
            <a:ext cx="8499423" cy="85725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charset="0"/>
              </a:rPr>
              <a:t>Explanations of Changes: Not-for-Profit</a:t>
            </a:r>
          </a:p>
        </p:txBody>
      </p:sp>
      <p:sp>
        <p:nvSpPr>
          <p:cNvPr id="30" name="Text Box 45"/>
          <p:cNvSpPr txBox="1">
            <a:spLocks noChangeArrowheads="1"/>
          </p:cNvSpPr>
          <p:nvPr/>
        </p:nvSpPr>
        <p:spPr bwMode="auto">
          <a:xfrm>
            <a:off x="1583727" y="3178135"/>
            <a:ext cx="2988273" cy="92333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Statement of Activities and Changes in Net Assets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Cash Flow Statement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4661366" y="3162893"/>
            <a:ext cx="2988273" cy="92333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Statement of Activities and Changes in Net Assets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Cash Flow Statement</a:t>
            </a:r>
          </a:p>
        </p:txBody>
      </p:sp>
    </p:spTree>
    <p:extLst>
      <p:ext uri="{BB962C8B-B14F-4D97-AF65-F5344CB8AC3E}">
        <p14:creationId xmlns:p14="http://schemas.microsoft.com/office/powerpoint/2010/main" val="200046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1" grpId="0" animBg="1"/>
      <p:bldP spid="7179" grpId="0" animBg="1"/>
      <p:bldP spid="30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400"/>
              <a:pPr/>
              <a:t>7</a:t>
            </a:fld>
            <a:endParaRPr lang="en-US" sz="1400" dirty="0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990600" y="1419586"/>
            <a:ext cx="8153483" cy="461963"/>
            <a:chOff x="624" y="1523"/>
            <a:chExt cx="5135" cy="388"/>
          </a:xfrm>
        </p:grpSpPr>
        <p:sp>
          <p:nvSpPr>
            <p:cNvPr id="7189" name="Text Box 32"/>
            <p:cNvSpPr txBox="1">
              <a:spLocks noChangeArrowheads="1"/>
            </p:cNvSpPr>
            <p:nvPr/>
          </p:nvSpPr>
          <p:spPr bwMode="auto">
            <a:xfrm>
              <a:off x="5101" y="1523"/>
              <a:ext cx="65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/>
                <a:t>time</a:t>
              </a:r>
            </a:p>
          </p:txBody>
        </p:sp>
        <p:grpSp>
          <p:nvGrpSpPr>
            <p:cNvPr id="7190" name="Group 47"/>
            <p:cNvGrpSpPr>
              <a:grpSpLocks/>
            </p:cNvGrpSpPr>
            <p:nvPr/>
          </p:nvGrpSpPr>
          <p:grpSpPr bwMode="auto">
            <a:xfrm>
              <a:off x="624" y="1632"/>
              <a:ext cx="4368" cy="192"/>
              <a:chOff x="624" y="1632"/>
              <a:chExt cx="4368" cy="192"/>
            </a:xfrm>
          </p:grpSpPr>
          <p:sp>
            <p:nvSpPr>
              <p:cNvPr id="7191" name="Line 31"/>
              <p:cNvSpPr>
                <a:spLocks noChangeShapeType="1"/>
              </p:cNvSpPr>
              <p:nvPr/>
            </p:nvSpPr>
            <p:spPr bwMode="auto">
              <a:xfrm>
                <a:off x="624" y="1728"/>
                <a:ext cx="436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2" name="Line 33"/>
              <p:cNvSpPr>
                <a:spLocks noChangeShapeType="1"/>
              </p:cNvSpPr>
              <p:nvPr/>
            </p:nvSpPr>
            <p:spPr bwMode="auto">
              <a:xfrm>
                <a:off x="1248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4" name="Line 35"/>
              <p:cNvSpPr>
                <a:spLocks noChangeShapeType="1"/>
              </p:cNvSpPr>
              <p:nvPr/>
            </p:nvSpPr>
            <p:spPr bwMode="auto">
              <a:xfrm>
                <a:off x="4560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7181" name="AutoShape 43"/>
          <p:cNvSpPr>
            <a:spLocks/>
          </p:cNvSpPr>
          <p:nvPr/>
        </p:nvSpPr>
        <p:spPr bwMode="auto">
          <a:xfrm rot="5400000">
            <a:off x="4454690" y="-544831"/>
            <a:ext cx="342900" cy="5225723"/>
          </a:xfrm>
          <a:prstGeom prst="rightBrace">
            <a:avLst>
              <a:gd name="adj1" fmla="val 47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Times New Roman" charset="0"/>
              </a:rPr>
              <a:t>Explanations of Changes: Intuition</a:t>
            </a:r>
          </a:p>
        </p:txBody>
      </p:sp>
      <p:sp>
        <p:nvSpPr>
          <p:cNvPr id="7182" name="Text Box 45"/>
          <p:cNvSpPr txBox="1">
            <a:spLocks noChangeArrowheads="1"/>
          </p:cNvSpPr>
          <p:nvPr/>
        </p:nvSpPr>
        <p:spPr bwMode="auto">
          <a:xfrm>
            <a:off x="2012158" y="2819284"/>
            <a:ext cx="2129478" cy="147732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 dirty="0"/>
              <a:t>For Profit: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Income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Cash flow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St. Changes in 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699004"/>
            <a:ext cx="1854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Financial Value </a:t>
            </a:r>
          </a:p>
          <a:p>
            <a:r>
              <a:rPr lang="en-US" sz="1400" dirty="0"/>
              <a:t>Creation/Consumption</a:t>
            </a:r>
          </a:p>
        </p:txBody>
      </p:sp>
      <p:cxnSp>
        <p:nvCxnSpPr>
          <p:cNvPr id="10" name="Elbow Connector 9"/>
          <p:cNvCxnSpPr/>
          <p:nvPr/>
        </p:nvCxnSpPr>
        <p:spPr>
          <a:xfrm>
            <a:off x="922897" y="3188353"/>
            <a:ext cx="1091683" cy="111088"/>
          </a:xfrm>
          <a:prstGeom prst="bentConnector3">
            <a:avLst>
              <a:gd name="adj1" fmla="val 26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5198" y="3296593"/>
            <a:ext cx="14649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Cash Generation/</a:t>
            </a:r>
          </a:p>
          <a:p>
            <a:r>
              <a:rPr lang="en-US" sz="1400" dirty="0"/>
              <a:t>Consumption</a:t>
            </a:r>
          </a:p>
        </p:txBody>
      </p:sp>
      <p:cxnSp>
        <p:nvCxnSpPr>
          <p:cNvPr id="12" name="Straight Arrow Connector 11"/>
          <p:cNvCxnSpPr>
            <a:stCxn id="29" idx="3"/>
          </p:cNvCxnSpPr>
          <p:nvPr/>
        </p:nvCxnSpPr>
        <p:spPr>
          <a:xfrm>
            <a:off x="1480151" y="3558203"/>
            <a:ext cx="54962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Box 45"/>
          <p:cNvSpPr txBox="1">
            <a:spLocks noChangeArrowheads="1"/>
          </p:cNvSpPr>
          <p:nvPr/>
        </p:nvSpPr>
        <p:spPr bwMode="auto">
          <a:xfrm>
            <a:off x="4446435" y="2815534"/>
            <a:ext cx="2335365" cy="20313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 dirty="0"/>
              <a:t>Not-for-Profit: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Statement of Activities and Changes in Net Assets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Cash Flow Statement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86" y="3833918"/>
            <a:ext cx="12198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Redistribution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900" y="3006270"/>
            <a:ext cx="1854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Financial Value </a:t>
            </a:r>
          </a:p>
          <a:p>
            <a:r>
              <a:rPr lang="en-US" sz="1400" dirty="0"/>
              <a:t>Creation/Consumption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6781800" y="3267880"/>
            <a:ext cx="304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266087" y="3954280"/>
            <a:ext cx="14649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Cash Generation/</a:t>
            </a:r>
          </a:p>
          <a:p>
            <a:r>
              <a:rPr lang="en-US" sz="1400" dirty="0"/>
              <a:t>Consumption</a:t>
            </a:r>
          </a:p>
        </p:txBody>
      </p:sp>
      <p:cxnSp>
        <p:nvCxnSpPr>
          <p:cNvPr id="37" name="Elbow Connector 36"/>
          <p:cNvCxnSpPr>
            <a:stCxn id="35" idx="1"/>
          </p:cNvCxnSpPr>
          <p:nvPr/>
        </p:nvCxnSpPr>
        <p:spPr>
          <a:xfrm rot="10800000" flipV="1">
            <a:off x="6781801" y="4215890"/>
            <a:ext cx="484287" cy="26161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/>
          <p:nvPr/>
        </p:nvCxnSpPr>
        <p:spPr>
          <a:xfrm>
            <a:off x="1176878" y="3954280"/>
            <a:ext cx="852898" cy="12429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295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1" grpId="0" animBg="1"/>
      <p:bldP spid="7182" grpId="0" animBg="1"/>
      <p:bldP spid="3" grpId="0"/>
      <p:bldP spid="29" grpId="0"/>
      <p:bldP spid="31" grpId="0" animBg="1"/>
      <p:bldP spid="32" grpId="0"/>
      <p:bldP spid="30" grpId="0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Accounting Identity: Debits and Credits</a:t>
            </a:r>
          </a:p>
        </p:txBody>
      </p:sp>
    </p:spTree>
    <p:extLst>
      <p:ext uri="{BB962C8B-B14F-4D97-AF65-F5344CB8AC3E}">
        <p14:creationId xmlns:p14="http://schemas.microsoft.com/office/powerpoint/2010/main" val="3883150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Rick and Stan’s Business</a:t>
            </a:r>
          </a:p>
        </p:txBody>
      </p:sp>
    </p:spTree>
    <p:extLst>
      <p:ext uri="{BB962C8B-B14F-4D97-AF65-F5344CB8AC3E}">
        <p14:creationId xmlns:p14="http://schemas.microsoft.com/office/powerpoint/2010/main" val="3819471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6257C160-F52D-7343-8494-A924C6C58166}" type="slidenum">
              <a:rPr lang="en-US" sz="1400"/>
              <a:pPr/>
              <a:t>10</a:t>
            </a:fld>
            <a:endParaRPr lang="en-US" sz="1400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charset="0"/>
              </a:rPr>
              <a:t>R&amp;S</a:t>
            </a:r>
            <a:r>
              <a:rPr lang="ja-JP" altLang="en-US" dirty="0">
                <a:latin typeface="Times New Roman" charset="0"/>
              </a:rPr>
              <a:t>’</a:t>
            </a:r>
            <a:r>
              <a:rPr lang="en-US" dirty="0">
                <a:latin typeface="Times New Roman" charset="0"/>
              </a:rPr>
              <a:t>s Business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00150"/>
            <a:ext cx="8556796" cy="320039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charset="0"/>
              </a:rPr>
              <a:t>Are we ready to prepare a balance sheet for December 31?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>
                <a:latin typeface="Times New Roman" charset="0"/>
              </a:rPr>
              <a:t>    (no…adjustments)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charset="0"/>
              </a:rPr>
              <a:t>Which notation is better? 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charset="0"/>
              </a:rPr>
              <a:t>Equations	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charset="0"/>
              </a:rPr>
              <a:t>T-accounts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>
                <a:latin typeface="Times New Roman" charset="0"/>
              </a:rPr>
              <a:t>    (T-accounts best when there are many transactions)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charset="0"/>
              </a:rPr>
              <a:t>Is there a better way to handle changes in </a:t>
            </a:r>
            <a:r>
              <a:rPr lang="en-US" sz="2800" b="1" dirty="0">
                <a:latin typeface="Times New Roman" charset="0"/>
              </a:rPr>
              <a:t>Retained earnings</a:t>
            </a:r>
            <a:r>
              <a:rPr lang="en-US" sz="2800" dirty="0">
                <a:latin typeface="Times New Roman" charset="0"/>
              </a:rPr>
              <a:t> resulting from operations?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>
                <a:latin typeface="Times New Roman" charset="0"/>
              </a:rPr>
              <a:t>    (income statement)</a:t>
            </a:r>
          </a:p>
        </p:txBody>
      </p:sp>
    </p:spTree>
    <p:extLst>
      <p:ext uri="{BB962C8B-B14F-4D97-AF65-F5344CB8AC3E}">
        <p14:creationId xmlns:p14="http://schemas.microsoft.com/office/powerpoint/2010/main" val="1031570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6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6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171B473E-DA79-EF4D-97E4-83C680078E49}" type="slidenum">
              <a:rPr lang="en-US" sz="1400"/>
              <a:pPr/>
              <a:t>11</a:t>
            </a:fld>
            <a:endParaRPr lang="en-US" sz="140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>
                <a:latin typeface="Times New Roman" charset="0"/>
              </a:rPr>
              <a:t>Prepaid Rent</a:t>
            </a:r>
          </a:p>
        </p:txBody>
      </p:sp>
      <p:sp>
        <p:nvSpPr>
          <p:cNvPr id="18465" name="Line 4"/>
          <p:cNvSpPr>
            <a:spLocks noChangeShapeType="1"/>
          </p:cNvSpPr>
          <p:nvPr/>
        </p:nvSpPr>
        <p:spPr bwMode="auto">
          <a:xfrm>
            <a:off x="1143000" y="2000250"/>
            <a:ext cx="7543800" cy="4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7" name="Text Box 6"/>
          <p:cNvSpPr txBox="1">
            <a:spLocks noChangeArrowheads="1"/>
          </p:cNvSpPr>
          <p:nvPr/>
        </p:nvSpPr>
        <p:spPr bwMode="auto">
          <a:xfrm>
            <a:off x="457200" y="1485900"/>
            <a:ext cx="16287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</a:rPr>
              <a:t>Oct 1, 20X5</a:t>
            </a:r>
          </a:p>
        </p:txBody>
      </p:sp>
      <p:sp>
        <p:nvSpPr>
          <p:cNvPr id="18468" name="Line 7"/>
          <p:cNvSpPr>
            <a:spLocks noChangeShapeType="1"/>
          </p:cNvSpPr>
          <p:nvPr/>
        </p:nvSpPr>
        <p:spPr bwMode="auto">
          <a:xfrm>
            <a:off x="1143000" y="1943100"/>
            <a:ext cx="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0" name="Line 9"/>
          <p:cNvSpPr>
            <a:spLocks noChangeShapeType="1"/>
          </p:cNvSpPr>
          <p:nvPr/>
        </p:nvSpPr>
        <p:spPr bwMode="auto">
          <a:xfrm>
            <a:off x="4038600" y="1943100"/>
            <a:ext cx="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1" name="Line 10"/>
          <p:cNvSpPr>
            <a:spLocks noChangeShapeType="1"/>
          </p:cNvSpPr>
          <p:nvPr/>
        </p:nvSpPr>
        <p:spPr bwMode="auto">
          <a:xfrm>
            <a:off x="7082247" y="1943100"/>
            <a:ext cx="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4" name="Line 13"/>
          <p:cNvSpPr>
            <a:spLocks noChangeShapeType="1"/>
          </p:cNvSpPr>
          <p:nvPr/>
        </p:nvSpPr>
        <p:spPr bwMode="auto">
          <a:xfrm>
            <a:off x="8680272" y="1943100"/>
            <a:ext cx="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5" name="Line 15"/>
          <p:cNvSpPr>
            <a:spLocks noChangeShapeType="1"/>
          </p:cNvSpPr>
          <p:nvPr/>
        </p:nvSpPr>
        <p:spPr bwMode="auto">
          <a:xfrm>
            <a:off x="4038600" y="2197894"/>
            <a:ext cx="0" cy="1276561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4" name="Text Box 20"/>
          <p:cNvSpPr txBox="1">
            <a:spLocks noChangeArrowheads="1"/>
          </p:cNvSpPr>
          <p:nvPr/>
        </p:nvSpPr>
        <p:spPr bwMode="auto">
          <a:xfrm>
            <a:off x="3121818" y="1435893"/>
            <a:ext cx="1833563" cy="461963"/>
          </a:xfrm>
          <a:prstGeom prst="rect">
            <a:avLst/>
          </a:prstGeom>
          <a:noFill/>
          <a:ln w="9525">
            <a:noFill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</a:lstStyle>
          <a:p>
            <a:r>
              <a:rPr lang="en-US" sz="2400" dirty="0"/>
              <a:t>Dec 31, 20X5</a:t>
            </a:r>
          </a:p>
        </p:txBody>
      </p:sp>
      <p:sp>
        <p:nvSpPr>
          <p:cNvPr id="18462" name="Text Box 23"/>
          <p:cNvSpPr txBox="1">
            <a:spLocks noChangeArrowheads="1"/>
          </p:cNvSpPr>
          <p:nvPr/>
        </p:nvSpPr>
        <p:spPr bwMode="auto">
          <a:xfrm>
            <a:off x="7144867" y="1462087"/>
            <a:ext cx="18053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</a:rPr>
              <a:t>Dec 31, 20X6</a:t>
            </a:r>
          </a:p>
        </p:txBody>
      </p:sp>
      <p:sp>
        <p:nvSpPr>
          <p:cNvPr id="18454" name="Text Box 35"/>
          <p:cNvSpPr txBox="1">
            <a:spLocks noChangeArrowheads="1"/>
          </p:cNvSpPr>
          <p:nvPr/>
        </p:nvSpPr>
        <p:spPr bwMode="auto">
          <a:xfrm>
            <a:off x="999105" y="3613392"/>
            <a:ext cx="1320800" cy="831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3 months</a:t>
            </a:r>
          </a:p>
          <a:p>
            <a:r>
              <a:rPr lang="en-US" dirty="0"/>
              <a:t>of rent</a:t>
            </a:r>
          </a:p>
        </p:txBody>
      </p:sp>
      <p:sp>
        <p:nvSpPr>
          <p:cNvPr id="18455" name="Line 36"/>
          <p:cNvSpPr>
            <a:spLocks noChangeShapeType="1"/>
          </p:cNvSpPr>
          <p:nvPr/>
        </p:nvSpPr>
        <p:spPr bwMode="auto">
          <a:xfrm flipV="1">
            <a:off x="1659505" y="2081511"/>
            <a:ext cx="723334" cy="14553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5062947" y="2143407"/>
            <a:ext cx="2451101" cy="1793121"/>
            <a:chOff x="4626" y="2123"/>
            <a:chExt cx="1544" cy="1560"/>
          </a:xfrm>
        </p:grpSpPr>
        <p:sp>
          <p:nvSpPr>
            <p:cNvPr id="18452" name="Text Box 38"/>
            <p:cNvSpPr txBox="1">
              <a:spLocks noChangeArrowheads="1"/>
            </p:cNvSpPr>
            <p:nvPr/>
          </p:nvSpPr>
          <p:spPr bwMode="auto">
            <a:xfrm>
              <a:off x="4626" y="3281"/>
              <a:ext cx="1544" cy="4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9 months of rent</a:t>
              </a:r>
            </a:p>
          </p:txBody>
        </p:sp>
        <p:sp>
          <p:nvSpPr>
            <p:cNvPr id="18453" name="Line 39"/>
            <p:cNvSpPr>
              <a:spLocks noChangeShapeType="1"/>
            </p:cNvSpPr>
            <p:nvPr/>
          </p:nvSpPr>
          <p:spPr bwMode="auto">
            <a:xfrm flipH="1" flipV="1">
              <a:off x="4868" y="2123"/>
              <a:ext cx="435" cy="11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" name="AutoShape 27"/>
          <p:cNvSpPr>
            <a:spLocks/>
          </p:cNvSpPr>
          <p:nvPr/>
        </p:nvSpPr>
        <p:spPr bwMode="auto">
          <a:xfrm rot="5400000">
            <a:off x="3896792" y="-511311"/>
            <a:ext cx="476249" cy="5894659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Line 15"/>
          <p:cNvSpPr>
            <a:spLocks noChangeShapeType="1"/>
          </p:cNvSpPr>
          <p:nvPr/>
        </p:nvSpPr>
        <p:spPr bwMode="auto">
          <a:xfrm>
            <a:off x="8680272" y="2143124"/>
            <a:ext cx="6528" cy="1331331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Text Box 6"/>
          <p:cNvSpPr txBox="1">
            <a:spLocks noChangeArrowheads="1"/>
          </p:cNvSpPr>
          <p:nvPr/>
        </p:nvSpPr>
        <p:spPr bwMode="auto">
          <a:xfrm>
            <a:off x="6137685" y="1038224"/>
            <a:ext cx="18906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</a:rPr>
              <a:t>Sept 30, 20X6</a:t>
            </a:r>
          </a:p>
        </p:txBody>
      </p:sp>
      <p:sp>
        <p:nvSpPr>
          <p:cNvPr id="45" name="Line 39"/>
          <p:cNvSpPr>
            <a:spLocks noChangeShapeType="1"/>
          </p:cNvSpPr>
          <p:nvPr/>
        </p:nvSpPr>
        <p:spPr bwMode="auto">
          <a:xfrm flipH="1">
            <a:off x="7082247" y="1499889"/>
            <a:ext cx="0" cy="44321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620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75" grpId="0" animBg="1"/>
      <p:bldP spid="40" grpId="0" animBg="1"/>
      <p:bldP spid="4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171B473E-DA79-EF4D-97E4-83C680078E49}" type="slidenum">
              <a:rPr lang="en-US" sz="1400"/>
              <a:pPr/>
              <a:t>12</a:t>
            </a:fld>
            <a:endParaRPr lang="en-US" sz="140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charset="0"/>
              </a:rPr>
              <a:t>Calculation of Depreciation Expense</a:t>
            </a:r>
          </a:p>
        </p:txBody>
      </p:sp>
      <p:grpSp>
        <p:nvGrpSpPr>
          <p:cNvPr id="18438" name="Group 3"/>
          <p:cNvGrpSpPr>
            <a:grpSpLocks/>
          </p:cNvGrpSpPr>
          <p:nvPr/>
        </p:nvGrpSpPr>
        <p:grpSpPr bwMode="auto">
          <a:xfrm>
            <a:off x="457200" y="1428750"/>
            <a:ext cx="8661401" cy="628650"/>
            <a:chOff x="288" y="1200"/>
            <a:chExt cx="5456" cy="528"/>
          </a:xfrm>
        </p:grpSpPr>
        <p:sp>
          <p:nvSpPr>
            <p:cNvPr id="18465" name="Line 4"/>
            <p:cNvSpPr>
              <a:spLocks noChangeShapeType="1"/>
            </p:cNvSpPr>
            <p:nvPr/>
          </p:nvSpPr>
          <p:spPr bwMode="auto">
            <a:xfrm>
              <a:off x="720" y="1680"/>
              <a:ext cx="4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8466" name="Group 5"/>
            <p:cNvGrpSpPr>
              <a:grpSpLocks/>
            </p:cNvGrpSpPr>
            <p:nvPr/>
          </p:nvGrpSpPr>
          <p:grpSpPr bwMode="auto">
            <a:xfrm>
              <a:off x="288" y="1200"/>
              <a:ext cx="5456" cy="528"/>
              <a:chOff x="288" y="1200"/>
              <a:chExt cx="5456" cy="528"/>
            </a:xfrm>
          </p:grpSpPr>
          <p:sp>
            <p:nvSpPr>
              <p:cNvPr id="18467" name="Text Box 6"/>
              <p:cNvSpPr txBox="1">
                <a:spLocks noChangeArrowheads="1"/>
              </p:cNvSpPr>
              <p:nvPr/>
            </p:nvSpPr>
            <p:spPr bwMode="auto">
              <a:xfrm>
                <a:off x="288" y="1248"/>
                <a:ext cx="1070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r>
                  <a:rPr lang="en-US" dirty="0"/>
                  <a:t>Oct 1, 20X5</a:t>
                </a:r>
              </a:p>
            </p:txBody>
          </p:sp>
          <p:sp>
            <p:nvSpPr>
              <p:cNvPr id="18468" name="Line 7"/>
              <p:cNvSpPr>
                <a:spLocks noChangeShapeType="1"/>
              </p:cNvSpPr>
              <p:nvPr/>
            </p:nvSpPr>
            <p:spPr bwMode="auto">
              <a:xfrm>
                <a:off x="720" y="163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69" name="Line 8"/>
              <p:cNvSpPr>
                <a:spLocks noChangeShapeType="1"/>
              </p:cNvSpPr>
              <p:nvPr/>
            </p:nvSpPr>
            <p:spPr bwMode="auto">
              <a:xfrm>
                <a:off x="1632" y="163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70" name="Line 9"/>
              <p:cNvSpPr>
                <a:spLocks noChangeShapeType="1"/>
              </p:cNvSpPr>
              <p:nvPr/>
            </p:nvSpPr>
            <p:spPr bwMode="auto">
              <a:xfrm>
                <a:off x="2544" y="163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71" name="Line 10"/>
              <p:cNvSpPr>
                <a:spLocks noChangeShapeType="1"/>
              </p:cNvSpPr>
              <p:nvPr/>
            </p:nvSpPr>
            <p:spPr bwMode="auto">
              <a:xfrm>
                <a:off x="3408" y="163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72" name="Line 11"/>
              <p:cNvSpPr>
                <a:spLocks noChangeShapeType="1"/>
              </p:cNvSpPr>
              <p:nvPr/>
            </p:nvSpPr>
            <p:spPr bwMode="auto">
              <a:xfrm>
                <a:off x="4992" y="163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73" name="Text Box 12"/>
              <p:cNvSpPr txBox="1">
                <a:spLocks noChangeArrowheads="1"/>
              </p:cNvSpPr>
              <p:nvPr/>
            </p:nvSpPr>
            <p:spPr bwMode="auto">
              <a:xfrm>
                <a:off x="4416" y="1200"/>
                <a:ext cx="1328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>
                  <a:defRPr sz="2400">
                    <a:solidFill>
                      <a:srgbClr val="FFFFFF"/>
                    </a:solidFill>
                    <a:latin typeface="Times New Roman" charset="0"/>
                    <a:ea typeface="ＭＳ Ｐゴシック" charset="0"/>
                  </a:defRPr>
                </a:lvl1pPr>
                <a:lvl2pPr marL="742950" indent="-285750">
                  <a:defRPr sz="2400">
                    <a:latin typeface="Times New Roman" charset="0"/>
                    <a:ea typeface="ＭＳ Ｐゴシック" charset="0"/>
                  </a:defRPr>
                </a:lvl2pPr>
                <a:lvl3pPr marL="1143000" indent="-228600">
                  <a:defRPr sz="2400">
                    <a:latin typeface="Times New Roman" charset="0"/>
                    <a:ea typeface="ＭＳ Ｐゴシック" charset="0"/>
                  </a:defRPr>
                </a:lvl3pPr>
                <a:lvl4pPr marL="1600200" indent="-228600">
                  <a:defRPr sz="2400">
                    <a:latin typeface="Times New Roman" charset="0"/>
                    <a:ea typeface="ＭＳ Ｐゴシック" charset="0"/>
                  </a:defRPr>
                </a:lvl4pPr>
                <a:lvl5pPr marL="2057400" indent="-228600">
                  <a:defRPr sz="2400"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chemeClr val="tx1"/>
                    </a:solidFill>
                  </a:rPr>
                  <a:t>Sept 30, 20Y10</a:t>
                </a:r>
              </a:p>
            </p:txBody>
          </p:sp>
          <p:sp>
            <p:nvSpPr>
              <p:cNvPr id="18474" name="Line 13"/>
              <p:cNvSpPr>
                <a:spLocks noChangeShapeType="1"/>
              </p:cNvSpPr>
              <p:nvPr/>
            </p:nvSpPr>
            <p:spPr bwMode="auto">
              <a:xfrm>
                <a:off x="4176" y="163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92174" name="Line 14"/>
          <p:cNvSpPr>
            <a:spLocks noChangeShapeType="1"/>
          </p:cNvSpPr>
          <p:nvPr/>
        </p:nvSpPr>
        <p:spPr bwMode="auto">
          <a:xfrm>
            <a:off x="7010400" y="20193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5" name="Line 15"/>
          <p:cNvSpPr>
            <a:spLocks noChangeShapeType="1"/>
          </p:cNvSpPr>
          <p:nvPr/>
        </p:nvSpPr>
        <p:spPr bwMode="auto">
          <a:xfrm>
            <a:off x="5715000" y="2009775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6" name="Line 16"/>
          <p:cNvSpPr>
            <a:spLocks noChangeShapeType="1"/>
          </p:cNvSpPr>
          <p:nvPr/>
        </p:nvSpPr>
        <p:spPr bwMode="auto">
          <a:xfrm>
            <a:off x="4419600" y="20193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7" name="Line 17"/>
          <p:cNvSpPr>
            <a:spLocks noChangeShapeType="1"/>
          </p:cNvSpPr>
          <p:nvPr/>
        </p:nvSpPr>
        <p:spPr bwMode="auto">
          <a:xfrm>
            <a:off x="2971800" y="20193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762000" y="2000251"/>
            <a:ext cx="1903413" cy="919163"/>
            <a:chOff x="480" y="1680"/>
            <a:chExt cx="1199" cy="772"/>
          </a:xfrm>
        </p:grpSpPr>
        <p:sp>
          <p:nvSpPr>
            <p:cNvPr id="18463" name="Line 19"/>
            <p:cNvSpPr>
              <a:spLocks noChangeShapeType="1"/>
            </p:cNvSpPr>
            <p:nvPr/>
          </p:nvSpPr>
          <p:spPr bwMode="auto">
            <a:xfrm>
              <a:off x="1008" y="168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4" name="Text Box 20"/>
            <p:cNvSpPr txBox="1">
              <a:spLocks noChangeArrowheads="1"/>
            </p:cNvSpPr>
            <p:nvPr/>
          </p:nvSpPr>
          <p:spPr bwMode="auto">
            <a:xfrm>
              <a:off x="480" y="2064"/>
              <a:ext cx="1199" cy="388"/>
            </a:xfrm>
            <a:prstGeom prst="rect">
              <a:avLst/>
            </a:prstGeom>
            <a:noFill/>
            <a:ln w="9525">
              <a:noFill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</a:lstStyle>
            <a:p>
              <a:r>
                <a:rPr lang="en-US" sz="2400" dirty="0">
                  <a:latin typeface="Times New Roman" charset="0"/>
                  <a:ea typeface="ＭＳ Ｐゴシック" charset="0"/>
                </a:rPr>
                <a:t>Dec 31, 20X5</a:t>
              </a:r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7162800" y="2000251"/>
            <a:ext cx="1903413" cy="1033463"/>
            <a:chOff x="4512" y="1680"/>
            <a:chExt cx="1199" cy="868"/>
          </a:xfrm>
        </p:grpSpPr>
        <p:sp>
          <p:nvSpPr>
            <p:cNvPr id="18461" name="Line 22"/>
            <p:cNvSpPr>
              <a:spLocks noChangeShapeType="1"/>
            </p:cNvSpPr>
            <p:nvPr/>
          </p:nvSpPr>
          <p:spPr bwMode="auto">
            <a:xfrm>
              <a:off x="5264" y="168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2" name="Text Box 23"/>
            <p:cNvSpPr txBox="1">
              <a:spLocks noChangeArrowheads="1"/>
            </p:cNvSpPr>
            <p:nvPr/>
          </p:nvSpPr>
          <p:spPr bwMode="auto">
            <a:xfrm>
              <a:off x="4512" y="2160"/>
              <a:ext cx="1199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Dec 31, 20Y0</a:t>
              </a:r>
            </a:p>
          </p:txBody>
        </p:sp>
      </p:grpSp>
      <p:sp>
        <p:nvSpPr>
          <p:cNvPr id="92184" name="AutoShape 24"/>
          <p:cNvSpPr>
            <a:spLocks/>
          </p:cNvSpPr>
          <p:nvPr/>
        </p:nvSpPr>
        <p:spPr bwMode="auto">
          <a:xfrm rot="5400000">
            <a:off x="2114550" y="2343150"/>
            <a:ext cx="342900" cy="13716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85" name="AutoShape 25"/>
          <p:cNvSpPr>
            <a:spLocks/>
          </p:cNvSpPr>
          <p:nvPr/>
        </p:nvSpPr>
        <p:spPr bwMode="auto">
          <a:xfrm rot="5400000">
            <a:off x="3524250" y="2305050"/>
            <a:ext cx="342900" cy="1447800"/>
          </a:xfrm>
          <a:prstGeom prst="rightBrace">
            <a:avLst>
              <a:gd name="adj1" fmla="val 263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86" name="AutoShape 26"/>
          <p:cNvSpPr>
            <a:spLocks/>
          </p:cNvSpPr>
          <p:nvPr/>
        </p:nvSpPr>
        <p:spPr bwMode="auto">
          <a:xfrm rot="5400000">
            <a:off x="4933950" y="2343150"/>
            <a:ext cx="342900" cy="13716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87" name="AutoShape 27"/>
          <p:cNvSpPr>
            <a:spLocks/>
          </p:cNvSpPr>
          <p:nvPr/>
        </p:nvSpPr>
        <p:spPr bwMode="auto">
          <a:xfrm rot="5400000">
            <a:off x="6305550" y="2343150"/>
            <a:ext cx="342900" cy="13716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2362200" y="3257552"/>
            <a:ext cx="4114800" cy="862013"/>
            <a:chOff x="1488" y="2736"/>
            <a:chExt cx="2592" cy="724"/>
          </a:xfrm>
        </p:grpSpPr>
        <p:sp>
          <p:nvSpPr>
            <p:cNvPr id="18456" name="Text Box 29"/>
            <p:cNvSpPr txBox="1">
              <a:spLocks noChangeArrowheads="1"/>
            </p:cNvSpPr>
            <p:nvPr/>
          </p:nvSpPr>
          <p:spPr bwMode="auto">
            <a:xfrm>
              <a:off x="1968" y="3072"/>
              <a:ext cx="203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One year of depreciation</a:t>
              </a:r>
            </a:p>
          </p:txBody>
        </p:sp>
        <p:sp>
          <p:nvSpPr>
            <p:cNvPr id="18457" name="Line 30"/>
            <p:cNvSpPr>
              <a:spLocks noChangeShapeType="1"/>
            </p:cNvSpPr>
            <p:nvPr/>
          </p:nvSpPr>
          <p:spPr bwMode="auto">
            <a:xfrm flipH="1" flipV="1">
              <a:off x="1488" y="2736"/>
              <a:ext cx="48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8" name="Line 31"/>
            <p:cNvSpPr>
              <a:spLocks noChangeShapeType="1"/>
            </p:cNvSpPr>
            <p:nvPr/>
          </p:nvSpPr>
          <p:spPr bwMode="auto">
            <a:xfrm flipV="1">
              <a:off x="2352" y="273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9" name="Line 32"/>
            <p:cNvSpPr>
              <a:spLocks noChangeShapeType="1"/>
            </p:cNvSpPr>
            <p:nvPr/>
          </p:nvSpPr>
          <p:spPr bwMode="auto">
            <a:xfrm flipV="1">
              <a:off x="3216" y="278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0" name="Line 33"/>
            <p:cNvSpPr>
              <a:spLocks noChangeShapeType="1"/>
            </p:cNvSpPr>
            <p:nvPr/>
          </p:nvSpPr>
          <p:spPr bwMode="auto">
            <a:xfrm flipV="1">
              <a:off x="3888" y="2784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381001" y="2857501"/>
            <a:ext cx="2036763" cy="1703785"/>
            <a:chOff x="240" y="2400"/>
            <a:chExt cx="1283" cy="1431"/>
          </a:xfrm>
        </p:grpSpPr>
        <p:sp>
          <p:nvSpPr>
            <p:cNvPr id="18454" name="Text Box 35"/>
            <p:cNvSpPr txBox="1">
              <a:spLocks noChangeArrowheads="1"/>
            </p:cNvSpPr>
            <p:nvPr/>
          </p:nvSpPr>
          <p:spPr bwMode="auto">
            <a:xfrm>
              <a:off x="240" y="3133"/>
              <a:ext cx="1283" cy="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3 months</a:t>
              </a:r>
            </a:p>
            <a:p>
              <a:r>
                <a:rPr lang="en-US" dirty="0"/>
                <a:t>of depreciation</a:t>
              </a:r>
            </a:p>
          </p:txBody>
        </p:sp>
        <p:sp>
          <p:nvSpPr>
            <p:cNvPr id="18455" name="Line 36"/>
            <p:cNvSpPr>
              <a:spLocks noChangeShapeType="1"/>
            </p:cNvSpPr>
            <p:nvPr/>
          </p:nvSpPr>
          <p:spPr bwMode="auto">
            <a:xfrm flipV="1">
              <a:off x="576" y="2400"/>
              <a:ext cx="144" cy="7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6781801" y="2977011"/>
            <a:ext cx="2036763" cy="1658637"/>
            <a:chOff x="4272" y="2448"/>
            <a:chExt cx="1283" cy="1443"/>
          </a:xfrm>
        </p:grpSpPr>
        <p:sp>
          <p:nvSpPr>
            <p:cNvPr id="18452" name="Text Box 38"/>
            <p:cNvSpPr txBox="1">
              <a:spLocks noChangeArrowheads="1"/>
            </p:cNvSpPr>
            <p:nvPr/>
          </p:nvSpPr>
          <p:spPr bwMode="auto">
            <a:xfrm>
              <a:off x="4272" y="3168"/>
              <a:ext cx="1283" cy="7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9 months</a:t>
              </a:r>
            </a:p>
            <a:p>
              <a:r>
                <a:rPr lang="en-US" dirty="0"/>
                <a:t>of depreciation</a:t>
              </a:r>
            </a:p>
          </p:txBody>
        </p:sp>
        <p:sp>
          <p:nvSpPr>
            <p:cNvPr id="18453" name="Line 39"/>
            <p:cNvSpPr>
              <a:spLocks noChangeShapeType="1"/>
            </p:cNvSpPr>
            <p:nvPr/>
          </p:nvSpPr>
          <p:spPr bwMode="auto">
            <a:xfrm flipV="1">
              <a:off x="4848" y="2448"/>
              <a:ext cx="96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899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2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2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2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2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2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2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52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2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2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74" grpId="0" animBg="1"/>
      <p:bldP spid="92175" grpId="0" animBg="1"/>
      <p:bldP spid="92176" grpId="0" animBg="1"/>
      <p:bldP spid="92177" grpId="0" animBg="1"/>
      <p:bldP spid="92184" grpId="0" animBg="1"/>
      <p:bldP spid="92185" grpId="0" animBg="1"/>
      <p:bldP spid="92186" grpId="0" animBg="1"/>
      <p:bldP spid="9218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3EFFB37-0C4B-C347-8AFC-2C4EFA0B9234}" type="slidenum">
              <a:rPr lang="en-US" sz="1400">
                <a:solidFill>
                  <a:srgbClr val="FFFFFF"/>
                </a:solidFill>
              </a:rPr>
              <a:pPr/>
              <a:t>13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charset="0"/>
              </a:rPr>
              <a:t>Calculation of Depreciation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362200" y="1486175"/>
            <a:ext cx="4830763" cy="1085850"/>
            <a:chOff x="2090739" y="1828799"/>
            <a:chExt cx="4830763" cy="1085850"/>
          </a:xfrm>
        </p:grpSpPr>
        <p:sp>
          <p:nvSpPr>
            <p:cNvPr id="19482" name="Text Box 7"/>
            <p:cNvSpPr txBox="1">
              <a:spLocks noChangeArrowheads="1"/>
            </p:cNvSpPr>
            <p:nvPr/>
          </p:nvSpPr>
          <p:spPr bwMode="auto">
            <a:xfrm>
              <a:off x="2090739" y="2268139"/>
              <a:ext cx="1693863" cy="6465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3600" dirty="0"/>
                <a:t>5 years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2090739" y="1828799"/>
              <a:ext cx="4830763" cy="732235"/>
              <a:chOff x="2090739" y="1828799"/>
              <a:chExt cx="4830763" cy="732235"/>
            </a:xfrm>
          </p:grpSpPr>
          <p:sp>
            <p:nvSpPr>
              <p:cNvPr id="19481" name="Text Box 6"/>
              <p:cNvSpPr txBox="1">
                <a:spLocks noChangeArrowheads="1"/>
              </p:cNvSpPr>
              <p:nvPr/>
            </p:nvSpPr>
            <p:spPr bwMode="auto">
              <a:xfrm>
                <a:off x="2246314" y="1828799"/>
                <a:ext cx="1693863" cy="6465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3600" dirty="0"/>
                  <a:t>$60k</a:t>
                </a:r>
              </a:p>
            </p:txBody>
          </p:sp>
          <p:sp>
            <p:nvSpPr>
              <p:cNvPr id="19480" name="Line 8"/>
              <p:cNvSpPr>
                <a:spLocks noChangeShapeType="1"/>
              </p:cNvSpPr>
              <p:nvPr/>
            </p:nvSpPr>
            <p:spPr bwMode="auto">
              <a:xfrm>
                <a:off x="2090739" y="2415654"/>
                <a:ext cx="15240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77" name="Text Box 9"/>
              <p:cNvSpPr txBox="1">
                <a:spLocks noChangeArrowheads="1"/>
              </p:cNvSpPr>
              <p:nvPr/>
            </p:nvSpPr>
            <p:spPr bwMode="auto">
              <a:xfrm>
                <a:off x="3870327" y="1976437"/>
                <a:ext cx="415925" cy="5845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r>
                  <a:rPr lang="en-US" sz="3200" dirty="0"/>
                  <a:t>=</a:t>
                </a:r>
              </a:p>
            </p:txBody>
          </p:sp>
          <p:sp>
            <p:nvSpPr>
              <p:cNvPr id="19478" name="Text Box 10"/>
              <p:cNvSpPr txBox="1">
                <a:spLocks noChangeArrowheads="1"/>
              </p:cNvSpPr>
              <p:nvPr/>
            </p:nvSpPr>
            <p:spPr bwMode="auto">
              <a:xfrm>
                <a:off x="4479927" y="1966912"/>
                <a:ext cx="2441575" cy="5845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r>
                  <a:rPr lang="en-US" sz="3200" dirty="0"/>
                  <a:t>$12k per year</a:t>
                </a:r>
              </a:p>
            </p:txBody>
          </p:sp>
        </p:grpSp>
      </p:grpSp>
      <p:grpSp>
        <p:nvGrpSpPr>
          <p:cNvPr id="4" name="Group 3"/>
          <p:cNvGrpSpPr/>
          <p:nvPr/>
        </p:nvGrpSpPr>
        <p:grpSpPr>
          <a:xfrm>
            <a:off x="2057400" y="2756518"/>
            <a:ext cx="3451225" cy="1008777"/>
            <a:chOff x="2590802" y="2870873"/>
            <a:chExt cx="3451225" cy="1008777"/>
          </a:xfrm>
        </p:grpSpPr>
        <p:sp>
          <p:nvSpPr>
            <p:cNvPr id="19474" name="Text Box 15"/>
            <p:cNvSpPr txBox="1">
              <a:spLocks noChangeArrowheads="1"/>
            </p:cNvSpPr>
            <p:nvPr/>
          </p:nvSpPr>
          <p:spPr bwMode="auto">
            <a:xfrm>
              <a:off x="2689227" y="2870873"/>
              <a:ext cx="390525" cy="5845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3200" dirty="0"/>
                <a:t>3</a:t>
              </a:r>
            </a:p>
          </p:txBody>
        </p:sp>
        <p:sp>
          <p:nvSpPr>
            <p:cNvPr id="19475" name="Text Box 16"/>
            <p:cNvSpPr txBox="1">
              <a:spLocks noChangeArrowheads="1"/>
            </p:cNvSpPr>
            <p:nvPr/>
          </p:nvSpPr>
          <p:spPr bwMode="auto">
            <a:xfrm>
              <a:off x="2590802" y="3295053"/>
              <a:ext cx="595313" cy="5845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3200" dirty="0"/>
                <a:t>12</a:t>
              </a:r>
            </a:p>
          </p:txBody>
        </p:sp>
        <p:sp>
          <p:nvSpPr>
            <p:cNvPr id="19473" name="Line 17"/>
            <p:cNvSpPr>
              <a:spLocks noChangeShapeType="1"/>
            </p:cNvSpPr>
            <p:nvPr/>
          </p:nvSpPr>
          <p:spPr bwMode="auto">
            <a:xfrm>
              <a:off x="2651127" y="3393087"/>
              <a:ext cx="457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8" name="Text Box 18"/>
            <p:cNvSpPr txBox="1">
              <a:spLocks noChangeArrowheads="1"/>
            </p:cNvSpPr>
            <p:nvPr/>
          </p:nvSpPr>
          <p:spPr bwMode="auto">
            <a:xfrm>
              <a:off x="3108327" y="3002755"/>
              <a:ext cx="390525" cy="5845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3200"/>
                <a:t>x</a:t>
              </a:r>
            </a:p>
          </p:txBody>
        </p:sp>
        <p:sp>
          <p:nvSpPr>
            <p:cNvPr id="19469" name="Text Box 19"/>
            <p:cNvSpPr txBox="1">
              <a:spLocks noChangeArrowheads="1"/>
            </p:cNvSpPr>
            <p:nvPr/>
          </p:nvSpPr>
          <p:spPr bwMode="auto">
            <a:xfrm>
              <a:off x="3505202" y="3028949"/>
              <a:ext cx="1004888" cy="5845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3200" dirty="0"/>
                <a:t>$12k</a:t>
              </a:r>
            </a:p>
          </p:txBody>
        </p:sp>
        <p:sp>
          <p:nvSpPr>
            <p:cNvPr id="19470" name="Text Box 20"/>
            <p:cNvSpPr txBox="1">
              <a:spLocks noChangeArrowheads="1"/>
            </p:cNvSpPr>
            <p:nvPr/>
          </p:nvSpPr>
          <p:spPr bwMode="auto">
            <a:xfrm>
              <a:off x="4648202" y="3026568"/>
              <a:ext cx="415925" cy="5845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3200" dirty="0"/>
                <a:t>=</a:t>
              </a:r>
            </a:p>
          </p:txBody>
        </p:sp>
        <p:sp>
          <p:nvSpPr>
            <p:cNvPr id="19471" name="Text Box 21"/>
            <p:cNvSpPr txBox="1">
              <a:spLocks noChangeArrowheads="1"/>
            </p:cNvSpPr>
            <p:nvPr/>
          </p:nvSpPr>
          <p:spPr bwMode="auto">
            <a:xfrm>
              <a:off x="5241927" y="3012280"/>
              <a:ext cx="800100" cy="5845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3200" dirty="0"/>
                <a:t>$3k</a:t>
              </a:r>
            </a:p>
          </p:txBody>
        </p:sp>
      </p:grpSp>
      <p:sp>
        <p:nvSpPr>
          <p:cNvPr id="19466" name="Text Box 22"/>
          <p:cNvSpPr txBox="1">
            <a:spLocks noChangeArrowheads="1"/>
          </p:cNvSpPr>
          <p:nvPr/>
        </p:nvSpPr>
        <p:spPr bwMode="auto">
          <a:xfrm>
            <a:off x="6477002" y="2857499"/>
            <a:ext cx="17716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Depreciation</a:t>
            </a:r>
          </a:p>
          <a:p>
            <a:r>
              <a:rPr lang="en-US" dirty="0"/>
              <a:t>for Oct 1 to</a:t>
            </a:r>
          </a:p>
          <a:p>
            <a:r>
              <a:rPr lang="en-US" dirty="0"/>
              <a:t>Dec 31</a:t>
            </a:r>
          </a:p>
        </p:txBody>
      </p:sp>
      <p:sp>
        <p:nvSpPr>
          <p:cNvPr id="19464" name="Text Box 23"/>
          <p:cNvSpPr txBox="1">
            <a:spLocks noChangeArrowheads="1"/>
          </p:cNvSpPr>
          <p:nvPr/>
        </p:nvSpPr>
        <p:spPr bwMode="auto">
          <a:xfrm>
            <a:off x="2576513" y="4110925"/>
            <a:ext cx="325762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Can you make the entry?</a:t>
            </a:r>
          </a:p>
        </p:txBody>
      </p:sp>
    </p:spTree>
    <p:extLst>
      <p:ext uri="{BB962C8B-B14F-4D97-AF65-F5344CB8AC3E}">
        <p14:creationId xmlns:p14="http://schemas.microsoft.com/office/powerpoint/2010/main" val="3807794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73089"/>
            <a:ext cx="2133600" cy="27384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80D9CDE3-27BD-D54B-B4C0-A8B243D63008}" type="slidenum">
              <a:rPr lang="en-US" sz="1400">
                <a:solidFill>
                  <a:srgbClr val="FFFFFF"/>
                </a:solidFill>
              </a:rPr>
              <a:pPr/>
              <a:t>14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Calculation of interest</a:t>
            </a:r>
          </a:p>
        </p:txBody>
      </p:sp>
      <p:sp>
        <p:nvSpPr>
          <p:cNvPr id="22534" name="Text Box 3"/>
          <p:cNvSpPr txBox="1">
            <a:spLocks noChangeArrowheads="1"/>
          </p:cNvSpPr>
          <p:nvPr/>
        </p:nvSpPr>
        <p:spPr bwMode="auto">
          <a:xfrm>
            <a:off x="6565037" y="2924761"/>
            <a:ext cx="167866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Interest cost</a:t>
            </a:r>
          </a:p>
          <a:p>
            <a:r>
              <a:rPr lang="en-US" dirty="0"/>
              <a:t>for Oct 1 to</a:t>
            </a:r>
          </a:p>
          <a:p>
            <a:r>
              <a:rPr lang="en-US" dirty="0"/>
              <a:t>Dec 31</a:t>
            </a:r>
          </a:p>
        </p:txBody>
      </p:sp>
      <p:sp>
        <p:nvSpPr>
          <p:cNvPr id="22536" name="Text Box 15"/>
          <p:cNvSpPr txBox="1">
            <a:spLocks noChangeArrowheads="1"/>
          </p:cNvSpPr>
          <p:nvPr/>
        </p:nvSpPr>
        <p:spPr bwMode="auto">
          <a:xfrm>
            <a:off x="6066594" y="2203517"/>
            <a:ext cx="195438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=  $606.02</a:t>
            </a:r>
          </a:p>
        </p:txBody>
      </p:sp>
      <p:sp>
        <p:nvSpPr>
          <p:cNvPr id="22537" name="Text Box 16"/>
          <p:cNvSpPr txBox="1">
            <a:spLocks noChangeArrowheads="1"/>
          </p:cNvSpPr>
          <p:nvPr/>
        </p:nvSpPr>
        <p:spPr bwMode="auto">
          <a:xfrm>
            <a:off x="1295400" y="3663426"/>
            <a:ext cx="32576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/>
              <a:t>Can you make the entry?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57200" y="1674787"/>
            <a:ext cx="3630967" cy="1537403"/>
            <a:chOff x="745724" y="1669002"/>
            <a:chExt cx="3630967" cy="1537403"/>
          </a:xfrm>
        </p:grpSpPr>
        <p:grpSp>
          <p:nvGrpSpPr>
            <p:cNvPr id="3" name="Group 2"/>
            <p:cNvGrpSpPr/>
            <p:nvPr/>
          </p:nvGrpSpPr>
          <p:grpSpPr>
            <a:xfrm>
              <a:off x="3235044" y="1958973"/>
              <a:ext cx="748923" cy="896855"/>
              <a:chOff x="1153249" y="1911407"/>
              <a:chExt cx="748923" cy="896855"/>
            </a:xfrm>
          </p:grpSpPr>
          <p:grpSp>
            <p:nvGrpSpPr>
              <p:cNvPr id="2" name="Group 1"/>
              <p:cNvGrpSpPr/>
              <p:nvPr/>
            </p:nvGrpSpPr>
            <p:grpSpPr>
              <a:xfrm>
                <a:off x="1153249" y="1911407"/>
                <a:ext cx="748923" cy="896855"/>
                <a:chOff x="1153249" y="1911407"/>
                <a:chExt cx="748923" cy="896855"/>
              </a:xfrm>
            </p:grpSpPr>
            <p:sp>
              <p:nvSpPr>
                <p:cNvPr id="22546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153249" y="1911407"/>
                  <a:ext cx="748923" cy="4616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9pPr>
                </a:lstStyle>
                <a:p>
                  <a:r>
                    <a:rPr lang="en-US" dirty="0"/>
                    <a:t>12%</a:t>
                  </a:r>
                </a:p>
              </p:txBody>
            </p:sp>
            <p:sp>
              <p:nvSpPr>
                <p:cNvPr id="22547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153249" y="2346597"/>
                  <a:ext cx="492443" cy="4616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9pPr>
                </a:lstStyle>
                <a:p>
                  <a:r>
                    <a:rPr lang="en-US" dirty="0"/>
                    <a:t>12</a:t>
                  </a:r>
                </a:p>
              </p:txBody>
            </p:sp>
          </p:grpSp>
          <p:sp>
            <p:nvSpPr>
              <p:cNvPr id="22545" name="Line 10"/>
              <p:cNvSpPr>
                <a:spLocks noChangeShapeType="1"/>
              </p:cNvSpPr>
              <p:nvPr/>
            </p:nvSpPr>
            <p:spPr bwMode="auto">
              <a:xfrm>
                <a:off x="1202906" y="2348529"/>
                <a:ext cx="457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2541" name="Text Box 11"/>
            <p:cNvSpPr txBox="1">
              <a:spLocks noChangeArrowheads="1"/>
            </p:cNvSpPr>
            <p:nvPr/>
          </p:nvSpPr>
          <p:spPr bwMode="auto">
            <a:xfrm>
              <a:off x="2132618" y="2219372"/>
              <a:ext cx="390525" cy="5845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3200" dirty="0"/>
                <a:t>*</a:t>
              </a:r>
            </a:p>
          </p:txBody>
        </p:sp>
        <p:sp>
          <p:nvSpPr>
            <p:cNvPr id="22542" name="Text Box 12"/>
            <p:cNvSpPr txBox="1">
              <a:spLocks noChangeArrowheads="1"/>
            </p:cNvSpPr>
            <p:nvPr/>
          </p:nvSpPr>
          <p:spPr bwMode="auto">
            <a:xfrm>
              <a:off x="745724" y="2178392"/>
              <a:ext cx="1518364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3200" dirty="0"/>
                <a:t>$20,000</a:t>
              </a:r>
            </a:p>
          </p:txBody>
        </p:sp>
        <p:sp>
          <p:nvSpPr>
            <p:cNvPr id="22539" name="AutoShape 14"/>
            <p:cNvSpPr>
              <a:spLocks noChangeArrowheads="1"/>
            </p:cNvSpPr>
            <p:nvPr/>
          </p:nvSpPr>
          <p:spPr bwMode="auto">
            <a:xfrm>
              <a:off x="2400575" y="1669002"/>
              <a:ext cx="1976116" cy="1537403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2434641" y="1889317"/>
              <a:ext cx="1454749" cy="1013556"/>
              <a:chOff x="2803035" y="2868773"/>
              <a:chExt cx="1454749" cy="1013556"/>
            </a:xfrm>
          </p:grpSpPr>
          <p:sp>
            <p:nvSpPr>
              <p:cNvPr id="16" name="AutoShape 14"/>
              <p:cNvSpPr>
                <a:spLocks noChangeArrowheads="1"/>
              </p:cNvSpPr>
              <p:nvPr/>
            </p:nvSpPr>
            <p:spPr bwMode="auto">
              <a:xfrm>
                <a:off x="2849226" y="2868773"/>
                <a:ext cx="1408558" cy="1013556"/>
              </a:xfrm>
              <a:prstGeom prst="bracketPair">
                <a:avLst>
                  <a:gd name="adj" fmla="val 16667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Text Box 12"/>
              <p:cNvSpPr txBox="1">
                <a:spLocks noChangeArrowheads="1"/>
              </p:cNvSpPr>
              <p:nvPr/>
            </p:nvSpPr>
            <p:spPr bwMode="auto">
              <a:xfrm>
                <a:off x="2803035" y="3148654"/>
                <a:ext cx="723275" cy="584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r>
                  <a:rPr lang="en-US" sz="3200" dirty="0"/>
                  <a:t>1 +</a:t>
                </a:r>
              </a:p>
            </p:txBody>
          </p:sp>
        </p:grpSp>
        <p:sp>
          <p:nvSpPr>
            <p:cNvPr id="5" name="TextBox 4"/>
            <p:cNvSpPr txBox="1"/>
            <p:nvPr/>
          </p:nvSpPr>
          <p:spPr>
            <a:xfrm>
              <a:off x="3971282" y="1758918"/>
              <a:ext cx="33855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charset="0"/>
                  <a:ea typeface="ＭＳ Ｐゴシック" charset="0"/>
                </a:rPr>
                <a:t>3</a:t>
              </a:r>
            </a:p>
          </p:txBody>
        </p:sp>
      </p:grp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4210512" y="2203517"/>
            <a:ext cx="175721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- $20,000</a:t>
            </a:r>
          </a:p>
        </p:txBody>
      </p:sp>
    </p:spTree>
    <p:extLst>
      <p:ext uri="{BB962C8B-B14F-4D97-AF65-F5344CB8AC3E}">
        <p14:creationId xmlns:p14="http://schemas.microsoft.com/office/powerpoint/2010/main" val="2637965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Rick &amp; Stan’s Business</a:t>
            </a:r>
          </a:p>
          <a:p>
            <a:r>
              <a:rPr lang="en-US" dirty="0"/>
              <a:t>More practice</a:t>
            </a:r>
          </a:p>
        </p:txBody>
      </p:sp>
    </p:spTree>
    <p:extLst>
      <p:ext uri="{BB962C8B-B14F-4D97-AF65-F5344CB8AC3E}">
        <p14:creationId xmlns:p14="http://schemas.microsoft.com/office/powerpoint/2010/main" val="1958414062"/>
      </p:ext>
    </p:extLst>
  </p:cSld>
  <p:clrMapOvr>
    <a:masterClrMapping/>
  </p:clrMapOvr>
</p:sld>
</file>

<file path=ppt/theme/theme1.xml><?xml version="1.0" encoding="utf-8"?>
<a:theme xmlns:a="http://schemas.openxmlformats.org/drawingml/2006/main" name="ACCT270-white-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B29B1C85-9DAF-4B68-BE90-515A793D29A8}" vid="{D0254D67-9CFA-4424-9146-F95DD8B39E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ACCT270</Template>
  <TotalTime>2985</TotalTime>
  <Words>508</Words>
  <Application>Microsoft Macintosh PowerPoint</Application>
  <PresentationFormat>On-screen Show (16:9)</PresentationFormat>
  <Paragraphs>162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ACCT270-white-wide</vt:lpstr>
      <vt:lpstr>ACCT2700 Foundations of Accounting &amp; Valuation </vt:lpstr>
      <vt:lpstr>Things to Consider and Work Through</vt:lpstr>
      <vt:lpstr>Financial Position at a Point in Time</vt:lpstr>
      <vt:lpstr>Definitions</vt:lpstr>
      <vt:lpstr>Explanations of Changes: For-profit</vt:lpstr>
      <vt:lpstr>Explanations of Changes: Not-for-Profit</vt:lpstr>
      <vt:lpstr>Explanations of Changes: Intuition</vt:lpstr>
      <vt:lpstr>Accounting Identity: Debits and Credits</vt:lpstr>
      <vt:lpstr>Rick and Stan’s Business</vt:lpstr>
      <vt:lpstr>R&amp;S’s Business</vt:lpstr>
      <vt:lpstr>Prepaid Rent</vt:lpstr>
      <vt:lpstr>Calculation of Depreciation Expense</vt:lpstr>
      <vt:lpstr>Calculation of Depreciation</vt:lpstr>
      <vt:lpstr>Calculation of interest</vt:lpstr>
      <vt:lpstr>Next Time</vt:lpstr>
    </vt:vector>
  </TitlesOfParts>
  <Manager/>
  <Company>Yale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ACCT270 Foundations of Accounting &amp; Valuation</dc:title>
  <dc:subject/>
  <dc:creator>Antle, Rick</dc:creator>
  <cp:keywords/>
  <dc:description/>
  <cp:lastModifiedBy>Antle, Rick</cp:lastModifiedBy>
  <cp:revision>12</cp:revision>
  <dcterms:created xsi:type="dcterms:W3CDTF">2019-10-01T17:24:47Z</dcterms:created>
  <dcterms:modified xsi:type="dcterms:W3CDTF">2026-02-16T00:08:38Z</dcterms:modified>
  <cp:category/>
</cp:coreProperties>
</file>