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7" r:id="rId2"/>
    <p:sldId id="278" r:id="rId3"/>
    <p:sldId id="280" r:id="rId4"/>
    <p:sldId id="259" r:id="rId5"/>
    <p:sldId id="281" r:id="rId6"/>
    <p:sldId id="261" r:id="rId7"/>
    <p:sldId id="262" r:id="rId8"/>
    <p:sldId id="263" r:id="rId9"/>
    <p:sldId id="264" r:id="rId10"/>
    <p:sldId id="265" r:id="rId11"/>
    <p:sldId id="277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76" r:id="rId22"/>
  </p:sldIdLst>
  <p:sldSz cx="9144000" cy="5143500" type="screen16x9"/>
  <p:notesSz cx="6985000" cy="92837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773" y="35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30" d="100"/>
          <a:sy n="130" d="100"/>
        </p:scale>
        <p:origin x="2832" y="15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D2077C41-23D2-40E5-A1B9-6D409EDDC81D}"/>
    <pc:docChg chg="custSel modSld">
      <pc:chgData name="Antle, Rick" userId="c2afbbd2-30e4-4c8e-8af5-81913178ace3" providerId="ADAL" clId="{D2077C41-23D2-40E5-A1B9-6D409EDDC81D}" dt="2026-01-13T15:43:52.732" v="1" actId="478"/>
      <pc:docMkLst>
        <pc:docMk/>
      </pc:docMkLst>
      <pc:sldChg chg="modSp mod">
        <pc:chgData name="Antle, Rick" userId="c2afbbd2-30e4-4c8e-8af5-81913178ace3" providerId="ADAL" clId="{D2077C41-23D2-40E5-A1B9-6D409EDDC81D}" dt="2026-01-13T15:43:37.805" v="0" actId="20577"/>
        <pc:sldMkLst>
          <pc:docMk/>
          <pc:sldMk cId="2738619921" sldId="257"/>
        </pc:sldMkLst>
        <pc:spChg chg="mod">
          <ac:chgData name="Antle, Rick" userId="c2afbbd2-30e4-4c8e-8af5-81913178ace3" providerId="ADAL" clId="{D2077C41-23D2-40E5-A1B9-6D409EDDC81D}" dt="2026-01-13T15:43:37.805" v="0" actId="20577"/>
          <ac:spMkLst>
            <pc:docMk/>
            <pc:sldMk cId="2738619921" sldId="257"/>
            <ac:spMk id="2" creationId="{00000000-0000-0000-0000-000000000000}"/>
          </ac:spMkLst>
        </pc:spChg>
      </pc:sldChg>
      <pc:sldChg chg="delSp mod">
        <pc:chgData name="Antle, Rick" userId="c2afbbd2-30e4-4c8e-8af5-81913178ace3" providerId="ADAL" clId="{D2077C41-23D2-40E5-A1B9-6D409EDDC81D}" dt="2026-01-13T15:43:52.732" v="1" actId="478"/>
        <pc:sldMkLst>
          <pc:docMk/>
          <pc:sldMk cId="3883383704" sldId="277"/>
        </pc:sldMkLst>
        <pc:picChg chg="del">
          <ac:chgData name="Antle, Rick" userId="c2afbbd2-30e4-4c8e-8af5-81913178ace3" providerId="ADAL" clId="{D2077C41-23D2-40E5-A1B9-6D409EDDC81D}" dt="2026-01-13T15:43:52.732" v="1" actId="478"/>
          <ac:picMkLst>
            <pc:docMk/>
            <pc:sldMk cId="3883383704" sldId="277"/>
            <ac:picMk id="3" creationId="{E8362B25-0C3A-594E-87BC-0CC4EDA9B0E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5797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56550" y="0"/>
            <a:ext cx="3026833" cy="465797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>
              <a:defRPr sz="1200"/>
            </a:lvl1pPr>
          </a:lstStyle>
          <a:p>
            <a:fld id="{E0269D07-4FE6-4C4F-86CF-779C9CBC84D3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6438" y="1160463"/>
            <a:ext cx="5572125" cy="3133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58" tIns="46479" rIns="92958" bIns="4647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8500" y="4467781"/>
            <a:ext cx="5588000" cy="3655457"/>
          </a:xfrm>
          <a:prstGeom prst="rect">
            <a:avLst/>
          </a:prstGeom>
        </p:spPr>
        <p:txBody>
          <a:bodyPr vert="horz" lIns="92958" tIns="46479" rIns="92958" bIns="464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17904"/>
            <a:ext cx="3026833" cy="465796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56550" y="8817904"/>
            <a:ext cx="3026833" cy="465796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r">
              <a:defRPr sz="1200"/>
            </a:lvl1pPr>
          </a:lstStyle>
          <a:p>
            <a:fld id="{342BD198-1FC8-4D5C-A007-05070BE3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473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2BD198-1FC8-4D5C-A007-05070BE3082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830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61439-F25F-35AF-1840-53D1562C8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6C957-17EF-F889-280F-B02E8D2A6B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FFD76B-E452-AEE8-E1C5-F413F52150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Tuan Doan – what’s the most simple kind of function that will give us a curve?</a:t>
            </a:r>
          </a:p>
          <a:p>
            <a:endParaRPr lang="en-US" dirty="0"/>
          </a:p>
          <a:p>
            <a:r>
              <a:rPr lang="en-US" dirty="0"/>
              <a:t>Maybe that’s not a good question:</a:t>
            </a:r>
          </a:p>
          <a:p>
            <a:endParaRPr lang="en-US" dirty="0"/>
          </a:p>
          <a:p>
            <a:r>
              <a:rPr lang="en-US" dirty="0"/>
              <a:t>Straight line – addition</a:t>
            </a:r>
          </a:p>
          <a:p>
            <a:r>
              <a:rPr lang="en-US" dirty="0"/>
              <a:t>Growth at an increasing rate - multiplication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47B8A-DD97-2421-9B77-ABCC9ACD97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2BD198-1FC8-4D5C-A007-05070BE3082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5941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Hallie Kennan – MEM – How do trees grow? X inches per year?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2BD198-1FC8-4D5C-A007-05070BE3082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5430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A0C9F-4304-2A3D-DD85-F12178BDE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4BC1E5-A64F-35D3-76C7-38A562CF6E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B9B7CB-1C94-6980-BB0E-DED922CA6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Tuan Doan – what’s the most simple kind of function that will give us a curve?</a:t>
            </a:r>
          </a:p>
          <a:p>
            <a:endParaRPr lang="en-US" dirty="0"/>
          </a:p>
          <a:p>
            <a:r>
              <a:rPr lang="en-US" dirty="0"/>
              <a:t>Maybe that’s not a good question:</a:t>
            </a:r>
          </a:p>
          <a:p>
            <a:endParaRPr lang="en-US" dirty="0"/>
          </a:p>
          <a:p>
            <a:r>
              <a:rPr lang="en-US" dirty="0"/>
              <a:t>Straight line – addition</a:t>
            </a:r>
          </a:p>
          <a:p>
            <a:r>
              <a:rPr lang="en-US" dirty="0"/>
              <a:t>Growth at an increasing rate - multiplication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05EBA-18BD-2141-2376-080BA07577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2BD198-1FC8-4D5C-A007-05070BE3082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84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2BD198-1FC8-4D5C-A007-05070BE3082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998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2BD198-1FC8-4D5C-A007-05070BE3082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041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2BD198-1FC8-4D5C-A007-05070BE3082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101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2BD198-1FC8-4D5C-A007-05070BE3082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999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2BD198-1FC8-4D5C-A007-05070BE3082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4771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one would you rather have?</a:t>
            </a:r>
          </a:p>
          <a:p>
            <a:endParaRPr lang="en-US" dirty="0"/>
          </a:p>
          <a:p>
            <a:r>
              <a:rPr lang="en-US" dirty="0"/>
              <a:t>Charlie </a:t>
            </a:r>
            <a:r>
              <a:rPr lang="en-US" dirty="0" err="1"/>
              <a:t>Elwes</a:t>
            </a:r>
            <a:r>
              <a:rPr lang="en-US" dirty="0"/>
              <a:t>  (Political Science)</a:t>
            </a:r>
          </a:p>
          <a:p>
            <a:r>
              <a:rPr lang="en-US" dirty="0"/>
              <a:t>Cooper Burrill (Economics)</a:t>
            </a:r>
          </a:p>
          <a:p>
            <a:r>
              <a:rPr lang="en-US" dirty="0"/>
              <a:t>Lauren Kohler (Environmental Studies)</a:t>
            </a:r>
          </a:p>
          <a:p>
            <a:r>
              <a:rPr lang="en-US" dirty="0"/>
              <a:t>Brian </a:t>
            </a:r>
            <a:r>
              <a:rPr lang="en-US" dirty="0" err="1"/>
              <a:t>Cashin</a:t>
            </a:r>
            <a:r>
              <a:rPr lang="en-US" dirty="0"/>
              <a:t> (Economics)</a:t>
            </a:r>
          </a:p>
          <a:p>
            <a:endParaRPr lang="en-US" dirty="0"/>
          </a:p>
          <a:p>
            <a:r>
              <a:rPr lang="en-US" dirty="0"/>
              <a:t>Michelle Benavidez </a:t>
            </a:r>
            <a:r>
              <a:rPr lang="en-US" dirty="0" err="1"/>
              <a:t>Frausto</a:t>
            </a:r>
            <a:r>
              <a:rPr lang="en-US" dirty="0"/>
              <a:t> (Psychology) – sorry to pick on you again, but you are our only psych major. How should we think about people’s preferences here. Some prefer $83.96 today, others $100 three periods from now.</a:t>
            </a:r>
          </a:p>
          <a:p>
            <a:r>
              <a:rPr lang="en-US" dirty="0"/>
              <a:t>Need for instant gratification?</a:t>
            </a:r>
          </a:p>
          <a:p>
            <a:r>
              <a:rPr lang="en-US" dirty="0"/>
              <a:t>Patience?</a:t>
            </a:r>
          </a:p>
          <a:p>
            <a:r>
              <a:rPr lang="en-US" dirty="0"/>
              <a:t>Other?</a:t>
            </a:r>
          </a:p>
          <a:p>
            <a:endParaRPr lang="en-US" dirty="0"/>
          </a:p>
          <a:p>
            <a:r>
              <a:rPr lang="en-US" dirty="0"/>
              <a:t>Wouldn’t we like to say something about how these two compare without getting into individual psychology?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2BD198-1FC8-4D5C-A007-05070BE3082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9913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one would you rather have?</a:t>
            </a:r>
          </a:p>
          <a:p>
            <a:endParaRPr lang="en-US" dirty="0"/>
          </a:p>
          <a:p>
            <a:r>
              <a:rPr lang="en-US" dirty="0"/>
              <a:t>Charlie </a:t>
            </a:r>
            <a:r>
              <a:rPr lang="en-US" dirty="0" err="1"/>
              <a:t>Elwes</a:t>
            </a:r>
            <a:r>
              <a:rPr lang="en-US" dirty="0"/>
              <a:t>  (Political Science)</a:t>
            </a:r>
          </a:p>
          <a:p>
            <a:r>
              <a:rPr lang="en-US" dirty="0"/>
              <a:t>Cooper Burrill (Economics)</a:t>
            </a:r>
          </a:p>
          <a:p>
            <a:r>
              <a:rPr lang="en-US" dirty="0"/>
              <a:t>Lauren Kohler (Environmental Studies)</a:t>
            </a:r>
          </a:p>
          <a:p>
            <a:r>
              <a:rPr lang="en-US" dirty="0"/>
              <a:t>Brian </a:t>
            </a:r>
            <a:r>
              <a:rPr lang="en-US" dirty="0" err="1"/>
              <a:t>Cashin</a:t>
            </a:r>
            <a:r>
              <a:rPr lang="en-US" dirty="0"/>
              <a:t> (Economics)</a:t>
            </a:r>
          </a:p>
          <a:p>
            <a:endParaRPr lang="en-US" dirty="0"/>
          </a:p>
          <a:p>
            <a:r>
              <a:rPr lang="en-US" dirty="0"/>
              <a:t>Michelle Benavidez </a:t>
            </a:r>
            <a:r>
              <a:rPr lang="en-US" dirty="0" err="1"/>
              <a:t>Frausto</a:t>
            </a:r>
            <a:r>
              <a:rPr lang="en-US" dirty="0"/>
              <a:t> (Psychology) – sorry to pick on you again, but you are our only psych major. How should we think about people’s preferences here. Some prefer $83.96 today, others $100 three periods from now.</a:t>
            </a:r>
          </a:p>
          <a:p>
            <a:r>
              <a:rPr lang="en-US" dirty="0"/>
              <a:t>Need for instant gratification?</a:t>
            </a:r>
          </a:p>
          <a:p>
            <a:r>
              <a:rPr lang="en-US" dirty="0"/>
              <a:t>Patience?</a:t>
            </a:r>
          </a:p>
          <a:p>
            <a:r>
              <a:rPr lang="en-US" dirty="0"/>
              <a:t>Other?</a:t>
            </a:r>
          </a:p>
          <a:p>
            <a:endParaRPr lang="en-US" dirty="0"/>
          </a:p>
          <a:p>
            <a:r>
              <a:rPr lang="en-US" dirty="0"/>
              <a:t>Wouldn’t we like to say something about how these two compare without getting into individual psychology?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2BD198-1FC8-4D5C-A007-05070BE3082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9913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idea – add context. I.e., imbed the problem in a situation with more alternatives than simply take A or B. In a way, we are making the situation more complex. Can that simplify our thinking?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2BD198-1FC8-4D5C-A007-05070BE30825}" type="slidenum">
              <a:rPr lang="en-US" smtClean="0"/>
              <a:t>13</a:t>
            </a:fld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1089859" y="5135826"/>
            <a:ext cx="3634177" cy="1159683"/>
            <a:chOff x="1070043" y="5058543"/>
            <a:chExt cx="3568101" cy="1142232"/>
          </a:xfrm>
        </p:grpSpPr>
        <p:cxnSp>
          <p:nvCxnSpPr>
            <p:cNvPr id="6" name="Straight Connector 5"/>
            <p:cNvCxnSpPr/>
            <p:nvPr/>
          </p:nvCxnSpPr>
          <p:spPr>
            <a:xfrm flipV="1">
              <a:off x="1070043" y="5243209"/>
              <a:ext cx="418289" cy="3696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070043" y="5612860"/>
              <a:ext cx="418289" cy="330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1702340" y="5058543"/>
              <a:ext cx="12882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$83.96 now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702340" y="5831443"/>
              <a:ext cx="29358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$100 three periods from now</a:t>
              </a:r>
            </a:p>
          </p:txBody>
        </p:sp>
      </p:grpSp>
      <p:cxnSp>
        <p:nvCxnSpPr>
          <p:cNvPr id="13" name="Straight Connector 12"/>
          <p:cNvCxnSpPr/>
          <p:nvPr/>
        </p:nvCxnSpPr>
        <p:spPr>
          <a:xfrm flipV="1">
            <a:off x="1151437" y="6871937"/>
            <a:ext cx="472493" cy="6412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151437" y="7513148"/>
            <a:ext cx="472493" cy="573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843711" y="6551608"/>
            <a:ext cx="3427239" cy="312479"/>
          </a:xfrm>
          <a:prstGeom prst="rect">
            <a:avLst/>
          </a:prstGeom>
          <a:noFill/>
        </p:spPr>
        <p:txBody>
          <a:bodyPr wrap="square" lIns="92958" tIns="46479" rIns="92958" bIns="46479" rtlCol="0">
            <a:spAutoFit/>
          </a:bodyPr>
          <a:lstStyle/>
          <a:p>
            <a:r>
              <a:rPr lang="en-US" sz="1400" dirty="0"/>
              <a:t>$83.96 now and consume it 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65671" y="7938808"/>
            <a:ext cx="3932428" cy="312479"/>
          </a:xfrm>
          <a:prstGeom prst="rect">
            <a:avLst/>
          </a:prstGeom>
          <a:noFill/>
        </p:spPr>
        <p:txBody>
          <a:bodyPr wrap="none" lIns="92958" tIns="46479" rIns="92958" bIns="46479" rtlCol="0">
            <a:spAutoFit/>
          </a:bodyPr>
          <a:lstStyle/>
          <a:p>
            <a:r>
              <a:rPr lang="en-US" sz="1400" dirty="0"/>
              <a:t>$100 three periods from now and consume it then</a:t>
            </a:r>
          </a:p>
        </p:txBody>
      </p:sp>
      <p:cxnSp>
        <p:nvCxnSpPr>
          <p:cNvPr id="18" name="Straight Connector 17"/>
          <p:cNvCxnSpPr/>
          <p:nvPr/>
        </p:nvCxnSpPr>
        <p:spPr>
          <a:xfrm flipV="1">
            <a:off x="1151437" y="7192265"/>
            <a:ext cx="472493" cy="3208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840013" y="6985474"/>
            <a:ext cx="4233075" cy="312479"/>
          </a:xfrm>
          <a:prstGeom prst="rect">
            <a:avLst/>
          </a:prstGeom>
          <a:noFill/>
        </p:spPr>
        <p:txBody>
          <a:bodyPr wrap="square" lIns="92958" tIns="46479" rIns="92958" bIns="46479" rtlCol="0">
            <a:spAutoFit/>
          </a:bodyPr>
          <a:lstStyle/>
          <a:p>
            <a:r>
              <a:rPr lang="en-US" sz="1400" dirty="0"/>
              <a:t>$83.96 now and invest it for 3 periods, then consume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1089859" y="7513148"/>
            <a:ext cx="534071" cy="160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843711" y="7499771"/>
            <a:ext cx="4643169" cy="312479"/>
          </a:xfrm>
          <a:prstGeom prst="rect">
            <a:avLst/>
          </a:prstGeom>
          <a:noFill/>
        </p:spPr>
        <p:txBody>
          <a:bodyPr wrap="none" lIns="92958" tIns="46479" rIns="92958" bIns="46479" rtlCol="0">
            <a:spAutoFit/>
          </a:bodyPr>
          <a:lstStyle/>
          <a:p>
            <a:r>
              <a:rPr lang="en-US" sz="1400" dirty="0"/>
              <a:t>$100 three periods from now but borrow and consume now</a:t>
            </a:r>
          </a:p>
        </p:txBody>
      </p:sp>
    </p:spTree>
    <p:extLst>
      <p:ext uri="{BB962C8B-B14F-4D97-AF65-F5344CB8AC3E}">
        <p14:creationId xmlns:p14="http://schemas.microsoft.com/office/powerpoint/2010/main" val="36142037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2BD198-1FC8-4D5C-A007-05070BE3082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894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2BD198-1FC8-4D5C-A007-05070BE3082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1344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2BD198-1FC8-4D5C-A007-05070BE3082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3320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2BD198-1FC8-4D5C-A007-05070BE3082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857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2BD198-1FC8-4D5C-A007-05070BE3082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175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2BD198-1FC8-4D5C-A007-05070BE3082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8794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2BD198-1FC8-4D5C-A007-05070BE3082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422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1271" y="2914650"/>
            <a:ext cx="6723529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837" y="4539059"/>
            <a:ext cx="388599" cy="45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980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736" y="4767263"/>
            <a:ext cx="613064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9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11390" y="4767263"/>
            <a:ext cx="675409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99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66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03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042564" y="4767263"/>
            <a:ext cx="644236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073736" y="4767263"/>
            <a:ext cx="613064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01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56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95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08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837" y="4539059"/>
            <a:ext cx="388599" cy="45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889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crotrends.net/2324/sp-500-historical-chart-data'%3eS&amp;P%20500%20Index%20-%2090%20Year%20Historical%20Chart%3c/a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6429" y="1597819"/>
            <a:ext cx="8531525" cy="1102519"/>
          </a:xfrm>
        </p:spPr>
        <p:txBody>
          <a:bodyPr>
            <a:normAutofit fontScale="90000"/>
          </a:bodyPr>
          <a:lstStyle/>
          <a:p>
            <a:r>
              <a:rPr lang="en-US" dirty="0"/>
              <a:t>ACCT 2700</a:t>
            </a:r>
            <a:br>
              <a:rPr lang="en-US" dirty="0"/>
            </a:br>
            <a:r>
              <a:rPr lang="en-US" dirty="0"/>
              <a:t>Foundations of Accounting &amp; Valuation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1" y="3165894"/>
            <a:ext cx="7894434" cy="106320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Session 2: Compounding &amp; Discounting</a:t>
            </a:r>
          </a:p>
        </p:txBody>
      </p:sp>
    </p:spTree>
    <p:extLst>
      <p:ext uri="{BB962C8B-B14F-4D97-AF65-F5344CB8AC3E}">
        <p14:creationId xmlns:p14="http://schemas.microsoft.com/office/powerpoint/2010/main" val="2738619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graph of a stock market">
            <a:extLst>
              <a:ext uri="{FF2B5EF4-FFF2-40B4-BE49-F238E27FC236}">
                <a16:creationId xmlns:a16="http://schemas.microsoft.com/office/drawing/2014/main" id="{4CA8B1D4-A465-33B4-0973-BFDB21222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043" y="1151414"/>
            <a:ext cx="5536357" cy="34916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5BB539-F57B-3148-2CD6-CBFDF76AD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S&amp;P 500 Index Jan 1928 – Dec 2024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4FFC9F-15E3-3F9D-86FE-F573E5F40909}"/>
              </a:ext>
            </a:extLst>
          </p:cNvPr>
          <p:cNvSpPr txBox="1"/>
          <p:nvPr/>
        </p:nvSpPr>
        <p:spPr>
          <a:xfrm>
            <a:off x="1961535" y="4682302"/>
            <a:ext cx="2167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 err="1">
                <a:hlinkClick r:id="rId3"/>
              </a:rPr>
              <a:t>MacroTrends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A3D9BA-8C16-ED7C-DB60-033280510BF9}"/>
              </a:ext>
            </a:extLst>
          </p:cNvPr>
          <p:cNvSpPr txBox="1"/>
          <p:nvPr/>
        </p:nvSpPr>
        <p:spPr>
          <a:xfrm>
            <a:off x="1323474" y="4295090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320.42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97D9CE-BC64-8B85-8ABB-51686FF05B67}"/>
              </a:ext>
            </a:extLst>
          </p:cNvPr>
          <p:cNvSpPr txBox="1"/>
          <p:nvPr/>
        </p:nvSpPr>
        <p:spPr>
          <a:xfrm>
            <a:off x="6583120" y="1075992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5,881.63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12E372D-3B17-482B-C1F0-967BBE90A2ED}"/>
              </a:ext>
            </a:extLst>
          </p:cNvPr>
          <p:cNvSpPr/>
          <p:nvPr/>
        </p:nvSpPr>
        <p:spPr>
          <a:xfrm>
            <a:off x="2243889" y="4408264"/>
            <a:ext cx="5018909" cy="25684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A3C9CD2-8422-41CB-80F3-610B3CFFFA83}"/>
              </a:ext>
            </a:extLst>
          </p:cNvPr>
          <p:cNvSpPr/>
          <p:nvPr/>
        </p:nvSpPr>
        <p:spPr>
          <a:xfrm>
            <a:off x="2014217" y="1152191"/>
            <a:ext cx="475248" cy="325738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796AEE-7146-E300-D5F6-4E9EF2772888}"/>
              </a:ext>
            </a:extLst>
          </p:cNvPr>
          <p:cNvSpPr txBox="1"/>
          <p:nvPr/>
        </p:nvSpPr>
        <p:spPr>
          <a:xfrm>
            <a:off x="1323474" y="2051385"/>
            <a:ext cx="461665" cy="1486779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dirty="0"/>
              <a:t>Value of Index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F10ABF-004B-F40C-23F6-BF9E606AA13E}"/>
              </a:ext>
            </a:extLst>
          </p:cNvPr>
          <p:cNvSpPr txBox="1"/>
          <p:nvPr/>
        </p:nvSpPr>
        <p:spPr>
          <a:xfrm>
            <a:off x="4519863" y="4664422"/>
            <a:ext cx="586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Year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44B028-AD39-98B6-2D0D-43B32F8F63B7}"/>
              </a:ext>
            </a:extLst>
          </p:cNvPr>
          <p:cNvSpPr txBox="1"/>
          <p:nvPr/>
        </p:nvSpPr>
        <p:spPr>
          <a:xfrm>
            <a:off x="7585317" y="1900535"/>
            <a:ext cx="14814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Index only:</a:t>
            </a:r>
          </a:p>
          <a:p>
            <a:r>
              <a:rPr lang="en-US" dirty="0"/>
              <a:t>Dividends not</a:t>
            </a:r>
          </a:p>
          <a:p>
            <a:r>
              <a:rPr lang="en-US" dirty="0"/>
              <a:t>included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0A3A64-83D6-6E2B-8EF1-E83786DE1C1B}"/>
              </a:ext>
            </a:extLst>
          </p:cNvPr>
          <p:cNvSpPr txBox="1"/>
          <p:nvPr/>
        </p:nvSpPr>
        <p:spPr>
          <a:xfrm>
            <a:off x="83820" y="2254889"/>
            <a:ext cx="13353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Adjusted for</a:t>
            </a:r>
          </a:p>
          <a:p>
            <a:r>
              <a:rPr lang="en-US" dirty="0"/>
              <a:t>inflation</a:t>
            </a:r>
          </a:p>
        </p:txBody>
      </p:sp>
    </p:spTree>
    <p:extLst>
      <p:ext uri="{BB962C8B-B14F-4D97-AF65-F5344CB8AC3E}">
        <p14:creationId xmlns:p14="http://schemas.microsoft.com/office/powerpoint/2010/main" val="2395507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  <p:bldP spid="13" grpId="1" animBg="1"/>
      <p:bldP spid="14" grpId="0" animBg="1"/>
      <p:bldP spid="14" grpId="1" animBg="1"/>
      <p:bldP spid="15" grpId="0"/>
      <p:bldP spid="16" grpId="0"/>
      <p:bldP spid="2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16580-544D-D0F6-0287-DFA0729BB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stock market">
            <a:extLst>
              <a:ext uri="{FF2B5EF4-FFF2-40B4-BE49-F238E27FC236}">
                <a16:creationId xmlns:a16="http://schemas.microsoft.com/office/drawing/2014/main" id="{BDE80103-C321-2081-0D7F-869598A96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702" y="898197"/>
            <a:ext cx="6664519" cy="4203191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4B4AB37C-2604-164B-017C-5A0F51BBC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Inflation-Adjusted</a:t>
            </a: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36AFF57F-A7B0-0A70-1B6F-062C8E2A7BD3}"/>
              </a:ext>
            </a:extLst>
          </p:cNvPr>
          <p:cNvSpPr/>
          <p:nvPr/>
        </p:nvSpPr>
        <p:spPr>
          <a:xfrm rot="5400000">
            <a:off x="-856295" y="-3864965"/>
            <a:ext cx="6607278" cy="10473130"/>
          </a:xfrm>
          <a:prstGeom prst="arc">
            <a:avLst>
              <a:gd name="adj1" fmla="val 16391357"/>
              <a:gd name="adj2" fmla="val 9590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336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a stock market">
            <a:extLst>
              <a:ext uri="{FF2B5EF4-FFF2-40B4-BE49-F238E27FC236}">
                <a16:creationId xmlns:a16="http://schemas.microsoft.com/office/drawing/2014/main" id="{96357CC0-0C11-1B36-A4DF-E800CC2433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702" y="898197"/>
            <a:ext cx="6664519" cy="4203191"/>
          </a:xfrm>
          <a:prstGeom prst="rect">
            <a:avLst/>
          </a:prstGeom>
        </p:spPr>
      </p:pic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Math for It?</a:t>
            </a:r>
          </a:p>
        </p:txBody>
      </p:sp>
      <p:cxnSp>
        <p:nvCxnSpPr>
          <p:cNvPr id="17" name="Straight Connector 16"/>
          <p:cNvCxnSpPr>
            <a:cxnSpLocks/>
          </p:cNvCxnSpPr>
          <p:nvPr/>
        </p:nvCxnSpPr>
        <p:spPr>
          <a:xfrm flipV="1">
            <a:off x="2147637" y="1394460"/>
            <a:ext cx="5579043" cy="33098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66378" y="2663116"/>
            <a:ext cx="763351" cy="369332"/>
          </a:xfrm>
          <a:prstGeom prst="rect">
            <a:avLst/>
          </a:prstGeom>
          <a:solidFill>
            <a:schemeClr val="accent1">
              <a:alpha val="44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Linear</a:t>
            </a:r>
          </a:p>
        </p:txBody>
      </p:sp>
      <p:sp>
        <p:nvSpPr>
          <p:cNvPr id="23" name="Multiply 22"/>
          <p:cNvSpPr/>
          <p:nvPr/>
        </p:nvSpPr>
        <p:spPr>
          <a:xfrm>
            <a:off x="3141508" y="1929176"/>
            <a:ext cx="3233642" cy="2343704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107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3" grpId="0" animBg="1"/>
      <p:bldP spid="2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99D17-2300-817D-D1A7-A29FF4497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stock market">
            <a:extLst>
              <a:ext uri="{FF2B5EF4-FFF2-40B4-BE49-F238E27FC236}">
                <a16:creationId xmlns:a16="http://schemas.microsoft.com/office/drawing/2014/main" id="{EBEAE3F9-DBE0-B5A8-915A-0A107818B0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702" y="898197"/>
            <a:ext cx="6664519" cy="4203191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01FFE86E-AE12-A271-CBDC-6A2B20632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Math for It?</a:t>
            </a: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C9BCEEC7-3F23-72FF-7D79-D2BF2B00E505}"/>
              </a:ext>
            </a:extLst>
          </p:cNvPr>
          <p:cNvSpPr/>
          <p:nvPr/>
        </p:nvSpPr>
        <p:spPr>
          <a:xfrm rot="5400000">
            <a:off x="-856295" y="-3864965"/>
            <a:ext cx="6607278" cy="10473130"/>
          </a:xfrm>
          <a:prstGeom prst="arc">
            <a:avLst>
              <a:gd name="adj1" fmla="val 16391357"/>
              <a:gd name="adj2" fmla="val 9590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EECF13-8166-305B-8C52-20996604F7CD}"/>
              </a:ext>
            </a:extLst>
          </p:cNvPr>
          <p:cNvSpPr txBox="1"/>
          <p:nvPr/>
        </p:nvSpPr>
        <p:spPr>
          <a:xfrm>
            <a:off x="4068711" y="2535432"/>
            <a:ext cx="729559" cy="369332"/>
          </a:xfrm>
          <a:prstGeom prst="rect">
            <a:avLst/>
          </a:prstGeom>
          <a:solidFill>
            <a:schemeClr val="accent1">
              <a:alpha val="44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Curve</a:t>
            </a:r>
          </a:p>
        </p:txBody>
      </p:sp>
      <p:sp>
        <p:nvSpPr>
          <p:cNvPr id="3" name="5-Point Star 11">
            <a:extLst>
              <a:ext uri="{FF2B5EF4-FFF2-40B4-BE49-F238E27FC236}">
                <a16:creationId xmlns:a16="http://schemas.microsoft.com/office/drawing/2014/main" id="{848B0C3C-054E-02A7-8A02-9BFC3D11F820}"/>
              </a:ext>
            </a:extLst>
          </p:cNvPr>
          <p:cNvSpPr/>
          <p:nvPr/>
        </p:nvSpPr>
        <p:spPr>
          <a:xfrm>
            <a:off x="5006340" y="2487715"/>
            <a:ext cx="1051560" cy="952715"/>
          </a:xfrm>
          <a:prstGeom prst="star5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639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5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" grpId="0" animBg="1"/>
      <p:bldP spid="3" grpId="0" animBg="1"/>
      <p:bldP spid="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4720" y="117629"/>
            <a:ext cx="5442000" cy="4857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83384" y="1097458"/>
            <a:ext cx="2728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Look carefully at the y-axis!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8783" y="1706853"/>
            <a:ext cx="227581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Move up one unit</a:t>
            </a:r>
          </a:p>
          <a:p>
            <a:r>
              <a:rPr lang="en-US" dirty="0"/>
              <a:t>(after the first) on the </a:t>
            </a:r>
          </a:p>
          <a:p>
            <a:r>
              <a:rPr lang="en-US" dirty="0"/>
              <a:t>y-axis and you have </a:t>
            </a:r>
          </a:p>
          <a:p>
            <a:r>
              <a:rPr lang="en-US" b="1" i="1" dirty="0"/>
              <a:t>10 times </a:t>
            </a:r>
            <a:r>
              <a:rPr lang="en-US" dirty="0"/>
              <a:t>the amount </a:t>
            </a:r>
          </a:p>
          <a:p>
            <a:r>
              <a:rPr lang="en-US" dirty="0"/>
              <a:t>of the tick below.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1E1A60A-7E84-FDEE-672D-7195F08EAD31}"/>
              </a:ext>
            </a:extLst>
          </p:cNvPr>
          <p:cNvSpPr/>
          <p:nvPr/>
        </p:nvSpPr>
        <p:spPr>
          <a:xfrm>
            <a:off x="3767889" y="4337381"/>
            <a:ext cx="5018909" cy="34803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3673743-C3AE-24BD-706B-855969DB0C23}"/>
              </a:ext>
            </a:extLst>
          </p:cNvPr>
          <p:cNvSpPr/>
          <p:nvPr/>
        </p:nvSpPr>
        <p:spPr>
          <a:xfrm>
            <a:off x="3672896" y="386646"/>
            <a:ext cx="629746" cy="429876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5ABF9C-8AF3-D7FE-4932-8D765B4E14DA}"/>
              </a:ext>
            </a:extLst>
          </p:cNvPr>
          <p:cNvSpPr txBox="1"/>
          <p:nvPr/>
        </p:nvSpPr>
        <p:spPr>
          <a:xfrm>
            <a:off x="905108" y="3538493"/>
            <a:ext cx="1590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 is a log scale.</a:t>
            </a:r>
          </a:p>
        </p:txBody>
      </p:sp>
    </p:spTree>
    <p:extLst>
      <p:ext uri="{BB962C8B-B14F-4D97-AF65-F5344CB8AC3E}">
        <p14:creationId xmlns:p14="http://schemas.microsoft.com/office/powerpoint/2010/main" val="1144351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2" grpId="0" animBg="1"/>
      <p:bldP spid="2" grpId="1" animBg="1"/>
      <p:bldP spid="3" grpId="0" animBg="1"/>
      <p:bldP spid="3" grpId="1" animBg="1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Cash Flows, Time &amp; Uncertainty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financial value of an asset is derived from the stream of </a:t>
            </a:r>
            <a:r>
              <a:rPr lang="en-US" i="1" dirty="0"/>
              <a:t>cash flows </a:t>
            </a:r>
            <a:r>
              <a:rPr lang="en-US" dirty="0"/>
              <a:t>you receive from it</a:t>
            </a:r>
          </a:p>
          <a:p>
            <a:r>
              <a:rPr lang="en-US" dirty="0"/>
              <a:t>Three critical properties of cash flow streams</a:t>
            </a:r>
          </a:p>
          <a:p>
            <a:pPr lvl="1"/>
            <a:r>
              <a:rPr lang="en-US" dirty="0"/>
              <a:t>Amounts</a:t>
            </a:r>
          </a:p>
          <a:p>
            <a:pPr lvl="1"/>
            <a:r>
              <a:rPr lang="en-US" dirty="0"/>
              <a:t>Timing</a:t>
            </a:r>
          </a:p>
          <a:p>
            <a:pPr lvl="1"/>
            <a:r>
              <a:rPr lang="en-US" dirty="0"/>
              <a:t>Uncertainty</a:t>
            </a:r>
          </a:p>
          <a:p>
            <a:r>
              <a:rPr lang="en-US" dirty="0"/>
              <a:t>Next few sessions, we focus on amounts and timing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230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Idea: Compound Interest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Growth by a multiplicative compounding process</a:t>
            </a:r>
          </a:p>
          <a:p>
            <a:r>
              <a:rPr lang="en-US" dirty="0"/>
              <a:t>Terms: Future value, present value, discounting, discounted value, on and on</a:t>
            </a:r>
          </a:p>
          <a:p>
            <a:r>
              <a:rPr lang="en-US" dirty="0"/>
              <a:t>But only </a:t>
            </a:r>
            <a:r>
              <a:rPr lang="en-US" i="1" dirty="0"/>
              <a:t>ONE IDEA</a:t>
            </a:r>
            <a:r>
              <a:rPr lang="en-US" dirty="0"/>
              <a:t>!!</a:t>
            </a:r>
          </a:p>
          <a:p>
            <a:pPr lvl="1"/>
            <a:r>
              <a:rPr lang="en-US" dirty="0"/>
              <a:t>You just have to work it forwards and backwards.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559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of Cash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Assume cash flow streams are </a:t>
            </a:r>
            <a:r>
              <a:rPr lang="en-US" i="1" dirty="0"/>
              <a:t>certain</a:t>
            </a:r>
            <a:r>
              <a:rPr lang="en-US" dirty="0"/>
              <a:t>, but differ in </a:t>
            </a:r>
            <a:r>
              <a:rPr lang="en-US" i="1" dirty="0"/>
              <a:t>timing</a:t>
            </a:r>
          </a:p>
          <a:p>
            <a:r>
              <a:rPr lang="en-US" dirty="0"/>
              <a:t>Could be inflows or outflows</a:t>
            </a:r>
          </a:p>
          <a:p>
            <a:r>
              <a:rPr lang="en-US" dirty="0"/>
              <a:t>Here are two cash flow streams:</a:t>
            </a:r>
          </a:p>
          <a:p>
            <a:pPr lvl="1"/>
            <a:r>
              <a:rPr lang="en-US" dirty="0"/>
              <a:t>Receive $83.96 today</a:t>
            </a:r>
          </a:p>
          <a:p>
            <a:pPr lvl="1"/>
            <a:r>
              <a:rPr lang="en-US" dirty="0"/>
              <a:t>Receive $100.00 three periods hence</a:t>
            </a:r>
          </a:p>
          <a:p>
            <a:r>
              <a:rPr lang="en-US" dirty="0"/>
              <a:t>Cash flow diagrams …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123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Cash Flow Streams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999201" y="1874353"/>
            <a:ext cx="7029031" cy="814866"/>
            <a:chOff x="999201" y="1874353"/>
            <a:chExt cx="7029031" cy="814866"/>
          </a:xfrm>
        </p:grpSpPr>
        <p:sp>
          <p:nvSpPr>
            <p:cNvPr id="12" name="TextBox 11"/>
            <p:cNvSpPr txBox="1"/>
            <p:nvPr/>
          </p:nvSpPr>
          <p:spPr>
            <a:xfrm>
              <a:off x="999201" y="2319887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1150031" y="1874353"/>
              <a:ext cx="6878201" cy="814866"/>
              <a:chOff x="1150031" y="1874353"/>
              <a:chExt cx="6878201" cy="814866"/>
            </a:xfrm>
          </p:grpSpPr>
          <p:cxnSp>
            <p:nvCxnSpPr>
              <p:cNvPr id="11" name="Straight Connector 10"/>
              <p:cNvCxnSpPr/>
              <p:nvPr/>
            </p:nvCxnSpPr>
            <p:spPr>
              <a:xfrm>
                <a:off x="7877402" y="1874353"/>
                <a:ext cx="0" cy="27998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" name="Group 18"/>
              <p:cNvGrpSpPr/>
              <p:nvPr/>
            </p:nvGrpSpPr>
            <p:grpSpPr>
              <a:xfrm>
                <a:off x="1150031" y="1874353"/>
                <a:ext cx="6878201" cy="814866"/>
                <a:chOff x="1150031" y="1874353"/>
                <a:chExt cx="6878201" cy="814866"/>
              </a:xfrm>
            </p:grpSpPr>
            <p:cxnSp>
              <p:nvCxnSpPr>
                <p:cNvPr id="5" name="Straight Connector 4"/>
                <p:cNvCxnSpPr/>
                <p:nvPr/>
              </p:nvCxnSpPr>
              <p:spPr>
                <a:xfrm>
                  <a:off x="1150031" y="2019902"/>
                  <a:ext cx="6720184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Connector 6"/>
                <p:cNvCxnSpPr/>
                <p:nvPr/>
              </p:nvCxnSpPr>
              <p:spPr>
                <a:xfrm>
                  <a:off x="1150031" y="1909907"/>
                  <a:ext cx="0" cy="27998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/>
                <p:cNvCxnSpPr/>
                <p:nvPr/>
              </p:nvCxnSpPr>
              <p:spPr>
                <a:xfrm>
                  <a:off x="5762553" y="1879908"/>
                  <a:ext cx="0" cy="27998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3549679" y="1874353"/>
                  <a:ext cx="0" cy="27998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" name="TextBox 12"/>
                <p:cNvSpPr txBox="1"/>
                <p:nvPr/>
              </p:nvSpPr>
              <p:spPr>
                <a:xfrm>
                  <a:off x="3420074" y="2319887"/>
                  <a:ext cx="3016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1</a:t>
                  </a: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5611723" y="2319887"/>
                  <a:ext cx="3016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2</a:t>
                  </a:r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7726572" y="2319887"/>
                  <a:ext cx="3016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</a:p>
              </p:txBody>
            </p:sp>
          </p:grpSp>
        </p:grpSp>
      </p:grpSp>
      <p:grpSp>
        <p:nvGrpSpPr>
          <p:cNvPr id="52" name="Group 51"/>
          <p:cNvGrpSpPr/>
          <p:nvPr/>
        </p:nvGrpSpPr>
        <p:grpSpPr>
          <a:xfrm>
            <a:off x="1150031" y="1419931"/>
            <a:ext cx="978738" cy="599971"/>
            <a:chOff x="1150031" y="1419931"/>
            <a:chExt cx="978738" cy="599971"/>
          </a:xfrm>
        </p:grpSpPr>
        <p:cxnSp>
          <p:nvCxnSpPr>
            <p:cNvPr id="17" name="Straight Arrow Connector 16"/>
            <p:cNvCxnSpPr/>
            <p:nvPr/>
          </p:nvCxnSpPr>
          <p:spPr>
            <a:xfrm flipV="1">
              <a:off x="1150031" y="1419931"/>
              <a:ext cx="0" cy="599971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1300861" y="1535019"/>
              <a:ext cx="8279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$83.96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999201" y="3687784"/>
            <a:ext cx="7029031" cy="814866"/>
            <a:chOff x="999201" y="1874353"/>
            <a:chExt cx="7029031" cy="814866"/>
          </a:xfrm>
        </p:grpSpPr>
        <p:sp>
          <p:nvSpPr>
            <p:cNvPr id="41" name="TextBox 40"/>
            <p:cNvSpPr txBox="1"/>
            <p:nvPr/>
          </p:nvSpPr>
          <p:spPr>
            <a:xfrm>
              <a:off x="999201" y="2319887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grpSp>
          <p:nvGrpSpPr>
            <p:cNvPr id="42" name="Group 41"/>
            <p:cNvGrpSpPr/>
            <p:nvPr/>
          </p:nvGrpSpPr>
          <p:grpSpPr>
            <a:xfrm>
              <a:off x="1150031" y="1874353"/>
              <a:ext cx="6878201" cy="814866"/>
              <a:chOff x="1150031" y="1874353"/>
              <a:chExt cx="6878201" cy="814866"/>
            </a:xfrm>
          </p:grpSpPr>
          <p:cxnSp>
            <p:nvCxnSpPr>
              <p:cNvPr id="43" name="Straight Connector 42"/>
              <p:cNvCxnSpPr/>
              <p:nvPr/>
            </p:nvCxnSpPr>
            <p:spPr>
              <a:xfrm>
                <a:off x="7877402" y="1874353"/>
                <a:ext cx="0" cy="27998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" name="Group 43"/>
              <p:cNvGrpSpPr/>
              <p:nvPr/>
            </p:nvGrpSpPr>
            <p:grpSpPr>
              <a:xfrm>
                <a:off x="1150031" y="1874353"/>
                <a:ext cx="6878201" cy="814866"/>
                <a:chOff x="1150031" y="1874353"/>
                <a:chExt cx="6878201" cy="814866"/>
              </a:xfrm>
            </p:grpSpPr>
            <p:cxnSp>
              <p:nvCxnSpPr>
                <p:cNvPr id="45" name="Straight Connector 44"/>
                <p:cNvCxnSpPr/>
                <p:nvPr/>
              </p:nvCxnSpPr>
              <p:spPr>
                <a:xfrm>
                  <a:off x="1150031" y="2019902"/>
                  <a:ext cx="6720184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>
                  <a:off x="1150031" y="1909907"/>
                  <a:ext cx="0" cy="27998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/>
              </p:nvCxnSpPr>
              <p:spPr>
                <a:xfrm>
                  <a:off x="5762553" y="1879908"/>
                  <a:ext cx="0" cy="27998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>
                <a:xfrm>
                  <a:off x="3549679" y="1874353"/>
                  <a:ext cx="0" cy="27998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TextBox 48"/>
                <p:cNvSpPr txBox="1"/>
                <p:nvPr/>
              </p:nvSpPr>
              <p:spPr>
                <a:xfrm>
                  <a:off x="3420074" y="2319887"/>
                  <a:ext cx="3016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1</a:t>
                  </a:r>
                </a:p>
              </p:txBody>
            </p:sp>
            <p:sp>
              <p:nvSpPr>
                <p:cNvPr id="50" name="TextBox 49"/>
                <p:cNvSpPr txBox="1"/>
                <p:nvPr/>
              </p:nvSpPr>
              <p:spPr>
                <a:xfrm>
                  <a:off x="5611723" y="2319887"/>
                  <a:ext cx="3016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2</a:t>
                  </a:r>
                </a:p>
              </p:txBody>
            </p:sp>
            <p:sp>
              <p:nvSpPr>
                <p:cNvPr id="51" name="TextBox 50"/>
                <p:cNvSpPr txBox="1"/>
                <p:nvPr/>
              </p:nvSpPr>
              <p:spPr>
                <a:xfrm>
                  <a:off x="7726572" y="2319887"/>
                  <a:ext cx="3016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</a:p>
              </p:txBody>
            </p:sp>
          </p:grpSp>
        </p:grpSp>
      </p:grpSp>
      <p:grpSp>
        <p:nvGrpSpPr>
          <p:cNvPr id="53" name="Group 52"/>
          <p:cNvGrpSpPr/>
          <p:nvPr/>
        </p:nvGrpSpPr>
        <p:grpSpPr>
          <a:xfrm>
            <a:off x="7870215" y="2809863"/>
            <a:ext cx="1102920" cy="913477"/>
            <a:chOff x="1142844" y="1106427"/>
            <a:chExt cx="1102920" cy="913477"/>
          </a:xfrm>
        </p:grpSpPr>
        <p:cxnSp>
          <p:nvCxnSpPr>
            <p:cNvPr id="54" name="Straight Arrow Connector 53"/>
            <p:cNvCxnSpPr/>
            <p:nvPr/>
          </p:nvCxnSpPr>
          <p:spPr>
            <a:xfrm flipH="1" flipV="1">
              <a:off x="1142844" y="1106427"/>
              <a:ext cx="7188" cy="913477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1300861" y="1535019"/>
              <a:ext cx="9449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$100.00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360010" y="1789069"/>
            <a:ext cx="364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0010" y="3544911"/>
            <a:ext cx="364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60" name="Slide Number Placeholder 5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42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Which Would You Prefer?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D1A0D1-5FF5-B820-2F7D-7B8D09626354}"/>
              </a:ext>
            </a:extLst>
          </p:cNvPr>
          <p:cNvSpPr txBox="1"/>
          <p:nvPr/>
        </p:nvSpPr>
        <p:spPr>
          <a:xfrm>
            <a:off x="658156" y="1921680"/>
            <a:ext cx="32617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One rule: You have to spend it</a:t>
            </a:r>
          </a:p>
          <a:p>
            <a:r>
              <a:rPr lang="en-US" dirty="0"/>
              <a:t>within 30 minutes of receiving it.</a:t>
            </a:r>
          </a:p>
        </p:txBody>
      </p:sp>
    </p:spTree>
    <p:extLst>
      <p:ext uri="{BB962C8B-B14F-4D97-AF65-F5344CB8AC3E}">
        <p14:creationId xmlns:p14="http://schemas.microsoft.com/office/powerpoint/2010/main" val="3883383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Do You Mean “THE” Value?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Suppose you have no access to borrowing and lending opportunities</a:t>
            </a:r>
          </a:p>
          <a:p>
            <a:r>
              <a:rPr lang="en-US" dirty="0"/>
              <a:t>What if you are 119 years old?</a:t>
            </a:r>
          </a:p>
          <a:p>
            <a:pPr lvl="1"/>
            <a:r>
              <a:rPr lang="en-US" dirty="0"/>
              <a:t>Hint: No one lives to 120</a:t>
            </a:r>
          </a:p>
          <a:p>
            <a:r>
              <a:rPr lang="en-US" dirty="0"/>
              <a:t>What if you are certain to live for at least four more years?</a:t>
            </a:r>
          </a:p>
          <a:p>
            <a:pPr lvl="1"/>
            <a:r>
              <a:rPr lang="en-US" dirty="0"/>
              <a:t>Upon what factors would your choice depend?</a:t>
            </a:r>
          </a:p>
          <a:p>
            <a:r>
              <a:rPr lang="en-US" dirty="0"/>
              <a:t>Rational individuals </a:t>
            </a:r>
            <a:r>
              <a:rPr lang="en-US" i="1" dirty="0"/>
              <a:t>could make different choices</a:t>
            </a:r>
          </a:p>
          <a:p>
            <a:pPr lvl="1"/>
            <a:r>
              <a:rPr lang="en-US" b="1" dirty="0"/>
              <a:t>Trying to concoct one number that would “measure” value for everyone is a </a:t>
            </a:r>
            <a:r>
              <a:rPr lang="en-US" b="1" i="1" dirty="0"/>
              <a:t>fool’s errand</a:t>
            </a:r>
            <a:r>
              <a:rPr lang="en-US" b="1" dirty="0"/>
              <a:t> in this setting!</a:t>
            </a:r>
          </a:p>
          <a:p>
            <a:pPr lvl="1"/>
            <a:r>
              <a:rPr lang="en-US" dirty="0"/>
              <a:t>If we are going to define </a:t>
            </a:r>
            <a:r>
              <a:rPr lang="en-US" i="1" dirty="0"/>
              <a:t>value</a:t>
            </a:r>
            <a:r>
              <a:rPr lang="en-US" dirty="0"/>
              <a:t> independent of individual preferences, </a:t>
            </a:r>
            <a:r>
              <a:rPr lang="en-US" i="1" dirty="0"/>
              <a:t>we need more structure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533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Markets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Suppose you could invest with a guaranteed return of 6% per period</a:t>
            </a:r>
          </a:p>
          <a:p>
            <a:r>
              <a:rPr lang="en-US" dirty="0"/>
              <a:t>Suppose you could borrow at a guaranteed rate of 6% per period</a:t>
            </a:r>
          </a:p>
          <a:p>
            <a:r>
              <a:rPr lang="en-US" dirty="0"/>
              <a:t>Suppose you could do either</a:t>
            </a:r>
          </a:p>
          <a:p>
            <a:r>
              <a:rPr lang="en-US" dirty="0"/>
              <a:t>$83.96 is the </a:t>
            </a:r>
            <a:r>
              <a:rPr lang="en-US" b="1" i="1" dirty="0"/>
              <a:t>present value</a:t>
            </a:r>
            <a:r>
              <a:rPr lang="en-US" dirty="0"/>
              <a:t> of $100 to be received 3 periods hence at 6%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012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About This One?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1096391" y="2614317"/>
            <a:ext cx="7029031" cy="814866"/>
            <a:chOff x="999201" y="1874353"/>
            <a:chExt cx="7029031" cy="814866"/>
          </a:xfrm>
        </p:grpSpPr>
        <p:sp>
          <p:nvSpPr>
            <p:cNvPr id="12" name="TextBox 11"/>
            <p:cNvSpPr txBox="1"/>
            <p:nvPr/>
          </p:nvSpPr>
          <p:spPr>
            <a:xfrm>
              <a:off x="999201" y="2319887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1150031" y="1874353"/>
              <a:ext cx="6878201" cy="814866"/>
              <a:chOff x="1150031" y="1874353"/>
              <a:chExt cx="6878201" cy="814866"/>
            </a:xfrm>
          </p:grpSpPr>
          <p:cxnSp>
            <p:nvCxnSpPr>
              <p:cNvPr id="11" name="Straight Connector 10"/>
              <p:cNvCxnSpPr/>
              <p:nvPr/>
            </p:nvCxnSpPr>
            <p:spPr>
              <a:xfrm>
                <a:off x="7877402" y="1874353"/>
                <a:ext cx="0" cy="27998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" name="Group 18"/>
              <p:cNvGrpSpPr/>
              <p:nvPr/>
            </p:nvGrpSpPr>
            <p:grpSpPr>
              <a:xfrm>
                <a:off x="1150031" y="1874353"/>
                <a:ext cx="6878201" cy="814866"/>
                <a:chOff x="1150031" y="1874353"/>
                <a:chExt cx="6878201" cy="814866"/>
              </a:xfrm>
            </p:grpSpPr>
            <p:cxnSp>
              <p:nvCxnSpPr>
                <p:cNvPr id="5" name="Straight Connector 4"/>
                <p:cNvCxnSpPr/>
                <p:nvPr/>
              </p:nvCxnSpPr>
              <p:spPr>
                <a:xfrm>
                  <a:off x="1150031" y="2019902"/>
                  <a:ext cx="6720184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Connector 6"/>
                <p:cNvCxnSpPr/>
                <p:nvPr/>
              </p:nvCxnSpPr>
              <p:spPr>
                <a:xfrm>
                  <a:off x="1150031" y="1909907"/>
                  <a:ext cx="0" cy="27998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/>
                <p:cNvCxnSpPr/>
                <p:nvPr/>
              </p:nvCxnSpPr>
              <p:spPr>
                <a:xfrm>
                  <a:off x="5762553" y="1879908"/>
                  <a:ext cx="0" cy="27998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3549679" y="1874353"/>
                  <a:ext cx="0" cy="27998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" name="TextBox 12"/>
                <p:cNvSpPr txBox="1"/>
                <p:nvPr/>
              </p:nvSpPr>
              <p:spPr>
                <a:xfrm>
                  <a:off x="3420074" y="2319887"/>
                  <a:ext cx="3016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1</a:t>
                  </a: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5611723" y="2319887"/>
                  <a:ext cx="3016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2</a:t>
                  </a:r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7726572" y="2319887"/>
                  <a:ext cx="3016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</a:p>
              </p:txBody>
            </p:sp>
          </p:grpSp>
        </p:grpSp>
      </p:grpSp>
      <p:grpSp>
        <p:nvGrpSpPr>
          <p:cNvPr id="52" name="Group 51"/>
          <p:cNvGrpSpPr/>
          <p:nvPr/>
        </p:nvGrpSpPr>
        <p:grpSpPr>
          <a:xfrm>
            <a:off x="3654056" y="2159895"/>
            <a:ext cx="978738" cy="599971"/>
            <a:chOff x="1150031" y="1419931"/>
            <a:chExt cx="978738" cy="599971"/>
          </a:xfrm>
        </p:grpSpPr>
        <p:cxnSp>
          <p:nvCxnSpPr>
            <p:cNvPr id="17" name="Straight Arrow Connector 16"/>
            <p:cNvCxnSpPr/>
            <p:nvPr/>
          </p:nvCxnSpPr>
          <p:spPr>
            <a:xfrm flipV="1">
              <a:off x="1150031" y="1419931"/>
              <a:ext cx="0" cy="599971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1300861" y="1535019"/>
              <a:ext cx="8279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$50.00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457200" y="2529033"/>
            <a:ext cx="348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60" name="Slide Number Placeholder 5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36" name="Group 35"/>
          <p:cNvGrpSpPr/>
          <p:nvPr/>
        </p:nvGrpSpPr>
        <p:grpSpPr>
          <a:xfrm>
            <a:off x="5859743" y="2242485"/>
            <a:ext cx="978738" cy="484885"/>
            <a:chOff x="1150031" y="1535019"/>
            <a:chExt cx="978738" cy="484885"/>
          </a:xfrm>
        </p:grpSpPr>
        <p:cxnSp>
          <p:nvCxnSpPr>
            <p:cNvPr id="37" name="Straight Arrow Connector 36"/>
            <p:cNvCxnSpPr/>
            <p:nvPr/>
          </p:nvCxnSpPr>
          <p:spPr>
            <a:xfrm flipV="1">
              <a:off x="1150031" y="1567517"/>
              <a:ext cx="0" cy="452387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1300861" y="1535019"/>
              <a:ext cx="8279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$40.00</a:t>
              </a: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7967405" y="2198584"/>
            <a:ext cx="861744" cy="484886"/>
            <a:chOff x="1150031" y="1535019"/>
            <a:chExt cx="861744" cy="484886"/>
          </a:xfrm>
        </p:grpSpPr>
        <p:cxnSp>
          <p:nvCxnSpPr>
            <p:cNvPr id="57" name="Straight Arrow Connector 56"/>
            <p:cNvCxnSpPr/>
            <p:nvPr/>
          </p:nvCxnSpPr>
          <p:spPr>
            <a:xfrm flipV="1">
              <a:off x="1150031" y="1904351"/>
              <a:ext cx="0" cy="115554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/>
          </p:nvSpPr>
          <p:spPr>
            <a:xfrm>
              <a:off x="1300861" y="1535019"/>
              <a:ext cx="710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$1.42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898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i="1" dirty="0"/>
              <a:t>Either</a:t>
            </a:r>
            <a:r>
              <a:rPr lang="en-US" dirty="0"/>
              <a:t> of two cash flow streams with the </a:t>
            </a:r>
            <a:r>
              <a:rPr lang="en-US" b="1" i="1" dirty="0"/>
              <a:t>same present value</a:t>
            </a:r>
            <a:r>
              <a:rPr lang="en-US" dirty="0"/>
              <a:t> can be </a:t>
            </a:r>
            <a:r>
              <a:rPr lang="en-US" b="1" i="1" dirty="0"/>
              <a:t>physically transformed</a:t>
            </a:r>
            <a:r>
              <a:rPr lang="en-US" i="1" dirty="0"/>
              <a:t> </a:t>
            </a:r>
            <a:r>
              <a:rPr lang="en-US" dirty="0"/>
              <a:t>into the other by borrowing and lending at the interest rate</a:t>
            </a:r>
          </a:p>
          <a:p>
            <a:r>
              <a:rPr lang="en-US" dirty="0"/>
              <a:t>But note the </a:t>
            </a:r>
            <a:r>
              <a:rPr lang="en-US" b="1" i="1" dirty="0"/>
              <a:t>idealized context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Cash flow streams are </a:t>
            </a:r>
            <a:r>
              <a:rPr lang="en-US" b="1" i="1" dirty="0"/>
              <a:t>certain</a:t>
            </a:r>
          </a:p>
          <a:p>
            <a:pPr lvl="1"/>
            <a:r>
              <a:rPr lang="en-US" dirty="0"/>
              <a:t>Borrowing and lending can be done </a:t>
            </a:r>
            <a:r>
              <a:rPr lang="en-US" b="1" i="1" dirty="0"/>
              <a:t>at the same rate</a:t>
            </a:r>
          </a:p>
          <a:p>
            <a:pPr lvl="1"/>
            <a:r>
              <a:rPr lang="en-US" dirty="0"/>
              <a:t>Financial markets are </a:t>
            </a:r>
            <a:r>
              <a:rPr lang="en-US" b="1" i="1" dirty="0"/>
              <a:t>frictionless</a:t>
            </a:r>
            <a:r>
              <a:rPr lang="en-US" dirty="0"/>
              <a:t>. I.e., there are </a:t>
            </a:r>
            <a:r>
              <a:rPr lang="en-US" b="1" i="1" dirty="0"/>
              <a:t>no transactions’ costs</a:t>
            </a:r>
            <a:r>
              <a:rPr lang="en-US" dirty="0"/>
              <a:t> (e.g., no legal bills, bank fees, wasted time, etc.)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37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About This One?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1096391" y="2614317"/>
            <a:ext cx="7029031" cy="814866"/>
            <a:chOff x="999201" y="1874353"/>
            <a:chExt cx="7029031" cy="814866"/>
          </a:xfrm>
        </p:grpSpPr>
        <p:sp>
          <p:nvSpPr>
            <p:cNvPr id="12" name="TextBox 11"/>
            <p:cNvSpPr txBox="1"/>
            <p:nvPr/>
          </p:nvSpPr>
          <p:spPr>
            <a:xfrm>
              <a:off x="999201" y="2319887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1150031" y="1874353"/>
              <a:ext cx="6878201" cy="814866"/>
              <a:chOff x="1150031" y="1874353"/>
              <a:chExt cx="6878201" cy="814866"/>
            </a:xfrm>
          </p:grpSpPr>
          <p:cxnSp>
            <p:nvCxnSpPr>
              <p:cNvPr id="11" name="Straight Connector 10"/>
              <p:cNvCxnSpPr/>
              <p:nvPr/>
            </p:nvCxnSpPr>
            <p:spPr>
              <a:xfrm>
                <a:off x="7877402" y="1874353"/>
                <a:ext cx="0" cy="27998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" name="Group 18"/>
              <p:cNvGrpSpPr/>
              <p:nvPr/>
            </p:nvGrpSpPr>
            <p:grpSpPr>
              <a:xfrm>
                <a:off x="1150031" y="1874353"/>
                <a:ext cx="6878201" cy="814866"/>
                <a:chOff x="1150031" y="1874353"/>
                <a:chExt cx="6878201" cy="814866"/>
              </a:xfrm>
            </p:grpSpPr>
            <p:cxnSp>
              <p:nvCxnSpPr>
                <p:cNvPr id="5" name="Straight Connector 4"/>
                <p:cNvCxnSpPr/>
                <p:nvPr/>
              </p:nvCxnSpPr>
              <p:spPr>
                <a:xfrm>
                  <a:off x="1150031" y="2019902"/>
                  <a:ext cx="6720184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Connector 6"/>
                <p:cNvCxnSpPr/>
                <p:nvPr/>
              </p:nvCxnSpPr>
              <p:spPr>
                <a:xfrm>
                  <a:off x="1150031" y="1909907"/>
                  <a:ext cx="0" cy="27998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/>
                <p:cNvCxnSpPr/>
                <p:nvPr/>
              </p:nvCxnSpPr>
              <p:spPr>
                <a:xfrm>
                  <a:off x="5762553" y="1879908"/>
                  <a:ext cx="0" cy="27998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3549679" y="1874353"/>
                  <a:ext cx="0" cy="27998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" name="TextBox 12"/>
                <p:cNvSpPr txBox="1"/>
                <p:nvPr/>
              </p:nvSpPr>
              <p:spPr>
                <a:xfrm>
                  <a:off x="3420074" y="2319887"/>
                  <a:ext cx="3016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1</a:t>
                  </a: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5611723" y="2319887"/>
                  <a:ext cx="3016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2</a:t>
                  </a:r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7726572" y="2319887"/>
                  <a:ext cx="3016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</a:p>
              </p:txBody>
            </p:sp>
          </p:grpSp>
        </p:grpSp>
      </p:grpSp>
      <p:grpSp>
        <p:nvGrpSpPr>
          <p:cNvPr id="52" name="Group 51"/>
          <p:cNvGrpSpPr/>
          <p:nvPr/>
        </p:nvGrpSpPr>
        <p:grpSpPr>
          <a:xfrm>
            <a:off x="3654056" y="2159895"/>
            <a:ext cx="978738" cy="599971"/>
            <a:chOff x="1150031" y="1419931"/>
            <a:chExt cx="978738" cy="599971"/>
          </a:xfrm>
        </p:grpSpPr>
        <p:cxnSp>
          <p:nvCxnSpPr>
            <p:cNvPr id="17" name="Straight Arrow Connector 16"/>
            <p:cNvCxnSpPr/>
            <p:nvPr/>
          </p:nvCxnSpPr>
          <p:spPr>
            <a:xfrm flipV="1">
              <a:off x="1150031" y="1419931"/>
              <a:ext cx="0" cy="599971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1300861" y="1535019"/>
              <a:ext cx="8279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$31.41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457200" y="2529033"/>
            <a:ext cx="3740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</a:t>
            </a:r>
          </a:p>
        </p:txBody>
      </p:sp>
      <p:sp>
        <p:nvSpPr>
          <p:cNvPr id="60" name="Slide Number Placeholder 5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pPr/>
              <a:t>16</a:t>
            </a:fld>
            <a:endParaRPr lang="en-US"/>
          </a:p>
        </p:txBody>
      </p:sp>
      <p:grpSp>
        <p:nvGrpSpPr>
          <p:cNvPr id="26" name="Group 25"/>
          <p:cNvGrpSpPr/>
          <p:nvPr/>
        </p:nvGrpSpPr>
        <p:grpSpPr>
          <a:xfrm>
            <a:off x="5859743" y="2159895"/>
            <a:ext cx="978738" cy="599971"/>
            <a:chOff x="1150031" y="1419931"/>
            <a:chExt cx="978738" cy="599971"/>
          </a:xfrm>
        </p:grpSpPr>
        <p:cxnSp>
          <p:nvCxnSpPr>
            <p:cNvPr id="27" name="Straight Arrow Connector 26"/>
            <p:cNvCxnSpPr/>
            <p:nvPr/>
          </p:nvCxnSpPr>
          <p:spPr>
            <a:xfrm flipV="1">
              <a:off x="1150031" y="1419931"/>
              <a:ext cx="0" cy="599971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1300861" y="1535019"/>
              <a:ext cx="8279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$31.41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7974592" y="2159895"/>
            <a:ext cx="978738" cy="599971"/>
            <a:chOff x="1150031" y="1419931"/>
            <a:chExt cx="978738" cy="599971"/>
          </a:xfrm>
        </p:grpSpPr>
        <p:cxnSp>
          <p:nvCxnSpPr>
            <p:cNvPr id="31" name="Straight Arrow Connector 30"/>
            <p:cNvCxnSpPr/>
            <p:nvPr/>
          </p:nvCxnSpPr>
          <p:spPr>
            <a:xfrm flipV="1">
              <a:off x="1150031" y="1419931"/>
              <a:ext cx="0" cy="599971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1300861" y="1535019"/>
              <a:ext cx="8279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$31.41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1247221" y="3690045"/>
            <a:ext cx="67201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Apartment rent; Auto loan; mortgage; capital lease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0F0907-8E68-4733-B7B0-16540A38C6D0}"/>
              </a:ext>
            </a:extLst>
          </p:cNvPr>
          <p:cNvSpPr txBox="1"/>
          <p:nvPr/>
        </p:nvSpPr>
        <p:spPr>
          <a:xfrm>
            <a:off x="1096391" y="1397000"/>
            <a:ext cx="34948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Annuity </a:t>
            </a:r>
            <a:r>
              <a:rPr lang="en-US" sz="3200" dirty="0"/>
              <a:t>(in arrears)</a:t>
            </a:r>
          </a:p>
        </p:txBody>
      </p:sp>
    </p:spTree>
    <p:extLst>
      <p:ext uri="{BB962C8B-B14F-4D97-AF65-F5344CB8AC3E}">
        <p14:creationId xmlns:p14="http://schemas.microsoft.com/office/powerpoint/2010/main" val="122082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i="1" dirty="0"/>
              <a:t>coupon bond</a:t>
            </a:r>
            <a:r>
              <a:rPr lang="en-US" b="1" dirty="0"/>
              <a:t> </a:t>
            </a:r>
            <a:r>
              <a:rPr lang="en-US" dirty="0"/>
              <a:t>is a promise to pay out periodic</a:t>
            </a:r>
            <a:r>
              <a:rPr lang="en-US" i="1" dirty="0"/>
              <a:t> coupon</a:t>
            </a:r>
            <a:r>
              <a:rPr lang="en-US" dirty="0"/>
              <a:t> payments and the </a:t>
            </a:r>
            <a:r>
              <a:rPr lang="en-US" i="1" dirty="0"/>
              <a:t>face value</a:t>
            </a:r>
            <a:r>
              <a:rPr lang="en-US" dirty="0"/>
              <a:t> at maturity</a:t>
            </a:r>
          </a:p>
          <a:p>
            <a:r>
              <a:rPr lang="en-US" dirty="0"/>
              <a:t>E.g., consider a bond with a 6% coupon and a $100 face value. The coupon payment is in each period and the bond matures 3 periods hence.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333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$100 Face, 3 Period Maturity, 6% per Period Coupon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1096391" y="2614317"/>
            <a:ext cx="7029031" cy="814866"/>
            <a:chOff x="999201" y="1874353"/>
            <a:chExt cx="7029031" cy="814866"/>
          </a:xfrm>
        </p:grpSpPr>
        <p:sp>
          <p:nvSpPr>
            <p:cNvPr id="12" name="TextBox 11"/>
            <p:cNvSpPr txBox="1"/>
            <p:nvPr/>
          </p:nvSpPr>
          <p:spPr>
            <a:xfrm>
              <a:off x="999201" y="2319887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1150031" y="1874353"/>
              <a:ext cx="6878201" cy="814866"/>
              <a:chOff x="1150031" y="1874353"/>
              <a:chExt cx="6878201" cy="814866"/>
            </a:xfrm>
          </p:grpSpPr>
          <p:cxnSp>
            <p:nvCxnSpPr>
              <p:cNvPr id="11" name="Straight Connector 10"/>
              <p:cNvCxnSpPr/>
              <p:nvPr/>
            </p:nvCxnSpPr>
            <p:spPr>
              <a:xfrm>
                <a:off x="7877402" y="1874353"/>
                <a:ext cx="0" cy="27998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" name="Group 18"/>
              <p:cNvGrpSpPr/>
              <p:nvPr/>
            </p:nvGrpSpPr>
            <p:grpSpPr>
              <a:xfrm>
                <a:off x="1150031" y="1874353"/>
                <a:ext cx="6878201" cy="814866"/>
                <a:chOff x="1150031" y="1874353"/>
                <a:chExt cx="6878201" cy="814866"/>
              </a:xfrm>
            </p:grpSpPr>
            <p:cxnSp>
              <p:nvCxnSpPr>
                <p:cNvPr id="5" name="Straight Connector 4"/>
                <p:cNvCxnSpPr/>
                <p:nvPr/>
              </p:nvCxnSpPr>
              <p:spPr>
                <a:xfrm>
                  <a:off x="1150031" y="2019902"/>
                  <a:ext cx="6720184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Connector 6"/>
                <p:cNvCxnSpPr/>
                <p:nvPr/>
              </p:nvCxnSpPr>
              <p:spPr>
                <a:xfrm>
                  <a:off x="1150031" y="1909907"/>
                  <a:ext cx="0" cy="27998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/>
                <p:cNvCxnSpPr/>
                <p:nvPr/>
              </p:nvCxnSpPr>
              <p:spPr>
                <a:xfrm>
                  <a:off x="5762553" y="1879908"/>
                  <a:ext cx="0" cy="27998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3549679" y="1874353"/>
                  <a:ext cx="0" cy="27998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" name="TextBox 12"/>
                <p:cNvSpPr txBox="1"/>
                <p:nvPr/>
              </p:nvSpPr>
              <p:spPr>
                <a:xfrm>
                  <a:off x="3420074" y="2319887"/>
                  <a:ext cx="3016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1</a:t>
                  </a: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5611723" y="2319887"/>
                  <a:ext cx="3016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2</a:t>
                  </a:r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7726572" y="2319887"/>
                  <a:ext cx="3016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</a:p>
              </p:txBody>
            </p:sp>
          </p:grpSp>
        </p:grpSp>
      </p:grpSp>
      <p:grpSp>
        <p:nvGrpSpPr>
          <p:cNvPr id="52" name="Group 51"/>
          <p:cNvGrpSpPr/>
          <p:nvPr/>
        </p:nvGrpSpPr>
        <p:grpSpPr>
          <a:xfrm>
            <a:off x="3654056" y="2274983"/>
            <a:ext cx="861744" cy="484884"/>
            <a:chOff x="1150031" y="1535019"/>
            <a:chExt cx="861744" cy="484884"/>
          </a:xfrm>
        </p:grpSpPr>
        <p:cxnSp>
          <p:nvCxnSpPr>
            <p:cNvPr id="17" name="Straight Arrow Connector 16"/>
            <p:cNvCxnSpPr/>
            <p:nvPr/>
          </p:nvCxnSpPr>
          <p:spPr>
            <a:xfrm flipV="1">
              <a:off x="1150031" y="1789069"/>
              <a:ext cx="0" cy="230834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1300861" y="1535019"/>
              <a:ext cx="710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$6.00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457200" y="2529033"/>
            <a:ext cx="3349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</a:t>
            </a:r>
          </a:p>
        </p:txBody>
      </p:sp>
      <p:sp>
        <p:nvSpPr>
          <p:cNvPr id="60" name="Slide Number Placeholder 5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pPr/>
              <a:t>18</a:t>
            </a:fld>
            <a:endParaRPr lang="en-US"/>
          </a:p>
        </p:txBody>
      </p:sp>
      <p:grpSp>
        <p:nvGrpSpPr>
          <p:cNvPr id="56" name="Group 55"/>
          <p:cNvGrpSpPr/>
          <p:nvPr/>
        </p:nvGrpSpPr>
        <p:grpSpPr>
          <a:xfrm>
            <a:off x="7967405" y="1209941"/>
            <a:ext cx="1102920" cy="1473529"/>
            <a:chOff x="1150031" y="546376"/>
            <a:chExt cx="1102920" cy="1473529"/>
          </a:xfrm>
        </p:grpSpPr>
        <p:cxnSp>
          <p:nvCxnSpPr>
            <p:cNvPr id="57" name="Straight Arrow Connector 56"/>
            <p:cNvCxnSpPr/>
            <p:nvPr/>
          </p:nvCxnSpPr>
          <p:spPr>
            <a:xfrm flipV="1">
              <a:off x="1150031" y="546376"/>
              <a:ext cx="0" cy="1473529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/>
          </p:nvSpPr>
          <p:spPr>
            <a:xfrm>
              <a:off x="1308048" y="1075041"/>
              <a:ext cx="9449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$106.00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859743" y="2286591"/>
            <a:ext cx="861744" cy="484884"/>
            <a:chOff x="1150031" y="1535019"/>
            <a:chExt cx="861744" cy="484884"/>
          </a:xfrm>
        </p:grpSpPr>
        <p:cxnSp>
          <p:nvCxnSpPr>
            <p:cNvPr id="29" name="Straight Arrow Connector 28"/>
            <p:cNvCxnSpPr/>
            <p:nvPr/>
          </p:nvCxnSpPr>
          <p:spPr>
            <a:xfrm flipV="1">
              <a:off x="1150031" y="1789069"/>
              <a:ext cx="0" cy="230834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1300861" y="1535019"/>
              <a:ext cx="710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$6.00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868389" y="3581580"/>
            <a:ext cx="550483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What is its present value at 6%?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631" y="1335260"/>
            <a:ext cx="27294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Coupon Bond</a:t>
            </a:r>
          </a:p>
        </p:txBody>
      </p:sp>
    </p:spTree>
    <p:extLst>
      <p:ext uri="{BB962C8B-B14F-4D97-AF65-F5344CB8AC3E}">
        <p14:creationId xmlns:p14="http://schemas.microsoft.com/office/powerpoint/2010/main" val="4238306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$119.10 Face, 3 Period Maturity, 0% per Period Coupon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1096391" y="2614317"/>
            <a:ext cx="7029031" cy="814866"/>
            <a:chOff x="999201" y="1874353"/>
            <a:chExt cx="7029031" cy="814866"/>
          </a:xfrm>
        </p:grpSpPr>
        <p:sp>
          <p:nvSpPr>
            <p:cNvPr id="12" name="TextBox 11"/>
            <p:cNvSpPr txBox="1"/>
            <p:nvPr/>
          </p:nvSpPr>
          <p:spPr>
            <a:xfrm>
              <a:off x="999201" y="2319887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1150031" y="1874353"/>
              <a:ext cx="6878201" cy="814866"/>
              <a:chOff x="1150031" y="1874353"/>
              <a:chExt cx="6878201" cy="814866"/>
            </a:xfrm>
          </p:grpSpPr>
          <p:cxnSp>
            <p:nvCxnSpPr>
              <p:cNvPr id="11" name="Straight Connector 10"/>
              <p:cNvCxnSpPr/>
              <p:nvPr/>
            </p:nvCxnSpPr>
            <p:spPr>
              <a:xfrm>
                <a:off x="7877402" y="1874353"/>
                <a:ext cx="0" cy="27998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" name="Group 18"/>
              <p:cNvGrpSpPr/>
              <p:nvPr/>
            </p:nvGrpSpPr>
            <p:grpSpPr>
              <a:xfrm>
                <a:off x="1150031" y="1874353"/>
                <a:ext cx="6878201" cy="814866"/>
                <a:chOff x="1150031" y="1874353"/>
                <a:chExt cx="6878201" cy="814866"/>
              </a:xfrm>
            </p:grpSpPr>
            <p:cxnSp>
              <p:nvCxnSpPr>
                <p:cNvPr id="5" name="Straight Connector 4"/>
                <p:cNvCxnSpPr/>
                <p:nvPr/>
              </p:nvCxnSpPr>
              <p:spPr>
                <a:xfrm>
                  <a:off x="1150031" y="2019902"/>
                  <a:ext cx="6720184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Connector 6"/>
                <p:cNvCxnSpPr/>
                <p:nvPr/>
              </p:nvCxnSpPr>
              <p:spPr>
                <a:xfrm>
                  <a:off x="1150031" y="1909907"/>
                  <a:ext cx="0" cy="27998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/>
                <p:cNvCxnSpPr/>
                <p:nvPr/>
              </p:nvCxnSpPr>
              <p:spPr>
                <a:xfrm>
                  <a:off x="5762553" y="1879908"/>
                  <a:ext cx="0" cy="27998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3549679" y="1874353"/>
                  <a:ext cx="0" cy="27998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" name="TextBox 12"/>
                <p:cNvSpPr txBox="1"/>
                <p:nvPr/>
              </p:nvSpPr>
              <p:spPr>
                <a:xfrm>
                  <a:off x="3420074" y="2319887"/>
                  <a:ext cx="3016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1</a:t>
                  </a: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5611723" y="2319887"/>
                  <a:ext cx="3016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2</a:t>
                  </a:r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7726572" y="2319887"/>
                  <a:ext cx="3016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</a:p>
              </p:txBody>
            </p:sp>
          </p:grpSp>
        </p:grpSp>
      </p:grpSp>
      <p:sp>
        <p:nvSpPr>
          <p:cNvPr id="18" name="TextBox 17"/>
          <p:cNvSpPr txBox="1"/>
          <p:nvPr/>
        </p:nvSpPr>
        <p:spPr>
          <a:xfrm>
            <a:off x="3804886" y="2274983"/>
            <a:ext cx="710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$0.00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2529033"/>
            <a:ext cx="3260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</a:t>
            </a:r>
          </a:p>
        </p:txBody>
      </p:sp>
      <p:sp>
        <p:nvSpPr>
          <p:cNvPr id="60" name="Slide Number Placeholder 5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pPr/>
              <a:t>19</a:t>
            </a:fld>
            <a:endParaRPr lang="en-US"/>
          </a:p>
        </p:txBody>
      </p:sp>
      <p:grpSp>
        <p:nvGrpSpPr>
          <p:cNvPr id="56" name="Group 55"/>
          <p:cNvGrpSpPr/>
          <p:nvPr/>
        </p:nvGrpSpPr>
        <p:grpSpPr>
          <a:xfrm>
            <a:off x="7967405" y="1209941"/>
            <a:ext cx="1102920" cy="1473529"/>
            <a:chOff x="1150031" y="546376"/>
            <a:chExt cx="1102920" cy="1473529"/>
          </a:xfrm>
        </p:grpSpPr>
        <p:cxnSp>
          <p:nvCxnSpPr>
            <p:cNvPr id="57" name="Straight Arrow Connector 56"/>
            <p:cNvCxnSpPr/>
            <p:nvPr/>
          </p:nvCxnSpPr>
          <p:spPr>
            <a:xfrm flipV="1">
              <a:off x="1150031" y="546376"/>
              <a:ext cx="0" cy="1473529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/>
          </p:nvSpPr>
          <p:spPr>
            <a:xfrm>
              <a:off x="1308048" y="1075041"/>
              <a:ext cx="9449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$119.10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010573" y="2286591"/>
            <a:ext cx="710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$0.00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8389" y="3581580"/>
            <a:ext cx="550483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What is its present value at 6%?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0631" y="1335260"/>
            <a:ext cx="36841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Zero Coupon Bond</a:t>
            </a:r>
          </a:p>
        </p:txBody>
      </p:sp>
    </p:spTree>
    <p:extLst>
      <p:ext uri="{BB962C8B-B14F-4D97-AF65-F5344CB8AC3E}">
        <p14:creationId xmlns:p14="http://schemas.microsoft.com/office/powerpoint/2010/main" val="454853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0" grpId="0"/>
      <p:bldP spid="6" grpId="0"/>
      <p:bldP spid="3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Modern Technology to Multiply and Divide Repeatedly?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2791"/>
            <a:ext cx="8229600" cy="339447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Doing these calculations by hand or with a calculator gets very tedious</a:t>
            </a:r>
          </a:p>
          <a:p>
            <a:r>
              <a:rPr lang="en-US" dirty="0"/>
              <a:t>Give me a spreadsheet program, e.g., Excel, and I can really go to town on future values, present values, discounting, ….</a:t>
            </a:r>
          </a:p>
          <a:p>
            <a:r>
              <a:rPr lang="en-US" dirty="0"/>
              <a:t>Next time, Excel techniques.</a:t>
            </a:r>
          </a:p>
          <a:p>
            <a:pPr lvl="1"/>
            <a:r>
              <a:rPr lang="en-US" dirty="0"/>
              <a:t>Hint: Never use the built-in functions for these kinds of calculations.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17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E756A-F888-45C6-ADA3-E3BD8B107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FEB65-AAD0-4306-BD46-774A2BBD0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doing these calculations in Excel</a:t>
            </a:r>
          </a:p>
        </p:txBody>
      </p:sp>
    </p:spTree>
    <p:extLst>
      <p:ext uri="{BB962C8B-B14F-4D97-AF65-F5344CB8AC3E}">
        <p14:creationId xmlns:p14="http://schemas.microsoft.com/office/powerpoint/2010/main" val="1262136008"/>
      </p:ext>
    </p:extLst>
  </p:cSld>
  <p:clrMapOvr>
    <a:masterClrMapping/>
  </p:clrMapOvr>
</p:sld>
</file>

<file path=ppt/theme/theme1.xml><?xml version="1.0" encoding="utf-8"?>
<a:theme xmlns:a="http://schemas.openxmlformats.org/drawingml/2006/main" name="ACCT270-white-w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ACCT270-white-wide</Template>
  <TotalTime>504</TotalTime>
  <Words>1148</Words>
  <Application>Microsoft Office PowerPoint</Application>
  <PresentationFormat>On-screen Show (16:9)</PresentationFormat>
  <Paragraphs>211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ACCT270-white-wide</vt:lpstr>
      <vt:lpstr>ACCT 2700 Foundations of Accounting &amp; Valuation </vt:lpstr>
      <vt:lpstr>S&amp;P 500 Index Jan 1928 – Dec 2024</vt:lpstr>
      <vt:lpstr>Inflation-Adjusted</vt:lpstr>
      <vt:lpstr>What’s the Math for It?</vt:lpstr>
      <vt:lpstr>What is the Math for It?</vt:lpstr>
      <vt:lpstr>PowerPoint Presentation</vt:lpstr>
      <vt:lpstr>Cash Flows, Time &amp; Uncertainty</vt:lpstr>
      <vt:lpstr>One Idea: Compound Interest</vt:lpstr>
      <vt:lpstr>Timing of Cash Flows</vt:lpstr>
      <vt:lpstr>Two Cash Flow Streams</vt:lpstr>
      <vt:lpstr>Which Would You Prefer?</vt:lpstr>
      <vt:lpstr>What Do You Mean “THE” Value?</vt:lpstr>
      <vt:lpstr>Financial Markets</vt:lpstr>
      <vt:lpstr>How About This One?</vt:lpstr>
      <vt:lpstr>Present Value</vt:lpstr>
      <vt:lpstr>How About This One?</vt:lpstr>
      <vt:lpstr>Bonds</vt:lpstr>
      <vt:lpstr>$100 Face, 3 Period Maturity, 6% per Period Coupon</vt:lpstr>
      <vt:lpstr>$119.10 Face, 3 Period Maturity, 0% per Period Coupon</vt:lpstr>
      <vt:lpstr>Modern Technology to Multiply and Divide Repeatedly?</vt:lpstr>
      <vt:lpstr>Next Time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ACCT 270 Foundations of Accounting &amp; Valuation</dc:title>
  <dc:creator>rantle</dc:creator>
  <cp:lastModifiedBy>Antle, Rick</cp:lastModifiedBy>
  <cp:revision>13</cp:revision>
  <cp:lastPrinted>2018-08-30T21:56:25Z</cp:lastPrinted>
  <dcterms:created xsi:type="dcterms:W3CDTF">2016-01-21T21:53:17Z</dcterms:created>
  <dcterms:modified xsi:type="dcterms:W3CDTF">2026-01-13T15:44:01Z</dcterms:modified>
</cp:coreProperties>
</file>