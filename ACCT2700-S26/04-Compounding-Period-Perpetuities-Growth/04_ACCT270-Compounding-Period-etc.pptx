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72" r:id="rId4"/>
    <p:sldId id="268" r:id="rId5"/>
    <p:sldId id="269" r:id="rId6"/>
    <p:sldId id="270" r:id="rId7"/>
    <p:sldId id="259" r:id="rId8"/>
    <p:sldId id="260" r:id="rId9"/>
    <p:sldId id="261" r:id="rId10"/>
    <p:sldId id="262" r:id="rId11"/>
    <p:sldId id="263" r:id="rId12"/>
    <p:sldId id="264" r:id="rId13"/>
    <p:sldId id="271" r:id="rId14"/>
    <p:sldId id="267" r:id="rId15"/>
  </p:sldIdLst>
  <p:sldSz cx="9144000" cy="5143500" type="screen16x9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6995B-632E-4E43-B698-852F59B5355B}" v="391" dt="2026-01-22T20:48:54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10"/>
  </p:normalViewPr>
  <p:slideViewPr>
    <p:cSldViewPr snapToGrid="0" snapToObjects="1">
      <p:cViewPr varScale="1">
        <p:scale>
          <a:sx n="96" d="100"/>
          <a:sy n="96" d="100"/>
        </p:scale>
        <p:origin x="442" y="3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undo custSel addSld delSld modSld modMainMaster">
      <pc:chgData name="Antle, Rick" userId="c2afbbd2-30e4-4c8e-8af5-81913178ace3" providerId="ADAL" clId="{D2077C41-23D2-40E5-A1B9-6D409EDDC81D}" dt="2026-01-22T20:49:29.848" v="589" actId="20577"/>
      <pc:docMkLst>
        <pc:docMk/>
      </pc:docMkLst>
      <pc:sldChg chg="modSp mod">
        <pc:chgData name="Antle, Rick" userId="c2afbbd2-30e4-4c8e-8af5-81913178ace3" providerId="ADAL" clId="{D2077C41-23D2-40E5-A1B9-6D409EDDC81D}" dt="2026-01-22T20:48:06.480" v="496" actId="20577"/>
        <pc:sldMkLst>
          <pc:docMk/>
          <pc:sldMk cId="0" sldId="256"/>
        </pc:sldMkLst>
        <pc:spChg chg="mod">
          <ac:chgData name="Antle, Rick" userId="c2afbbd2-30e4-4c8e-8af5-81913178ace3" providerId="ADAL" clId="{D2077C41-23D2-40E5-A1B9-6D409EDDC81D}" dt="2026-01-22T20:02:15.967" v="0" actId="20577"/>
          <ac:spMkLst>
            <pc:docMk/>
            <pc:sldMk cId="0" sldId="256"/>
            <ac:spMk id="4098" creationId="{9B415BD9-9C7B-4727-85B0-0FD2F3B2599D}"/>
          </ac:spMkLst>
        </pc:spChg>
        <pc:spChg chg="mod">
          <ac:chgData name="Antle, Rick" userId="c2afbbd2-30e4-4c8e-8af5-81913178ace3" providerId="ADAL" clId="{D2077C41-23D2-40E5-A1B9-6D409EDDC81D}" dt="2026-01-22T20:48:06.480" v="496" actId="20577"/>
          <ac:spMkLst>
            <pc:docMk/>
            <pc:sldMk cId="0" sldId="256"/>
            <ac:spMk id="4099" creationId="{78117CC3-06D1-4047-B77D-8494B5F5059A}"/>
          </ac:spMkLst>
        </pc:spChg>
      </pc:sldChg>
      <pc:sldChg chg="modSp modAnim">
        <pc:chgData name="Antle, Rick" userId="c2afbbd2-30e4-4c8e-8af5-81913178ace3" providerId="ADAL" clId="{D2077C41-23D2-40E5-A1B9-6D409EDDC81D}" dt="2026-01-22T20:48:54.455" v="546" actId="20577"/>
        <pc:sldMkLst>
          <pc:docMk/>
          <pc:sldMk cId="0" sldId="258"/>
        </pc:sldMkLst>
        <pc:spChg chg="mod">
          <ac:chgData name="Antle, Rick" userId="c2afbbd2-30e4-4c8e-8af5-81913178ace3" providerId="ADAL" clId="{D2077C41-23D2-40E5-A1B9-6D409EDDC81D}" dt="2026-01-22T20:48:54.455" v="546" actId="20577"/>
          <ac:spMkLst>
            <pc:docMk/>
            <pc:sldMk cId="0" sldId="258"/>
            <ac:spMk id="5123" creationId="{160B513A-FC86-4AFB-8A40-5D50EAE6044C}"/>
          </ac:spMkLst>
        </pc:spChg>
      </pc:sldChg>
      <pc:sldChg chg="modSp modAnim">
        <pc:chgData name="Antle, Rick" userId="c2afbbd2-30e4-4c8e-8af5-81913178ace3" providerId="ADAL" clId="{D2077C41-23D2-40E5-A1B9-6D409EDDC81D}" dt="2026-01-22T20:29:14.272" v="30" actId="20577"/>
        <pc:sldMkLst>
          <pc:docMk/>
          <pc:sldMk cId="0" sldId="264"/>
        </pc:sldMkLst>
        <pc:spChg chg="mod">
          <ac:chgData name="Antle, Rick" userId="c2afbbd2-30e4-4c8e-8af5-81913178ace3" providerId="ADAL" clId="{D2077C41-23D2-40E5-A1B9-6D409EDDC81D}" dt="2026-01-22T20:29:14.272" v="30" actId="20577"/>
          <ac:spMkLst>
            <pc:docMk/>
            <pc:sldMk cId="0" sldId="264"/>
            <ac:spMk id="13315" creationId="{FEC3BFA3-E7FE-484B-8A69-3F6C5509CFEB}"/>
          </ac:spMkLst>
        </pc:spChg>
      </pc:sldChg>
      <pc:sldChg chg="del">
        <pc:chgData name="Antle, Rick" userId="c2afbbd2-30e4-4c8e-8af5-81913178ace3" providerId="ADAL" clId="{D2077C41-23D2-40E5-A1B9-6D409EDDC81D}" dt="2026-01-22T20:28:53.029" v="28" actId="47"/>
        <pc:sldMkLst>
          <pc:docMk/>
          <pc:sldMk cId="0" sldId="265"/>
        </pc:sldMkLst>
      </pc:sldChg>
      <pc:sldChg chg="del">
        <pc:chgData name="Antle, Rick" userId="c2afbbd2-30e4-4c8e-8af5-81913178ace3" providerId="ADAL" clId="{D2077C41-23D2-40E5-A1B9-6D409EDDC81D}" dt="2026-01-22T20:28:53.029" v="28" actId="47"/>
        <pc:sldMkLst>
          <pc:docMk/>
          <pc:sldMk cId="0" sldId="266"/>
        </pc:sldMkLst>
      </pc:sldChg>
      <pc:sldChg chg="modSp modAnim">
        <pc:chgData name="Antle, Rick" userId="c2afbbd2-30e4-4c8e-8af5-81913178ace3" providerId="ADAL" clId="{D2077C41-23D2-40E5-A1B9-6D409EDDC81D}" dt="2026-01-22T20:29:00.654" v="29" actId="6549"/>
        <pc:sldMkLst>
          <pc:docMk/>
          <pc:sldMk cId="0" sldId="267"/>
        </pc:sldMkLst>
        <pc:spChg chg="mod">
          <ac:chgData name="Antle, Rick" userId="c2afbbd2-30e4-4c8e-8af5-81913178ace3" providerId="ADAL" clId="{D2077C41-23D2-40E5-A1B9-6D409EDDC81D}" dt="2026-01-22T20:29:00.654" v="29" actId="6549"/>
          <ac:spMkLst>
            <pc:docMk/>
            <pc:sldMk cId="0" sldId="267"/>
            <ac:spMk id="16387" creationId="{C8CF47D4-29FB-41F7-89A2-4F4F7F34EDD2}"/>
          </ac:spMkLst>
        </pc:spChg>
      </pc:sldChg>
      <pc:sldChg chg="addSp delSp modSp mod">
        <pc:chgData name="Antle, Rick" userId="c2afbbd2-30e4-4c8e-8af5-81913178ace3" providerId="ADAL" clId="{D2077C41-23D2-40E5-A1B9-6D409EDDC81D}" dt="2026-01-22T20:24:28.642" v="6" actId="1076"/>
        <pc:sldMkLst>
          <pc:docMk/>
          <pc:sldMk cId="466986481" sldId="270"/>
        </pc:sldMkLst>
        <pc:picChg chg="del">
          <ac:chgData name="Antle, Rick" userId="c2afbbd2-30e4-4c8e-8af5-81913178ace3" providerId="ADAL" clId="{D2077C41-23D2-40E5-A1B9-6D409EDDC81D}" dt="2026-01-22T20:02:38.875" v="1" actId="478"/>
          <ac:picMkLst>
            <pc:docMk/>
            <pc:sldMk cId="466986481" sldId="270"/>
            <ac:picMk id="3" creationId="{662B61CD-A735-2220-3284-57232C295031}"/>
          </ac:picMkLst>
        </pc:picChg>
        <pc:picChg chg="add mod">
          <ac:chgData name="Antle, Rick" userId="c2afbbd2-30e4-4c8e-8af5-81913178ace3" providerId="ADAL" clId="{D2077C41-23D2-40E5-A1B9-6D409EDDC81D}" dt="2026-01-22T20:24:28.642" v="6" actId="1076"/>
          <ac:picMkLst>
            <pc:docMk/>
            <pc:sldMk cId="466986481" sldId="270"/>
            <ac:picMk id="5" creationId="{09182C02-0005-DB3A-EBC0-F1A1DA61FFA5}"/>
          </ac:picMkLst>
        </pc:picChg>
      </pc:sldChg>
      <pc:sldChg chg="modSp add mod modAnim">
        <pc:chgData name="Antle, Rick" userId="c2afbbd2-30e4-4c8e-8af5-81913178ace3" providerId="ADAL" clId="{D2077C41-23D2-40E5-A1B9-6D409EDDC81D}" dt="2026-01-22T20:31:37.972" v="381" actId="20577"/>
        <pc:sldMkLst>
          <pc:docMk/>
          <pc:sldMk cId="770115579" sldId="271"/>
        </pc:sldMkLst>
        <pc:spChg chg="mod">
          <ac:chgData name="Antle, Rick" userId="c2afbbd2-30e4-4c8e-8af5-81913178ace3" providerId="ADAL" clId="{D2077C41-23D2-40E5-A1B9-6D409EDDC81D}" dt="2026-01-22T20:30:11.868" v="68" actId="20577"/>
          <ac:spMkLst>
            <pc:docMk/>
            <pc:sldMk cId="770115579" sldId="271"/>
            <ac:spMk id="13314" creationId="{0C98EF27-810A-529E-D1C9-E6956A00BDF2}"/>
          </ac:spMkLst>
        </pc:spChg>
        <pc:spChg chg="mod">
          <ac:chgData name="Antle, Rick" userId="c2afbbd2-30e4-4c8e-8af5-81913178ace3" providerId="ADAL" clId="{D2077C41-23D2-40E5-A1B9-6D409EDDC81D}" dt="2026-01-22T20:31:37.972" v="381" actId="20577"/>
          <ac:spMkLst>
            <pc:docMk/>
            <pc:sldMk cId="770115579" sldId="271"/>
            <ac:spMk id="13315" creationId="{F0795A68-08B1-F5BA-4C35-DE572289930D}"/>
          </ac:spMkLst>
        </pc:spChg>
      </pc:sldChg>
      <pc:sldChg chg="modSp new del mod">
        <pc:chgData name="Antle, Rick" userId="c2afbbd2-30e4-4c8e-8af5-81913178ace3" providerId="ADAL" clId="{D2077C41-23D2-40E5-A1B9-6D409EDDC81D}" dt="2026-01-22T20:29:51.715" v="39" actId="680"/>
        <pc:sldMkLst>
          <pc:docMk/>
          <pc:sldMk cId="4067640434" sldId="271"/>
        </pc:sldMkLst>
        <pc:spChg chg="mod">
          <ac:chgData name="Antle, Rick" userId="c2afbbd2-30e4-4c8e-8af5-81913178ace3" providerId="ADAL" clId="{D2077C41-23D2-40E5-A1B9-6D409EDDC81D}" dt="2026-01-22T20:29:51.250" v="38" actId="20577"/>
          <ac:spMkLst>
            <pc:docMk/>
            <pc:sldMk cId="4067640434" sldId="271"/>
            <ac:spMk id="2" creationId="{287F1982-7F32-0C94-B66D-6F3F8B04FAF2}"/>
          </ac:spMkLst>
        </pc:spChg>
      </pc:sldChg>
      <pc:sldChg chg="modSp new mod">
        <pc:chgData name="Antle, Rick" userId="c2afbbd2-30e4-4c8e-8af5-81913178ace3" providerId="ADAL" clId="{D2077C41-23D2-40E5-A1B9-6D409EDDC81D}" dt="2026-01-22T20:49:29.848" v="589" actId="20577"/>
        <pc:sldMkLst>
          <pc:docMk/>
          <pc:sldMk cId="4164211465" sldId="272"/>
        </pc:sldMkLst>
        <pc:spChg chg="mod">
          <ac:chgData name="Antle, Rick" userId="c2afbbd2-30e4-4c8e-8af5-81913178ace3" providerId="ADAL" clId="{D2077C41-23D2-40E5-A1B9-6D409EDDC81D}" dt="2026-01-22T20:49:29.848" v="589" actId="20577"/>
          <ac:spMkLst>
            <pc:docMk/>
            <pc:sldMk cId="4164211465" sldId="272"/>
            <ac:spMk id="2" creationId="{F1D222D7-12A2-EB4E-F500-39F4C8FF5031}"/>
          </ac:spMkLst>
        </pc:spChg>
        <pc:spChg chg="mod">
          <ac:chgData name="Antle, Rick" userId="c2afbbd2-30e4-4c8e-8af5-81913178ace3" providerId="ADAL" clId="{D2077C41-23D2-40E5-A1B9-6D409EDDC81D}" dt="2026-01-22T20:42:28.200" v="492" actId="5793"/>
          <ac:spMkLst>
            <pc:docMk/>
            <pc:sldMk cId="4164211465" sldId="272"/>
            <ac:spMk id="3" creationId="{7157FC3A-8AF4-8766-306A-BD51C4324C69}"/>
          </ac:spMkLst>
        </pc:spChg>
      </pc:sldChg>
      <pc:sldMasterChg chg="modSp">
        <pc:chgData name="Antle, Rick" userId="c2afbbd2-30e4-4c8e-8af5-81913178ace3" providerId="ADAL" clId="{D2077C41-23D2-40E5-A1B9-6D409EDDC81D}" dt="2026-01-22T20:41:35.073" v="411" actId="207"/>
        <pc:sldMasterMkLst>
          <pc:docMk/>
          <pc:sldMasterMk cId="0" sldId="2147483648"/>
        </pc:sldMasterMkLst>
        <pc:spChg chg="mod">
          <ac:chgData name="Antle, Rick" userId="c2afbbd2-30e4-4c8e-8af5-81913178ace3" providerId="ADAL" clId="{D2077C41-23D2-40E5-A1B9-6D409EDDC81D}" dt="2026-01-22T20:41:35.073" v="411" actId="207"/>
          <ac:spMkLst>
            <pc:docMk/>
            <pc:sldMasterMk cId="0" sldId="2147483648"/>
            <ac:spMk id="1026" creationId="{79E6FE4A-644A-4CAB-894D-39ACEB154352}"/>
          </ac:spMkLst>
        </pc:spChg>
        <pc:spChg chg="mod">
          <ac:chgData name="Antle, Rick" userId="c2afbbd2-30e4-4c8e-8af5-81913178ace3" providerId="ADAL" clId="{D2077C41-23D2-40E5-A1B9-6D409EDDC81D}" dt="2026-01-22T20:41:35.073" v="411" actId="207"/>
          <ac:spMkLst>
            <pc:docMk/>
            <pc:sldMasterMk cId="0" sldId="2147483648"/>
            <ac:spMk id="1027" creationId="{8A710A7F-3633-42C8-AC8F-C6C1DF0828F2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D792B9-07D0-4221-9239-96B6BEB026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BB656-CB37-4CD7-973F-40E5327A45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fld id="{D5F7A141-8B59-4EFA-A940-2D7857612432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D959E8-A3FD-4EE7-B10F-63788CACF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35849-EE95-43B1-ABCC-E484D311F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6C6FE80-8F65-4EBA-A56D-D7A2133A3D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D77DDA-D256-4DD8-838E-9A25206375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65ED1-B076-4CA9-BE58-A4842DAD38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fld id="{BA4519B0-C7B4-4F16-B14B-6CF3D30598B2}" type="datetimeFigureOut">
              <a:rPr lang="en-US"/>
              <a:pPr>
                <a:defRPr/>
              </a:pPr>
              <a:t>1/23/2026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8EC8DC2-328F-4172-90D5-73EC38FCC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E67FE61-0E71-4C61-8006-FEF3A84C7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04523-92CE-47A5-84EB-6AA77D2ED5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MS PGothic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32082-E39F-4C14-B656-EE6D2FCC3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267CD06-6AF7-4C94-AD4B-5794F8DF30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3DFBA-C7F9-4E56-8FC6-606AA969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ADAB9-02D5-4CD1-9873-6FC7F20535B2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7DAB1-5BF2-4841-9857-67C4B6D5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DB0B2-5621-4FB8-9FC7-A4D547A0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20FE1-DFB2-4F19-85BD-00C9B3FF32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24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0693C-5E07-42DF-9EEF-5D9E184A9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FC11E-EDC9-46FF-9EDD-32AC42C12B76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B3234-8FF1-4FDD-8B44-65A66A67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5EA6-8142-4A6A-B878-8F1D20ED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51031-8108-434E-8B33-73EECAD9BC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410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33F2-3A08-4681-95C8-D807BB7A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1C32-1709-4928-8B49-A36B06EB0978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51F85-6C63-47BC-9599-B4B10A5B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A0B02-1103-44EB-BB1F-FA38684D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668C0-6D9E-496D-88B4-B978945564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32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D560B6C-D6B3-4EFE-B987-46E92CD6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19364-0698-4D92-9271-387EFAE1DE53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B1F404-41CC-4F54-8A3E-38BB16C2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001499-C24B-41A0-8606-84643ACD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DD62A-31BD-47AD-9543-576FADBACB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44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C5EA1C1-7372-4131-A64E-C4DE429B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ADE24-68B1-43FD-9F81-069BFA29E3AA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63BB260-C4E6-4CF6-809E-6B18E731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61D4E5-FAF2-4805-98E2-EEA595F8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762DB-99DD-4D94-99F2-13B6308497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638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7BFFEB1-237C-4F3D-AD7F-B3945209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EE34B-919A-43BF-A756-7CFE05F57019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BE52FAF-3A1C-47A5-B7C4-1D3F9539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513F12-D418-4C14-9E23-BA6CD2EE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267B4-0834-4DF6-900A-A28A39F958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64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228E619-6C0C-4B70-8177-B13AA066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7D947-F499-402A-968D-8730760E0264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13CFF3-CFBF-47EB-A39A-6BBA9A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D409C4-6647-4988-AF50-FB75F89D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F964-BBDE-452F-BF10-55EE2768BD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40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B7B0CA3-C4F2-462C-9E8F-6A107DC4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BC6AE-8937-49E5-81F5-EF84F449E021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227278-EF69-4BA3-B080-BE808935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54A3E9-3432-41CD-9E89-CDB441F5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2CF50-D629-473D-B5DC-8371FD178F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27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8F321F2-2D67-40A6-A2EF-30C9C822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86925-12F4-48AC-B901-9FFE65576D98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603B39-9BC0-4B0F-A953-02D5A643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A9CFFB-63E8-4245-9B4F-70DD972C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76A79-3A41-45AE-ADE0-8B340F0A27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22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2B213-6ECD-46E6-9A53-941A0F3B4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71A8A-825D-4192-92F5-7060336D09DA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6CE7E-A88A-4E42-A4D7-B4E8A01F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B508-2C23-4BC6-8D93-BDD1526C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EBA21-5EA1-4D83-BE01-0A32976FC8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29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E0CA7-F598-487D-B394-81EE84C0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14FA3-BA69-4BFE-9D0E-4FDC08D2AE1A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9C855-479E-45E9-B26E-606546EE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7A45-8762-4F7A-8632-9A949765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A4F10-8FB9-4E68-99C3-2CEE4B08E0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01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9E6FE4A-644A-4CAB-894D-39ACEB15435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A710A7F-3633-42C8-AC8F-C6C1DF0828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AB32-6348-44F5-BC23-4C4417A17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8281A36B-C16C-4A87-AC78-C478F5506649}" type="datetimeFigureOut">
              <a:rPr lang="en-US" altLang="en-US"/>
              <a:pPr>
                <a:defRPr/>
              </a:pPr>
              <a:t>1/23/2026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443F3-3A52-404F-985D-13A2ED0E0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4D028-3787-412B-92A8-2FB5CAF2B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69352EA-2EE1-4787-9FFA-0A545ABDA7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6">
            <a:extLst>
              <a:ext uri="{FF2B5EF4-FFF2-40B4-BE49-F238E27FC236}">
                <a16:creationId xmlns:a16="http://schemas.microsoft.com/office/drawing/2014/main" id="{A054BFE1-4C3E-400C-8028-32D23D93FF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838" y="4594225"/>
            <a:ext cx="34766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MS PGothic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B415BD9-9C7B-4727-85B0-0FD2F3B25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50" y="1598613"/>
            <a:ext cx="8272463" cy="1101725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</a:rPr>
              <a:t>ACCT 2700</a:t>
            </a:r>
            <a:br>
              <a:rPr lang="en-US" altLang="en-US" sz="4000" dirty="0">
                <a:solidFill>
                  <a:schemeClr val="tx1"/>
                </a:solidFill>
              </a:rPr>
            </a:br>
            <a:r>
              <a:rPr lang="en-US" altLang="en-US" sz="4000" dirty="0">
                <a:solidFill>
                  <a:schemeClr val="tx1"/>
                </a:solidFill>
              </a:rPr>
              <a:t>Foundations of Accounting &amp; Valuation</a:t>
            </a:r>
            <a:br>
              <a:rPr lang="en-US" altLang="en-US" sz="4000" dirty="0">
                <a:solidFill>
                  <a:schemeClr val="tx1"/>
                </a:solidFill>
              </a:rPr>
            </a:br>
            <a:endParaRPr lang="en-US" altLang="en-US" sz="4000" dirty="0">
              <a:solidFill>
                <a:schemeClr val="tx1"/>
              </a:solidFill>
            </a:endParaRP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78117CC3-06D1-4047-B77D-8494B5F50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894638" cy="131445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Session 4: Yields, Perpetuities &amp; Growth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94E61E10-EBBE-415C-885F-109A98FA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160B513A-FC86-4AFB-8A40-5D50EAE6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Purpose is to gain familiarity with compounding and discounting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My preference is to use Excel vs algebra unless the algebra is really convenient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Perpetuities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Growing perpetuities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/>
              <a:t>Begin with Rick’s Company bonds</a:t>
            </a:r>
            <a:endParaRPr lang="en-US" altLang="en-US" sz="3000" dirty="0">
              <a:solidFill>
                <a:schemeClr val="tx1"/>
              </a:solidFill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6E493BE2-6D5B-4036-AD78-3694DEB0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B1EE56-0DEB-4145-9B5C-0216FCCD5E8C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22D7-12A2-EB4E-F500-39F4C8FF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Trip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7FC3A-8AF4-8766-306A-BD51C432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me to the 4</a:t>
            </a:r>
            <a:r>
              <a:rPr lang="en-US" baseline="30000" dirty="0"/>
              <a:t>th</a:t>
            </a:r>
            <a:r>
              <a:rPr lang="en-US" dirty="0"/>
              <a:t> floor …</a:t>
            </a:r>
          </a:p>
        </p:txBody>
      </p:sp>
    </p:spTree>
    <p:extLst>
      <p:ext uri="{BB962C8B-B14F-4D97-AF65-F5344CB8AC3E}">
        <p14:creationId xmlns:p14="http://schemas.microsoft.com/office/powerpoint/2010/main" val="416421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B06268E-466D-40F7-8C39-9B8B0C79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But it all starts with cash flows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308A574C-BA1E-4CDE-B4CD-1AE267BD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638" y="1063625"/>
            <a:ext cx="8512175" cy="3394075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Draw cash flow diagrams for a few special cases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Coupon bond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Zero coupon bond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Annuity in arrears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Annuity in advance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Perpetuity (in arrears)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Required data for each case?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5C83F22-CC87-44EF-B12A-F3157B66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Required data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2942978-ACE1-40CA-9865-FA4ABC93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Amounts of cash flows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Dates of cash flows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Definition of a period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Maturity or expiration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B42A-902D-74F5-6ABA-1A574421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Excel_1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851B1-C1C0-63C3-2C77-142FE2715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22697"/>
            <a:ext cx="4038600" cy="254555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Cash flow maps</a:t>
            </a:r>
          </a:p>
          <a:p>
            <a:r>
              <a:rPr lang="en-US" dirty="0">
                <a:solidFill>
                  <a:schemeClr val="tx1"/>
                </a:solidFill>
              </a:rPr>
              <a:t>Discounting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82C02-0005-DB3A-EBC0-F1A1DA61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52" y="1234015"/>
            <a:ext cx="2454643" cy="254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8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312FC73-03B6-49AA-9574-5DDF3D5C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Perpetuities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C6D576CF-3909-4334-91C1-D25378C66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Payment of $C per period forever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Seems like an odd idea – cash flows that extend forever.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Actually, it took a while to invent the </a:t>
            </a:r>
            <a:r>
              <a:rPr lang="en-US" altLang="en-US" sz="2600" i="1" dirty="0">
                <a:solidFill>
                  <a:schemeClr val="tx1"/>
                </a:solidFill>
              </a:rPr>
              <a:t>maturity date</a:t>
            </a:r>
            <a:endParaRPr lang="en-US" altLang="en-US" sz="2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Perpetuities are convenient to analyze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PV = $C/r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Proof: r*($C/r) = $C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I.e., $C per period pays interest on $C/r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2DAB002F-0292-4F01-8B10-016A6DAF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676B98-D72A-4EDA-BD2B-70970A7F6294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7E583A2B-5ACD-4D95-A836-F6751BF6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Example: Consul paying $100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123DC8A9-2A86-414A-9CFA-75BEEDD04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chemeClr val="tx1"/>
                </a:solidFill>
              </a:rPr>
              <a:t>Consols</a:t>
            </a:r>
            <a:r>
              <a:rPr lang="en-US" altLang="en-US" dirty="0">
                <a:solidFill>
                  <a:schemeClr val="tx1"/>
                </a:solidFill>
              </a:rPr>
              <a:t> have been issued by the British government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Suppose one pays $100 per period forever, and the relevant interest rate is 10% per period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PV = $100/0.10 = $1,000.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C63F392E-3CF3-4B37-8FB4-70363B9F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7EE7F7-AA6D-4C03-AD0C-790FB575A52A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93751B6-2628-48CB-892B-08752B94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Example: $100 Perpetuity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8CA2-87D8-4BCD-9444-E22A5508D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Suppose we have a </a:t>
            </a:r>
            <a:r>
              <a:rPr lang="en-US" dirty="0" err="1">
                <a:solidFill>
                  <a:schemeClr val="tx1"/>
                </a:solidFill>
                <a:ea typeface="+mn-ea"/>
                <a:cs typeface="+mn-cs"/>
              </a:rPr>
              <a:t>consol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 that pays $100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Suppose we auction it off, and it brings $1,250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What is the </a:t>
            </a:r>
            <a:r>
              <a:rPr lang="en-US" i="1" dirty="0">
                <a:solidFill>
                  <a:schemeClr val="tx1"/>
                </a:solidFill>
                <a:ea typeface="+mn-ea"/>
                <a:cs typeface="+mn-cs"/>
              </a:rPr>
              <a:t>implicit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 interest rate?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$1,250 = $100/r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r = 8%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The </a:t>
            </a:r>
            <a:r>
              <a:rPr lang="en-US" dirty="0" err="1">
                <a:solidFill>
                  <a:schemeClr val="tx1"/>
                </a:solidFill>
                <a:ea typeface="+mn-ea"/>
                <a:cs typeface="+mn-cs"/>
              </a:rPr>
              <a:t>consol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 is </a:t>
            </a:r>
            <a:r>
              <a:rPr lang="en-US" i="1" dirty="0">
                <a:solidFill>
                  <a:schemeClr val="tx1"/>
                </a:solidFill>
                <a:ea typeface="+mn-ea"/>
                <a:cs typeface="+mn-cs"/>
              </a:rPr>
              <a:t>priced to yield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 8%.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6E8C7F4A-3803-4A46-AE77-947B47C9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A11B81-C660-409E-8913-7BBAE6D10F5D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45FB6B4-A1E6-4D70-91E3-A99F3955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Yield on Coupon Bond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D5364-06BE-4652-A01D-87B51D57F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Face: $1,000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Coupon rate: 6% annual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Maturity: 5 years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Sells for $1,100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What is the </a:t>
            </a:r>
            <a:r>
              <a:rPr lang="en-US" i="1" dirty="0">
                <a:solidFill>
                  <a:schemeClr val="tx1"/>
                </a:solidFill>
                <a:ea typeface="+mn-ea"/>
                <a:cs typeface="+mn-cs"/>
              </a:rPr>
              <a:t>yield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?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3.768327%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66753F81-D9F6-48B9-BE90-EDD30AEC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7F7FCA-E1BF-4D34-A0BE-9CFF06B4AB4B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4E59418-6479-41FD-AD65-83FDA944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Growing Cash Flows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141745AF-EF69-47B5-A739-C400C67F2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E.g., growing perpetuity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$100, grows by g = 2% per period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Interest rate: 12% per period</a:t>
            </a:r>
          </a:p>
          <a:p>
            <a:pPr algn="ctr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PV = C/(r – g)</a:t>
            </a:r>
          </a:p>
          <a:p>
            <a:pPr algn="ctr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= $100/(12% - 2%)</a:t>
            </a:r>
          </a:p>
          <a:p>
            <a:pPr algn="ctr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3000" dirty="0">
                <a:solidFill>
                  <a:schemeClr val="tx1"/>
                </a:solidFill>
              </a:rPr>
              <a:t>= $1,000.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000" dirty="0">
                <a:solidFill>
                  <a:schemeClr val="tx1"/>
                </a:solidFill>
              </a:rPr>
              <a:t>Use? Valuing a business.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34238E59-356E-43FC-A14E-7BC61E26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B42707-551B-4AF3-8CCD-703B8EAD4154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A3309A0-B7DC-4B64-94D4-D42AD3A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Compounding Period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EC3BFA3-E7FE-484B-8A69-3F6C5509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Often, bonds use semi-annual compounding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But the rate is traditionally quoted as an ‘annual’ rate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E.g., a 10% coupon bond compounded semi-annually pays 5% every 6 months.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A1A90E01-090F-418A-A686-0C258BC7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B6F071-F769-4189-8CBA-0C179E92C6A7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2CF6-DA31-D40E-53F2-E20291AE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C98EF27-810A-529E-D1C9-E6956A00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Changes in Interest Rates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0795A68-08B1-F5BA-4C35-DE5722899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Start by thinking about perpetuities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What happens to the value of a perpetuity if the interest rate increases?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What happens if the interest rate decreases?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What if changes in interest rates are </a:t>
            </a:r>
            <a:r>
              <a:rPr lang="en-US" altLang="en-US">
                <a:solidFill>
                  <a:schemeClr val="tx1"/>
                </a:solidFill>
              </a:rPr>
              <a:t>completely unanticipated?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24AD04E-4F9A-6423-B953-DA27A8EF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B6F071-F769-4189-8CBA-0C179E92C6A7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11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1351CB76-FF93-4A33-8CF2-F3D63893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Next Time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8CF47D4-29FB-41F7-89A2-4F4F7F34E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Compounding period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Changes in interest rates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DB9D27E-F6FF-4334-9436-60D8B30B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FE9EF0-9A1F-42A9-A6EB-6CA627B3B929}" type="slidenum">
              <a:rPr lang="en-US" altLang="en-US" sz="12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theme/theme1.xml><?xml version="1.0" encoding="utf-8"?>
<a:theme xmlns:a="http://schemas.openxmlformats.org/drawingml/2006/main" name="SOM_bknd_wide_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3078</TotalTime>
  <Words>461</Words>
  <Application>Microsoft Office PowerPoint</Application>
  <PresentationFormat>On-screen Show (16:9)</PresentationFormat>
  <Paragraphs>81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SOM_bknd_wide_blue</vt:lpstr>
      <vt:lpstr>ACCT 2700 Foundations of Accounting &amp; Valuation </vt:lpstr>
      <vt:lpstr>Agenda</vt:lpstr>
      <vt:lpstr>Field Trip</vt:lpstr>
      <vt:lpstr>But it all starts with cash flows</vt:lpstr>
      <vt:lpstr>Required data</vt:lpstr>
      <vt:lpstr>Excel_1</vt:lpstr>
      <vt:lpstr>Perpetuities</vt:lpstr>
      <vt:lpstr>Example: Consul paying $100</vt:lpstr>
      <vt:lpstr>Example: $100 Perpetuity</vt:lpstr>
      <vt:lpstr>Yield on Coupon Bond Example</vt:lpstr>
      <vt:lpstr>Growing Cash Flows</vt:lpstr>
      <vt:lpstr>Compounding Period</vt:lpstr>
      <vt:lpstr>Changes in Interest Rates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 270 Foundations of Accounting &amp; Valuation</dc:title>
  <dc:creator>Rick Antle</dc:creator>
  <cp:lastModifiedBy>Antle, Rick</cp:lastModifiedBy>
  <cp:revision>9</cp:revision>
  <dcterms:created xsi:type="dcterms:W3CDTF">2015-09-13T21:58:44Z</dcterms:created>
  <dcterms:modified xsi:type="dcterms:W3CDTF">2026-01-23T13:49:53Z</dcterms:modified>
</cp:coreProperties>
</file>