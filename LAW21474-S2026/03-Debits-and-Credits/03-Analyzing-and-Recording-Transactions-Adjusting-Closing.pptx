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3" r:id="rId3"/>
    <p:sldId id="267" r:id="rId4"/>
    <p:sldId id="268" r:id="rId5"/>
    <p:sldId id="274" r:id="rId6"/>
    <p:sldId id="298" r:id="rId7"/>
    <p:sldId id="299" r:id="rId8"/>
    <p:sldId id="300" r:id="rId9"/>
    <p:sldId id="301" r:id="rId10"/>
    <p:sldId id="302" r:id="rId11"/>
    <p:sldId id="303" r:id="rId12"/>
    <p:sldId id="277" r:id="rId13"/>
    <p:sldId id="305" r:id="rId14"/>
    <p:sldId id="306" r:id="rId15"/>
    <p:sldId id="307" r:id="rId16"/>
    <p:sldId id="264" r:id="rId17"/>
    <p:sldId id="304" r:id="rId18"/>
  </p:sldIdLst>
  <p:sldSz cx="9144000" cy="5143500" type="screen16x9"/>
  <p:notesSz cx="6985000" cy="9283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17FA6-598E-4580-7F4B-0A6F3112FD4B}" v="7" dt="2026-01-21T21:07:53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410"/>
  </p:normalViewPr>
  <p:slideViewPr>
    <p:cSldViewPr>
      <p:cViewPr varScale="1">
        <p:scale>
          <a:sx n="121" d="100"/>
          <a:sy n="121" d="100"/>
        </p:scale>
        <p:origin x="77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S::rick.antle@yale.edu::c2afbbd2-30e4-4c8e-8af5-81913178ace3" providerId="AD" clId="Web-{44017FA6-598E-4580-7F4B-0A6F3112FD4B}"/>
    <pc:docChg chg="modSld">
      <pc:chgData name="Antle, Rick" userId="S::rick.antle@yale.edu::c2afbbd2-30e4-4c8e-8af5-81913178ace3" providerId="AD" clId="Web-{44017FA6-598E-4580-7F4B-0A6F3112FD4B}" dt="2026-01-21T21:07:50.844" v="5" actId="20577"/>
      <pc:docMkLst>
        <pc:docMk/>
      </pc:docMkLst>
      <pc:sldChg chg="modSp">
        <pc:chgData name="Antle, Rick" userId="S::rick.antle@yale.edu::c2afbbd2-30e4-4c8e-8af5-81913178ace3" providerId="AD" clId="Web-{44017FA6-598E-4580-7F4B-0A6F3112FD4B}" dt="2026-01-21T21:07:50.844" v="5" actId="20577"/>
        <pc:sldMkLst>
          <pc:docMk/>
          <pc:sldMk cId="2464952412" sldId="256"/>
        </pc:sldMkLst>
        <pc:spChg chg="mod">
          <ac:chgData name="Antle, Rick" userId="S::rick.antle@yale.edu::c2afbbd2-30e4-4c8e-8af5-81913178ace3" providerId="AD" clId="Web-{44017FA6-598E-4580-7F4B-0A6F3112FD4B}" dt="2026-01-21T21:07:50.844" v="5" actId="20577"/>
          <ac:spMkLst>
            <pc:docMk/>
            <pc:sldMk cId="2464952412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5797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5797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53E6ED5D-7C15-1546-98BE-B9D72EAF130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6438" y="1160463"/>
            <a:ext cx="5572125" cy="3133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67781"/>
            <a:ext cx="5588000" cy="3655457"/>
          </a:xfrm>
          <a:prstGeom prst="rect">
            <a:avLst/>
          </a:prstGeom>
        </p:spPr>
        <p:txBody>
          <a:bodyPr vert="horz" lIns="92958" tIns="46479" rIns="92958" bIns="464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26833" cy="465796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0" y="8817904"/>
            <a:ext cx="3026833" cy="465796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B872F685-13EC-D742-8583-A1C1B1BC5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22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D8C29-11EF-C043-9677-97ED55FA2B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01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D8C29-11EF-C043-9677-97ED55FA2B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75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D8C29-11EF-C043-9677-97ED55FA2B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60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D8C29-11EF-C043-9677-97ED55FA2B7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29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D8C29-11EF-C043-9677-97ED55FA2B7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510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D8C29-11EF-C043-9677-97ED55FA2B7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53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D8C29-11EF-C043-9677-97ED55FA2B7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539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D8C29-11EF-C043-9677-97ED55FA2B7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132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D8C29-11EF-C043-9677-97ED55FA2B7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31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D8C29-11EF-C043-9677-97ED55FA2B7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447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D8C29-11EF-C043-9677-97ED55FA2B7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307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55283" indent="-29049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61974" indent="-23239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26763" indent="-23239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91553" indent="-23239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56342" indent="-23239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021132" indent="-23239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85921" indent="-23239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950711" indent="-23239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2C7AB46F-30D7-4646-8B63-0FE61E078F06}" type="slidenum">
              <a:rPr lang="en-US" sz="1200"/>
              <a:pPr/>
              <a:t>16</a:t>
            </a:fld>
            <a:endParaRPr 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3263"/>
            <a:ext cx="6165850" cy="3468687"/>
          </a:xfrm>
          <a:solidFill>
            <a:srgbClr val="FFFFFF"/>
          </a:solidFill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6278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D8C29-11EF-C043-9677-97ED55FA2B7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178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68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9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35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93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25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08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5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03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67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0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43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4" y="3978862"/>
            <a:ext cx="3048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2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Financial Accounting</a:t>
            </a:r>
            <a:br>
              <a:rPr lang="en-US" dirty="0"/>
            </a:br>
            <a:r>
              <a:rPr lang="en-US" dirty="0"/>
              <a:t>LAW 21474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Session 3: Analyzing and Recording Transactions, Adjusting and Closing</a:t>
            </a:r>
          </a:p>
        </p:txBody>
      </p:sp>
    </p:spTree>
    <p:extLst>
      <p:ext uri="{BB962C8B-B14F-4D97-AF65-F5344CB8AC3E}">
        <p14:creationId xmlns:p14="http://schemas.microsoft.com/office/powerpoint/2010/main" val="2464952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Do Rick and Stan’s Business</a:t>
            </a:r>
          </a:p>
          <a:p>
            <a:pPr lvl="1"/>
            <a:r>
              <a:rPr lang="en-US" dirty="0"/>
              <a:t>Transactions</a:t>
            </a:r>
          </a:p>
          <a:p>
            <a:pPr lvl="1"/>
            <a:r>
              <a:rPr lang="en-US" dirty="0"/>
              <a:t>Adjustments</a:t>
            </a:r>
          </a:p>
          <a:p>
            <a:pPr lvl="2"/>
            <a:r>
              <a:rPr lang="en-US" dirty="0"/>
              <a:t>Depreciation Expense</a:t>
            </a:r>
          </a:p>
          <a:p>
            <a:pPr lvl="2"/>
            <a:r>
              <a:rPr lang="en-US" dirty="0"/>
              <a:t>Rent Expense</a:t>
            </a:r>
          </a:p>
          <a:p>
            <a:pPr lvl="2"/>
            <a:r>
              <a:rPr lang="en-US" dirty="0"/>
              <a:t>Interest Expense</a:t>
            </a:r>
          </a:p>
          <a:p>
            <a:pPr lvl="1"/>
            <a:r>
              <a:rPr lang="en-US" dirty="0"/>
              <a:t>Closing</a:t>
            </a:r>
          </a:p>
          <a:p>
            <a:pPr lvl="1"/>
            <a:r>
              <a:rPr lang="en-US" dirty="0"/>
              <a:t>Journal entries, post to T-accounts, prepare financial statements</a:t>
            </a:r>
          </a:p>
          <a:p>
            <a:r>
              <a:rPr lang="en-US" dirty="0"/>
              <a:t>First, Debits and Credits: What, Why and How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295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95E3C-4222-497F-897B-9F54A96A3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Debits and credits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DC536-BD4F-4718-9A98-470DB9704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592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95E3C-4222-497F-897B-9F54A96A3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Rick and stan’s business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DC536-BD4F-4718-9A98-470DB9704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05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Here’s What We Will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Record all the </a:t>
            </a:r>
            <a:r>
              <a:rPr lang="en-US" i="1" dirty="0"/>
              <a:t>transactions</a:t>
            </a:r>
            <a:r>
              <a:rPr lang="en-US" dirty="0"/>
              <a:t> that took place from Oct 1 to Dec 31 with journal entries</a:t>
            </a:r>
          </a:p>
          <a:p>
            <a:r>
              <a:rPr lang="en-US" dirty="0"/>
              <a:t>Make </a:t>
            </a:r>
            <a:r>
              <a:rPr lang="en-US" i="1" dirty="0"/>
              <a:t>adjustments</a:t>
            </a:r>
            <a:r>
              <a:rPr lang="en-US" dirty="0"/>
              <a:t> to the accounts to bring them up-to-date as of Dec 31.</a:t>
            </a:r>
          </a:p>
          <a:p>
            <a:r>
              <a:rPr lang="en-US" i="1" dirty="0"/>
              <a:t>Close</a:t>
            </a:r>
            <a:r>
              <a:rPr lang="en-US" dirty="0"/>
              <a:t> the books on Dec 31.</a:t>
            </a:r>
          </a:p>
          <a:p>
            <a:r>
              <a:rPr lang="en-US" dirty="0"/>
              <a:t>Prepare financial statements.</a:t>
            </a:r>
          </a:p>
        </p:txBody>
      </p:sp>
    </p:spTree>
    <p:extLst>
      <p:ext uri="{BB962C8B-B14F-4D97-AF65-F5344CB8AC3E}">
        <p14:creationId xmlns:p14="http://schemas.microsoft.com/office/powerpoint/2010/main" val="821422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Along the Way, We Will: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temporary accounts to record the revenues and expenses</a:t>
            </a:r>
          </a:p>
          <a:p>
            <a:r>
              <a:rPr lang="en-US" dirty="0"/>
              <a:t>Post the transactions to the T-accounts</a:t>
            </a:r>
          </a:p>
          <a:p>
            <a:r>
              <a:rPr lang="en-US" dirty="0"/>
              <a:t>Post the adjustments to the T-accounts</a:t>
            </a:r>
          </a:p>
        </p:txBody>
      </p:sp>
    </p:spTree>
    <p:extLst>
      <p:ext uri="{BB962C8B-B14F-4D97-AF65-F5344CB8AC3E}">
        <p14:creationId xmlns:p14="http://schemas.microsoft.com/office/powerpoint/2010/main" val="587412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171B473E-DA79-EF4D-97E4-83C680078E49}" type="slidenum">
              <a:rPr lang="en-US" sz="1400"/>
              <a:pPr/>
              <a:t>7</a:t>
            </a:fld>
            <a:endParaRPr lang="en-US" sz="140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>
                <a:latin typeface="Times New Roman" charset="0"/>
              </a:rPr>
              <a:t>Depreciation</a:t>
            </a:r>
          </a:p>
        </p:txBody>
      </p:sp>
      <p:sp>
        <p:nvSpPr>
          <p:cNvPr id="18465" name="Line 4"/>
          <p:cNvSpPr>
            <a:spLocks noChangeShapeType="1"/>
          </p:cNvSpPr>
          <p:nvPr/>
        </p:nvSpPr>
        <p:spPr bwMode="auto">
          <a:xfrm>
            <a:off x="1143000" y="2000250"/>
            <a:ext cx="6781801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8466" name="Group 5"/>
          <p:cNvGrpSpPr>
            <a:grpSpLocks/>
          </p:cNvGrpSpPr>
          <p:nvPr/>
        </p:nvGrpSpPr>
        <p:grpSpPr bwMode="auto">
          <a:xfrm>
            <a:off x="457200" y="1428750"/>
            <a:ext cx="8507415" cy="628650"/>
            <a:chOff x="288" y="1200"/>
            <a:chExt cx="5359" cy="528"/>
          </a:xfrm>
        </p:grpSpPr>
        <p:sp>
          <p:nvSpPr>
            <p:cNvPr id="18467" name="Text Box 6"/>
            <p:cNvSpPr txBox="1">
              <a:spLocks noChangeArrowheads="1"/>
            </p:cNvSpPr>
            <p:nvPr/>
          </p:nvSpPr>
          <p:spPr bwMode="auto">
            <a:xfrm>
              <a:off x="288" y="1248"/>
              <a:ext cx="1070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Oct 1, 20X5</a:t>
              </a:r>
            </a:p>
          </p:txBody>
        </p:sp>
        <p:sp>
          <p:nvSpPr>
            <p:cNvPr id="18468" name="Line 7"/>
            <p:cNvSpPr>
              <a:spLocks noChangeShapeType="1"/>
            </p:cNvSpPr>
            <p:nvPr/>
          </p:nvSpPr>
          <p:spPr bwMode="auto">
            <a:xfrm>
              <a:off x="720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9" name="Line 8"/>
            <p:cNvSpPr>
              <a:spLocks noChangeShapeType="1"/>
            </p:cNvSpPr>
            <p:nvPr/>
          </p:nvSpPr>
          <p:spPr bwMode="auto">
            <a:xfrm>
              <a:off x="1632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0" name="Line 9"/>
            <p:cNvSpPr>
              <a:spLocks noChangeShapeType="1"/>
            </p:cNvSpPr>
            <p:nvPr/>
          </p:nvSpPr>
          <p:spPr bwMode="auto">
            <a:xfrm>
              <a:off x="2544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1" name="Line 10"/>
            <p:cNvSpPr>
              <a:spLocks noChangeShapeType="1"/>
            </p:cNvSpPr>
            <p:nvPr/>
          </p:nvSpPr>
          <p:spPr bwMode="auto">
            <a:xfrm>
              <a:off x="3408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2" name="Line 11"/>
            <p:cNvSpPr>
              <a:spLocks noChangeShapeType="1"/>
            </p:cNvSpPr>
            <p:nvPr/>
          </p:nvSpPr>
          <p:spPr bwMode="auto">
            <a:xfrm>
              <a:off x="4992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3" name="Text Box 12"/>
            <p:cNvSpPr txBox="1">
              <a:spLocks noChangeArrowheads="1"/>
            </p:cNvSpPr>
            <p:nvPr/>
          </p:nvSpPr>
          <p:spPr bwMode="auto">
            <a:xfrm>
              <a:off x="4416" y="1200"/>
              <a:ext cx="1231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FFFFFF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</a:rPr>
                <a:t>Sept 30, 20Y0</a:t>
              </a:r>
            </a:p>
          </p:txBody>
        </p:sp>
        <p:sp>
          <p:nvSpPr>
            <p:cNvPr id="18474" name="Line 13"/>
            <p:cNvSpPr>
              <a:spLocks noChangeShapeType="1"/>
            </p:cNvSpPr>
            <p:nvPr/>
          </p:nvSpPr>
          <p:spPr bwMode="auto">
            <a:xfrm>
              <a:off x="4176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174" name="Line 14"/>
          <p:cNvSpPr>
            <a:spLocks noChangeShapeType="1"/>
          </p:cNvSpPr>
          <p:nvPr/>
        </p:nvSpPr>
        <p:spPr bwMode="auto">
          <a:xfrm>
            <a:off x="7010400" y="20193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5" name="Line 15"/>
          <p:cNvSpPr>
            <a:spLocks noChangeShapeType="1"/>
          </p:cNvSpPr>
          <p:nvPr/>
        </p:nvSpPr>
        <p:spPr bwMode="auto">
          <a:xfrm>
            <a:off x="5715000" y="2009775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6" name="Line 16"/>
          <p:cNvSpPr>
            <a:spLocks noChangeShapeType="1"/>
          </p:cNvSpPr>
          <p:nvPr/>
        </p:nvSpPr>
        <p:spPr bwMode="auto">
          <a:xfrm>
            <a:off x="4419600" y="20193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7" name="Line 17"/>
          <p:cNvSpPr>
            <a:spLocks noChangeShapeType="1"/>
          </p:cNvSpPr>
          <p:nvPr/>
        </p:nvSpPr>
        <p:spPr bwMode="auto">
          <a:xfrm>
            <a:off x="2971800" y="20193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762000" y="2000251"/>
            <a:ext cx="1833563" cy="919163"/>
            <a:chOff x="480" y="1680"/>
            <a:chExt cx="1155" cy="772"/>
          </a:xfrm>
        </p:grpSpPr>
        <p:sp>
          <p:nvSpPr>
            <p:cNvPr id="18463" name="Line 19"/>
            <p:cNvSpPr>
              <a:spLocks noChangeShapeType="1"/>
            </p:cNvSpPr>
            <p:nvPr/>
          </p:nvSpPr>
          <p:spPr bwMode="auto">
            <a:xfrm>
              <a:off x="1008" y="168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4" name="Text Box 20"/>
            <p:cNvSpPr txBox="1">
              <a:spLocks noChangeArrowheads="1"/>
            </p:cNvSpPr>
            <p:nvPr/>
          </p:nvSpPr>
          <p:spPr bwMode="auto">
            <a:xfrm>
              <a:off x="480" y="2064"/>
              <a:ext cx="1155" cy="388"/>
            </a:xfrm>
            <a:prstGeom prst="rect">
              <a:avLst/>
            </a:prstGeom>
            <a:noFill/>
            <a:ln w="9525">
              <a:noFill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</a:lstStyle>
            <a:p>
              <a:r>
                <a:rPr lang="en-US" sz="2400" dirty="0"/>
                <a:t>Dec 31, 20X5</a:t>
              </a:r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7162800" y="2000251"/>
            <a:ext cx="1903413" cy="1033463"/>
            <a:chOff x="4512" y="1680"/>
            <a:chExt cx="1199" cy="868"/>
          </a:xfrm>
        </p:grpSpPr>
        <p:sp>
          <p:nvSpPr>
            <p:cNvPr id="18461" name="Line 22"/>
            <p:cNvSpPr>
              <a:spLocks noChangeShapeType="1"/>
            </p:cNvSpPr>
            <p:nvPr/>
          </p:nvSpPr>
          <p:spPr bwMode="auto">
            <a:xfrm>
              <a:off x="5264" y="168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2" name="Text Box 23"/>
            <p:cNvSpPr txBox="1">
              <a:spLocks noChangeArrowheads="1"/>
            </p:cNvSpPr>
            <p:nvPr/>
          </p:nvSpPr>
          <p:spPr bwMode="auto">
            <a:xfrm>
              <a:off x="4512" y="2160"/>
              <a:ext cx="1199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Dec 31, 20Y0</a:t>
              </a:r>
            </a:p>
          </p:txBody>
        </p:sp>
      </p:grpSp>
      <p:sp>
        <p:nvSpPr>
          <p:cNvPr id="92184" name="AutoShape 24"/>
          <p:cNvSpPr>
            <a:spLocks/>
          </p:cNvSpPr>
          <p:nvPr/>
        </p:nvSpPr>
        <p:spPr bwMode="auto">
          <a:xfrm rot="5400000">
            <a:off x="2114550" y="2343150"/>
            <a:ext cx="342900" cy="13716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85" name="AutoShape 25"/>
          <p:cNvSpPr>
            <a:spLocks/>
          </p:cNvSpPr>
          <p:nvPr/>
        </p:nvSpPr>
        <p:spPr bwMode="auto">
          <a:xfrm rot="5400000">
            <a:off x="3524250" y="2305050"/>
            <a:ext cx="342900" cy="1447800"/>
          </a:xfrm>
          <a:prstGeom prst="rightBrace">
            <a:avLst>
              <a:gd name="adj1" fmla="val 263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86" name="AutoShape 26"/>
          <p:cNvSpPr>
            <a:spLocks/>
          </p:cNvSpPr>
          <p:nvPr/>
        </p:nvSpPr>
        <p:spPr bwMode="auto">
          <a:xfrm rot="5400000">
            <a:off x="4933950" y="2343150"/>
            <a:ext cx="342900" cy="13716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87" name="AutoShape 27"/>
          <p:cNvSpPr>
            <a:spLocks/>
          </p:cNvSpPr>
          <p:nvPr/>
        </p:nvSpPr>
        <p:spPr bwMode="auto">
          <a:xfrm rot="5400000">
            <a:off x="6305550" y="2343150"/>
            <a:ext cx="342900" cy="13716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2362200" y="3257552"/>
            <a:ext cx="4114800" cy="862013"/>
            <a:chOff x="1488" y="2736"/>
            <a:chExt cx="2592" cy="724"/>
          </a:xfrm>
        </p:grpSpPr>
        <p:sp>
          <p:nvSpPr>
            <p:cNvPr id="18456" name="Text Box 29"/>
            <p:cNvSpPr txBox="1">
              <a:spLocks noChangeArrowheads="1"/>
            </p:cNvSpPr>
            <p:nvPr/>
          </p:nvSpPr>
          <p:spPr bwMode="auto">
            <a:xfrm>
              <a:off x="1968" y="3072"/>
              <a:ext cx="203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One year of depreciation</a:t>
              </a:r>
            </a:p>
          </p:txBody>
        </p:sp>
        <p:sp>
          <p:nvSpPr>
            <p:cNvPr id="18457" name="Line 30"/>
            <p:cNvSpPr>
              <a:spLocks noChangeShapeType="1"/>
            </p:cNvSpPr>
            <p:nvPr/>
          </p:nvSpPr>
          <p:spPr bwMode="auto">
            <a:xfrm flipH="1" flipV="1">
              <a:off x="1488" y="2736"/>
              <a:ext cx="48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8" name="Line 31"/>
            <p:cNvSpPr>
              <a:spLocks noChangeShapeType="1"/>
            </p:cNvSpPr>
            <p:nvPr/>
          </p:nvSpPr>
          <p:spPr bwMode="auto">
            <a:xfrm flipV="1">
              <a:off x="2352" y="273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9" name="Line 32"/>
            <p:cNvSpPr>
              <a:spLocks noChangeShapeType="1"/>
            </p:cNvSpPr>
            <p:nvPr/>
          </p:nvSpPr>
          <p:spPr bwMode="auto">
            <a:xfrm flipV="1">
              <a:off x="3216" y="278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0" name="Line 33"/>
            <p:cNvSpPr>
              <a:spLocks noChangeShapeType="1"/>
            </p:cNvSpPr>
            <p:nvPr/>
          </p:nvSpPr>
          <p:spPr bwMode="auto">
            <a:xfrm flipV="1">
              <a:off x="3888" y="2784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381001" y="2857501"/>
            <a:ext cx="2036763" cy="1703785"/>
            <a:chOff x="240" y="2400"/>
            <a:chExt cx="1283" cy="1431"/>
          </a:xfrm>
        </p:grpSpPr>
        <p:sp>
          <p:nvSpPr>
            <p:cNvPr id="18454" name="Text Box 35"/>
            <p:cNvSpPr txBox="1">
              <a:spLocks noChangeArrowheads="1"/>
            </p:cNvSpPr>
            <p:nvPr/>
          </p:nvSpPr>
          <p:spPr bwMode="auto">
            <a:xfrm>
              <a:off x="240" y="3133"/>
              <a:ext cx="1283" cy="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3 months</a:t>
              </a:r>
            </a:p>
            <a:p>
              <a:r>
                <a:rPr lang="en-US" dirty="0"/>
                <a:t>of depreciation</a:t>
              </a:r>
            </a:p>
          </p:txBody>
        </p:sp>
        <p:sp>
          <p:nvSpPr>
            <p:cNvPr id="18455" name="Line 36"/>
            <p:cNvSpPr>
              <a:spLocks noChangeShapeType="1"/>
            </p:cNvSpPr>
            <p:nvPr/>
          </p:nvSpPr>
          <p:spPr bwMode="auto">
            <a:xfrm flipV="1">
              <a:off x="576" y="2400"/>
              <a:ext cx="144" cy="7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37"/>
          <p:cNvGrpSpPr>
            <a:grpSpLocks/>
          </p:cNvGrpSpPr>
          <p:nvPr/>
        </p:nvGrpSpPr>
        <p:grpSpPr bwMode="auto">
          <a:xfrm>
            <a:off x="6781801" y="2977011"/>
            <a:ext cx="2036763" cy="1658637"/>
            <a:chOff x="4272" y="2448"/>
            <a:chExt cx="1283" cy="1443"/>
          </a:xfrm>
        </p:grpSpPr>
        <p:sp>
          <p:nvSpPr>
            <p:cNvPr id="18452" name="Text Box 38"/>
            <p:cNvSpPr txBox="1">
              <a:spLocks noChangeArrowheads="1"/>
            </p:cNvSpPr>
            <p:nvPr/>
          </p:nvSpPr>
          <p:spPr bwMode="auto">
            <a:xfrm>
              <a:off x="4272" y="3168"/>
              <a:ext cx="1283" cy="7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9 months</a:t>
              </a:r>
            </a:p>
            <a:p>
              <a:r>
                <a:rPr lang="en-US" dirty="0"/>
                <a:t>of depreciation</a:t>
              </a:r>
            </a:p>
          </p:txBody>
        </p:sp>
        <p:sp>
          <p:nvSpPr>
            <p:cNvPr id="18453" name="Line 39"/>
            <p:cNvSpPr>
              <a:spLocks noChangeShapeType="1"/>
            </p:cNvSpPr>
            <p:nvPr/>
          </p:nvSpPr>
          <p:spPr bwMode="auto">
            <a:xfrm flipV="1">
              <a:off x="4848" y="2448"/>
              <a:ext cx="96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964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2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2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2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2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2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2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52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2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2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74" grpId="0" animBg="1"/>
      <p:bldP spid="92175" grpId="0" animBg="1"/>
      <p:bldP spid="92176" grpId="0" animBg="1"/>
      <p:bldP spid="92177" grpId="0" animBg="1"/>
      <p:bldP spid="92184" grpId="0" animBg="1"/>
      <p:bldP spid="92185" grpId="0" animBg="1"/>
      <p:bldP spid="92186" grpId="0" animBg="1"/>
      <p:bldP spid="9218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3EFFB37-0C4B-C347-8AFC-2C4EFA0B9234}" type="slidenum">
              <a:rPr lang="en-US" sz="1400"/>
              <a:pPr/>
              <a:t>8</a:t>
            </a:fld>
            <a:endParaRPr lang="en-US" sz="140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Calculation of depreciation</a:t>
            </a:r>
          </a:p>
        </p:txBody>
      </p:sp>
      <p:sp>
        <p:nvSpPr>
          <p:cNvPr id="19481" name="Text Box 6"/>
          <p:cNvSpPr txBox="1">
            <a:spLocks noChangeArrowheads="1"/>
          </p:cNvSpPr>
          <p:nvPr/>
        </p:nvSpPr>
        <p:spPr bwMode="auto">
          <a:xfrm>
            <a:off x="2246314" y="1828799"/>
            <a:ext cx="1693863" cy="646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 dirty="0"/>
              <a:t>$60k</a:t>
            </a:r>
          </a:p>
        </p:txBody>
      </p:sp>
      <p:sp>
        <p:nvSpPr>
          <p:cNvPr id="19482" name="Text Box 7"/>
          <p:cNvSpPr txBox="1">
            <a:spLocks noChangeArrowheads="1"/>
          </p:cNvSpPr>
          <p:nvPr/>
        </p:nvSpPr>
        <p:spPr bwMode="auto">
          <a:xfrm>
            <a:off x="2090739" y="2268139"/>
            <a:ext cx="1693863" cy="646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 dirty="0"/>
              <a:t>5 years</a:t>
            </a:r>
          </a:p>
        </p:txBody>
      </p:sp>
      <p:sp>
        <p:nvSpPr>
          <p:cNvPr id="19480" name="Line 8"/>
          <p:cNvSpPr>
            <a:spLocks noChangeShapeType="1"/>
          </p:cNvSpPr>
          <p:nvPr/>
        </p:nvSpPr>
        <p:spPr bwMode="auto">
          <a:xfrm>
            <a:off x="2090739" y="2415654"/>
            <a:ext cx="152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7" name="Text Box 9"/>
          <p:cNvSpPr txBox="1">
            <a:spLocks noChangeArrowheads="1"/>
          </p:cNvSpPr>
          <p:nvPr/>
        </p:nvSpPr>
        <p:spPr bwMode="auto">
          <a:xfrm>
            <a:off x="3870327" y="1976437"/>
            <a:ext cx="41592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=</a:t>
            </a:r>
          </a:p>
        </p:txBody>
      </p:sp>
      <p:sp>
        <p:nvSpPr>
          <p:cNvPr id="19478" name="Text Box 10"/>
          <p:cNvSpPr txBox="1">
            <a:spLocks noChangeArrowheads="1"/>
          </p:cNvSpPr>
          <p:nvPr/>
        </p:nvSpPr>
        <p:spPr bwMode="auto">
          <a:xfrm>
            <a:off x="4479927" y="1966912"/>
            <a:ext cx="244157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$12k per year</a:t>
            </a:r>
          </a:p>
        </p:txBody>
      </p:sp>
      <p:sp>
        <p:nvSpPr>
          <p:cNvPr id="19474" name="Text Box 15"/>
          <p:cNvSpPr txBox="1">
            <a:spLocks noChangeArrowheads="1"/>
          </p:cNvSpPr>
          <p:nvPr/>
        </p:nvSpPr>
        <p:spPr bwMode="auto">
          <a:xfrm>
            <a:off x="2689227" y="2870873"/>
            <a:ext cx="39052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3</a:t>
            </a:r>
          </a:p>
        </p:txBody>
      </p:sp>
      <p:sp>
        <p:nvSpPr>
          <p:cNvPr id="19475" name="Text Box 16"/>
          <p:cNvSpPr txBox="1">
            <a:spLocks noChangeArrowheads="1"/>
          </p:cNvSpPr>
          <p:nvPr/>
        </p:nvSpPr>
        <p:spPr bwMode="auto">
          <a:xfrm>
            <a:off x="2590802" y="3295053"/>
            <a:ext cx="595313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12</a:t>
            </a:r>
          </a:p>
        </p:txBody>
      </p:sp>
      <p:sp>
        <p:nvSpPr>
          <p:cNvPr id="19473" name="Line 17"/>
          <p:cNvSpPr>
            <a:spLocks noChangeShapeType="1"/>
          </p:cNvSpPr>
          <p:nvPr/>
        </p:nvSpPr>
        <p:spPr bwMode="auto">
          <a:xfrm>
            <a:off x="2651127" y="3393087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Text Box 18"/>
          <p:cNvSpPr txBox="1">
            <a:spLocks noChangeArrowheads="1"/>
          </p:cNvSpPr>
          <p:nvPr/>
        </p:nvSpPr>
        <p:spPr bwMode="auto">
          <a:xfrm>
            <a:off x="3108327" y="3002755"/>
            <a:ext cx="39052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/>
              <a:t>x</a:t>
            </a:r>
          </a:p>
        </p:txBody>
      </p:sp>
      <p:sp>
        <p:nvSpPr>
          <p:cNvPr id="19469" name="Text Box 19"/>
          <p:cNvSpPr txBox="1">
            <a:spLocks noChangeArrowheads="1"/>
          </p:cNvSpPr>
          <p:nvPr/>
        </p:nvSpPr>
        <p:spPr bwMode="auto">
          <a:xfrm>
            <a:off x="3505202" y="3028949"/>
            <a:ext cx="1004888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/>
              <a:t>$12k</a:t>
            </a:r>
          </a:p>
        </p:txBody>
      </p:sp>
      <p:sp>
        <p:nvSpPr>
          <p:cNvPr id="19470" name="Text Box 20"/>
          <p:cNvSpPr txBox="1">
            <a:spLocks noChangeArrowheads="1"/>
          </p:cNvSpPr>
          <p:nvPr/>
        </p:nvSpPr>
        <p:spPr bwMode="auto">
          <a:xfrm>
            <a:off x="4648202" y="3026568"/>
            <a:ext cx="41592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/>
              <a:t>=</a:t>
            </a:r>
          </a:p>
        </p:txBody>
      </p:sp>
      <p:sp>
        <p:nvSpPr>
          <p:cNvPr id="19471" name="Text Box 21"/>
          <p:cNvSpPr txBox="1">
            <a:spLocks noChangeArrowheads="1"/>
          </p:cNvSpPr>
          <p:nvPr/>
        </p:nvSpPr>
        <p:spPr bwMode="auto">
          <a:xfrm>
            <a:off x="5241927" y="3012280"/>
            <a:ext cx="800100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/>
              <a:t>$3k</a:t>
            </a:r>
          </a:p>
        </p:txBody>
      </p:sp>
      <p:sp>
        <p:nvSpPr>
          <p:cNvPr id="19466" name="Text Box 22"/>
          <p:cNvSpPr txBox="1">
            <a:spLocks noChangeArrowheads="1"/>
          </p:cNvSpPr>
          <p:nvPr/>
        </p:nvSpPr>
        <p:spPr bwMode="auto">
          <a:xfrm>
            <a:off x="6477002" y="2857499"/>
            <a:ext cx="17716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Depreciation</a:t>
            </a:r>
          </a:p>
          <a:p>
            <a:r>
              <a:rPr lang="en-US" dirty="0"/>
              <a:t>for Oct 1 to</a:t>
            </a:r>
          </a:p>
          <a:p>
            <a:r>
              <a:rPr lang="en-US" dirty="0"/>
              <a:t>Dec 31</a:t>
            </a:r>
          </a:p>
        </p:txBody>
      </p:sp>
      <p:sp>
        <p:nvSpPr>
          <p:cNvPr id="19464" name="Text Box 23"/>
          <p:cNvSpPr txBox="1">
            <a:spLocks noChangeArrowheads="1"/>
          </p:cNvSpPr>
          <p:nvPr/>
        </p:nvSpPr>
        <p:spPr bwMode="auto">
          <a:xfrm>
            <a:off x="1600200" y="3886200"/>
            <a:ext cx="325762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Can you make the entry?</a:t>
            </a:r>
          </a:p>
        </p:txBody>
      </p:sp>
    </p:spTree>
    <p:extLst>
      <p:ext uri="{BB962C8B-B14F-4D97-AF65-F5344CB8AC3E}">
        <p14:creationId xmlns:p14="http://schemas.microsoft.com/office/powerpoint/2010/main" val="2064194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171B473E-DA79-EF4D-97E4-83C680078E49}" type="slidenum">
              <a:rPr lang="en-US" sz="1400"/>
              <a:pPr/>
              <a:t>9</a:t>
            </a:fld>
            <a:endParaRPr lang="en-US" sz="140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>
                <a:latin typeface="Times New Roman" charset="0"/>
              </a:rPr>
              <a:t>Prepaid Rent</a:t>
            </a:r>
          </a:p>
        </p:txBody>
      </p:sp>
      <p:sp>
        <p:nvSpPr>
          <p:cNvPr id="18465" name="Line 4"/>
          <p:cNvSpPr>
            <a:spLocks noChangeShapeType="1"/>
          </p:cNvSpPr>
          <p:nvPr/>
        </p:nvSpPr>
        <p:spPr bwMode="auto">
          <a:xfrm>
            <a:off x="1143000" y="2000250"/>
            <a:ext cx="7543800" cy="4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7" name="Text Box 6"/>
          <p:cNvSpPr txBox="1">
            <a:spLocks noChangeArrowheads="1"/>
          </p:cNvSpPr>
          <p:nvPr/>
        </p:nvSpPr>
        <p:spPr bwMode="auto">
          <a:xfrm>
            <a:off x="457200" y="1485900"/>
            <a:ext cx="161775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latin typeface="+mn-lt"/>
              </a:rPr>
              <a:t>Oct 1, 20X5</a:t>
            </a:r>
          </a:p>
        </p:txBody>
      </p:sp>
      <p:sp>
        <p:nvSpPr>
          <p:cNvPr id="18468" name="Line 7"/>
          <p:cNvSpPr>
            <a:spLocks noChangeShapeType="1"/>
          </p:cNvSpPr>
          <p:nvPr/>
        </p:nvSpPr>
        <p:spPr bwMode="auto">
          <a:xfrm>
            <a:off x="1143000" y="1943100"/>
            <a:ext cx="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70" name="Line 9"/>
          <p:cNvSpPr>
            <a:spLocks noChangeShapeType="1"/>
          </p:cNvSpPr>
          <p:nvPr/>
        </p:nvSpPr>
        <p:spPr bwMode="auto">
          <a:xfrm>
            <a:off x="4038600" y="1943100"/>
            <a:ext cx="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71" name="Line 10"/>
          <p:cNvSpPr>
            <a:spLocks noChangeShapeType="1"/>
          </p:cNvSpPr>
          <p:nvPr/>
        </p:nvSpPr>
        <p:spPr bwMode="auto">
          <a:xfrm>
            <a:off x="7082247" y="1943100"/>
            <a:ext cx="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74" name="Line 13"/>
          <p:cNvSpPr>
            <a:spLocks noChangeShapeType="1"/>
          </p:cNvSpPr>
          <p:nvPr/>
        </p:nvSpPr>
        <p:spPr bwMode="auto">
          <a:xfrm>
            <a:off x="8680272" y="1943100"/>
            <a:ext cx="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5" name="Line 15"/>
          <p:cNvSpPr>
            <a:spLocks noChangeShapeType="1"/>
          </p:cNvSpPr>
          <p:nvPr/>
        </p:nvSpPr>
        <p:spPr bwMode="auto">
          <a:xfrm>
            <a:off x="4038600" y="2197894"/>
            <a:ext cx="0" cy="1276561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4" name="Text Box 20"/>
          <p:cNvSpPr txBox="1">
            <a:spLocks noChangeArrowheads="1"/>
          </p:cNvSpPr>
          <p:nvPr/>
        </p:nvSpPr>
        <p:spPr bwMode="auto">
          <a:xfrm>
            <a:off x="3121818" y="1435893"/>
            <a:ext cx="1833563" cy="461963"/>
          </a:xfrm>
          <a:prstGeom prst="rect">
            <a:avLst/>
          </a:prstGeom>
          <a:noFill/>
          <a:ln w="9525">
            <a:noFill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en-US"/>
            </a:defPPr>
          </a:lstStyle>
          <a:p>
            <a:r>
              <a:rPr lang="en-US" sz="2400" dirty="0"/>
              <a:t>Dec 31, 20X5</a:t>
            </a:r>
          </a:p>
        </p:txBody>
      </p:sp>
      <p:sp>
        <p:nvSpPr>
          <p:cNvPr id="18462" name="Text Box 23"/>
          <p:cNvSpPr txBox="1">
            <a:spLocks noChangeArrowheads="1"/>
          </p:cNvSpPr>
          <p:nvPr/>
        </p:nvSpPr>
        <p:spPr bwMode="auto">
          <a:xfrm>
            <a:off x="7144867" y="1462087"/>
            <a:ext cx="18101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latin typeface="+mn-lt"/>
              </a:rPr>
              <a:t>Dec 31, 20X6</a:t>
            </a:r>
          </a:p>
        </p:txBody>
      </p:sp>
      <p:sp>
        <p:nvSpPr>
          <p:cNvPr id="18454" name="Text Box 35"/>
          <p:cNvSpPr txBox="1">
            <a:spLocks noChangeArrowheads="1"/>
          </p:cNvSpPr>
          <p:nvPr/>
        </p:nvSpPr>
        <p:spPr bwMode="auto">
          <a:xfrm>
            <a:off x="999105" y="3613392"/>
            <a:ext cx="1320800" cy="831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3 months</a:t>
            </a:r>
          </a:p>
          <a:p>
            <a:r>
              <a:rPr lang="en-US" dirty="0"/>
              <a:t>of rent</a:t>
            </a:r>
          </a:p>
        </p:txBody>
      </p:sp>
      <p:sp>
        <p:nvSpPr>
          <p:cNvPr id="18455" name="Line 36"/>
          <p:cNvSpPr>
            <a:spLocks noChangeShapeType="1"/>
          </p:cNvSpPr>
          <p:nvPr/>
        </p:nvSpPr>
        <p:spPr bwMode="auto">
          <a:xfrm flipV="1">
            <a:off x="1659505" y="2081511"/>
            <a:ext cx="723334" cy="14553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" name="Group 37"/>
          <p:cNvGrpSpPr>
            <a:grpSpLocks/>
          </p:cNvGrpSpPr>
          <p:nvPr/>
        </p:nvGrpSpPr>
        <p:grpSpPr bwMode="auto">
          <a:xfrm>
            <a:off x="5062947" y="2143407"/>
            <a:ext cx="2451101" cy="1793121"/>
            <a:chOff x="4626" y="2123"/>
            <a:chExt cx="1544" cy="1560"/>
          </a:xfrm>
        </p:grpSpPr>
        <p:sp>
          <p:nvSpPr>
            <p:cNvPr id="18452" name="Text Box 38"/>
            <p:cNvSpPr txBox="1">
              <a:spLocks noChangeArrowheads="1"/>
            </p:cNvSpPr>
            <p:nvPr/>
          </p:nvSpPr>
          <p:spPr bwMode="auto">
            <a:xfrm>
              <a:off x="4626" y="3281"/>
              <a:ext cx="1544" cy="4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9 months of rent</a:t>
              </a:r>
            </a:p>
          </p:txBody>
        </p:sp>
        <p:sp>
          <p:nvSpPr>
            <p:cNvPr id="18453" name="Line 39"/>
            <p:cNvSpPr>
              <a:spLocks noChangeShapeType="1"/>
            </p:cNvSpPr>
            <p:nvPr/>
          </p:nvSpPr>
          <p:spPr bwMode="auto">
            <a:xfrm flipH="1" flipV="1">
              <a:off x="4868" y="2123"/>
              <a:ext cx="435" cy="11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" name="AutoShape 27"/>
          <p:cNvSpPr>
            <a:spLocks/>
          </p:cNvSpPr>
          <p:nvPr/>
        </p:nvSpPr>
        <p:spPr bwMode="auto">
          <a:xfrm rot="5400000">
            <a:off x="3896792" y="-511311"/>
            <a:ext cx="476249" cy="5894659"/>
          </a:xfrm>
          <a:prstGeom prst="rightBrace">
            <a:avLst>
              <a:gd name="adj1" fmla="val 25000"/>
              <a:gd name="adj2" fmla="val 5177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Line 15"/>
          <p:cNvSpPr>
            <a:spLocks noChangeShapeType="1"/>
          </p:cNvSpPr>
          <p:nvPr/>
        </p:nvSpPr>
        <p:spPr bwMode="auto">
          <a:xfrm>
            <a:off x="8680272" y="2143124"/>
            <a:ext cx="6528" cy="1331331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Text Box 6"/>
          <p:cNvSpPr txBox="1">
            <a:spLocks noChangeArrowheads="1"/>
          </p:cNvSpPr>
          <p:nvPr/>
        </p:nvSpPr>
        <p:spPr bwMode="auto">
          <a:xfrm>
            <a:off x="6137685" y="1038224"/>
            <a:ext cx="18953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latin typeface="+mn-lt"/>
              </a:rPr>
              <a:t>Sept 30, 20X6</a:t>
            </a:r>
          </a:p>
        </p:txBody>
      </p:sp>
      <p:sp>
        <p:nvSpPr>
          <p:cNvPr id="45" name="Line 39"/>
          <p:cNvSpPr>
            <a:spLocks noChangeShapeType="1"/>
          </p:cNvSpPr>
          <p:nvPr/>
        </p:nvSpPr>
        <p:spPr bwMode="auto">
          <a:xfrm flipH="1">
            <a:off x="7082247" y="1499889"/>
            <a:ext cx="0" cy="44321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70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75" grpId="0" animBg="1"/>
      <p:bldP spid="40" grpId="0" animBg="1"/>
      <p:bldP spid="4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3EFFB37-0C4B-C347-8AFC-2C4EFA0B9234}" type="slidenum">
              <a:rPr lang="en-US" sz="1400"/>
              <a:pPr/>
              <a:t>10</a:t>
            </a:fld>
            <a:endParaRPr lang="en-US" sz="140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charset="0"/>
              </a:rPr>
              <a:t>Calculation of rent</a:t>
            </a:r>
          </a:p>
        </p:txBody>
      </p:sp>
      <p:sp>
        <p:nvSpPr>
          <p:cNvPr id="19481" name="Text Box 6"/>
          <p:cNvSpPr txBox="1">
            <a:spLocks noChangeArrowheads="1"/>
          </p:cNvSpPr>
          <p:nvPr/>
        </p:nvSpPr>
        <p:spPr bwMode="auto">
          <a:xfrm>
            <a:off x="2246314" y="1828799"/>
            <a:ext cx="1693863" cy="646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 dirty="0"/>
              <a:t>$3k</a:t>
            </a:r>
          </a:p>
        </p:txBody>
      </p:sp>
      <p:sp>
        <p:nvSpPr>
          <p:cNvPr id="19482" name="Text Box 7"/>
          <p:cNvSpPr txBox="1">
            <a:spLocks noChangeArrowheads="1"/>
          </p:cNvSpPr>
          <p:nvPr/>
        </p:nvSpPr>
        <p:spPr bwMode="auto">
          <a:xfrm>
            <a:off x="2090739" y="2268139"/>
            <a:ext cx="212248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/>
              <a:t>12 months</a:t>
            </a:r>
            <a:endParaRPr lang="en-US" sz="3600" dirty="0"/>
          </a:p>
        </p:txBody>
      </p:sp>
      <p:sp>
        <p:nvSpPr>
          <p:cNvPr id="19480" name="Line 8"/>
          <p:cNvSpPr>
            <a:spLocks noChangeShapeType="1"/>
          </p:cNvSpPr>
          <p:nvPr/>
        </p:nvSpPr>
        <p:spPr bwMode="auto">
          <a:xfrm>
            <a:off x="2090739" y="2415654"/>
            <a:ext cx="152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7" name="Text Box 9"/>
          <p:cNvSpPr txBox="1">
            <a:spLocks noChangeArrowheads="1"/>
          </p:cNvSpPr>
          <p:nvPr/>
        </p:nvSpPr>
        <p:spPr bwMode="auto">
          <a:xfrm>
            <a:off x="3870327" y="1976437"/>
            <a:ext cx="41592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=</a:t>
            </a:r>
          </a:p>
        </p:txBody>
      </p:sp>
      <p:sp>
        <p:nvSpPr>
          <p:cNvPr id="19478" name="Text Box 10"/>
          <p:cNvSpPr txBox="1">
            <a:spLocks noChangeArrowheads="1"/>
          </p:cNvSpPr>
          <p:nvPr/>
        </p:nvSpPr>
        <p:spPr bwMode="auto">
          <a:xfrm>
            <a:off x="4479927" y="1966912"/>
            <a:ext cx="278313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$250 per month</a:t>
            </a:r>
          </a:p>
        </p:txBody>
      </p:sp>
      <p:sp>
        <p:nvSpPr>
          <p:cNvPr id="19474" name="Text Box 15"/>
          <p:cNvSpPr txBox="1">
            <a:spLocks noChangeArrowheads="1"/>
          </p:cNvSpPr>
          <p:nvPr/>
        </p:nvSpPr>
        <p:spPr bwMode="auto">
          <a:xfrm>
            <a:off x="2689227" y="2870873"/>
            <a:ext cx="39052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3</a:t>
            </a:r>
          </a:p>
        </p:txBody>
      </p:sp>
      <p:sp>
        <p:nvSpPr>
          <p:cNvPr id="19475" name="Text Box 16"/>
          <p:cNvSpPr txBox="1">
            <a:spLocks noChangeArrowheads="1"/>
          </p:cNvSpPr>
          <p:nvPr/>
        </p:nvSpPr>
        <p:spPr bwMode="auto">
          <a:xfrm>
            <a:off x="2590802" y="3295053"/>
            <a:ext cx="595313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12</a:t>
            </a:r>
          </a:p>
        </p:txBody>
      </p:sp>
      <p:sp>
        <p:nvSpPr>
          <p:cNvPr id="19473" name="Line 17"/>
          <p:cNvSpPr>
            <a:spLocks noChangeShapeType="1"/>
          </p:cNvSpPr>
          <p:nvPr/>
        </p:nvSpPr>
        <p:spPr bwMode="auto">
          <a:xfrm>
            <a:off x="2651127" y="3393087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Text Box 18"/>
          <p:cNvSpPr txBox="1">
            <a:spLocks noChangeArrowheads="1"/>
          </p:cNvSpPr>
          <p:nvPr/>
        </p:nvSpPr>
        <p:spPr bwMode="auto">
          <a:xfrm>
            <a:off x="3108327" y="3002755"/>
            <a:ext cx="39052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/>
              <a:t>x</a:t>
            </a:r>
          </a:p>
        </p:txBody>
      </p:sp>
      <p:sp>
        <p:nvSpPr>
          <p:cNvPr id="19469" name="Text Box 19"/>
          <p:cNvSpPr txBox="1">
            <a:spLocks noChangeArrowheads="1"/>
          </p:cNvSpPr>
          <p:nvPr/>
        </p:nvSpPr>
        <p:spPr bwMode="auto">
          <a:xfrm>
            <a:off x="3505202" y="3028949"/>
            <a:ext cx="100540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$250</a:t>
            </a:r>
          </a:p>
        </p:txBody>
      </p:sp>
      <p:sp>
        <p:nvSpPr>
          <p:cNvPr id="19470" name="Text Box 20"/>
          <p:cNvSpPr txBox="1">
            <a:spLocks noChangeArrowheads="1"/>
          </p:cNvSpPr>
          <p:nvPr/>
        </p:nvSpPr>
        <p:spPr bwMode="auto">
          <a:xfrm>
            <a:off x="4648202" y="3026568"/>
            <a:ext cx="415925" cy="58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/>
              <a:t>=</a:t>
            </a:r>
          </a:p>
        </p:txBody>
      </p:sp>
      <p:sp>
        <p:nvSpPr>
          <p:cNvPr id="19471" name="Text Box 21"/>
          <p:cNvSpPr txBox="1">
            <a:spLocks noChangeArrowheads="1"/>
          </p:cNvSpPr>
          <p:nvPr/>
        </p:nvSpPr>
        <p:spPr bwMode="auto">
          <a:xfrm>
            <a:off x="5241927" y="3012280"/>
            <a:ext cx="100540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$750</a:t>
            </a:r>
          </a:p>
        </p:txBody>
      </p:sp>
      <p:sp>
        <p:nvSpPr>
          <p:cNvPr id="19466" name="Text Box 22"/>
          <p:cNvSpPr txBox="1">
            <a:spLocks noChangeArrowheads="1"/>
          </p:cNvSpPr>
          <p:nvPr/>
        </p:nvSpPr>
        <p:spPr bwMode="auto">
          <a:xfrm>
            <a:off x="6477002" y="2857499"/>
            <a:ext cx="161133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Rent </a:t>
            </a:r>
          </a:p>
          <a:p>
            <a:r>
              <a:rPr lang="en-US" dirty="0"/>
              <a:t>for Oct 1 to</a:t>
            </a:r>
          </a:p>
          <a:p>
            <a:r>
              <a:rPr lang="en-US" dirty="0"/>
              <a:t>Dec 31</a:t>
            </a:r>
          </a:p>
        </p:txBody>
      </p:sp>
      <p:sp>
        <p:nvSpPr>
          <p:cNvPr id="19464" name="Text Box 23"/>
          <p:cNvSpPr txBox="1">
            <a:spLocks noChangeArrowheads="1"/>
          </p:cNvSpPr>
          <p:nvPr/>
        </p:nvSpPr>
        <p:spPr bwMode="auto">
          <a:xfrm>
            <a:off x="1600200" y="3886200"/>
            <a:ext cx="325762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Can you make the entry?</a:t>
            </a:r>
          </a:p>
        </p:txBody>
      </p:sp>
    </p:spTree>
    <p:extLst>
      <p:ext uri="{BB962C8B-B14F-4D97-AF65-F5344CB8AC3E}">
        <p14:creationId xmlns:p14="http://schemas.microsoft.com/office/powerpoint/2010/main" val="80320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73089"/>
            <a:ext cx="2133600" cy="27384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80D9CDE3-27BD-D54B-B4C0-A8B243D63008}" type="slidenum">
              <a:rPr lang="en-US" sz="1400"/>
              <a:pPr/>
              <a:t>11</a:t>
            </a:fld>
            <a:endParaRPr lang="en-US" sz="1400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Calculation of interest</a:t>
            </a:r>
          </a:p>
        </p:txBody>
      </p:sp>
      <p:sp>
        <p:nvSpPr>
          <p:cNvPr id="22534" name="Text Box 3"/>
          <p:cNvSpPr txBox="1">
            <a:spLocks noChangeArrowheads="1"/>
          </p:cNvSpPr>
          <p:nvPr/>
        </p:nvSpPr>
        <p:spPr bwMode="auto">
          <a:xfrm>
            <a:off x="6565037" y="2924761"/>
            <a:ext cx="167866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Interest cost</a:t>
            </a:r>
          </a:p>
          <a:p>
            <a:r>
              <a:rPr lang="en-US" dirty="0"/>
              <a:t>for Oct 1 to</a:t>
            </a:r>
          </a:p>
          <a:p>
            <a:r>
              <a:rPr lang="en-US" dirty="0"/>
              <a:t>Dec 31</a:t>
            </a:r>
          </a:p>
        </p:txBody>
      </p:sp>
      <p:sp>
        <p:nvSpPr>
          <p:cNvPr id="22536" name="Text Box 15"/>
          <p:cNvSpPr txBox="1">
            <a:spLocks noChangeArrowheads="1"/>
          </p:cNvSpPr>
          <p:nvPr/>
        </p:nvSpPr>
        <p:spPr bwMode="auto">
          <a:xfrm>
            <a:off x="6066594" y="2203517"/>
            <a:ext cx="195438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=  $606.02</a:t>
            </a:r>
          </a:p>
        </p:txBody>
      </p:sp>
      <p:sp>
        <p:nvSpPr>
          <p:cNvPr id="22537" name="Text Box 16"/>
          <p:cNvSpPr txBox="1">
            <a:spLocks noChangeArrowheads="1"/>
          </p:cNvSpPr>
          <p:nvPr/>
        </p:nvSpPr>
        <p:spPr bwMode="auto">
          <a:xfrm>
            <a:off x="1295400" y="3663426"/>
            <a:ext cx="32576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/>
              <a:t>Can you make the entry?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57200" y="1674787"/>
            <a:ext cx="3630967" cy="1537403"/>
            <a:chOff x="745724" y="1669002"/>
            <a:chExt cx="3630967" cy="1537403"/>
          </a:xfrm>
        </p:grpSpPr>
        <p:grpSp>
          <p:nvGrpSpPr>
            <p:cNvPr id="3" name="Group 2"/>
            <p:cNvGrpSpPr/>
            <p:nvPr/>
          </p:nvGrpSpPr>
          <p:grpSpPr>
            <a:xfrm>
              <a:off x="3235044" y="1958973"/>
              <a:ext cx="748923" cy="896855"/>
              <a:chOff x="1153249" y="1911407"/>
              <a:chExt cx="748923" cy="896855"/>
            </a:xfrm>
          </p:grpSpPr>
          <p:grpSp>
            <p:nvGrpSpPr>
              <p:cNvPr id="2" name="Group 1"/>
              <p:cNvGrpSpPr/>
              <p:nvPr/>
            </p:nvGrpSpPr>
            <p:grpSpPr>
              <a:xfrm>
                <a:off x="1153249" y="1911407"/>
                <a:ext cx="748923" cy="896855"/>
                <a:chOff x="1153249" y="1911407"/>
                <a:chExt cx="748923" cy="896855"/>
              </a:xfrm>
            </p:grpSpPr>
            <p:sp>
              <p:nvSpPr>
                <p:cNvPr id="22546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153249" y="1911407"/>
                  <a:ext cx="74892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9pPr>
                </a:lstStyle>
                <a:p>
                  <a:r>
                    <a:rPr lang="en-US" dirty="0"/>
                    <a:t>12%</a:t>
                  </a:r>
                </a:p>
              </p:txBody>
            </p:sp>
            <p:sp>
              <p:nvSpPr>
                <p:cNvPr id="22547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153249" y="2346597"/>
                  <a:ext cx="492443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9pPr>
                </a:lstStyle>
                <a:p>
                  <a:r>
                    <a:rPr lang="en-US" dirty="0"/>
                    <a:t>12</a:t>
                  </a:r>
                </a:p>
              </p:txBody>
            </p:sp>
          </p:grpSp>
          <p:sp>
            <p:nvSpPr>
              <p:cNvPr id="22545" name="Line 10"/>
              <p:cNvSpPr>
                <a:spLocks noChangeShapeType="1"/>
              </p:cNvSpPr>
              <p:nvPr/>
            </p:nvSpPr>
            <p:spPr bwMode="auto">
              <a:xfrm>
                <a:off x="1202906" y="2348529"/>
                <a:ext cx="457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2541" name="Text Box 11"/>
            <p:cNvSpPr txBox="1">
              <a:spLocks noChangeArrowheads="1"/>
            </p:cNvSpPr>
            <p:nvPr/>
          </p:nvSpPr>
          <p:spPr bwMode="auto">
            <a:xfrm>
              <a:off x="2132618" y="2219372"/>
              <a:ext cx="390525" cy="584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3200" dirty="0"/>
                <a:t>*</a:t>
              </a:r>
            </a:p>
          </p:txBody>
        </p:sp>
        <p:sp>
          <p:nvSpPr>
            <p:cNvPr id="22542" name="Text Box 12"/>
            <p:cNvSpPr txBox="1">
              <a:spLocks noChangeArrowheads="1"/>
            </p:cNvSpPr>
            <p:nvPr/>
          </p:nvSpPr>
          <p:spPr bwMode="auto">
            <a:xfrm>
              <a:off x="745724" y="2178392"/>
              <a:ext cx="1518364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3200" dirty="0"/>
                <a:t>$20,000</a:t>
              </a:r>
            </a:p>
          </p:txBody>
        </p:sp>
        <p:sp>
          <p:nvSpPr>
            <p:cNvPr id="22539" name="AutoShape 14"/>
            <p:cNvSpPr>
              <a:spLocks noChangeArrowheads="1"/>
            </p:cNvSpPr>
            <p:nvPr/>
          </p:nvSpPr>
          <p:spPr bwMode="auto">
            <a:xfrm>
              <a:off x="2400575" y="1669002"/>
              <a:ext cx="1976116" cy="1537403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2434641" y="1889317"/>
              <a:ext cx="1454749" cy="1013556"/>
              <a:chOff x="2803035" y="2868773"/>
              <a:chExt cx="1454749" cy="1013556"/>
            </a:xfrm>
          </p:grpSpPr>
          <p:sp>
            <p:nvSpPr>
              <p:cNvPr id="16" name="AutoShape 14"/>
              <p:cNvSpPr>
                <a:spLocks noChangeArrowheads="1"/>
              </p:cNvSpPr>
              <p:nvPr/>
            </p:nvSpPr>
            <p:spPr bwMode="auto">
              <a:xfrm>
                <a:off x="2849226" y="2868773"/>
                <a:ext cx="1408558" cy="1013556"/>
              </a:xfrm>
              <a:prstGeom prst="bracketPair">
                <a:avLst>
                  <a:gd name="adj" fmla="val 16667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Text Box 12"/>
              <p:cNvSpPr txBox="1">
                <a:spLocks noChangeArrowheads="1"/>
              </p:cNvSpPr>
              <p:nvPr/>
            </p:nvSpPr>
            <p:spPr bwMode="auto">
              <a:xfrm>
                <a:off x="2803035" y="3148654"/>
                <a:ext cx="723275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r>
                  <a:rPr lang="en-US" sz="3200" dirty="0"/>
                  <a:t>1 +</a:t>
                </a:r>
              </a:p>
            </p:txBody>
          </p:sp>
        </p:grpSp>
        <p:sp>
          <p:nvSpPr>
            <p:cNvPr id="5" name="TextBox 4"/>
            <p:cNvSpPr txBox="1"/>
            <p:nvPr/>
          </p:nvSpPr>
          <p:spPr>
            <a:xfrm>
              <a:off x="3971282" y="1758918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charset="0"/>
                  <a:ea typeface="ＭＳ Ｐゴシック" charset="0"/>
                </a:rPr>
                <a:t>3</a:t>
              </a:r>
            </a:p>
          </p:txBody>
        </p:sp>
      </p:grpSp>
      <p:sp>
        <p:nvSpPr>
          <p:cNvPr id="21" name="Text Box 12"/>
          <p:cNvSpPr txBox="1">
            <a:spLocks noChangeArrowheads="1"/>
          </p:cNvSpPr>
          <p:nvPr/>
        </p:nvSpPr>
        <p:spPr bwMode="auto">
          <a:xfrm>
            <a:off x="4210512" y="2203517"/>
            <a:ext cx="175721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- $20,000</a:t>
            </a:r>
          </a:p>
        </p:txBody>
      </p:sp>
    </p:spTree>
    <p:extLst>
      <p:ext uri="{BB962C8B-B14F-4D97-AF65-F5344CB8AC3E}">
        <p14:creationId xmlns:p14="http://schemas.microsoft.com/office/powerpoint/2010/main" val="605836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Post journal entries</a:t>
            </a:r>
          </a:p>
          <a:p>
            <a:pPr lvl="1"/>
            <a:r>
              <a:rPr lang="en-US" dirty="0"/>
              <a:t>Reorganizes the information</a:t>
            </a:r>
          </a:p>
          <a:p>
            <a:r>
              <a:rPr lang="en-US" dirty="0"/>
              <a:t>Close temporary accounts</a:t>
            </a:r>
          </a:p>
          <a:p>
            <a:r>
              <a:rPr lang="en-US" dirty="0"/>
              <a:t>Make up financial statements</a:t>
            </a:r>
          </a:p>
        </p:txBody>
      </p:sp>
    </p:spTree>
    <p:extLst>
      <p:ext uri="{BB962C8B-B14F-4D97-AF65-F5344CB8AC3E}">
        <p14:creationId xmlns:p14="http://schemas.microsoft.com/office/powerpoint/2010/main" val="601786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881698-2B84-4CBD-9BAF-EBEF95D4E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047" y="0"/>
            <a:ext cx="411390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93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B0B09A-54DB-4403-AF81-B9ED26750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9" y="1303613"/>
            <a:ext cx="8272462" cy="253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655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D0B0D608-11A3-5C40-B972-51006378070E}" type="slidenum">
              <a:rPr lang="en-US" sz="1400">
                <a:solidFill>
                  <a:srgbClr val="FFFFFF"/>
                </a:solidFill>
              </a:rPr>
              <a:pPr/>
              <a:t>15</a:t>
            </a:fld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5605" name="Rectangle 2"/>
          <p:cNvSpPr>
            <a:spLocks noChangeArrowheads="1"/>
          </p:cNvSpPr>
          <p:nvPr/>
        </p:nvSpPr>
        <p:spPr bwMode="auto">
          <a:xfrm>
            <a:off x="0" y="295752"/>
            <a:ext cx="914400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tabLst>
                <a:tab pos="1257300" algn="l"/>
                <a:tab pos="4000500" algn="l"/>
                <a:tab pos="4572000" algn="r"/>
                <a:tab pos="4629150" algn="r"/>
              </a:tabLst>
            </a:pPr>
            <a:r>
              <a:rPr lang="en-US" sz="2000" b="1" dirty="0">
                <a:solidFill>
                  <a:srgbClr val="FFFFFF"/>
                </a:solidFill>
                <a:latin typeface="Helvetica" charset="0"/>
                <a:cs typeface="Times New Roman" charset="0"/>
              </a:rPr>
              <a:t> </a:t>
            </a:r>
            <a:endParaRPr lang="en-US" sz="2000" dirty="0">
              <a:solidFill>
                <a:srgbClr val="FFFFFF"/>
              </a:solidFill>
              <a:cs typeface="Times New Roman" charset="0"/>
            </a:endParaRPr>
          </a:p>
          <a:p>
            <a:pPr>
              <a:tabLst>
                <a:tab pos="1257300" algn="l"/>
                <a:tab pos="4000500" algn="l"/>
                <a:tab pos="4572000" algn="r"/>
                <a:tab pos="4629150" algn="r"/>
              </a:tabLst>
            </a:pPr>
            <a:r>
              <a:rPr lang="en-US" sz="2000" b="1" dirty="0">
                <a:solidFill>
                  <a:srgbClr val="FFFFFF"/>
                </a:solidFill>
                <a:latin typeface="Helvetica" charset="0"/>
                <a:cs typeface="Times New Roman" charset="0"/>
              </a:rPr>
              <a:t>					</a:t>
            </a:r>
            <a:endParaRPr lang="en-US" sz="2000" dirty="0">
              <a:solidFill>
                <a:srgbClr val="FFFFFF"/>
              </a:solidFill>
              <a:cs typeface="Times New Roman" charset="0"/>
            </a:endParaRPr>
          </a:p>
          <a:p>
            <a:pPr>
              <a:tabLst>
                <a:tab pos="1257300" algn="l"/>
                <a:tab pos="4000500" algn="l"/>
                <a:tab pos="4572000" algn="r"/>
                <a:tab pos="4629150" algn="r"/>
              </a:tabLst>
            </a:pPr>
            <a:r>
              <a:rPr lang="en-US" sz="2000" b="1" dirty="0">
                <a:solidFill>
                  <a:srgbClr val="FFFFFF"/>
                </a:solidFill>
                <a:latin typeface="Helvetica" charset="0"/>
                <a:cs typeface="Times New Roman" charset="0"/>
              </a:rPr>
              <a:t>					</a:t>
            </a:r>
            <a:endParaRPr lang="en-US" sz="2000" dirty="0">
              <a:solidFill>
                <a:srgbClr val="FFFFFF"/>
              </a:solidFill>
              <a:cs typeface="Times New Roman" charset="0"/>
            </a:endParaRPr>
          </a:p>
          <a:p>
            <a:pPr>
              <a:tabLst>
                <a:tab pos="1257300" algn="l"/>
                <a:tab pos="4000500" algn="l"/>
                <a:tab pos="4572000" algn="r"/>
                <a:tab pos="4629150" algn="r"/>
              </a:tabLst>
            </a:pPr>
            <a:br>
              <a:rPr lang="en-US" sz="2000" dirty="0">
                <a:solidFill>
                  <a:srgbClr val="FFFFFF"/>
                </a:solidFill>
                <a:cs typeface="Times New Roman" charset="0"/>
              </a:rPr>
            </a:br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54D770-2F0B-44F0-9B0C-5CC6F08B2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996" y="152062"/>
            <a:ext cx="5430008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096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6257C160-F52D-7343-8494-A924C6C58166}" type="slidenum">
              <a:rPr lang="en-US" sz="1400"/>
              <a:pPr/>
              <a:t>16</a:t>
            </a:fld>
            <a:endParaRPr lang="en-US" sz="1400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charset="0"/>
              </a:rPr>
              <a:t>Observations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00150"/>
            <a:ext cx="8556796" cy="32003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charset="0"/>
              </a:rPr>
              <a:t>Which notation is better? 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charset="0"/>
              </a:rPr>
              <a:t>Equations	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charset="0"/>
              </a:rPr>
              <a:t>T-accounts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charset="0"/>
              </a:rPr>
              <a:t>Temporary </a:t>
            </a:r>
            <a:r>
              <a:rPr lang="en-US" sz="2800">
                <a:latin typeface="Times New Roman" charset="0"/>
              </a:rPr>
              <a:t>accounts handle </a:t>
            </a:r>
            <a:r>
              <a:rPr lang="en-US" sz="2800" dirty="0">
                <a:latin typeface="Times New Roman" charset="0"/>
              </a:rPr>
              <a:t>changes in </a:t>
            </a:r>
            <a:r>
              <a:rPr lang="en-US" sz="2800" b="1" dirty="0">
                <a:latin typeface="Times New Roman" charset="0"/>
              </a:rPr>
              <a:t>Retained earnings</a:t>
            </a:r>
            <a:r>
              <a:rPr lang="en-US" sz="2800" dirty="0">
                <a:latin typeface="Times New Roman" charset="0"/>
              </a:rPr>
              <a:t> resulting from operations</a:t>
            </a:r>
          </a:p>
        </p:txBody>
      </p:sp>
    </p:spTree>
    <p:extLst>
      <p:ext uri="{BB962C8B-B14F-4D97-AF65-F5344CB8AC3E}">
        <p14:creationId xmlns:p14="http://schemas.microsoft.com/office/powerpoint/2010/main" val="104204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9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practice</a:t>
            </a:r>
          </a:p>
        </p:txBody>
      </p:sp>
    </p:spTree>
    <p:extLst>
      <p:ext uri="{BB962C8B-B14F-4D97-AF65-F5344CB8AC3E}">
        <p14:creationId xmlns:p14="http://schemas.microsoft.com/office/powerpoint/2010/main" val="3815756219"/>
      </p:ext>
    </p:extLst>
  </p:cSld>
  <p:clrMapOvr>
    <a:masterClrMapping/>
  </p:clrMapOvr>
</p:sld>
</file>

<file path=ppt/theme/theme1.xml><?xml version="1.0" encoding="utf-8"?>
<a:theme xmlns:a="http://schemas.openxmlformats.org/drawingml/2006/main" name="YLS-Class-White-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LS-Class-White-Wide" id="{FC389A1B-E968-D746-B776-04763A1C274E}" vid="{838FC14C-AF7B-BA46-B771-EC34DF01D7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YLS-Class-White-Wide</Template>
  <TotalTime>9556</TotalTime>
  <Words>357</Words>
  <Application>Microsoft Office PowerPoint</Application>
  <PresentationFormat>On-screen Show (16:9)</PresentationFormat>
  <Paragraphs>121</Paragraphs>
  <Slides>17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YLS-Class-White-Wide</vt:lpstr>
      <vt:lpstr>Financial Accounting LAW 21474</vt:lpstr>
      <vt:lpstr>Today</vt:lpstr>
      <vt:lpstr>Debits and credits</vt:lpstr>
      <vt:lpstr>Rick and stan’s business</vt:lpstr>
      <vt:lpstr>Here’s What We Will Do</vt:lpstr>
      <vt:lpstr>Along the Way, We Will:</vt:lpstr>
      <vt:lpstr>Depreciation</vt:lpstr>
      <vt:lpstr>Calculation of depreciation</vt:lpstr>
      <vt:lpstr>Prepaid Rent</vt:lpstr>
      <vt:lpstr>Calculation of rent</vt:lpstr>
      <vt:lpstr>Calculation of interest</vt:lpstr>
      <vt:lpstr>Next Steps</vt:lpstr>
      <vt:lpstr>PowerPoint Presentation</vt:lpstr>
      <vt:lpstr>PowerPoint Presentation</vt:lpstr>
      <vt:lpstr>PowerPoint Presentation</vt:lpstr>
      <vt:lpstr>Observations</vt:lpstr>
      <vt:lpstr>Next Time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Accounting LAW 21474</dc:title>
  <dc:creator>rantle</dc:creator>
  <cp:lastModifiedBy>Antle, Rick</cp:lastModifiedBy>
  <cp:revision>12</cp:revision>
  <cp:lastPrinted>2019-01-22T20:43:59Z</cp:lastPrinted>
  <dcterms:created xsi:type="dcterms:W3CDTF">2018-01-16T22:21:00Z</dcterms:created>
  <dcterms:modified xsi:type="dcterms:W3CDTF">2026-01-21T21:07:54Z</dcterms:modified>
</cp:coreProperties>
</file>