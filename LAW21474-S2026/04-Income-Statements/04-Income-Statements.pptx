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86" r:id="rId4"/>
    <p:sldId id="279" r:id="rId5"/>
    <p:sldId id="280" r:id="rId6"/>
    <p:sldId id="308" r:id="rId7"/>
    <p:sldId id="309" r:id="rId8"/>
    <p:sldId id="310" r:id="rId9"/>
    <p:sldId id="28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305" r:id="rId19"/>
    <p:sldId id="306" r:id="rId20"/>
    <p:sldId id="307" r:id="rId21"/>
    <p:sldId id="264" r:id="rId22"/>
    <p:sldId id="265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60"/>
  </p:normalViewPr>
  <p:slideViewPr>
    <p:cSldViewPr>
      <p:cViewPr varScale="1">
        <p:scale>
          <a:sx n="124" d="100"/>
          <a:sy n="124" d="100"/>
        </p:scale>
        <p:origin x="456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1A6E6233-9DFC-42EF-AB27-E5EC872373EE}"/>
    <pc:docChg chg="modSld">
      <pc:chgData name="Antle, Rick" userId="c2afbbd2-30e4-4c8e-8af5-81913178ace3" providerId="ADAL" clId="{1A6E6233-9DFC-42EF-AB27-E5EC872373EE}" dt="2025-01-27T19:54:38.236" v="5" actId="20577"/>
      <pc:docMkLst>
        <pc:docMk/>
      </pc:docMkLst>
      <pc:sldChg chg="modSp mod">
        <pc:chgData name="Antle, Rick" userId="c2afbbd2-30e4-4c8e-8af5-81913178ace3" providerId="ADAL" clId="{1A6E6233-9DFC-42EF-AB27-E5EC872373EE}" dt="2025-01-27T19:54:38.236" v="5" actId="20577"/>
        <pc:sldMkLst>
          <pc:docMk/>
          <pc:sldMk cId="2464952412" sldId="256"/>
        </pc:sldMkLst>
        <pc:spChg chg="mod">
          <ac:chgData name="Antle, Rick" userId="c2afbbd2-30e4-4c8e-8af5-81913178ace3" providerId="ADAL" clId="{1A6E6233-9DFC-42EF-AB27-E5EC872373EE}" dt="2025-01-27T19:54:38.236" v="5" actId="20577"/>
          <ac:spMkLst>
            <pc:docMk/>
            <pc:sldMk cId="2464952412" sldId="256"/>
            <ac:spMk id="2" creationId="{00000000-0000-0000-0000-000000000000}"/>
          </ac:spMkLst>
        </pc:spChg>
      </pc:sldChg>
    </pc:docChg>
  </pc:docChgLst>
  <pc:docChgLst>
    <pc:chgData name="Antle, Rick" userId="c2afbbd2-30e4-4c8e-8af5-81913178ace3" providerId="ADAL" clId="{734B0794-5184-3843-9838-B943A4634F55}"/>
    <pc:docChg chg="custSel addSld delSld modSld modShowInfo">
      <pc:chgData name="Antle, Rick" userId="c2afbbd2-30e4-4c8e-8af5-81913178ace3" providerId="ADAL" clId="{734B0794-5184-3843-9838-B943A4634F55}" dt="2022-09-05T20:11:08.103" v="1491" actId="2744"/>
      <pc:docMkLst>
        <pc:docMk/>
      </pc:docMkLst>
      <pc:sldChg chg="modSp mod">
        <pc:chgData name="Antle, Rick" userId="c2afbbd2-30e4-4c8e-8af5-81913178ace3" providerId="ADAL" clId="{734B0794-5184-3843-9838-B943A4634F55}" dt="2022-09-05T18:30:11.410" v="5" actId="20577"/>
        <pc:sldMkLst>
          <pc:docMk/>
          <pc:sldMk cId="2464952412" sldId="256"/>
        </pc:sldMkLst>
      </pc:sldChg>
      <pc:sldChg chg="modSp modAnim">
        <pc:chgData name="Antle, Rick" userId="c2afbbd2-30e4-4c8e-8af5-81913178ace3" providerId="ADAL" clId="{734B0794-5184-3843-9838-B943A4634F55}" dt="2022-09-05T19:02:13.257" v="1449" actId="20577"/>
        <pc:sldMkLst>
          <pc:docMk/>
          <pc:sldMk cId="104204649" sldId="264"/>
        </pc:sldMkLst>
      </pc:sldChg>
      <pc:sldChg chg="modSp mod">
        <pc:chgData name="Antle, Rick" userId="c2afbbd2-30e4-4c8e-8af5-81913178ace3" providerId="ADAL" clId="{734B0794-5184-3843-9838-B943A4634F55}" dt="2022-09-05T18:31:48.176" v="143" actId="20577"/>
        <pc:sldMkLst>
          <pc:docMk/>
          <pc:sldMk cId="3881998421" sldId="266"/>
        </pc:sldMkLst>
      </pc:sldChg>
      <pc:sldChg chg="modSp mod">
        <pc:chgData name="Antle, Rick" userId="c2afbbd2-30e4-4c8e-8af5-81913178ace3" providerId="ADAL" clId="{734B0794-5184-3843-9838-B943A4634F55}" dt="2022-09-05T18:47:33.546" v="713" actId="27636"/>
        <pc:sldMkLst>
          <pc:docMk/>
          <pc:sldMk cId="1173716847" sldId="269"/>
        </pc:sldMkLst>
      </pc:sldChg>
      <pc:sldChg chg="modSp mod">
        <pc:chgData name="Antle, Rick" userId="c2afbbd2-30e4-4c8e-8af5-81913178ace3" providerId="ADAL" clId="{734B0794-5184-3843-9838-B943A4634F55}" dt="2022-09-05T18:54:46.811" v="1372" actId="6549"/>
        <pc:sldMkLst>
          <pc:docMk/>
          <pc:sldMk cId="1495247987" sldId="270"/>
        </pc:sldMkLst>
      </pc:sldChg>
      <pc:sldChg chg="modSp mod">
        <pc:chgData name="Antle, Rick" userId="c2afbbd2-30e4-4c8e-8af5-81913178ace3" providerId="ADAL" clId="{734B0794-5184-3843-9838-B943A4634F55}" dt="2022-09-05T18:55:27.233" v="1373" actId="6549"/>
        <pc:sldMkLst>
          <pc:docMk/>
          <pc:sldMk cId="1212728464" sldId="276"/>
        </pc:sldMkLst>
      </pc:sldChg>
      <pc:sldChg chg="addSp delSp modSp mod">
        <pc:chgData name="Antle, Rick" userId="c2afbbd2-30e4-4c8e-8af5-81913178ace3" providerId="ADAL" clId="{734B0794-5184-3843-9838-B943A4634F55}" dt="2022-09-05T18:37:09.844" v="154" actId="1076"/>
        <pc:sldMkLst>
          <pc:docMk/>
          <pc:sldMk cId="2982045246" sldId="279"/>
        </pc:sldMkLst>
      </pc:sldChg>
      <pc:sldChg chg="addSp delSp modSp mod modClrScheme chgLayout">
        <pc:chgData name="Antle, Rick" userId="c2afbbd2-30e4-4c8e-8af5-81913178ace3" providerId="ADAL" clId="{734B0794-5184-3843-9838-B943A4634F55}" dt="2022-09-05T19:03:50.987" v="1478" actId="20577"/>
        <pc:sldMkLst>
          <pc:docMk/>
          <pc:sldMk cId="2662488845" sldId="280"/>
        </pc:sldMkLst>
      </pc:sldChg>
      <pc:sldChg chg="del">
        <pc:chgData name="Antle, Rick" userId="c2afbbd2-30e4-4c8e-8af5-81913178ace3" providerId="ADAL" clId="{734B0794-5184-3843-9838-B943A4634F55}" dt="2022-09-05T18:37:46.206" v="160" actId="2696"/>
        <pc:sldMkLst>
          <pc:docMk/>
          <pc:sldMk cId="3200697000" sldId="281"/>
        </pc:sldMkLst>
      </pc:sldChg>
      <pc:sldChg chg="modSp del mod">
        <pc:chgData name="Antle, Rick" userId="c2afbbd2-30e4-4c8e-8af5-81913178ace3" providerId="ADAL" clId="{734B0794-5184-3843-9838-B943A4634F55}" dt="2022-09-05T18:46:35.065" v="665" actId="2696"/>
        <pc:sldMkLst>
          <pc:docMk/>
          <pc:sldMk cId="131289833" sldId="282"/>
        </pc:sldMkLst>
      </pc:sldChg>
      <pc:sldChg chg="del">
        <pc:chgData name="Antle, Rick" userId="c2afbbd2-30e4-4c8e-8af5-81913178ace3" providerId="ADAL" clId="{734B0794-5184-3843-9838-B943A4634F55}" dt="2022-09-05T18:38:35.980" v="162" actId="2696"/>
        <pc:sldMkLst>
          <pc:docMk/>
          <pc:sldMk cId="4249518447" sldId="283"/>
        </pc:sldMkLst>
      </pc:sldChg>
      <pc:sldChg chg="modSp del mod">
        <pc:chgData name="Antle, Rick" userId="c2afbbd2-30e4-4c8e-8af5-81913178ace3" providerId="ADAL" clId="{734B0794-5184-3843-9838-B943A4634F55}" dt="2022-09-05T18:46:36.861" v="666" actId="2696"/>
        <pc:sldMkLst>
          <pc:docMk/>
          <pc:sldMk cId="4186657827" sldId="284"/>
        </pc:sldMkLst>
      </pc:sldChg>
      <pc:sldChg chg="delSp del mod">
        <pc:chgData name="Antle, Rick" userId="c2afbbd2-30e4-4c8e-8af5-81913178ace3" providerId="ADAL" clId="{734B0794-5184-3843-9838-B943A4634F55}" dt="2022-09-05T18:46:38.792" v="667" actId="2696"/>
        <pc:sldMkLst>
          <pc:docMk/>
          <pc:sldMk cId="580298891" sldId="285"/>
        </pc:sldMkLst>
      </pc:sldChg>
      <pc:sldChg chg="modSp mod">
        <pc:chgData name="Antle, Rick" userId="c2afbbd2-30e4-4c8e-8af5-81913178ace3" providerId="ADAL" clId="{734B0794-5184-3843-9838-B943A4634F55}" dt="2022-09-05T19:03:42.235" v="1477" actId="20577"/>
        <pc:sldMkLst>
          <pc:docMk/>
          <pc:sldMk cId="1889592106" sldId="286"/>
        </pc:sldMkLst>
      </pc:sldChg>
      <pc:sldChg chg="addSp new">
        <pc:chgData name="Antle, Rick" userId="c2afbbd2-30e4-4c8e-8af5-81913178ace3" providerId="ADAL" clId="{734B0794-5184-3843-9838-B943A4634F55}" dt="2022-09-05T19:04:43.170" v="1480"/>
        <pc:sldMkLst>
          <pc:docMk/>
          <pc:sldMk cId="536986541" sldId="308"/>
        </pc:sldMkLst>
      </pc:sldChg>
      <pc:sldChg chg="del">
        <pc:chgData name="Antle, Rick" userId="c2afbbd2-30e4-4c8e-8af5-81913178ace3" providerId="ADAL" clId="{734B0794-5184-3843-9838-B943A4634F55}" dt="2022-09-05T18:56:04.976" v="1374" actId="2696"/>
        <pc:sldMkLst>
          <pc:docMk/>
          <pc:sldMk cId="944131218" sldId="308"/>
        </pc:sldMkLst>
      </pc:sldChg>
      <pc:sldChg chg="addSp modSp new mod">
        <pc:chgData name="Antle, Rick" userId="c2afbbd2-30e4-4c8e-8af5-81913178ace3" providerId="ADAL" clId="{734B0794-5184-3843-9838-B943A4634F55}" dt="2022-09-05T19:06:23.471" v="1490" actId="1076"/>
        <pc:sldMkLst>
          <pc:docMk/>
          <pc:sldMk cId="1334016635" sldId="309"/>
        </pc:sldMkLst>
      </pc:sldChg>
      <pc:sldChg chg="del">
        <pc:chgData name="Antle, Rick" userId="c2afbbd2-30e4-4c8e-8af5-81913178ace3" providerId="ADAL" clId="{734B0794-5184-3843-9838-B943A4634F55}" dt="2022-09-05T18:56:08.537" v="1375" actId="2696"/>
        <pc:sldMkLst>
          <pc:docMk/>
          <pc:sldMk cId="1479072615" sldId="309"/>
        </pc:sldMkLst>
      </pc:sldChg>
      <pc:sldChg chg="addSp modSp new mod">
        <pc:chgData name="Antle, Rick" userId="c2afbbd2-30e4-4c8e-8af5-81913178ace3" providerId="ADAL" clId="{734B0794-5184-3843-9838-B943A4634F55}" dt="2022-09-05T19:05:39.311" v="1486" actId="14100"/>
        <pc:sldMkLst>
          <pc:docMk/>
          <pc:sldMk cId="3580633836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44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30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55283" indent="-29049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61974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2676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9155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5634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02113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8592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95071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C7AB46F-30D7-4646-8B63-0FE61E078F06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165850" cy="3468687"/>
          </a:xfrm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62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Accounting</a:t>
            </a:r>
            <a:br>
              <a:rPr lang="en-US" dirty="0"/>
            </a:br>
            <a:r>
              <a:rPr lang="en-US"/>
              <a:t>LAW 21474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4: Income Statements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RetailBiz</a:t>
            </a:r>
            <a:r>
              <a:rPr lang="en-US" dirty="0"/>
              <a:t>, Inc.</a:t>
            </a:r>
          </a:p>
          <a:p>
            <a:r>
              <a:rPr lang="en-US" dirty="0"/>
              <a:t>Start Rick and Stan’s Business</a:t>
            </a:r>
          </a:p>
          <a:p>
            <a:pPr lvl="1"/>
            <a:r>
              <a:rPr lang="en-US" dirty="0"/>
              <a:t>Journal Entries</a:t>
            </a:r>
          </a:p>
          <a:p>
            <a:pPr lvl="1"/>
            <a:r>
              <a:rPr lang="en-US" dirty="0"/>
              <a:t>Adjustments</a:t>
            </a:r>
          </a:p>
          <a:p>
            <a:pPr lvl="2"/>
            <a:r>
              <a:rPr lang="en-US" dirty="0"/>
              <a:t>Depreciation Expense</a:t>
            </a:r>
          </a:p>
          <a:p>
            <a:pPr lvl="2"/>
            <a:r>
              <a:rPr lang="en-US" dirty="0"/>
              <a:t>Rent Expense</a:t>
            </a:r>
          </a:p>
          <a:p>
            <a:pPr lvl="2"/>
            <a:r>
              <a:rPr lang="en-US" dirty="0"/>
              <a:t>Interest Expense</a:t>
            </a:r>
          </a:p>
          <a:p>
            <a:pPr lvl="1"/>
            <a:r>
              <a:rPr lang="en-US" dirty="0"/>
              <a:t>Closing</a:t>
            </a:r>
          </a:p>
          <a:p>
            <a:pPr lvl="1"/>
            <a:r>
              <a:rPr lang="en-US" dirty="0"/>
              <a:t>Prepare balance sheet, statement of shareholders’ equity, and income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E3C-4222-497F-897B-9F54A96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Retailbiz</a:t>
            </a:r>
            <a:r>
              <a:rPr lang="en-US" dirty="0"/>
              <a:t>, inc.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C536-BD4F-4718-9A98-470DB970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9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D23E4A-58F7-A023-C56F-974EAA04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9550"/>
            <a:ext cx="6781800" cy="425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4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RetailBiz</a:t>
            </a:r>
            <a:r>
              <a:rPr lang="en-US" dirty="0"/>
              <a:t>, Inc.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601C20-237C-B5F0-6EB0-532BF8507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1: Prepare starting point</a:t>
            </a:r>
          </a:p>
          <a:p>
            <a:pPr lvl="1"/>
            <a:r>
              <a:rPr lang="en-US" dirty="0"/>
              <a:t>Enter beginning Balance Sheet</a:t>
            </a:r>
          </a:p>
          <a:p>
            <a:pPr lvl="1"/>
            <a:r>
              <a:rPr lang="en-US" dirty="0"/>
              <a:t>Enter beginning balances in Statement of Shareholders’ Equity</a:t>
            </a:r>
          </a:p>
          <a:p>
            <a:r>
              <a:rPr lang="en-US" dirty="0"/>
              <a:t>Step 2: Record transactions and events</a:t>
            </a:r>
          </a:p>
          <a:p>
            <a:r>
              <a:rPr lang="en-US" dirty="0"/>
              <a:t>Step 3: Make adjustments</a:t>
            </a:r>
          </a:p>
          <a:p>
            <a:r>
              <a:rPr lang="en-US" dirty="0"/>
              <a:t>Step 4: Close temporary accounts</a:t>
            </a:r>
          </a:p>
          <a:p>
            <a:r>
              <a:rPr lang="en-US" dirty="0"/>
              <a:t>Step 5: Prepare financial statements </a:t>
            </a:r>
          </a:p>
        </p:txBody>
      </p:sp>
    </p:spTree>
    <p:extLst>
      <p:ext uri="{BB962C8B-B14F-4D97-AF65-F5344CB8AC3E}">
        <p14:creationId xmlns:p14="http://schemas.microsoft.com/office/powerpoint/2010/main" val="266248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B9E5A9-6483-3A64-E487-BDB08109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5750"/>
            <a:ext cx="47244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8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9EDC16-4E14-049E-B901-BD628983E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742950"/>
            <a:ext cx="5867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1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F7E972-CB35-EB33-DDD8-E764F4C94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428750"/>
            <a:ext cx="7911193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3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E3C-4222-497F-897B-9F54A96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Rick and stan’s business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C536-BD4F-4718-9A98-470DB970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0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Rick and Stan’s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1: Prepare starting point</a:t>
            </a:r>
          </a:p>
          <a:p>
            <a:pPr lvl="1"/>
            <a:r>
              <a:rPr lang="en-US" dirty="0"/>
              <a:t>Enter beginning Balance Sheet</a:t>
            </a:r>
          </a:p>
          <a:p>
            <a:pPr lvl="1"/>
            <a:r>
              <a:rPr lang="en-US" dirty="0"/>
              <a:t>Enter beginning balances in Statement of Shareholders’ Equity</a:t>
            </a:r>
          </a:p>
          <a:p>
            <a:r>
              <a:rPr lang="en-US" dirty="0"/>
              <a:t>Step 2: Record transactions and events</a:t>
            </a:r>
          </a:p>
          <a:p>
            <a:r>
              <a:rPr lang="en-US" dirty="0"/>
              <a:t>Step 3: Make adjustments</a:t>
            </a:r>
          </a:p>
          <a:p>
            <a:r>
              <a:rPr lang="en-US" dirty="0"/>
              <a:t>Step 4: Close temporary accounts</a:t>
            </a:r>
          </a:p>
          <a:p>
            <a:r>
              <a:rPr lang="en-US" dirty="0"/>
              <a:t>Step 5: Prepare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117371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Go to T-accounts</a:t>
            </a:r>
          </a:p>
          <a:p>
            <a:pPr lvl="1"/>
            <a:r>
              <a:rPr lang="en-US" dirty="0"/>
              <a:t>Are we comfortable preparing financial statements from:</a:t>
            </a:r>
          </a:p>
          <a:p>
            <a:pPr lvl="2"/>
            <a:r>
              <a:rPr lang="en-US" dirty="0"/>
              <a:t>Balance Sheet: Ending balances  </a:t>
            </a:r>
          </a:p>
          <a:p>
            <a:pPr lvl="2"/>
            <a:r>
              <a:rPr lang="en-US" dirty="0"/>
              <a:t>Income Statement: Totals from the temporary accounts</a:t>
            </a:r>
          </a:p>
          <a:p>
            <a:pPr lvl="2"/>
            <a:r>
              <a:rPr lang="en-US" dirty="0"/>
              <a:t>Statement of Shareholders’ Equity: Ending balances and totals from temporary accounts?</a:t>
            </a:r>
          </a:p>
          <a:p>
            <a:r>
              <a:rPr lang="en-US" dirty="0"/>
              <a:t>Yes</a:t>
            </a:r>
          </a:p>
          <a:p>
            <a:pPr lvl="1"/>
            <a:r>
              <a:rPr lang="en-US" dirty="0"/>
              <a:t>Close temporary accounts</a:t>
            </a:r>
          </a:p>
          <a:p>
            <a:pPr lvl="1"/>
            <a:r>
              <a:rPr lang="en-US" dirty="0"/>
              <a:t>Prepare financial statements</a:t>
            </a:r>
          </a:p>
          <a:p>
            <a:r>
              <a:rPr lang="en-US" dirty="0"/>
              <a:t>No</a:t>
            </a:r>
          </a:p>
          <a:p>
            <a:pPr lvl="1"/>
            <a:r>
              <a:rPr lang="en-US" dirty="0"/>
              <a:t>Make adjusting entries</a:t>
            </a:r>
          </a:p>
          <a:p>
            <a:pPr lvl="1"/>
            <a:r>
              <a:rPr lang="en-US" dirty="0"/>
              <a:t>Close temporary accounts</a:t>
            </a:r>
          </a:p>
          <a:p>
            <a:pPr lvl="1"/>
            <a:r>
              <a:rPr lang="en-US" dirty="0"/>
              <a:t>Prepare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1495247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Depreciation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678180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66" name="Group 5"/>
          <p:cNvGrpSpPr>
            <a:grpSpLocks/>
          </p:cNvGrpSpPr>
          <p:nvPr/>
        </p:nvGrpSpPr>
        <p:grpSpPr bwMode="auto">
          <a:xfrm>
            <a:off x="457200" y="1428750"/>
            <a:ext cx="8439151" cy="628650"/>
            <a:chOff x="288" y="1200"/>
            <a:chExt cx="5316" cy="528"/>
          </a:xfrm>
        </p:grpSpPr>
        <p:sp>
          <p:nvSpPr>
            <p:cNvPr id="18467" name="Text Box 6"/>
            <p:cNvSpPr txBox="1">
              <a:spLocks noChangeArrowheads="1"/>
            </p:cNvSpPr>
            <p:nvPr/>
          </p:nvSpPr>
          <p:spPr bwMode="auto">
            <a:xfrm>
              <a:off x="288" y="1248"/>
              <a:ext cx="102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Oct 1, 2005</a:t>
              </a:r>
            </a:p>
          </p:txBody>
        </p:sp>
        <p:sp>
          <p:nvSpPr>
            <p:cNvPr id="18468" name="Line 7"/>
            <p:cNvSpPr>
              <a:spLocks noChangeShapeType="1"/>
            </p:cNvSpPr>
            <p:nvPr/>
          </p:nvSpPr>
          <p:spPr bwMode="auto">
            <a:xfrm>
              <a:off x="720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Line 8"/>
            <p:cNvSpPr>
              <a:spLocks noChangeShapeType="1"/>
            </p:cNvSpPr>
            <p:nvPr/>
          </p:nvSpPr>
          <p:spPr bwMode="auto">
            <a:xfrm>
              <a:off x="16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9"/>
            <p:cNvSpPr>
              <a:spLocks noChangeShapeType="1"/>
            </p:cNvSpPr>
            <p:nvPr/>
          </p:nvSpPr>
          <p:spPr bwMode="auto">
            <a:xfrm>
              <a:off x="2544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Line 10"/>
            <p:cNvSpPr>
              <a:spLocks noChangeShapeType="1"/>
            </p:cNvSpPr>
            <p:nvPr/>
          </p:nvSpPr>
          <p:spPr bwMode="auto">
            <a:xfrm>
              <a:off x="3408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11"/>
            <p:cNvSpPr>
              <a:spLocks noChangeShapeType="1"/>
            </p:cNvSpPr>
            <p:nvPr/>
          </p:nvSpPr>
          <p:spPr bwMode="auto">
            <a:xfrm>
              <a:off x="499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" name="Text Box 12"/>
            <p:cNvSpPr txBox="1">
              <a:spLocks noChangeArrowheads="1"/>
            </p:cNvSpPr>
            <p:nvPr/>
          </p:nvSpPr>
          <p:spPr bwMode="auto">
            <a:xfrm>
              <a:off x="4416" y="1200"/>
              <a:ext cx="1188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Sept 30, 2010</a:t>
              </a:r>
            </a:p>
          </p:txBody>
        </p:sp>
        <p:sp>
          <p:nvSpPr>
            <p:cNvPr id="18474" name="Line 13"/>
            <p:cNvSpPr>
              <a:spLocks noChangeShapeType="1"/>
            </p:cNvSpPr>
            <p:nvPr/>
          </p:nvSpPr>
          <p:spPr bwMode="auto">
            <a:xfrm>
              <a:off x="4176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70104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5715000" y="200977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Line 16"/>
          <p:cNvSpPr>
            <a:spLocks noChangeShapeType="1"/>
          </p:cNvSpPr>
          <p:nvPr/>
        </p:nvSpPr>
        <p:spPr bwMode="auto">
          <a:xfrm>
            <a:off x="44196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auto">
          <a:xfrm>
            <a:off x="29718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2000" y="2000251"/>
            <a:ext cx="1833563" cy="919163"/>
            <a:chOff x="480" y="1680"/>
            <a:chExt cx="1155" cy="772"/>
          </a:xfrm>
        </p:grpSpPr>
        <p:sp>
          <p:nvSpPr>
            <p:cNvPr id="18463" name="Line 19"/>
            <p:cNvSpPr>
              <a:spLocks noChangeShapeType="1"/>
            </p:cNvSpPr>
            <p:nvPr/>
          </p:nvSpPr>
          <p:spPr bwMode="auto">
            <a:xfrm>
              <a:off x="1008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20"/>
            <p:cNvSpPr txBox="1">
              <a:spLocks noChangeArrowheads="1"/>
            </p:cNvSpPr>
            <p:nvPr/>
          </p:nvSpPr>
          <p:spPr bwMode="auto">
            <a:xfrm>
              <a:off x="480" y="2064"/>
              <a:ext cx="1155" cy="388"/>
            </a:xfrm>
            <a:prstGeom prst="rect">
              <a:avLst/>
            </a:prstGeom>
            <a:noFill/>
            <a:ln w="9525">
              <a:noFill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</a:lstStyle>
            <a:p>
              <a:r>
                <a:rPr lang="en-US" sz="2400" dirty="0"/>
                <a:t>Dec 31, 2005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162800" y="2000251"/>
            <a:ext cx="1833563" cy="1033463"/>
            <a:chOff x="4512" y="1680"/>
            <a:chExt cx="1155" cy="868"/>
          </a:xfrm>
        </p:grpSpPr>
        <p:sp>
          <p:nvSpPr>
            <p:cNvPr id="18461" name="Line 22"/>
            <p:cNvSpPr>
              <a:spLocks noChangeShapeType="1"/>
            </p:cNvSpPr>
            <p:nvPr/>
          </p:nvSpPr>
          <p:spPr bwMode="auto">
            <a:xfrm>
              <a:off x="5264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Text Box 23"/>
            <p:cNvSpPr txBox="1">
              <a:spLocks noChangeArrowheads="1"/>
            </p:cNvSpPr>
            <p:nvPr/>
          </p:nvSpPr>
          <p:spPr bwMode="auto">
            <a:xfrm>
              <a:off x="4512" y="2160"/>
              <a:ext cx="115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Dec 31, 2010</a:t>
              </a:r>
            </a:p>
          </p:txBody>
        </p:sp>
      </p:grpSp>
      <p:sp>
        <p:nvSpPr>
          <p:cNvPr id="92184" name="AutoShape 24"/>
          <p:cNvSpPr>
            <a:spLocks/>
          </p:cNvSpPr>
          <p:nvPr/>
        </p:nvSpPr>
        <p:spPr bwMode="auto">
          <a:xfrm rot="5400000">
            <a:off x="2114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5" name="AutoShape 25"/>
          <p:cNvSpPr>
            <a:spLocks/>
          </p:cNvSpPr>
          <p:nvPr/>
        </p:nvSpPr>
        <p:spPr bwMode="auto">
          <a:xfrm rot="5400000">
            <a:off x="3524250" y="2305050"/>
            <a:ext cx="342900" cy="1447800"/>
          </a:xfrm>
          <a:prstGeom prst="rightBrace">
            <a:avLst>
              <a:gd name="adj1" fmla="val 26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AutoShape 26"/>
          <p:cNvSpPr>
            <a:spLocks/>
          </p:cNvSpPr>
          <p:nvPr/>
        </p:nvSpPr>
        <p:spPr bwMode="auto">
          <a:xfrm rot="5400000">
            <a:off x="49339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AutoShape 27"/>
          <p:cNvSpPr>
            <a:spLocks/>
          </p:cNvSpPr>
          <p:nvPr/>
        </p:nvSpPr>
        <p:spPr bwMode="auto">
          <a:xfrm rot="5400000">
            <a:off x="6305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362200" y="3257552"/>
            <a:ext cx="4114800" cy="862013"/>
            <a:chOff x="1488" y="2736"/>
            <a:chExt cx="2592" cy="724"/>
          </a:xfrm>
        </p:grpSpPr>
        <p:sp>
          <p:nvSpPr>
            <p:cNvPr id="18456" name="Text Box 29"/>
            <p:cNvSpPr txBox="1">
              <a:spLocks noChangeArrowheads="1"/>
            </p:cNvSpPr>
            <p:nvPr/>
          </p:nvSpPr>
          <p:spPr bwMode="auto">
            <a:xfrm>
              <a:off x="1968" y="3072"/>
              <a:ext cx="20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One year of depreciation</a:t>
              </a:r>
            </a:p>
          </p:txBody>
        </p:sp>
        <p:sp>
          <p:nvSpPr>
            <p:cNvPr id="18457" name="Line 30"/>
            <p:cNvSpPr>
              <a:spLocks noChangeShapeType="1"/>
            </p:cNvSpPr>
            <p:nvPr/>
          </p:nvSpPr>
          <p:spPr bwMode="auto">
            <a:xfrm flipH="1" flipV="1">
              <a:off x="1488" y="2736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31"/>
            <p:cNvSpPr>
              <a:spLocks noChangeShapeType="1"/>
            </p:cNvSpPr>
            <p:nvPr/>
          </p:nvSpPr>
          <p:spPr bwMode="auto">
            <a:xfrm flipV="1">
              <a:off x="235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32"/>
            <p:cNvSpPr>
              <a:spLocks noChangeShapeType="1"/>
            </p:cNvSpPr>
            <p:nvPr/>
          </p:nvSpPr>
          <p:spPr bwMode="auto">
            <a:xfrm flipV="1">
              <a:off x="3216" y="27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33"/>
            <p:cNvSpPr>
              <a:spLocks noChangeShapeType="1"/>
            </p:cNvSpPr>
            <p:nvPr/>
          </p:nvSpPr>
          <p:spPr bwMode="auto">
            <a:xfrm flipV="1">
              <a:off x="3888" y="27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1" y="2857501"/>
            <a:ext cx="2036763" cy="1703785"/>
            <a:chOff x="240" y="2400"/>
            <a:chExt cx="1283" cy="1431"/>
          </a:xfrm>
        </p:grpSpPr>
        <p:sp>
          <p:nvSpPr>
            <p:cNvPr id="18454" name="Text Box 35"/>
            <p:cNvSpPr txBox="1">
              <a:spLocks noChangeArrowheads="1"/>
            </p:cNvSpPr>
            <p:nvPr/>
          </p:nvSpPr>
          <p:spPr bwMode="auto">
            <a:xfrm>
              <a:off x="240" y="3133"/>
              <a:ext cx="1283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3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5" name="Line 36"/>
            <p:cNvSpPr>
              <a:spLocks noChangeShapeType="1"/>
            </p:cNvSpPr>
            <p:nvPr/>
          </p:nvSpPr>
          <p:spPr bwMode="auto">
            <a:xfrm flipV="1">
              <a:off x="576" y="2400"/>
              <a:ext cx="144" cy="7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781801" y="2977011"/>
            <a:ext cx="2036763" cy="1658637"/>
            <a:chOff x="4272" y="2448"/>
            <a:chExt cx="1283" cy="1443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272" y="3168"/>
              <a:ext cx="1283" cy="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V="1">
              <a:off x="4848" y="2448"/>
              <a:ext cx="9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7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4" grpId="0" animBg="1"/>
      <p:bldP spid="92175" grpId="0" animBg="1"/>
      <p:bldP spid="92176" grpId="0" animBg="1"/>
      <p:bldP spid="92177" grpId="0" animBg="1"/>
      <p:bldP spid="92184" grpId="0" animBg="1"/>
      <p:bldP spid="92185" grpId="0" animBg="1"/>
      <p:bldP spid="92186" grpId="0" animBg="1"/>
      <p:bldP spid="921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depreciation</a:t>
            </a:r>
          </a:p>
        </p:txBody>
      </p:sp>
      <p:sp>
        <p:nvSpPr>
          <p:cNvPr id="19481" name="Text Box 6"/>
          <p:cNvSpPr txBox="1">
            <a:spLocks noChangeArrowheads="1"/>
          </p:cNvSpPr>
          <p:nvPr/>
        </p:nvSpPr>
        <p:spPr bwMode="auto">
          <a:xfrm>
            <a:off x="2246314" y="182879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$60k</a:t>
            </a:r>
          </a:p>
        </p:txBody>
      </p:sp>
      <p:sp>
        <p:nvSpPr>
          <p:cNvPr id="19482" name="Text Box 7"/>
          <p:cNvSpPr txBox="1">
            <a:spLocks noChangeArrowheads="1"/>
          </p:cNvSpPr>
          <p:nvPr/>
        </p:nvSpPr>
        <p:spPr bwMode="auto">
          <a:xfrm>
            <a:off x="2090739" y="226813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5 years</a:t>
            </a:r>
          </a:p>
        </p:txBody>
      </p:sp>
      <p:sp>
        <p:nvSpPr>
          <p:cNvPr id="19480" name="Line 8"/>
          <p:cNvSpPr>
            <a:spLocks noChangeShapeType="1"/>
          </p:cNvSpPr>
          <p:nvPr/>
        </p:nvSpPr>
        <p:spPr bwMode="auto">
          <a:xfrm>
            <a:off x="2090739" y="2415654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Text Box 9"/>
          <p:cNvSpPr txBox="1">
            <a:spLocks noChangeArrowheads="1"/>
          </p:cNvSpPr>
          <p:nvPr/>
        </p:nvSpPr>
        <p:spPr bwMode="auto">
          <a:xfrm>
            <a:off x="3870327" y="1976437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</a:t>
            </a:r>
          </a:p>
        </p:txBody>
      </p:sp>
      <p:sp>
        <p:nvSpPr>
          <p:cNvPr id="19478" name="Text Box 10"/>
          <p:cNvSpPr txBox="1">
            <a:spLocks noChangeArrowheads="1"/>
          </p:cNvSpPr>
          <p:nvPr/>
        </p:nvSpPr>
        <p:spPr bwMode="auto">
          <a:xfrm>
            <a:off x="4479927" y="1966912"/>
            <a:ext cx="244157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$12k per year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2689227" y="2870873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3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2590802" y="3295053"/>
            <a:ext cx="595313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12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651127" y="339308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8"/>
          <p:cNvSpPr txBox="1">
            <a:spLocks noChangeArrowheads="1"/>
          </p:cNvSpPr>
          <p:nvPr/>
        </p:nvSpPr>
        <p:spPr bwMode="auto">
          <a:xfrm>
            <a:off x="3108327" y="3002755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x</a:t>
            </a:r>
          </a:p>
        </p:txBody>
      </p: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3505202" y="3028949"/>
            <a:ext cx="1004888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$12k</a:t>
            </a:r>
          </a:p>
        </p:txBody>
      </p:sp>
      <p:sp>
        <p:nvSpPr>
          <p:cNvPr id="19470" name="Text Box 20"/>
          <p:cNvSpPr txBox="1">
            <a:spLocks noChangeArrowheads="1"/>
          </p:cNvSpPr>
          <p:nvPr/>
        </p:nvSpPr>
        <p:spPr bwMode="auto">
          <a:xfrm>
            <a:off x="4648202" y="3026568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=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241927" y="3012280"/>
            <a:ext cx="800100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$3k</a:t>
            </a:r>
          </a:p>
        </p:txBody>
      </p: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7716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Depreciation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1600200" y="3886200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412763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Prepaid Rent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7543800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Text Box 6"/>
          <p:cNvSpPr txBox="1">
            <a:spLocks noChangeArrowheads="1"/>
          </p:cNvSpPr>
          <p:nvPr/>
        </p:nvSpPr>
        <p:spPr bwMode="auto">
          <a:xfrm>
            <a:off x="457200" y="1485900"/>
            <a:ext cx="1628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Oct 1, 2005</a:t>
            </a:r>
          </a:p>
        </p:txBody>
      </p:sp>
      <p:sp>
        <p:nvSpPr>
          <p:cNvPr id="18468" name="Line 7"/>
          <p:cNvSpPr>
            <a:spLocks noChangeShapeType="1"/>
          </p:cNvSpPr>
          <p:nvPr/>
        </p:nvSpPr>
        <p:spPr bwMode="auto">
          <a:xfrm>
            <a:off x="11430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Line 9"/>
          <p:cNvSpPr>
            <a:spLocks noChangeShapeType="1"/>
          </p:cNvSpPr>
          <p:nvPr/>
        </p:nvSpPr>
        <p:spPr bwMode="auto">
          <a:xfrm>
            <a:off x="40386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Line 10"/>
          <p:cNvSpPr>
            <a:spLocks noChangeShapeType="1"/>
          </p:cNvSpPr>
          <p:nvPr/>
        </p:nvSpPr>
        <p:spPr bwMode="auto">
          <a:xfrm>
            <a:off x="7082247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4" name="Line 13"/>
          <p:cNvSpPr>
            <a:spLocks noChangeShapeType="1"/>
          </p:cNvSpPr>
          <p:nvPr/>
        </p:nvSpPr>
        <p:spPr bwMode="auto">
          <a:xfrm>
            <a:off x="8680272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4038600" y="2197894"/>
            <a:ext cx="0" cy="127656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Text Box 20"/>
          <p:cNvSpPr txBox="1">
            <a:spLocks noChangeArrowheads="1"/>
          </p:cNvSpPr>
          <p:nvPr/>
        </p:nvSpPr>
        <p:spPr bwMode="auto">
          <a:xfrm>
            <a:off x="3121818" y="1435893"/>
            <a:ext cx="1833563" cy="461963"/>
          </a:xfrm>
          <a:prstGeom prst="rect">
            <a:avLst/>
          </a:prstGeom>
          <a:noFill/>
          <a:ln w="9525">
            <a:noFill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</a:lstStyle>
          <a:p>
            <a:r>
              <a:rPr lang="en-US" sz="2400" dirty="0"/>
              <a:t>Dec 31, 2005</a:t>
            </a:r>
          </a:p>
        </p:txBody>
      </p:sp>
      <p:sp>
        <p:nvSpPr>
          <p:cNvPr id="18462" name="Text Box 23"/>
          <p:cNvSpPr txBox="1">
            <a:spLocks noChangeArrowheads="1"/>
          </p:cNvSpPr>
          <p:nvPr/>
        </p:nvSpPr>
        <p:spPr bwMode="auto">
          <a:xfrm>
            <a:off x="7144867" y="1462087"/>
            <a:ext cx="18053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Dec 31, 2006</a:t>
            </a:r>
          </a:p>
        </p:txBody>
      </p:sp>
      <p:sp>
        <p:nvSpPr>
          <p:cNvPr id="18454" name="Text Box 35"/>
          <p:cNvSpPr txBox="1">
            <a:spLocks noChangeArrowheads="1"/>
          </p:cNvSpPr>
          <p:nvPr/>
        </p:nvSpPr>
        <p:spPr bwMode="auto">
          <a:xfrm>
            <a:off x="999105" y="3613392"/>
            <a:ext cx="1320800" cy="83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3 months</a:t>
            </a:r>
          </a:p>
          <a:p>
            <a:r>
              <a:rPr lang="en-US" dirty="0"/>
              <a:t>of rent</a:t>
            </a:r>
          </a:p>
        </p:txBody>
      </p:sp>
      <p:sp>
        <p:nvSpPr>
          <p:cNvPr id="18455" name="Line 36"/>
          <p:cNvSpPr>
            <a:spLocks noChangeShapeType="1"/>
          </p:cNvSpPr>
          <p:nvPr/>
        </p:nvSpPr>
        <p:spPr bwMode="auto">
          <a:xfrm flipV="1">
            <a:off x="1659505" y="2081511"/>
            <a:ext cx="723334" cy="1455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5062947" y="2143407"/>
            <a:ext cx="2451101" cy="1793121"/>
            <a:chOff x="4626" y="2123"/>
            <a:chExt cx="1544" cy="1560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626" y="3281"/>
              <a:ext cx="1544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 of rent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H="1" flipV="1">
              <a:off x="4868" y="2123"/>
              <a:ext cx="435" cy="1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27"/>
          <p:cNvSpPr>
            <a:spLocks/>
          </p:cNvSpPr>
          <p:nvPr/>
        </p:nvSpPr>
        <p:spPr bwMode="auto">
          <a:xfrm rot="5400000">
            <a:off x="3896792" y="-511311"/>
            <a:ext cx="476249" cy="5894659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8680272" y="2143124"/>
            <a:ext cx="6528" cy="13313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6137685" y="1038224"/>
            <a:ext cx="18906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Sept 30</a:t>
            </a:r>
            <a:r>
              <a:rPr lang="en-US">
                <a:latin typeface="+mn-lt"/>
              </a:rPr>
              <a:t>, 2006</a:t>
            </a:r>
            <a:endParaRPr lang="en-US" dirty="0">
              <a:latin typeface="+mn-lt"/>
            </a:endParaRPr>
          </a:p>
        </p:txBody>
      </p:sp>
      <p:sp>
        <p:nvSpPr>
          <p:cNvPr id="45" name="Line 39"/>
          <p:cNvSpPr>
            <a:spLocks noChangeShapeType="1"/>
          </p:cNvSpPr>
          <p:nvPr/>
        </p:nvSpPr>
        <p:spPr bwMode="auto">
          <a:xfrm flipH="1">
            <a:off x="7082247" y="1499889"/>
            <a:ext cx="0" cy="4432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5" grpId="0" animBg="1"/>
      <p:bldP spid="40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Calculation of rent</a:t>
            </a:r>
          </a:p>
        </p:txBody>
      </p:sp>
      <p:sp>
        <p:nvSpPr>
          <p:cNvPr id="19481" name="Text Box 6"/>
          <p:cNvSpPr txBox="1">
            <a:spLocks noChangeArrowheads="1"/>
          </p:cNvSpPr>
          <p:nvPr/>
        </p:nvSpPr>
        <p:spPr bwMode="auto">
          <a:xfrm>
            <a:off x="2246314" y="182879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$3k</a:t>
            </a:r>
          </a:p>
        </p:txBody>
      </p:sp>
      <p:sp>
        <p:nvSpPr>
          <p:cNvPr id="19482" name="Text Box 7"/>
          <p:cNvSpPr txBox="1">
            <a:spLocks noChangeArrowheads="1"/>
          </p:cNvSpPr>
          <p:nvPr/>
        </p:nvSpPr>
        <p:spPr bwMode="auto">
          <a:xfrm>
            <a:off x="2090739" y="2268139"/>
            <a:ext cx="21224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12 months</a:t>
            </a:r>
            <a:endParaRPr lang="en-US" sz="3600" dirty="0"/>
          </a:p>
        </p:txBody>
      </p:sp>
      <p:sp>
        <p:nvSpPr>
          <p:cNvPr id="19480" name="Line 8"/>
          <p:cNvSpPr>
            <a:spLocks noChangeShapeType="1"/>
          </p:cNvSpPr>
          <p:nvPr/>
        </p:nvSpPr>
        <p:spPr bwMode="auto">
          <a:xfrm>
            <a:off x="2090739" y="2415654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Text Box 9"/>
          <p:cNvSpPr txBox="1">
            <a:spLocks noChangeArrowheads="1"/>
          </p:cNvSpPr>
          <p:nvPr/>
        </p:nvSpPr>
        <p:spPr bwMode="auto">
          <a:xfrm>
            <a:off x="3870327" y="1976437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</a:t>
            </a:r>
          </a:p>
        </p:txBody>
      </p:sp>
      <p:sp>
        <p:nvSpPr>
          <p:cNvPr id="19478" name="Text Box 10"/>
          <p:cNvSpPr txBox="1">
            <a:spLocks noChangeArrowheads="1"/>
          </p:cNvSpPr>
          <p:nvPr/>
        </p:nvSpPr>
        <p:spPr bwMode="auto">
          <a:xfrm>
            <a:off x="4479927" y="1966912"/>
            <a:ext cx="2783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$250 per month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2689227" y="2870873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3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2590802" y="3295053"/>
            <a:ext cx="595313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12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651127" y="339308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8"/>
          <p:cNvSpPr txBox="1">
            <a:spLocks noChangeArrowheads="1"/>
          </p:cNvSpPr>
          <p:nvPr/>
        </p:nvSpPr>
        <p:spPr bwMode="auto">
          <a:xfrm>
            <a:off x="3108327" y="3002755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x</a:t>
            </a:r>
          </a:p>
        </p:txBody>
      </p: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3505202" y="3028949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$250</a:t>
            </a:r>
          </a:p>
        </p:txBody>
      </p:sp>
      <p:sp>
        <p:nvSpPr>
          <p:cNvPr id="19470" name="Text Box 20"/>
          <p:cNvSpPr txBox="1">
            <a:spLocks noChangeArrowheads="1"/>
          </p:cNvSpPr>
          <p:nvPr/>
        </p:nvSpPr>
        <p:spPr bwMode="auto">
          <a:xfrm>
            <a:off x="4648202" y="3026568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=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241927" y="3012280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$750</a:t>
            </a:r>
          </a:p>
        </p:txBody>
      </p: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61133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Rent 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1600200" y="3886200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817341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3089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0D9CDE3-27BD-D54B-B4C0-A8B243D63008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interest</a:t>
            </a: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6565037" y="2924761"/>
            <a:ext cx="16786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Interest cost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22536" name="Text Box 15"/>
          <p:cNvSpPr txBox="1">
            <a:spLocks noChangeArrowheads="1"/>
          </p:cNvSpPr>
          <p:nvPr/>
        </p:nvSpPr>
        <p:spPr bwMode="auto">
          <a:xfrm>
            <a:off x="6066594" y="2203517"/>
            <a:ext cx="19543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  $606.02</a:t>
            </a:r>
          </a:p>
        </p:txBody>
      </p:sp>
      <p:sp>
        <p:nvSpPr>
          <p:cNvPr id="22537" name="Text Box 16"/>
          <p:cNvSpPr txBox="1">
            <a:spLocks noChangeArrowheads="1"/>
          </p:cNvSpPr>
          <p:nvPr/>
        </p:nvSpPr>
        <p:spPr bwMode="auto">
          <a:xfrm>
            <a:off x="1295400" y="3663426"/>
            <a:ext cx="32576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/>
              <a:t>Can you make the entry?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7200" y="1674787"/>
            <a:ext cx="3630967" cy="1537403"/>
            <a:chOff x="745724" y="1669002"/>
            <a:chExt cx="3630967" cy="1537403"/>
          </a:xfrm>
        </p:grpSpPr>
        <p:grpSp>
          <p:nvGrpSpPr>
            <p:cNvPr id="3" name="Group 2"/>
            <p:cNvGrpSpPr/>
            <p:nvPr/>
          </p:nvGrpSpPr>
          <p:grpSpPr>
            <a:xfrm>
              <a:off x="3235044" y="1958973"/>
              <a:ext cx="748923" cy="896855"/>
              <a:chOff x="1153249" y="1911407"/>
              <a:chExt cx="748923" cy="896855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1153249" y="1911407"/>
                <a:ext cx="748923" cy="896855"/>
                <a:chOff x="1153249" y="1911407"/>
                <a:chExt cx="748923" cy="896855"/>
              </a:xfrm>
            </p:grpSpPr>
            <p:sp>
              <p:nvSpPr>
                <p:cNvPr id="2254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53249" y="1911407"/>
                  <a:ext cx="74892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12%</a:t>
                  </a:r>
                </a:p>
              </p:txBody>
            </p:sp>
            <p:sp>
              <p:nvSpPr>
                <p:cNvPr id="2254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53249" y="2346597"/>
                  <a:ext cx="49244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</a:t>
                  </a:r>
                </a:p>
              </p:txBody>
            </p:sp>
          </p:grpSp>
          <p:sp>
            <p:nvSpPr>
              <p:cNvPr id="22545" name="Line 10"/>
              <p:cNvSpPr>
                <a:spLocks noChangeShapeType="1"/>
              </p:cNvSpPr>
              <p:nvPr/>
            </p:nvSpPr>
            <p:spPr bwMode="auto">
              <a:xfrm>
                <a:off x="1202906" y="2348529"/>
                <a:ext cx="457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2132618" y="2219372"/>
              <a:ext cx="390525" cy="584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*</a:t>
              </a:r>
            </a:p>
          </p:txBody>
        </p:sp>
        <p:sp>
          <p:nvSpPr>
            <p:cNvPr id="22542" name="Text Box 12"/>
            <p:cNvSpPr txBox="1">
              <a:spLocks noChangeArrowheads="1"/>
            </p:cNvSpPr>
            <p:nvPr/>
          </p:nvSpPr>
          <p:spPr bwMode="auto">
            <a:xfrm>
              <a:off x="745724" y="2178392"/>
              <a:ext cx="151836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$20,000</a:t>
              </a:r>
            </a:p>
          </p:txBody>
        </p:sp>
        <p:sp>
          <p:nvSpPr>
            <p:cNvPr id="22539" name="AutoShape 14"/>
            <p:cNvSpPr>
              <a:spLocks noChangeArrowheads="1"/>
            </p:cNvSpPr>
            <p:nvPr/>
          </p:nvSpPr>
          <p:spPr bwMode="auto">
            <a:xfrm>
              <a:off x="2400575" y="1669002"/>
              <a:ext cx="1976116" cy="153740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434641" y="1889317"/>
              <a:ext cx="1454749" cy="1013556"/>
              <a:chOff x="2803035" y="2868773"/>
              <a:chExt cx="1454749" cy="1013556"/>
            </a:xfrm>
          </p:grpSpPr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2849226" y="2868773"/>
                <a:ext cx="1408558" cy="1013556"/>
              </a:xfrm>
              <a:prstGeom prst="bracketPair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803035" y="3148654"/>
                <a:ext cx="72327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1 +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3971282" y="175891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210512" y="2203517"/>
            <a:ext cx="1757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- $20,000</a:t>
            </a:r>
          </a:p>
        </p:txBody>
      </p:sp>
    </p:spTree>
    <p:extLst>
      <p:ext uri="{BB962C8B-B14F-4D97-AF65-F5344CB8AC3E}">
        <p14:creationId xmlns:p14="http://schemas.microsoft.com/office/powerpoint/2010/main" val="72756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 temporary accounts</a:t>
            </a:r>
          </a:p>
          <a:p>
            <a:r>
              <a:rPr lang="en-US" dirty="0"/>
              <a:t>Make up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121272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881698-2B84-4CBD-9BAF-EBEF95D4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047" y="0"/>
            <a:ext cx="41139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3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B0B09A-54DB-4403-AF81-B9ED2675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303613"/>
            <a:ext cx="8272462" cy="253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55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D0B0D608-11A3-5C40-B972-51006378070E}" type="slidenum">
              <a:rPr lang="en-US" sz="1400">
                <a:solidFill>
                  <a:srgbClr val="FFFFFF"/>
                </a:solidFill>
              </a:rPr>
              <a:pPr/>
              <a:t>20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0" y="295752"/>
            <a:ext cx="9144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r>
              <a:rPr lang="en-US" sz="2000" b="1" dirty="0">
                <a:solidFill>
                  <a:srgbClr val="FFFFFF"/>
                </a:solidFill>
                <a:latin typeface="Helvetica" charset="0"/>
                <a:cs typeface="Times New Roman" charset="0"/>
              </a:rPr>
              <a:t> </a:t>
            </a:r>
            <a:endParaRPr lang="en-US" sz="2000" dirty="0">
              <a:solidFill>
                <a:srgbClr val="FFFFFF"/>
              </a:solidFill>
              <a:cs typeface="Times New Roman" charset="0"/>
            </a:endParaRPr>
          </a:p>
          <a:p>
            <a:pPr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r>
              <a:rPr lang="en-US" sz="2000" b="1" dirty="0">
                <a:solidFill>
                  <a:srgbClr val="FFFFFF"/>
                </a:solidFill>
                <a:latin typeface="Helvetica" charset="0"/>
                <a:cs typeface="Times New Roman" charset="0"/>
              </a:rPr>
              <a:t>					</a:t>
            </a:r>
            <a:endParaRPr lang="en-US" sz="2000" dirty="0">
              <a:solidFill>
                <a:srgbClr val="FFFFFF"/>
              </a:solidFill>
              <a:cs typeface="Times New Roman" charset="0"/>
            </a:endParaRPr>
          </a:p>
          <a:p>
            <a:pPr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r>
              <a:rPr lang="en-US" sz="2000" b="1" dirty="0">
                <a:solidFill>
                  <a:srgbClr val="FFFFFF"/>
                </a:solidFill>
                <a:latin typeface="Helvetica" charset="0"/>
                <a:cs typeface="Times New Roman" charset="0"/>
              </a:rPr>
              <a:t>					</a:t>
            </a:r>
            <a:endParaRPr lang="en-US" sz="2000" dirty="0">
              <a:solidFill>
                <a:srgbClr val="FFFFFF"/>
              </a:solidFill>
              <a:cs typeface="Times New Roman" charset="0"/>
            </a:endParaRPr>
          </a:p>
          <a:p>
            <a:pPr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br>
              <a:rPr lang="en-US" sz="2000" dirty="0">
                <a:solidFill>
                  <a:srgbClr val="FFFFFF"/>
                </a:solidFill>
                <a:cs typeface="Times New Roman" charset="0"/>
              </a:rPr>
            </a:b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4D770-2F0B-44F0-9B0C-5CC6F08B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996" y="152062"/>
            <a:ext cx="5430008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96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257C160-F52D-7343-8494-A924C6C58166}" type="slidenum">
              <a:rPr lang="en-US" sz="1400"/>
              <a:pPr/>
              <a:t>21</a:t>
            </a:fld>
            <a:endParaRPr lang="en-US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Observations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00150"/>
            <a:ext cx="8556796" cy="32003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Are you beginning to see the advantages of: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Journal entry notation: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T-accounts?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Temporary accounts handle changes in </a:t>
            </a:r>
            <a:r>
              <a:rPr lang="en-US" sz="2800" b="1" dirty="0">
                <a:latin typeface="Times New Roman" charset="0"/>
              </a:rPr>
              <a:t>Retained earnings</a:t>
            </a:r>
            <a:r>
              <a:rPr lang="en-US" sz="2800" dirty="0">
                <a:latin typeface="Times New Roman" charset="0"/>
              </a:rPr>
              <a:t> resulting from operations</a:t>
            </a:r>
          </a:p>
        </p:txBody>
      </p:sp>
    </p:spTree>
    <p:extLst>
      <p:ext uri="{BB962C8B-B14F-4D97-AF65-F5344CB8AC3E}">
        <p14:creationId xmlns:p14="http://schemas.microsoft.com/office/powerpoint/2010/main" val="10420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practice</a:t>
            </a:r>
          </a:p>
        </p:txBody>
      </p:sp>
    </p:spTree>
    <p:extLst>
      <p:ext uri="{BB962C8B-B14F-4D97-AF65-F5344CB8AC3E}">
        <p14:creationId xmlns:p14="http://schemas.microsoft.com/office/powerpoint/2010/main" val="3192996875"/>
      </p:ext>
    </p:extLst>
  </p:cSld>
  <p:clrMapOvr>
    <a:masterClrMapping/>
  </p:clrMapOvr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S-Class-White-Wide" id="{FC389A1B-E968-D746-B776-04763A1C274E}" vid="{838FC14C-AF7B-BA46-B771-EC34DF01D7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197</TotalTime>
  <Words>416</Words>
  <Application>Microsoft Office PowerPoint</Application>
  <PresentationFormat>On-screen Show (16:9)</PresentationFormat>
  <Paragraphs>129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Helvetica</vt:lpstr>
      <vt:lpstr>Times New Roman</vt:lpstr>
      <vt:lpstr>YLS-Class-White-Wide</vt:lpstr>
      <vt:lpstr>Financial Accounting LAW 21474</vt:lpstr>
      <vt:lpstr>Today</vt:lpstr>
      <vt:lpstr>Retailbiz, inc.</vt:lpstr>
      <vt:lpstr>PowerPoint Presentation</vt:lpstr>
      <vt:lpstr>RetailBiz, Inc.</vt:lpstr>
      <vt:lpstr>PowerPoint Presentation</vt:lpstr>
      <vt:lpstr>PowerPoint Presentation</vt:lpstr>
      <vt:lpstr>PowerPoint Presentation</vt:lpstr>
      <vt:lpstr>Rick and stan’s business</vt:lpstr>
      <vt:lpstr>Rick and Stan’s Business</vt:lpstr>
      <vt:lpstr>Adjustments</vt:lpstr>
      <vt:lpstr>Depreciation</vt:lpstr>
      <vt:lpstr>Calculation of depreciation</vt:lpstr>
      <vt:lpstr>Prepaid Rent</vt:lpstr>
      <vt:lpstr>Calculation of rent</vt:lpstr>
      <vt:lpstr>Calculation of interest</vt:lpstr>
      <vt:lpstr>Next Steps</vt:lpstr>
      <vt:lpstr>PowerPoint Presentation</vt:lpstr>
      <vt:lpstr>PowerPoint Presentation</vt:lpstr>
      <vt:lpstr>PowerPoint Presentation</vt:lpstr>
      <vt:lpstr>Observations</vt:lpstr>
      <vt:lpstr>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</dc:title>
  <dc:creator>rantle</dc:creator>
  <cp:lastModifiedBy>Antle, Rick</cp:lastModifiedBy>
  <cp:revision>8</cp:revision>
  <dcterms:created xsi:type="dcterms:W3CDTF">2018-01-16T22:21:00Z</dcterms:created>
  <dcterms:modified xsi:type="dcterms:W3CDTF">2025-01-27T19:54:38Z</dcterms:modified>
</cp:coreProperties>
</file>