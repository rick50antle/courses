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92" r:id="rId3"/>
    <p:sldId id="293" r:id="rId4"/>
    <p:sldId id="294" r:id="rId5"/>
    <p:sldId id="291" r:id="rId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92"/>
    <p:restoredTop sz="94393"/>
  </p:normalViewPr>
  <p:slideViewPr>
    <p:cSldViewPr>
      <p:cViewPr varScale="1">
        <p:scale>
          <a:sx n="81" d="100"/>
          <a:sy n="81" d="100"/>
        </p:scale>
        <p:origin x="715" y="2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le, Rick" userId="c2afbbd2-30e4-4c8e-8af5-81913178ace3" providerId="ADAL" clId="{D2077C41-23D2-40E5-A1B9-6D409EDDC81D}"/>
    <pc:docChg chg="modSld">
      <pc:chgData name="Antle, Rick" userId="c2afbbd2-30e4-4c8e-8af5-81913178ace3" providerId="ADAL" clId="{D2077C41-23D2-40E5-A1B9-6D409EDDC81D}" dt="2026-02-22T12:28:12.033" v="2" actId="20577"/>
      <pc:docMkLst>
        <pc:docMk/>
      </pc:docMkLst>
      <pc:sldChg chg="modSp mod">
        <pc:chgData name="Antle, Rick" userId="c2afbbd2-30e4-4c8e-8af5-81913178ace3" providerId="ADAL" clId="{D2077C41-23D2-40E5-A1B9-6D409EDDC81D}" dt="2026-02-22T12:28:12.033" v="2" actId="20577"/>
        <pc:sldMkLst>
          <pc:docMk/>
          <pc:sldMk cId="2464952412" sldId="256"/>
        </pc:sldMkLst>
        <pc:spChg chg="mod">
          <ac:chgData name="Antle, Rick" userId="c2afbbd2-30e4-4c8e-8af5-81913178ace3" providerId="ADAL" clId="{D2077C41-23D2-40E5-A1B9-6D409EDDC81D}" dt="2026-02-22T12:28:12.033" v="2" actId="20577"/>
          <ac:spMkLst>
            <pc:docMk/>
            <pc:sldMk cId="2464952412"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E6ED5D-7C15-1546-98BE-B9D72EAF1300}"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72F685-13EC-D742-8583-A1C1B1BC5D8D}" type="slidenum">
              <a:rPr lang="en-US" smtClean="0"/>
              <a:t>‹#›</a:t>
            </a:fld>
            <a:endParaRPr lang="en-US"/>
          </a:p>
        </p:txBody>
      </p:sp>
    </p:spTree>
    <p:extLst>
      <p:ext uri="{BB962C8B-B14F-4D97-AF65-F5344CB8AC3E}">
        <p14:creationId xmlns:p14="http://schemas.microsoft.com/office/powerpoint/2010/main" val="15116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61266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320696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60735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492793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385025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886908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671652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2/22/2026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698034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2/22/2026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70367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2/22/2026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104101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2/22/2026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38443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4054" y="3978862"/>
            <a:ext cx="3048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0428EC5-F22C-45A0-B0AE-478D58FB1D5D}" type="slidenum">
              <a:rPr lang="en-US" smtClean="0"/>
              <a:t>‹#›</a:t>
            </a:fld>
            <a:endParaRPr lang="en-US"/>
          </a:p>
        </p:txBody>
      </p:sp>
    </p:spTree>
    <p:extLst>
      <p:ext uri="{BB962C8B-B14F-4D97-AF65-F5344CB8AC3E}">
        <p14:creationId xmlns:p14="http://schemas.microsoft.com/office/powerpoint/2010/main" val="1501029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Financial Accounting</a:t>
            </a:r>
            <a:br>
              <a:rPr lang="en-US" dirty="0"/>
            </a:br>
            <a:r>
              <a:rPr lang="en-US"/>
              <a:t>LAW 21474</a:t>
            </a:r>
            <a:endParaRPr lang="en-US" dirty="0"/>
          </a:p>
        </p:txBody>
      </p:sp>
      <p:sp>
        <p:nvSpPr>
          <p:cNvPr id="3" name="Subtitle 2"/>
          <p:cNvSpPr>
            <a:spLocks noGrp="1"/>
          </p:cNvSpPr>
          <p:nvPr>
            <p:ph type="subTitle" idx="1"/>
          </p:nvPr>
        </p:nvSpPr>
        <p:spPr/>
        <p:txBody>
          <a:bodyPr/>
          <a:lstStyle/>
          <a:p>
            <a:r>
              <a:rPr lang="en-US" dirty="0"/>
              <a:t>Session 11: Grow Co. CFS</a:t>
            </a:r>
          </a:p>
        </p:txBody>
      </p:sp>
    </p:spTree>
    <p:extLst>
      <p:ext uri="{BB962C8B-B14F-4D97-AF65-F5344CB8AC3E}">
        <p14:creationId xmlns:p14="http://schemas.microsoft.com/office/powerpoint/2010/main" val="2464952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Today</a:t>
            </a:r>
          </a:p>
        </p:txBody>
      </p:sp>
      <p:sp>
        <p:nvSpPr>
          <p:cNvPr id="5" name="Content Placeholder 4"/>
          <p:cNvSpPr>
            <a:spLocks noGrp="1"/>
          </p:cNvSpPr>
          <p:nvPr>
            <p:ph idx="1"/>
          </p:nvPr>
        </p:nvSpPr>
        <p:spPr/>
        <p:txBody>
          <a:bodyPr>
            <a:normAutofit/>
          </a:bodyPr>
          <a:lstStyle/>
          <a:p>
            <a:r>
              <a:rPr lang="en-US" dirty="0"/>
              <a:t>Grow Co. CFS</a:t>
            </a:r>
          </a:p>
          <a:p>
            <a:r>
              <a:rPr lang="en-US" dirty="0"/>
              <a:t>Practice with Indirect Method Worksheet</a:t>
            </a:r>
          </a:p>
        </p:txBody>
      </p:sp>
    </p:spTree>
    <p:extLst>
      <p:ext uri="{BB962C8B-B14F-4D97-AF65-F5344CB8AC3E}">
        <p14:creationId xmlns:p14="http://schemas.microsoft.com/office/powerpoint/2010/main" val="166393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F0A3D-4C82-4D36-B124-CDA089CA0571}"/>
              </a:ext>
            </a:extLst>
          </p:cNvPr>
          <p:cNvSpPr>
            <a:spLocks noGrp="1"/>
          </p:cNvSpPr>
          <p:nvPr>
            <p:ph type="title"/>
          </p:nvPr>
        </p:nvSpPr>
        <p:spPr/>
        <p:txBody>
          <a:bodyPr/>
          <a:lstStyle/>
          <a:p>
            <a:r>
              <a:rPr lang="en-US" dirty="0"/>
              <a:t>Recall: Grow Co. Background</a:t>
            </a:r>
          </a:p>
        </p:txBody>
      </p:sp>
      <p:sp>
        <p:nvSpPr>
          <p:cNvPr id="3" name="Content Placeholder 2">
            <a:extLst>
              <a:ext uri="{FF2B5EF4-FFF2-40B4-BE49-F238E27FC236}">
                <a16:creationId xmlns:a16="http://schemas.microsoft.com/office/drawing/2014/main" id="{30926035-3734-48AC-9342-F30930F217EA}"/>
              </a:ext>
            </a:extLst>
          </p:cNvPr>
          <p:cNvSpPr>
            <a:spLocks noGrp="1"/>
          </p:cNvSpPr>
          <p:nvPr>
            <p:ph idx="1"/>
          </p:nvPr>
        </p:nvSpPr>
        <p:spPr/>
        <p:txBody>
          <a:bodyPr>
            <a:normAutofit fontScale="70000" lnSpcReduction="20000"/>
          </a:bodyPr>
          <a:lstStyle/>
          <a:p>
            <a:r>
              <a:rPr lang="en-US" dirty="0"/>
              <a:t>A struggling manufacturer and distributor of house paint that had expanded into generic drugs. Its financial difficulties ultimately resulted in some restructuring decisions that were, with the benefit of hindsight, very costly for its shareholders.</a:t>
            </a:r>
          </a:p>
          <a:p>
            <a:r>
              <a:rPr lang="en-US" dirty="0"/>
              <a:t>Rick, an advisor to Grow's plaintiff's attorney, wanted to become more familiar with Grow's financial condition, decisions and performance in the year leading up to the restructuring.</a:t>
            </a:r>
          </a:p>
          <a:p>
            <a:r>
              <a:rPr lang="en-US" dirty="0"/>
              <a:t>He had the beginning and ending balance sheets and the income statement and decided to try to infer the transactions that gave rise to those statements - or at least explore what transactions were consistent with the financial statements.</a:t>
            </a:r>
          </a:p>
          <a:p>
            <a:endParaRPr lang="en-US" dirty="0"/>
          </a:p>
        </p:txBody>
      </p:sp>
    </p:spTree>
    <p:extLst>
      <p:ext uri="{BB962C8B-B14F-4D97-AF65-F5344CB8AC3E}">
        <p14:creationId xmlns:p14="http://schemas.microsoft.com/office/powerpoint/2010/main" val="1361696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81925-49C6-49DE-985D-5EDBCC16502E}"/>
              </a:ext>
            </a:extLst>
          </p:cNvPr>
          <p:cNvSpPr>
            <a:spLocks noGrp="1"/>
          </p:cNvSpPr>
          <p:nvPr>
            <p:ph type="title"/>
          </p:nvPr>
        </p:nvSpPr>
        <p:spPr/>
        <p:txBody>
          <a:bodyPr/>
          <a:lstStyle/>
          <a:p>
            <a:r>
              <a:rPr lang="en-US" dirty="0"/>
              <a:t>Grow Co.</a:t>
            </a:r>
          </a:p>
        </p:txBody>
      </p:sp>
      <p:sp>
        <p:nvSpPr>
          <p:cNvPr id="3" name="Text Placeholder 2">
            <a:extLst>
              <a:ext uri="{FF2B5EF4-FFF2-40B4-BE49-F238E27FC236}">
                <a16:creationId xmlns:a16="http://schemas.microsoft.com/office/drawing/2014/main" id="{8B5A16A3-8D7E-4D07-946E-997354389B9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80895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Next Time</a:t>
            </a:r>
          </a:p>
        </p:txBody>
      </p:sp>
      <p:sp>
        <p:nvSpPr>
          <p:cNvPr id="5" name="Content Placeholder 4"/>
          <p:cNvSpPr>
            <a:spLocks noGrp="1"/>
          </p:cNvSpPr>
          <p:nvPr>
            <p:ph idx="1"/>
          </p:nvPr>
        </p:nvSpPr>
        <p:spPr/>
        <p:txBody>
          <a:bodyPr>
            <a:normAutofit/>
          </a:bodyPr>
          <a:lstStyle/>
          <a:p>
            <a:r>
              <a:rPr lang="en-US" dirty="0"/>
              <a:t>Next time, another CFS problem</a:t>
            </a:r>
          </a:p>
          <a:p>
            <a:r>
              <a:rPr lang="en-US" dirty="0"/>
              <a:t>Rusher Co. is lot like the Problem Set</a:t>
            </a:r>
          </a:p>
          <a:p>
            <a:pPr lvl="1"/>
            <a:endParaRPr lang="en-US" dirty="0"/>
          </a:p>
        </p:txBody>
      </p:sp>
    </p:spTree>
    <p:extLst>
      <p:ext uri="{BB962C8B-B14F-4D97-AF65-F5344CB8AC3E}">
        <p14:creationId xmlns:p14="http://schemas.microsoft.com/office/powerpoint/2010/main" val="255460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0180131-LAW21474-Session-5-Practice-1" id="{BC093C5E-CA59-AE4B-AB41-3D466F15B360}" vid="{276307E0-2826-3642-8F52-38FE1B294E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390</TotalTime>
  <Words>158</Words>
  <Application>Microsoft Office PowerPoint</Application>
  <PresentationFormat>On-screen Show (16:9)</PresentationFormat>
  <Paragraphs>13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Financial Accounting LAW 21474</vt:lpstr>
      <vt:lpstr>Today</vt:lpstr>
      <vt:lpstr>Recall: Grow Co. Background</vt:lpstr>
      <vt:lpstr>Grow Co.</vt:lpstr>
      <vt:lpstr>Next Time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rantle</dc:creator>
  <cp:lastModifiedBy>Antle, Rick</cp:lastModifiedBy>
  <cp:revision>15</cp:revision>
  <dcterms:created xsi:type="dcterms:W3CDTF">2015-08-31T16:24:18Z</dcterms:created>
  <dcterms:modified xsi:type="dcterms:W3CDTF">2026-02-22T12:28:12Z</dcterms:modified>
</cp:coreProperties>
</file>