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BE622-6FBD-FC66-1AF7-A1B6F910D96C}" v="9" dt="2026-02-16T01:16:22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10"/>
  </p:normalViewPr>
  <p:slideViewPr>
    <p:cSldViewPr>
      <p:cViewPr varScale="1">
        <p:scale>
          <a:sx n="121" d="100"/>
          <a:sy n="121" d="100"/>
        </p:scale>
        <p:origin x="77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S::rick.antle@yale.edu::c2afbbd2-30e4-4c8e-8af5-81913178ace3" providerId="AD" clId="Web-{1BFBE622-6FBD-FC66-1AF7-A1B6F910D96C}"/>
    <pc:docChg chg="modSld">
      <pc:chgData name="Antle, Rick" userId="S::rick.antle@yale.edu::c2afbbd2-30e4-4c8e-8af5-81913178ace3" providerId="AD" clId="Web-{1BFBE622-6FBD-FC66-1AF7-A1B6F910D96C}" dt="2026-02-16T01:16:20.513" v="6" actId="20577"/>
      <pc:docMkLst>
        <pc:docMk/>
      </pc:docMkLst>
      <pc:sldChg chg="modSp">
        <pc:chgData name="Antle, Rick" userId="S::rick.antle@yale.edu::c2afbbd2-30e4-4c8e-8af5-81913178ace3" providerId="AD" clId="Web-{1BFBE622-6FBD-FC66-1AF7-A1B6F910D96C}" dt="2026-02-16T01:16:20.513" v="6" actId="20577"/>
        <pc:sldMkLst>
          <pc:docMk/>
          <pc:sldMk cId="2464952412" sldId="256"/>
        </pc:sldMkLst>
        <pc:spChg chg="mod">
          <ac:chgData name="Antle, Rick" userId="S::rick.antle@yale.edu::c2afbbd2-30e4-4c8e-8af5-81913178ace3" providerId="AD" clId="Web-{1BFBE622-6FBD-FC66-1AF7-A1B6F910D96C}" dt="2026-02-16T01:16:15.435" v="4" actId="20577"/>
          <ac:spMkLst>
            <pc:docMk/>
            <pc:sldMk cId="2464952412" sldId="256"/>
            <ac:spMk id="2" creationId="{00000000-0000-0000-0000-000000000000}"/>
          </ac:spMkLst>
        </pc:spChg>
        <pc:spChg chg="mod">
          <ac:chgData name="Antle, Rick" userId="S::rick.antle@yale.edu::c2afbbd2-30e4-4c8e-8af5-81913178ace3" providerId="AD" clId="Web-{1BFBE622-6FBD-FC66-1AF7-A1B6F910D96C}" dt="2026-02-16T01:16:20.513" v="6" actId="20577"/>
          <ac:spMkLst>
            <pc:docMk/>
            <pc:sldMk cId="246495241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15605" r="70461" b="15942"/>
          <a:stretch/>
        </p:blipFill>
        <p:spPr bwMode="auto">
          <a:xfrm>
            <a:off x="245096" y="4157220"/>
            <a:ext cx="669303" cy="78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Accounting</a:t>
            </a:r>
            <a:br>
              <a:rPr lang="en-US" dirty="0"/>
            </a:br>
            <a:r>
              <a:rPr lang="en-US" dirty="0"/>
              <a:t>LAW 21474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/>
              <a:t>Session 10:</a:t>
            </a:r>
            <a:r>
              <a:rPr lang="en-US" altLang="en-US" sz="3000" dirty="0"/>
              <a:t> Cash Flows and Accruals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340A-1427-4A29-9202-133BE0D6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268B1B-209F-4329-B225-89935F5D35DA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0447C7B2-FFF5-4C3B-AD84-B4EF4B29F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388" y="206375"/>
            <a:ext cx="9043987" cy="85725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Net Income </a:t>
            </a:r>
            <a:r>
              <a:rPr lang="en-US" dirty="0" err="1"/>
              <a:t>vs</a:t>
            </a:r>
            <a:r>
              <a:rPr lang="en-US" dirty="0"/>
              <a:t> Cash Flow from Operations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D86B78B-F70E-483B-9190-2F6534DA0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3381375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Definition of </a:t>
            </a:r>
            <a:r>
              <a:rPr lang="en-US" b="1" i="1" dirty="0"/>
              <a:t>cash flows</a:t>
            </a:r>
            <a:r>
              <a:rPr lang="en-US" dirty="0"/>
              <a:t>: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/>
              <a:t>The change in</a:t>
            </a:r>
            <a:r>
              <a:rPr lang="en-US" b="1" dirty="0"/>
              <a:t> cash</a:t>
            </a:r>
            <a:r>
              <a:rPr lang="en-US" dirty="0"/>
              <a:t> over a period.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Definition of </a:t>
            </a:r>
            <a:r>
              <a:rPr lang="en-US" b="1" i="1" dirty="0"/>
              <a:t>net income (loss)</a:t>
            </a:r>
            <a:r>
              <a:rPr lang="en-US" dirty="0"/>
              <a:t>:</a:t>
            </a:r>
          </a:p>
          <a:p>
            <a:pPr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b="1" dirty="0"/>
              <a:t>Net value </a:t>
            </a:r>
            <a:r>
              <a:rPr lang="en-US" dirty="0"/>
              <a:t>generated (consumed) over a period.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Difference is due to our use of</a:t>
            </a:r>
            <a:r>
              <a:rPr lang="en-US" b="1" i="1" dirty="0"/>
              <a:t> accruals</a:t>
            </a:r>
            <a:r>
              <a:rPr lang="en-US" i="1" dirty="0"/>
              <a:t>, e.g.</a:t>
            </a:r>
            <a:r>
              <a:rPr lang="en-US" dirty="0"/>
              <a:t>:</a:t>
            </a:r>
          </a:p>
          <a:p>
            <a:pPr marL="685800"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/>
              <a:t>Sales </a:t>
            </a:r>
            <a:r>
              <a:rPr lang="en-US" i="1" dirty="0"/>
              <a:t>revenue</a:t>
            </a:r>
            <a:r>
              <a:rPr lang="en-US" dirty="0"/>
              <a:t> versus cash </a:t>
            </a:r>
            <a:r>
              <a:rPr lang="en-US" i="1" dirty="0"/>
              <a:t>collected</a:t>
            </a:r>
            <a:r>
              <a:rPr lang="en-US" dirty="0"/>
              <a:t> from customers</a:t>
            </a:r>
          </a:p>
          <a:p>
            <a:pPr marL="685800"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/>
              <a:t>Cost of goods sold (</a:t>
            </a:r>
            <a:r>
              <a:rPr lang="en-US" i="1" dirty="0"/>
              <a:t>expense</a:t>
            </a:r>
            <a:r>
              <a:rPr lang="en-US" dirty="0"/>
              <a:t>) versus cash </a:t>
            </a:r>
            <a:r>
              <a:rPr lang="en-US" i="1" dirty="0"/>
              <a:t>paid</a:t>
            </a:r>
            <a:r>
              <a:rPr lang="en-US" dirty="0"/>
              <a:t> to suppliers</a:t>
            </a:r>
          </a:p>
          <a:p>
            <a:pPr marL="685800"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/>
              <a:t>Wages </a:t>
            </a:r>
            <a:r>
              <a:rPr lang="en-US" i="1" dirty="0"/>
              <a:t>expense</a:t>
            </a:r>
            <a:r>
              <a:rPr lang="en-US" dirty="0"/>
              <a:t> versus wages </a:t>
            </a:r>
            <a:r>
              <a:rPr lang="en-US" i="1" dirty="0"/>
              <a:t>paid</a:t>
            </a:r>
          </a:p>
          <a:p>
            <a:pPr marL="685800" lvl="1" fontAlgn="auto">
              <a:spcAft>
                <a:spcPts val="0"/>
              </a:spcAft>
              <a:buFont typeface="Arial"/>
              <a:buChar char="–"/>
              <a:defRPr/>
            </a:pPr>
            <a:r>
              <a:rPr lang="en-US" dirty="0"/>
              <a:t>Rent </a:t>
            </a:r>
            <a:r>
              <a:rPr lang="en-US" i="1" dirty="0"/>
              <a:t>expense</a:t>
            </a:r>
            <a:r>
              <a:rPr lang="en-US" dirty="0"/>
              <a:t> versus rent </a:t>
            </a:r>
            <a:r>
              <a:rPr lang="en-US" i="1" dirty="0"/>
              <a:t>paid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40253-503F-4443-9450-9B092E7B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7DB0A2-90CF-4755-8BF3-43C0C1543D52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399F438E-3DBA-4354-9888-AA6FA6776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Total Toy Company: Basics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7AF027A-17C0-4F0F-8150-5CE543D1F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Only operations</a:t>
            </a:r>
          </a:p>
          <a:p>
            <a:pPr lvl="1"/>
            <a:r>
              <a:rPr lang="en-US" altLang="en-US" dirty="0"/>
              <a:t>no financing or investment</a:t>
            </a:r>
          </a:p>
          <a:p>
            <a:r>
              <a:rPr lang="en-US" altLang="en-US" dirty="0"/>
              <a:t>Buy dolls for $24 each, sell them for $30 each</a:t>
            </a:r>
          </a:p>
          <a:p>
            <a:r>
              <a:rPr lang="en-US" altLang="en-US" dirty="0"/>
              <a:t>CGS is the only expense</a:t>
            </a:r>
          </a:p>
          <a:p>
            <a:pPr lvl="1"/>
            <a:r>
              <a:rPr lang="en-US" altLang="en-US" dirty="0"/>
              <a:t>No rent, labor, taxes, marketing, etc. required</a:t>
            </a:r>
          </a:p>
          <a:p>
            <a:r>
              <a:rPr lang="en-US" altLang="en-US" dirty="0"/>
              <a:t>Lasts only 1 year, total sales 14,400 dolls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2B38F4A7-A303-4AC5-97A4-A0CCF151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FB900D-60A1-4172-892D-109670A6C7F6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C81B8D55-3521-4575-A676-1D3EFD0E1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Economics of Total Toy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6467038-8337-468D-875A-CB3AB92E4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6" y="1025495"/>
            <a:ext cx="7340837" cy="35465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666DF7E6-6C28-445B-9FAD-CE258AB44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689" y="4518307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# of dolls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A3063E30-1F1E-4178-BD98-27E84D94E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64" y="1016949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$</a:t>
            </a:r>
          </a:p>
        </p:txBody>
      </p:sp>
      <p:sp>
        <p:nvSpPr>
          <p:cNvPr id="13327" name="Line 6">
            <a:extLst>
              <a:ext uri="{FF2B5EF4-FFF2-40B4-BE49-F238E27FC236}">
                <a16:creationId xmlns:a16="http://schemas.microsoft.com/office/drawing/2014/main" id="{2B09E726-3AD8-4962-84DC-067534138B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766" y="1294688"/>
            <a:ext cx="5952146" cy="32634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Arc 7">
            <a:extLst>
              <a:ext uri="{FF2B5EF4-FFF2-40B4-BE49-F238E27FC236}">
                <a16:creationId xmlns:a16="http://schemas.microsoft.com/office/drawing/2014/main" id="{68A51737-2A0F-47E2-A6FE-401C5E4C63CB}"/>
              </a:ext>
            </a:extLst>
          </p:cNvPr>
          <p:cNvSpPr>
            <a:spLocks/>
          </p:cNvSpPr>
          <p:nvPr/>
        </p:nvSpPr>
        <p:spPr bwMode="auto">
          <a:xfrm rot="857114">
            <a:off x="2300948" y="3881975"/>
            <a:ext cx="486031" cy="640275"/>
          </a:xfrm>
          <a:custGeom>
            <a:avLst/>
            <a:gdLst>
              <a:gd name="T0" fmla="*/ 0 w 21600"/>
              <a:gd name="T1" fmla="*/ 0 h 21600"/>
              <a:gd name="T2" fmla="*/ 288 w 21600"/>
              <a:gd name="T3" fmla="*/ 384 h 21600"/>
              <a:gd name="T4" fmla="*/ 0 w 21600"/>
              <a:gd name="T5" fmla="*/ 384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Text Box 8">
            <a:extLst>
              <a:ext uri="{FF2B5EF4-FFF2-40B4-BE49-F238E27FC236}">
                <a16:creationId xmlns:a16="http://schemas.microsoft.com/office/drawing/2014/main" id="{4D212AE8-20B1-4587-8DDE-887C22E2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073" y="3998729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$30/doll</a:t>
            </a:r>
          </a:p>
        </p:txBody>
      </p:sp>
      <p:sp>
        <p:nvSpPr>
          <p:cNvPr id="13330" name="Text Box 9">
            <a:extLst>
              <a:ext uri="{FF2B5EF4-FFF2-40B4-BE49-F238E27FC236}">
                <a16:creationId xmlns:a16="http://schemas.microsoft.com/office/drawing/2014/main" id="{6C6C354C-3A44-422F-B4C5-F851A416A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424" y="1025495"/>
            <a:ext cx="1314450" cy="33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Total revenue</a:t>
            </a:r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5E90AA20-2300-42FB-A825-6DB1D9BB90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766" y="2256090"/>
            <a:ext cx="6251249" cy="2315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324" name="Arc 11">
            <a:extLst>
              <a:ext uri="{FF2B5EF4-FFF2-40B4-BE49-F238E27FC236}">
                <a16:creationId xmlns:a16="http://schemas.microsoft.com/office/drawing/2014/main" id="{E9D1AF1D-4737-4321-A489-AFDD4B8B362C}"/>
              </a:ext>
            </a:extLst>
          </p:cNvPr>
          <p:cNvSpPr>
            <a:spLocks/>
          </p:cNvSpPr>
          <p:nvPr/>
        </p:nvSpPr>
        <p:spPr bwMode="auto">
          <a:xfrm rot="642021">
            <a:off x="1898155" y="4288441"/>
            <a:ext cx="161003" cy="257005"/>
          </a:xfrm>
          <a:custGeom>
            <a:avLst/>
            <a:gdLst>
              <a:gd name="T0" fmla="*/ 0 w 21600"/>
              <a:gd name="T1" fmla="*/ 0 h 21600"/>
              <a:gd name="T2" fmla="*/ 432 w 21600"/>
              <a:gd name="T3" fmla="*/ 528 h 21600"/>
              <a:gd name="T4" fmla="*/ 0 w 21600"/>
              <a:gd name="T5" fmla="*/ 52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Text Box 12">
            <a:extLst>
              <a:ext uri="{FF2B5EF4-FFF2-40B4-BE49-F238E27FC236}">
                <a16:creationId xmlns:a16="http://schemas.microsoft.com/office/drawing/2014/main" id="{12FF717F-5278-4E5B-BC6E-0A70F697A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049" y="4202113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$24/doll</a:t>
            </a:r>
          </a:p>
        </p:txBody>
      </p:sp>
      <p:sp>
        <p:nvSpPr>
          <p:cNvPr id="13326" name="Text Box 13">
            <a:extLst>
              <a:ext uri="{FF2B5EF4-FFF2-40B4-BE49-F238E27FC236}">
                <a16:creationId xmlns:a16="http://schemas.microsoft.com/office/drawing/2014/main" id="{9B7D455F-D6EE-4B9F-8499-E155F2F46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736" y="1917952"/>
            <a:ext cx="9731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Total cost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F543DB-0617-4B80-94D7-15521F7F119C}"/>
              </a:ext>
            </a:extLst>
          </p:cNvPr>
          <p:cNvSpPr/>
          <p:nvPr/>
        </p:nvSpPr>
        <p:spPr>
          <a:xfrm>
            <a:off x="5106112" y="4499265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318967-C2EF-49E2-B426-D00FB77E7CC5}"/>
              </a:ext>
            </a:extLst>
          </p:cNvPr>
          <p:cNvCxnSpPr>
            <a:stCxn id="2" idx="0"/>
          </p:cNvCxnSpPr>
          <p:nvPr/>
        </p:nvCxnSpPr>
        <p:spPr>
          <a:xfrm flipV="1">
            <a:off x="5170206" y="2256090"/>
            <a:ext cx="8545" cy="224317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446062-CC7C-42EB-8504-C8FF072B78F5}"/>
              </a:ext>
            </a:extLst>
          </p:cNvPr>
          <p:cNvCxnSpPr>
            <a:cxnSpLocks/>
          </p:cNvCxnSpPr>
          <p:nvPr/>
        </p:nvCxnSpPr>
        <p:spPr>
          <a:xfrm flipH="1" flipV="1">
            <a:off x="982766" y="2256090"/>
            <a:ext cx="4187443" cy="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062315-B12C-4B9C-A3ED-9A1E173F9A30}"/>
              </a:ext>
            </a:extLst>
          </p:cNvPr>
          <p:cNvSpPr txBox="1"/>
          <p:nvPr/>
        </p:nvSpPr>
        <p:spPr>
          <a:xfrm>
            <a:off x="4431863" y="4672568"/>
            <a:ext cx="1476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Number of dolls </a:t>
            </a:r>
            <a:r>
              <a:rPr lang="en-US" sz="1200" i="1" dirty="0"/>
              <a:t>sold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DD8AE-499F-437C-A927-861267E7DA4D}"/>
              </a:ext>
            </a:extLst>
          </p:cNvPr>
          <p:cNvSpPr txBox="1"/>
          <p:nvPr/>
        </p:nvSpPr>
        <p:spPr>
          <a:xfrm>
            <a:off x="72639" y="1917952"/>
            <a:ext cx="98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 Amount</a:t>
            </a:r>
          </a:p>
          <a:p>
            <a:r>
              <a:rPr lang="en-US" sz="1200" dirty="0"/>
              <a:t>of Revenue</a:t>
            </a:r>
          </a:p>
          <a:p>
            <a:r>
              <a:rPr lang="en-US" sz="1200" dirty="0"/>
              <a:t>Recognized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5B44F41-CE65-40F6-90B3-929F02BBD8C9}"/>
              </a:ext>
            </a:extLst>
          </p:cNvPr>
          <p:cNvSpPr/>
          <p:nvPr/>
        </p:nvSpPr>
        <p:spPr>
          <a:xfrm>
            <a:off x="918672" y="2197197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2C36D2-262E-4F1F-9D3B-1C5476F2F5D3}"/>
              </a:ext>
            </a:extLst>
          </p:cNvPr>
          <p:cNvCxnSpPr>
            <a:cxnSpLocks/>
          </p:cNvCxnSpPr>
          <p:nvPr/>
        </p:nvCxnSpPr>
        <p:spPr>
          <a:xfrm flipV="1">
            <a:off x="5170206" y="3038030"/>
            <a:ext cx="0" cy="146123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662025-7E49-4E1F-8DD4-5AE74BEA8885}"/>
              </a:ext>
            </a:extLst>
          </p:cNvPr>
          <p:cNvCxnSpPr>
            <a:cxnSpLocks/>
          </p:cNvCxnSpPr>
          <p:nvPr/>
        </p:nvCxnSpPr>
        <p:spPr>
          <a:xfrm flipH="1" flipV="1">
            <a:off x="982763" y="3016667"/>
            <a:ext cx="4187443" cy="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6E9E73E-6F40-46DD-89D2-DC2A487F29D4}"/>
              </a:ext>
            </a:extLst>
          </p:cNvPr>
          <p:cNvSpPr txBox="1"/>
          <p:nvPr/>
        </p:nvSpPr>
        <p:spPr>
          <a:xfrm>
            <a:off x="106823" y="2610162"/>
            <a:ext cx="982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 Amount</a:t>
            </a:r>
          </a:p>
          <a:p>
            <a:r>
              <a:rPr lang="en-US" sz="1200" dirty="0"/>
              <a:t>of cost matched to</a:t>
            </a:r>
          </a:p>
          <a:p>
            <a:r>
              <a:rPr lang="en-US" sz="1200" dirty="0"/>
              <a:t>revenue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39FC162-0539-4015-BA7B-00ECF424DDA0}"/>
              </a:ext>
            </a:extLst>
          </p:cNvPr>
          <p:cNvSpPr/>
          <p:nvPr/>
        </p:nvSpPr>
        <p:spPr>
          <a:xfrm>
            <a:off x="918669" y="2958702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F5B644B4-9EA7-40DD-8D0D-F990CE657297}"/>
              </a:ext>
            </a:extLst>
          </p:cNvPr>
          <p:cNvSpPr/>
          <p:nvPr/>
        </p:nvSpPr>
        <p:spPr>
          <a:xfrm>
            <a:off x="1055405" y="2256092"/>
            <a:ext cx="200827" cy="7819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B30AF-7BDA-41A6-82A5-29B5C461CB63}"/>
              </a:ext>
            </a:extLst>
          </p:cNvPr>
          <p:cNvSpPr txBox="1"/>
          <p:nvPr/>
        </p:nvSpPr>
        <p:spPr>
          <a:xfrm>
            <a:off x="1307507" y="2465461"/>
            <a:ext cx="127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 Income</a:t>
            </a:r>
          </a:p>
        </p:txBody>
      </p:sp>
    </p:spTree>
    <p:extLst>
      <p:ext uri="{BB962C8B-B14F-4D97-AF65-F5344CB8AC3E}">
        <p14:creationId xmlns:p14="http://schemas.microsoft.com/office/powerpoint/2010/main" val="393514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2" grpId="0"/>
      <p:bldP spid="13" grpId="0" animBg="1"/>
      <p:bldP spid="37" grpId="0"/>
      <p:bldP spid="38" grpId="0" animBg="1"/>
      <p:bldP spid="14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2B38F4A7-A303-4AC5-97A4-A0CCF151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FB900D-60A1-4172-892D-109670A6C7F6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C81B8D55-3521-4575-A676-1D3EFD0E1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Economics of Total Toy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6467038-8337-468D-875A-CB3AB92E4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6" y="1025495"/>
            <a:ext cx="7340837" cy="35465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666DF7E6-6C28-445B-9FAD-CE258AB44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689" y="4518307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# of dolls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A3063E30-1F1E-4178-BD98-27E84D94E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64" y="1016949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$</a:t>
            </a:r>
          </a:p>
        </p:txBody>
      </p:sp>
      <p:sp>
        <p:nvSpPr>
          <p:cNvPr id="13327" name="Line 6">
            <a:extLst>
              <a:ext uri="{FF2B5EF4-FFF2-40B4-BE49-F238E27FC236}">
                <a16:creationId xmlns:a16="http://schemas.microsoft.com/office/drawing/2014/main" id="{2B09E726-3AD8-4962-84DC-067534138B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766" y="1294688"/>
            <a:ext cx="5952146" cy="32634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Arc 7">
            <a:extLst>
              <a:ext uri="{FF2B5EF4-FFF2-40B4-BE49-F238E27FC236}">
                <a16:creationId xmlns:a16="http://schemas.microsoft.com/office/drawing/2014/main" id="{68A51737-2A0F-47E2-A6FE-401C5E4C63CB}"/>
              </a:ext>
            </a:extLst>
          </p:cNvPr>
          <p:cNvSpPr>
            <a:spLocks/>
          </p:cNvSpPr>
          <p:nvPr/>
        </p:nvSpPr>
        <p:spPr bwMode="auto">
          <a:xfrm rot="857114">
            <a:off x="2300948" y="3881975"/>
            <a:ext cx="486031" cy="640275"/>
          </a:xfrm>
          <a:custGeom>
            <a:avLst/>
            <a:gdLst>
              <a:gd name="T0" fmla="*/ 0 w 21600"/>
              <a:gd name="T1" fmla="*/ 0 h 21600"/>
              <a:gd name="T2" fmla="*/ 288 w 21600"/>
              <a:gd name="T3" fmla="*/ 384 h 21600"/>
              <a:gd name="T4" fmla="*/ 0 w 21600"/>
              <a:gd name="T5" fmla="*/ 384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Text Box 8">
            <a:extLst>
              <a:ext uri="{FF2B5EF4-FFF2-40B4-BE49-F238E27FC236}">
                <a16:creationId xmlns:a16="http://schemas.microsoft.com/office/drawing/2014/main" id="{4D212AE8-20B1-4587-8DDE-887C22E2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073" y="3998729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$30/doll</a:t>
            </a:r>
          </a:p>
        </p:txBody>
      </p:sp>
      <p:sp>
        <p:nvSpPr>
          <p:cNvPr id="13330" name="Text Box 9">
            <a:extLst>
              <a:ext uri="{FF2B5EF4-FFF2-40B4-BE49-F238E27FC236}">
                <a16:creationId xmlns:a16="http://schemas.microsoft.com/office/drawing/2014/main" id="{6C6C354C-3A44-422F-B4C5-F851A416A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424" y="1025495"/>
            <a:ext cx="1314450" cy="33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Total revenue</a:t>
            </a:r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5E90AA20-2300-42FB-A825-6DB1D9BB90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766" y="2256090"/>
            <a:ext cx="6251249" cy="2315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324" name="Arc 11">
            <a:extLst>
              <a:ext uri="{FF2B5EF4-FFF2-40B4-BE49-F238E27FC236}">
                <a16:creationId xmlns:a16="http://schemas.microsoft.com/office/drawing/2014/main" id="{E9D1AF1D-4737-4321-A489-AFDD4B8B362C}"/>
              </a:ext>
            </a:extLst>
          </p:cNvPr>
          <p:cNvSpPr>
            <a:spLocks/>
          </p:cNvSpPr>
          <p:nvPr/>
        </p:nvSpPr>
        <p:spPr bwMode="auto">
          <a:xfrm rot="642021">
            <a:off x="1898155" y="4288441"/>
            <a:ext cx="161003" cy="257005"/>
          </a:xfrm>
          <a:custGeom>
            <a:avLst/>
            <a:gdLst>
              <a:gd name="T0" fmla="*/ 0 w 21600"/>
              <a:gd name="T1" fmla="*/ 0 h 21600"/>
              <a:gd name="T2" fmla="*/ 432 w 21600"/>
              <a:gd name="T3" fmla="*/ 528 h 21600"/>
              <a:gd name="T4" fmla="*/ 0 w 21600"/>
              <a:gd name="T5" fmla="*/ 52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Text Box 12">
            <a:extLst>
              <a:ext uri="{FF2B5EF4-FFF2-40B4-BE49-F238E27FC236}">
                <a16:creationId xmlns:a16="http://schemas.microsoft.com/office/drawing/2014/main" id="{12FF717F-5278-4E5B-BC6E-0A70F697A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049" y="4202113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/>
              <a:t>$24/doll</a:t>
            </a:r>
          </a:p>
        </p:txBody>
      </p:sp>
      <p:sp>
        <p:nvSpPr>
          <p:cNvPr id="13326" name="Text Box 13">
            <a:extLst>
              <a:ext uri="{FF2B5EF4-FFF2-40B4-BE49-F238E27FC236}">
                <a16:creationId xmlns:a16="http://schemas.microsoft.com/office/drawing/2014/main" id="{9B7D455F-D6EE-4B9F-8499-E155F2F46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736" y="1917952"/>
            <a:ext cx="9731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Total cost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F543DB-0617-4B80-94D7-15521F7F119C}"/>
              </a:ext>
            </a:extLst>
          </p:cNvPr>
          <p:cNvSpPr/>
          <p:nvPr/>
        </p:nvSpPr>
        <p:spPr>
          <a:xfrm>
            <a:off x="5106112" y="4499265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318967-C2EF-49E2-B426-D00FB77E7CC5}"/>
              </a:ext>
            </a:extLst>
          </p:cNvPr>
          <p:cNvCxnSpPr>
            <a:stCxn id="2" idx="0"/>
          </p:cNvCxnSpPr>
          <p:nvPr/>
        </p:nvCxnSpPr>
        <p:spPr>
          <a:xfrm flipV="1">
            <a:off x="5170206" y="2256090"/>
            <a:ext cx="8545" cy="224317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446062-CC7C-42EB-8504-C8FF072B78F5}"/>
              </a:ext>
            </a:extLst>
          </p:cNvPr>
          <p:cNvCxnSpPr>
            <a:cxnSpLocks/>
          </p:cNvCxnSpPr>
          <p:nvPr/>
        </p:nvCxnSpPr>
        <p:spPr>
          <a:xfrm flipH="1" flipV="1">
            <a:off x="982766" y="2256090"/>
            <a:ext cx="4187443" cy="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062315-B12C-4B9C-A3ED-9A1E173F9A30}"/>
              </a:ext>
            </a:extLst>
          </p:cNvPr>
          <p:cNvSpPr txBox="1"/>
          <p:nvPr/>
        </p:nvSpPr>
        <p:spPr>
          <a:xfrm>
            <a:off x="4714765" y="4617051"/>
            <a:ext cx="89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14,400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DD8AE-499F-437C-A927-861267E7DA4D}"/>
              </a:ext>
            </a:extLst>
          </p:cNvPr>
          <p:cNvSpPr txBox="1"/>
          <p:nvPr/>
        </p:nvSpPr>
        <p:spPr>
          <a:xfrm>
            <a:off x="151481" y="1973018"/>
            <a:ext cx="982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Revenue</a:t>
            </a:r>
            <a:r>
              <a:rPr lang="en-US" sz="1200" dirty="0"/>
              <a:t>:</a:t>
            </a:r>
          </a:p>
          <a:p>
            <a:r>
              <a:rPr lang="en-US" sz="1200" dirty="0"/>
              <a:t>$</a:t>
            </a:r>
            <a:r>
              <a:rPr lang="en-US" sz="1400" dirty="0"/>
              <a:t>432,000</a:t>
            </a:r>
            <a:endParaRPr lang="en-US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5B44F41-CE65-40F6-90B3-929F02BBD8C9}"/>
              </a:ext>
            </a:extLst>
          </p:cNvPr>
          <p:cNvSpPr/>
          <p:nvPr/>
        </p:nvSpPr>
        <p:spPr>
          <a:xfrm>
            <a:off x="918672" y="2197197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2C36D2-262E-4F1F-9D3B-1C5476F2F5D3}"/>
              </a:ext>
            </a:extLst>
          </p:cNvPr>
          <p:cNvCxnSpPr>
            <a:cxnSpLocks/>
          </p:cNvCxnSpPr>
          <p:nvPr/>
        </p:nvCxnSpPr>
        <p:spPr>
          <a:xfrm flipV="1">
            <a:off x="5170206" y="3038030"/>
            <a:ext cx="0" cy="146123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662025-7E49-4E1F-8DD4-5AE74BEA8885}"/>
              </a:ext>
            </a:extLst>
          </p:cNvPr>
          <p:cNvCxnSpPr>
            <a:cxnSpLocks/>
          </p:cNvCxnSpPr>
          <p:nvPr/>
        </p:nvCxnSpPr>
        <p:spPr>
          <a:xfrm flipH="1" flipV="1">
            <a:off x="982763" y="3016667"/>
            <a:ext cx="4187443" cy="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6E9E73E-6F40-46DD-89D2-DC2A487F29D4}"/>
              </a:ext>
            </a:extLst>
          </p:cNvPr>
          <p:cNvSpPr txBox="1"/>
          <p:nvPr/>
        </p:nvSpPr>
        <p:spPr>
          <a:xfrm>
            <a:off x="106823" y="2785836"/>
            <a:ext cx="982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Expenses:</a:t>
            </a:r>
          </a:p>
          <a:p>
            <a:r>
              <a:rPr lang="en-US" sz="1400" dirty="0"/>
              <a:t>$345,600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39FC162-0539-4015-BA7B-00ECF424DDA0}"/>
              </a:ext>
            </a:extLst>
          </p:cNvPr>
          <p:cNvSpPr/>
          <p:nvPr/>
        </p:nvSpPr>
        <p:spPr>
          <a:xfrm>
            <a:off x="918669" y="2958702"/>
            <a:ext cx="128187" cy="117786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F5B644B4-9EA7-40DD-8D0D-F990CE657297}"/>
              </a:ext>
            </a:extLst>
          </p:cNvPr>
          <p:cNvSpPr/>
          <p:nvPr/>
        </p:nvSpPr>
        <p:spPr>
          <a:xfrm>
            <a:off x="1055405" y="2256092"/>
            <a:ext cx="200827" cy="78193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B30AF-7BDA-41A6-82A5-29B5C461CB63}"/>
              </a:ext>
            </a:extLst>
          </p:cNvPr>
          <p:cNvSpPr txBox="1"/>
          <p:nvPr/>
        </p:nvSpPr>
        <p:spPr>
          <a:xfrm>
            <a:off x="1307507" y="2465461"/>
            <a:ext cx="1732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Profit: $86,400</a:t>
            </a:r>
          </a:p>
        </p:txBody>
      </p:sp>
    </p:spTree>
    <p:extLst>
      <p:ext uri="{BB962C8B-B14F-4D97-AF65-F5344CB8AC3E}">
        <p14:creationId xmlns:p14="http://schemas.microsoft.com/office/powerpoint/2010/main" val="152368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2" grpId="0"/>
      <p:bldP spid="13" grpId="0" animBg="1"/>
      <p:bldP spid="37" grpId="0"/>
      <p:bldP spid="38" grpId="0" animBg="1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E741-93EC-4672-83BC-A256093F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633135-48AC-4FD6-9FDF-DF37EF60E313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6200DEED-C653-476D-95D9-365DED56C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Operational Details: Demand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871609E-3E33-4F0E-911A-DA15057A8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Growth phase</a:t>
            </a:r>
          </a:p>
          <a:p>
            <a:pPr lvl="1"/>
            <a:r>
              <a:rPr lang="en-US" altLang="en-US" sz="2400" dirty="0"/>
              <a:t>Demand starts at 0 units, grows by 600 units per month</a:t>
            </a:r>
          </a:p>
          <a:p>
            <a:r>
              <a:rPr lang="en-US" altLang="en-US" sz="2800" dirty="0"/>
              <a:t>Steady state</a:t>
            </a:r>
          </a:p>
          <a:p>
            <a:pPr lvl="1"/>
            <a:r>
              <a:rPr lang="en-US" altLang="en-US" sz="2400" dirty="0"/>
              <a:t>Demand constant at 1,800 units per month</a:t>
            </a:r>
          </a:p>
          <a:p>
            <a:r>
              <a:rPr lang="en-US" altLang="en-US" sz="2800" dirty="0"/>
              <a:t>Decline phase</a:t>
            </a:r>
          </a:p>
          <a:p>
            <a:pPr lvl="1"/>
            <a:r>
              <a:rPr lang="en-US" altLang="en-US" sz="2400" dirty="0"/>
              <a:t>Demand decreases by 600 units per month until it hits 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2E84-1FAD-4843-92C8-97D7D94E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for Dolls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B5049-694E-45EB-8566-C50069E5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6" y="1151068"/>
            <a:ext cx="1684020" cy="2583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9BC320-7DDC-40E9-80C6-F1E8E381E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875" y="976202"/>
            <a:ext cx="6528907" cy="35635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FEA969-C458-4856-B737-2A06C7EBC6AB}"/>
              </a:ext>
            </a:extLst>
          </p:cNvPr>
          <p:cNvCxnSpPr/>
          <p:nvPr/>
        </p:nvCxnSpPr>
        <p:spPr>
          <a:xfrm flipV="1">
            <a:off x="3234583" y="1674976"/>
            <a:ext cx="1401510" cy="23629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9074D54-A975-4B21-97BA-120983086DE5}"/>
              </a:ext>
            </a:extLst>
          </p:cNvPr>
          <p:cNvSpPr txBox="1"/>
          <p:nvPr/>
        </p:nvSpPr>
        <p:spPr>
          <a:xfrm>
            <a:off x="3174762" y="2144995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Growth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64A83F-350C-4C87-ACE0-BE0CC3EBB123}"/>
              </a:ext>
            </a:extLst>
          </p:cNvPr>
          <p:cNvCxnSpPr>
            <a:cxnSpLocks/>
          </p:cNvCxnSpPr>
          <p:nvPr/>
        </p:nvCxnSpPr>
        <p:spPr>
          <a:xfrm>
            <a:off x="4636093" y="1622277"/>
            <a:ext cx="231306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22A16C1-F952-4FF8-9D41-2241D19196EB}"/>
              </a:ext>
            </a:extLst>
          </p:cNvPr>
          <p:cNvSpPr txBox="1"/>
          <p:nvPr/>
        </p:nvSpPr>
        <p:spPr>
          <a:xfrm>
            <a:off x="5220055" y="1252945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Steady State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FC78DD-524A-4863-809D-FA25ED05E304}"/>
              </a:ext>
            </a:extLst>
          </p:cNvPr>
          <p:cNvCxnSpPr>
            <a:cxnSpLocks/>
          </p:cNvCxnSpPr>
          <p:nvPr/>
        </p:nvCxnSpPr>
        <p:spPr>
          <a:xfrm>
            <a:off x="6949155" y="1623702"/>
            <a:ext cx="1310355" cy="2444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6D610D-944D-4CC4-8D46-89447507C31F}"/>
              </a:ext>
            </a:extLst>
          </p:cNvPr>
          <p:cNvSpPr txBox="1"/>
          <p:nvPr/>
        </p:nvSpPr>
        <p:spPr>
          <a:xfrm>
            <a:off x="7565876" y="2144995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Decline</a:t>
            </a:r>
          </a:p>
        </p:txBody>
      </p:sp>
    </p:spTree>
    <p:extLst>
      <p:ext uri="{BB962C8B-B14F-4D97-AF65-F5344CB8AC3E}">
        <p14:creationId xmlns:p14="http://schemas.microsoft.com/office/powerpoint/2010/main" val="301320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2330-376B-48C3-8761-D65DD7A1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3ED852-9B84-4960-854A-B226063F2DE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B93C09E4-6B84-47EB-B75E-66362DD80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Operational Details: Inventory, Receivables &amp; Cash Flow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03DAB0A-BF9B-4FA8-BA35-B5976A968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98064"/>
            <a:ext cx="8229600" cy="2996161"/>
          </a:xfrm>
        </p:spPr>
        <p:txBody>
          <a:bodyPr/>
          <a:lstStyle/>
          <a:p>
            <a:r>
              <a:rPr lang="en-US" altLang="en-US" dirty="0"/>
              <a:t>Need: inventory = next month’s sales</a:t>
            </a:r>
          </a:p>
          <a:p>
            <a:r>
              <a:rPr lang="en-US" altLang="en-US" dirty="0"/>
              <a:t>Pay suppliers immediately</a:t>
            </a:r>
          </a:p>
          <a:p>
            <a:r>
              <a:rPr lang="en-US" altLang="en-US" dirty="0"/>
              <a:t>Inventory sits for 30 days</a:t>
            </a:r>
          </a:p>
          <a:p>
            <a:r>
              <a:rPr lang="en-US" altLang="en-US" dirty="0"/>
              <a:t>Customers pay with a 30-day lag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D27D-470A-4C02-9DC4-287B9076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F53ECD-A6B9-4BFB-A268-7F4E1DDE75FE}"/>
              </a:ext>
            </a:extLst>
          </p:cNvPr>
          <p:cNvCxnSpPr/>
          <p:nvPr/>
        </p:nvCxnSpPr>
        <p:spPr>
          <a:xfrm>
            <a:off x="1089588" y="2820112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3FAE44-A6C4-435D-BF3B-0FCF96AEECCA}"/>
              </a:ext>
            </a:extLst>
          </p:cNvPr>
          <p:cNvCxnSpPr/>
          <p:nvPr/>
        </p:nvCxnSpPr>
        <p:spPr>
          <a:xfrm>
            <a:off x="3448227" y="2820112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EA81A0-9A82-4A61-9E9F-1923E73A819A}"/>
              </a:ext>
            </a:extLst>
          </p:cNvPr>
          <p:cNvCxnSpPr/>
          <p:nvPr/>
        </p:nvCxnSpPr>
        <p:spPr>
          <a:xfrm>
            <a:off x="5768411" y="2824385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7F380181-D2BB-4C2A-BAF8-253DE36D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18" y="1767082"/>
            <a:ext cx="857428" cy="857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E04C4E-E47C-4DB3-B6D3-D09F754E6B93}"/>
              </a:ext>
            </a:extLst>
          </p:cNvPr>
          <p:cNvSpPr txBox="1"/>
          <p:nvPr/>
        </p:nvSpPr>
        <p:spPr>
          <a:xfrm>
            <a:off x="1196409" y="1986897"/>
            <a:ext cx="6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DDC3B-E562-4D17-9325-7AAF5908E982}"/>
              </a:ext>
            </a:extLst>
          </p:cNvPr>
          <p:cNvSpPr txBox="1"/>
          <p:nvPr/>
        </p:nvSpPr>
        <p:spPr>
          <a:xfrm>
            <a:off x="6961259" y="1987089"/>
            <a:ext cx="64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$30</a:t>
            </a: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45963015-EE8A-45F0-9431-C6975ED52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270" y="1775628"/>
            <a:ext cx="857428" cy="8574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7C4CAF-FD9C-4940-BD3E-29117BD1468B}"/>
              </a:ext>
            </a:extLst>
          </p:cNvPr>
          <p:cNvSpPr txBox="1"/>
          <p:nvPr/>
        </p:nvSpPr>
        <p:spPr>
          <a:xfrm>
            <a:off x="1606610" y="3179036"/>
            <a:ext cx="90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January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DEC85-606D-4F62-BDFE-70F392BF9F1A}"/>
              </a:ext>
            </a:extLst>
          </p:cNvPr>
          <p:cNvSpPr txBox="1"/>
          <p:nvPr/>
        </p:nvSpPr>
        <p:spPr>
          <a:xfrm>
            <a:off x="3985190" y="3179036"/>
            <a:ext cx="102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February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0FAEE8-C814-4108-868A-F9B4C46CDE55}"/>
              </a:ext>
            </a:extLst>
          </p:cNvPr>
          <p:cNvSpPr txBox="1"/>
          <p:nvPr/>
        </p:nvSpPr>
        <p:spPr>
          <a:xfrm>
            <a:off x="6254098" y="3146770"/>
            <a:ext cx="78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March</a:t>
            </a:r>
          </a:p>
        </p:txBody>
      </p:sp>
    </p:spTree>
    <p:extLst>
      <p:ext uri="{BB962C8B-B14F-4D97-AF65-F5344CB8AC3E}">
        <p14:creationId xmlns:p14="http://schemas.microsoft.com/office/powerpoint/2010/main" val="382665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0.46059 0.0018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21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72B1-7202-2C0E-83AD-5680824C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305176"/>
            <a:ext cx="8991600" cy="1021556"/>
          </a:xfrm>
        </p:spPr>
        <p:txBody>
          <a:bodyPr>
            <a:normAutofit fontScale="90000"/>
          </a:bodyPr>
          <a:lstStyle/>
          <a:p>
            <a:r>
              <a:rPr lang="en-US" dirty="0"/>
              <a:t>The graphs that follow are illustrative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284AC-C1DC-B818-F863-FF817EE3D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graphs are in the Appendix to this presentation. To explore the relationships, use the Excel workbook: </a:t>
            </a:r>
            <a:r>
              <a:rPr lang="en-US" dirty="0" err="1"/>
              <a:t>Total_Toy_NI_CFO_Phases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0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AC5B5B05-6A2E-44F0-8A79-FE02A43C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1E390-01D4-4AA0-BD64-3BE4D8748C11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BF332F8-8204-4970-AE80-CF14BAD8B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Cash Flows During Growth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45887E7-A09B-468B-ACFC-5A505255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514475"/>
            <a:ext cx="5943600" cy="2628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385A71BB-D015-42D2-816F-2B26A02AC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596" y="4274753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# of dolls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6404B76-E796-4FE5-A57B-E4FD10034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458913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/>
              <a:t>$</a:t>
            </a:r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1655A2B7-C655-4145-BEE6-05BD393A52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733550"/>
            <a:ext cx="37211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12">
            <a:extLst>
              <a:ext uri="{FF2B5EF4-FFF2-40B4-BE49-F238E27FC236}">
                <a16:creationId xmlns:a16="http://schemas.microsoft.com/office/drawing/2014/main" id="{B1F94B2F-8236-411F-B899-73E0A0921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457450"/>
            <a:ext cx="3898900" cy="140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25">
            <a:extLst>
              <a:ext uri="{FF2B5EF4-FFF2-40B4-BE49-F238E27FC236}">
                <a16:creationId xmlns:a16="http://schemas.microsoft.com/office/drawing/2014/main" id="{0FD1C4E8-E077-4947-8B44-D972488F2E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1485900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26">
            <a:extLst>
              <a:ext uri="{FF2B5EF4-FFF2-40B4-BE49-F238E27FC236}">
                <a16:creationId xmlns:a16="http://schemas.microsoft.com/office/drawing/2014/main" id="{D1757595-61E6-48A6-9928-50D8D9792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1519238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27">
            <a:extLst>
              <a:ext uri="{FF2B5EF4-FFF2-40B4-BE49-F238E27FC236}">
                <a16:creationId xmlns:a16="http://schemas.microsoft.com/office/drawing/2014/main" id="{B0A07ACF-30F4-4FD7-96BB-C82532868E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519238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7" name="Oval 35">
            <a:extLst>
              <a:ext uri="{FF2B5EF4-FFF2-40B4-BE49-F238E27FC236}">
                <a16:creationId xmlns:a16="http://schemas.microsoft.com/office/drawing/2014/main" id="{6D26AB01-5B64-4B15-9955-AD6B4691B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47950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8" name="Oval 36">
            <a:extLst>
              <a:ext uri="{FF2B5EF4-FFF2-40B4-BE49-F238E27FC236}">
                <a16:creationId xmlns:a16="http://schemas.microsoft.com/office/drawing/2014/main" id="{3CACD1FE-2265-4684-9B48-EDD8F35A0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19425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9" name="Oval 37">
            <a:extLst>
              <a:ext uri="{FF2B5EF4-FFF2-40B4-BE49-F238E27FC236}">
                <a16:creationId xmlns:a16="http://schemas.microsoft.com/office/drawing/2014/main" id="{03C8B2A8-4F45-4FB5-8DB9-6F8CFA54C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57450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30" name="Oval 38">
            <a:extLst>
              <a:ext uri="{FF2B5EF4-FFF2-40B4-BE49-F238E27FC236}">
                <a16:creationId xmlns:a16="http://schemas.microsoft.com/office/drawing/2014/main" id="{6D24CEF0-5EB2-4E90-A185-4CEA5A0F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86088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6" name="AutoShape 42">
            <a:extLst>
              <a:ext uri="{FF2B5EF4-FFF2-40B4-BE49-F238E27FC236}">
                <a16:creationId xmlns:a16="http://schemas.microsoft.com/office/drawing/2014/main" id="{8AB597A4-AE59-4C1A-A897-76158D21ED77}"/>
              </a:ext>
            </a:extLst>
          </p:cNvPr>
          <p:cNvSpPr>
            <a:spLocks/>
          </p:cNvSpPr>
          <p:nvPr/>
        </p:nvSpPr>
        <p:spPr bwMode="auto">
          <a:xfrm>
            <a:off x="4686303" y="2514600"/>
            <a:ext cx="228600" cy="571500"/>
          </a:xfrm>
          <a:prstGeom prst="righ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7" name="Text Box 43">
            <a:extLst>
              <a:ext uri="{FF2B5EF4-FFF2-40B4-BE49-F238E27FC236}">
                <a16:creationId xmlns:a16="http://schemas.microsoft.com/office/drawing/2014/main" id="{8E62F50A-7156-485B-92C9-2EDDFE89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714" y="2417861"/>
            <a:ext cx="1165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Income $7.2k</a:t>
            </a:r>
          </a:p>
        </p:txBody>
      </p:sp>
      <p:grpSp>
        <p:nvGrpSpPr>
          <p:cNvPr id="8259" name="Group 67">
            <a:extLst>
              <a:ext uri="{FF2B5EF4-FFF2-40B4-BE49-F238E27FC236}">
                <a16:creationId xmlns:a16="http://schemas.microsoft.com/office/drawing/2014/main" id="{C961EF49-D2B9-4E79-BC9A-A9378B86F59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743200"/>
            <a:ext cx="1447800" cy="338138"/>
            <a:chOff x="1344" y="2304"/>
            <a:chExt cx="912" cy="284"/>
          </a:xfrm>
        </p:grpSpPr>
        <p:sp>
          <p:nvSpPr>
            <p:cNvPr id="16414" name="AutoShape 45">
              <a:extLst>
                <a:ext uri="{FF2B5EF4-FFF2-40B4-BE49-F238E27FC236}">
                  <a16:creationId xmlns:a16="http://schemas.microsoft.com/office/drawing/2014/main" id="{4DB92B52-9406-4B67-98A7-DB6A5B410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352"/>
              <a:ext cx="144" cy="192"/>
            </a:xfrm>
            <a:prstGeom prst="leftBrace">
              <a:avLst>
                <a:gd name="adj1" fmla="val 11111"/>
                <a:gd name="adj2" fmla="val 55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15" name="Text Box 49">
              <a:extLst>
                <a:ext uri="{FF2B5EF4-FFF2-40B4-BE49-F238E27FC236}">
                  <a16:creationId xmlns:a16="http://schemas.microsoft.com/office/drawing/2014/main" id="{CA7014DF-37EC-4564-AE5B-A7A781805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304"/>
              <a:ext cx="80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Cash </a:t>
              </a:r>
              <a:r>
                <a:rPr lang="en-US" altLang="en-US" sz="1600">
                  <a:solidFill>
                    <a:schemeClr val="hlink"/>
                  </a:solidFill>
                </a:rPr>
                <a:t>out</a:t>
              </a:r>
              <a:r>
                <a:rPr lang="en-US" altLang="en-US" sz="1600"/>
                <a:t>flow</a:t>
              </a:r>
            </a:p>
          </p:txBody>
        </p:sp>
      </p:grpSp>
      <p:sp>
        <p:nvSpPr>
          <p:cNvPr id="16401" name="Text Box 51">
            <a:extLst>
              <a:ext uri="{FF2B5EF4-FFF2-40B4-BE49-F238E27FC236}">
                <a16:creationId xmlns:a16="http://schemas.microsoft.com/office/drawing/2014/main" id="{961781FF-4774-475F-8D77-5D2152883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834" y="1556343"/>
            <a:ext cx="151616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Pay for more than you collect on in a growing business.</a:t>
            </a:r>
          </a:p>
        </p:txBody>
      </p:sp>
      <p:grpSp>
        <p:nvGrpSpPr>
          <p:cNvPr id="8251" name="Group 59">
            <a:extLst>
              <a:ext uri="{FF2B5EF4-FFF2-40B4-BE49-F238E27FC236}">
                <a16:creationId xmlns:a16="http://schemas.microsoft.com/office/drawing/2014/main" id="{C15AA960-4678-4969-86E6-5B2D1E3CF56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800350"/>
            <a:ext cx="1600200" cy="566738"/>
            <a:chOff x="3600" y="2352"/>
            <a:chExt cx="1008" cy="476"/>
          </a:xfrm>
        </p:grpSpPr>
        <p:sp>
          <p:nvSpPr>
            <p:cNvPr id="16412" name="Line 53">
              <a:extLst>
                <a:ext uri="{FF2B5EF4-FFF2-40B4-BE49-F238E27FC236}">
                  <a16:creationId xmlns:a16="http://schemas.microsoft.com/office/drawing/2014/main" id="{FB18BDC9-FD91-41D6-AEF0-50262DD61E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Text Box 54">
              <a:extLst>
                <a:ext uri="{FF2B5EF4-FFF2-40B4-BE49-F238E27FC236}">
                  <a16:creationId xmlns:a16="http://schemas.microsoft.com/office/drawing/2014/main" id="{6DCCE015-E879-4827-8C53-770832174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544"/>
              <a:ext cx="1008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Disbursements</a:t>
              </a:r>
            </a:p>
          </p:txBody>
        </p:sp>
      </p:grpSp>
      <p:grpSp>
        <p:nvGrpSpPr>
          <p:cNvPr id="8250" name="Group 58">
            <a:extLst>
              <a:ext uri="{FF2B5EF4-FFF2-40B4-BE49-F238E27FC236}">
                <a16:creationId xmlns:a16="http://schemas.microsoft.com/office/drawing/2014/main" id="{CA19BE0F-C85A-4D0B-A579-17D83E0DBF6E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086100"/>
            <a:ext cx="1447800" cy="338138"/>
            <a:chOff x="1296" y="2592"/>
            <a:chExt cx="912" cy="284"/>
          </a:xfrm>
        </p:grpSpPr>
        <p:sp>
          <p:nvSpPr>
            <p:cNvPr id="16410" name="Text Box 56">
              <a:extLst>
                <a:ext uri="{FF2B5EF4-FFF2-40B4-BE49-F238E27FC236}">
                  <a16:creationId xmlns:a16="http://schemas.microsoft.com/office/drawing/2014/main" id="{56613784-4548-47F5-9E6A-4F274C770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592"/>
              <a:ext cx="624" cy="2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Receipts</a:t>
              </a:r>
            </a:p>
          </p:txBody>
        </p:sp>
        <p:sp>
          <p:nvSpPr>
            <p:cNvPr id="16411" name="Line 57">
              <a:extLst>
                <a:ext uri="{FF2B5EF4-FFF2-40B4-BE49-F238E27FC236}">
                  <a16:creationId xmlns:a16="http://schemas.microsoft.com/office/drawing/2014/main" id="{919F3C7B-7AD9-4B96-8642-17A108E48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59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52" name="Group 60">
            <a:extLst>
              <a:ext uri="{FF2B5EF4-FFF2-40B4-BE49-F238E27FC236}">
                <a16:creationId xmlns:a16="http://schemas.microsoft.com/office/drawing/2014/main" id="{ADAF604B-6C89-44B3-8DB6-3903EDAF310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14551"/>
            <a:ext cx="1371600" cy="342900"/>
            <a:chOff x="2640" y="1344"/>
            <a:chExt cx="864" cy="288"/>
          </a:xfrm>
        </p:grpSpPr>
        <p:sp>
          <p:nvSpPr>
            <p:cNvPr id="16408" name="Line 61">
              <a:extLst>
                <a:ext uri="{FF2B5EF4-FFF2-40B4-BE49-F238E27FC236}">
                  <a16:creationId xmlns:a16="http://schemas.microsoft.com/office/drawing/2014/main" id="{62AEF247-AB48-4ABE-BF7D-F260F172E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9" name="Text Box 62">
              <a:extLst>
                <a:ext uri="{FF2B5EF4-FFF2-40B4-BE49-F238E27FC236}">
                  <a16:creationId xmlns:a16="http://schemas.microsoft.com/office/drawing/2014/main" id="{5322F8B1-B8BF-42BE-A91E-B4AEAE825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44"/>
              <a:ext cx="720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Revenues</a:t>
              </a:r>
              <a:r>
                <a:rPr lang="en-US" altLang="en-US" sz="1600" dirty="0"/>
                <a:t> </a:t>
              </a:r>
              <a:r>
                <a:rPr lang="en-US" altLang="en-US" sz="1200" dirty="0"/>
                <a:t>$36k</a:t>
              </a:r>
              <a:endParaRPr lang="en-US" altLang="en-US" sz="1600" dirty="0"/>
            </a:p>
          </p:txBody>
        </p:sp>
      </p:grpSp>
      <p:grpSp>
        <p:nvGrpSpPr>
          <p:cNvPr id="8255" name="Group 63">
            <a:extLst>
              <a:ext uri="{FF2B5EF4-FFF2-40B4-BE49-F238E27FC236}">
                <a16:creationId xmlns:a16="http://schemas.microsoft.com/office/drawing/2014/main" id="{78BE6098-6A9A-4310-BFB4-80DCBB3B822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143250"/>
            <a:ext cx="1219200" cy="734616"/>
            <a:chOff x="2880" y="2352"/>
            <a:chExt cx="768" cy="617"/>
          </a:xfrm>
        </p:grpSpPr>
        <p:sp>
          <p:nvSpPr>
            <p:cNvPr id="16406" name="Line 64">
              <a:extLst>
                <a:ext uri="{FF2B5EF4-FFF2-40B4-BE49-F238E27FC236}">
                  <a16:creationId xmlns:a16="http://schemas.microsoft.com/office/drawing/2014/main" id="{C921BC8D-4700-4EB7-B447-4B0A0B8D1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35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Text Box 65">
              <a:extLst>
                <a:ext uri="{FF2B5EF4-FFF2-40B4-BE49-F238E27FC236}">
                  <a16:creationId xmlns:a16="http://schemas.microsoft.com/office/drawing/2014/main" id="{EF3C14AE-5AA0-4384-BD49-70EF47CB1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36"/>
              <a:ext cx="768" cy="2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Expenses $28.8k</a:t>
              </a:r>
              <a:endParaRPr lang="en-US" altLang="en-US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4D44221-E963-462B-912B-18C7978ED8A0}"/>
              </a:ext>
            </a:extLst>
          </p:cNvPr>
          <p:cNvSpPr txBox="1"/>
          <p:nvPr/>
        </p:nvSpPr>
        <p:spPr>
          <a:xfrm>
            <a:off x="3168604" y="4237783"/>
            <a:ext cx="10223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February</a:t>
            </a:r>
          </a:p>
          <a:p>
            <a:r>
              <a:rPr lang="en-US" sz="1100" dirty="0"/>
              <a:t>       600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148DF-474F-41EF-9BB2-0FD81D609F4B}"/>
              </a:ext>
            </a:extLst>
          </p:cNvPr>
          <p:cNvSpPr txBox="1"/>
          <p:nvPr/>
        </p:nvSpPr>
        <p:spPr>
          <a:xfrm>
            <a:off x="4291897" y="4237783"/>
            <a:ext cx="798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March</a:t>
            </a:r>
          </a:p>
          <a:p>
            <a:r>
              <a:rPr lang="en-US" sz="1200" dirty="0"/>
              <a:t>   1,200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A0472-4DF3-42FE-913C-1F176155DBE9}"/>
              </a:ext>
            </a:extLst>
          </p:cNvPr>
          <p:cNvSpPr txBox="1"/>
          <p:nvPr/>
        </p:nvSpPr>
        <p:spPr>
          <a:xfrm>
            <a:off x="5326054" y="4230169"/>
            <a:ext cx="6254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April</a:t>
            </a:r>
          </a:p>
          <a:p>
            <a:r>
              <a:rPr lang="en-US" sz="1100" dirty="0"/>
              <a:t>  1,800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2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93" grpId="0" animBg="1"/>
      <p:bldP spid="16394" grpId="0" animBg="1"/>
      <p:bldP spid="8227" grpId="0" animBg="1"/>
      <p:bldP spid="8228" grpId="0" animBg="1"/>
      <p:bldP spid="8229" grpId="0" animBg="1"/>
      <p:bldP spid="8230" grpId="0" animBg="1"/>
      <p:bldP spid="16416" grpId="0" animBg="1"/>
      <p:bldP spid="16417" grpId="0"/>
      <p:bldP spid="16401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AC5B5B05-6A2E-44F0-8A79-FE02A43C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1E390-01D4-4AA0-BD64-3BE4D8748C11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BF332F8-8204-4970-AE80-CF14BAD8B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Cash Flows During Steady State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45887E7-A09B-468B-ACFC-5A505255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514475"/>
            <a:ext cx="5943600" cy="2628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385A71BB-D015-42D2-816F-2B26A02AC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596" y="4274753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# of dolls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6404B76-E796-4FE5-A57B-E4FD10034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458913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/>
              <a:t>$</a:t>
            </a:r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1655A2B7-C655-4145-BEE6-05BD393A52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1733550"/>
            <a:ext cx="379730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12">
            <a:extLst>
              <a:ext uri="{FF2B5EF4-FFF2-40B4-BE49-F238E27FC236}">
                <a16:creationId xmlns:a16="http://schemas.microsoft.com/office/drawing/2014/main" id="{B1F94B2F-8236-411F-B899-73E0A0921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457450"/>
            <a:ext cx="3975100" cy="148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26">
            <a:extLst>
              <a:ext uri="{FF2B5EF4-FFF2-40B4-BE49-F238E27FC236}">
                <a16:creationId xmlns:a16="http://schemas.microsoft.com/office/drawing/2014/main" id="{D1757595-61E6-48A6-9928-50D8D9792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1519238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7" name="Oval 35">
            <a:extLst>
              <a:ext uri="{FF2B5EF4-FFF2-40B4-BE49-F238E27FC236}">
                <a16:creationId xmlns:a16="http://schemas.microsoft.com/office/drawing/2014/main" id="{6D26AB01-5B64-4B15-9955-AD6B4691B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28950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8" name="Oval 36">
            <a:extLst>
              <a:ext uri="{FF2B5EF4-FFF2-40B4-BE49-F238E27FC236}">
                <a16:creationId xmlns:a16="http://schemas.microsoft.com/office/drawing/2014/main" id="{3CACD1FE-2265-4684-9B48-EDD8F35A0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19425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9" name="Oval 37">
            <a:extLst>
              <a:ext uri="{FF2B5EF4-FFF2-40B4-BE49-F238E27FC236}">
                <a16:creationId xmlns:a16="http://schemas.microsoft.com/office/drawing/2014/main" id="{03C8B2A8-4F45-4FB5-8DB9-6F8CFA54C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57450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30" name="Oval 38">
            <a:extLst>
              <a:ext uri="{FF2B5EF4-FFF2-40B4-BE49-F238E27FC236}">
                <a16:creationId xmlns:a16="http://schemas.microsoft.com/office/drawing/2014/main" id="{6D24CEF0-5EB2-4E90-A185-4CEA5A0F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57451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6" name="AutoShape 42">
            <a:extLst>
              <a:ext uri="{FF2B5EF4-FFF2-40B4-BE49-F238E27FC236}">
                <a16:creationId xmlns:a16="http://schemas.microsoft.com/office/drawing/2014/main" id="{8AB597A4-AE59-4C1A-A897-76158D21ED77}"/>
              </a:ext>
            </a:extLst>
          </p:cNvPr>
          <p:cNvSpPr>
            <a:spLocks/>
          </p:cNvSpPr>
          <p:nvPr/>
        </p:nvSpPr>
        <p:spPr bwMode="auto">
          <a:xfrm>
            <a:off x="4686303" y="2514600"/>
            <a:ext cx="228600" cy="571500"/>
          </a:xfrm>
          <a:prstGeom prst="righ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7" name="Text Box 43">
            <a:extLst>
              <a:ext uri="{FF2B5EF4-FFF2-40B4-BE49-F238E27FC236}">
                <a16:creationId xmlns:a16="http://schemas.microsoft.com/office/drawing/2014/main" id="{8E62F50A-7156-485B-92C9-2EDDFE89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714" y="2417861"/>
            <a:ext cx="12572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Income $10.8k</a:t>
            </a:r>
          </a:p>
        </p:txBody>
      </p:sp>
      <p:sp>
        <p:nvSpPr>
          <p:cNvPr id="16415" name="Text Box 49">
            <a:extLst>
              <a:ext uri="{FF2B5EF4-FFF2-40B4-BE49-F238E27FC236}">
                <a16:creationId xmlns:a16="http://schemas.microsoft.com/office/drawing/2014/main" id="{CA7014DF-37EC-4564-AE5B-A7A781805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3" y="2636362"/>
            <a:ext cx="18211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Cash </a:t>
            </a:r>
            <a:r>
              <a:rPr lang="en-US" altLang="en-US" sz="1600" dirty="0">
                <a:solidFill>
                  <a:schemeClr val="hlink"/>
                </a:solidFill>
              </a:rPr>
              <a:t>in</a:t>
            </a:r>
            <a:r>
              <a:rPr lang="en-US" altLang="en-US" sz="1600" dirty="0"/>
              <a:t>flow $10.8</a:t>
            </a:r>
          </a:p>
        </p:txBody>
      </p:sp>
      <p:sp>
        <p:nvSpPr>
          <p:cNvPr id="16401" name="Text Box 51">
            <a:extLst>
              <a:ext uri="{FF2B5EF4-FFF2-40B4-BE49-F238E27FC236}">
                <a16:creationId xmlns:a16="http://schemas.microsoft.com/office/drawing/2014/main" id="{961781FF-4774-475F-8D77-5D2152883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834" y="1556343"/>
            <a:ext cx="15161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NI = Cash Flow in</a:t>
            </a:r>
          </a:p>
          <a:p>
            <a:pPr eaLnBrk="1" hangingPunct="1"/>
            <a:r>
              <a:rPr lang="en-US" altLang="en-US" sz="1400" dirty="0"/>
              <a:t>Steady State</a:t>
            </a:r>
          </a:p>
        </p:txBody>
      </p:sp>
      <p:grpSp>
        <p:nvGrpSpPr>
          <p:cNvPr id="8251" name="Group 59">
            <a:extLst>
              <a:ext uri="{FF2B5EF4-FFF2-40B4-BE49-F238E27FC236}">
                <a16:creationId xmlns:a16="http://schemas.microsoft.com/office/drawing/2014/main" id="{C15AA960-4678-4969-86E6-5B2D1E3CF565}"/>
              </a:ext>
            </a:extLst>
          </p:cNvPr>
          <p:cNvGrpSpPr>
            <a:grpSpLocks/>
          </p:cNvGrpSpPr>
          <p:nvPr/>
        </p:nvGrpSpPr>
        <p:grpSpPr bwMode="auto">
          <a:xfrm>
            <a:off x="4800601" y="3143250"/>
            <a:ext cx="2455863" cy="566738"/>
            <a:chOff x="3600" y="2352"/>
            <a:chExt cx="1547" cy="476"/>
          </a:xfrm>
        </p:grpSpPr>
        <p:sp>
          <p:nvSpPr>
            <p:cNvPr id="16412" name="Line 53">
              <a:extLst>
                <a:ext uri="{FF2B5EF4-FFF2-40B4-BE49-F238E27FC236}">
                  <a16:creationId xmlns:a16="http://schemas.microsoft.com/office/drawing/2014/main" id="{FB18BDC9-FD91-41D6-AEF0-50262DD61E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Text Box 54">
              <a:extLst>
                <a:ext uri="{FF2B5EF4-FFF2-40B4-BE49-F238E27FC236}">
                  <a16:creationId xmlns:a16="http://schemas.microsoft.com/office/drawing/2014/main" id="{6DCCE015-E879-4827-8C53-770832174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4" y="2544"/>
              <a:ext cx="1293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Disbursements $43.3k</a:t>
              </a:r>
            </a:p>
          </p:txBody>
        </p:sp>
      </p:grpSp>
      <p:grpSp>
        <p:nvGrpSpPr>
          <p:cNvPr id="8250" name="Group 58">
            <a:extLst>
              <a:ext uri="{FF2B5EF4-FFF2-40B4-BE49-F238E27FC236}">
                <a16:creationId xmlns:a16="http://schemas.microsoft.com/office/drawing/2014/main" id="{CA19BE0F-C85A-4D0B-A579-17D83E0DBF6E}"/>
              </a:ext>
            </a:extLst>
          </p:cNvPr>
          <p:cNvGrpSpPr>
            <a:grpSpLocks/>
          </p:cNvGrpSpPr>
          <p:nvPr/>
        </p:nvGrpSpPr>
        <p:grpSpPr bwMode="auto">
          <a:xfrm>
            <a:off x="2425551" y="2514598"/>
            <a:ext cx="2105808" cy="340519"/>
            <a:chOff x="1105" y="2592"/>
            <a:chExt cx="1103" cy="286"/>
          </a:xfrm>
        </p:grpSpPr>
        <p:sp>
          <p:nvSpPr>
            <p:cNvPr id="16410" name="Text Box 56">
              <a:extLst>
                <a:ext uri="{FF2B5EF4-FFF2-40B4-BE49-F238E27FC236}">
                  <a16:creationId xmlns:a16="http://schemas.microsoft.com/office/drawing/2014/main" id="{56613784-4548-47F5-9E6A-4F274C770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" y="2594"/>
              <a:ext cx="767" cy="2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Receipts $54k</a:t>
              </a:r>
            </a:p>
          </p:txBody>
        </p:sp>
        <p:sp>
          <p:nvSpPr>
            <p:cNvPr id="16411" name="Line 57">
              <a:extLst>
                <a:ext uri="{FF2B5EF4-FFF2-40B4-BE49-F238E27FC236}">
                  <a16:creationId xmlns:a16="http://schemas.microsoft.com/office/drawing/2014/main" id="{919F3C7B-7AD9-4B96-8642-17A108E48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59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52" name="Group 60">
            <a:extLst>
              <a:ext uri="{FF2B5EF4-FFF2-40B4-BE49-F238E27FC236}">
                <a16:creationId xmlns:a16="http://schemas.microsoft.com/office/drawing/2014/main" id="{ADAF604B-6C89-44B3-8DB6-3903EDAF310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14551"/>
            <a:ext cx="1371600" cy="342900"/>
            <a:chOff x="2640" y="1344"/>
            <a:chExt cx="864" cy="288"/>
          </a:xfrm>
        </p:grpSpPr>
        <p:sp>
          <p:nvSpPr>
            <p:cNvPr id="16408" name="Line 61">
              <a:extLst>
                <a:ext uri="{FF2B5EF4-FFF2-40B4-BE49-F238E27FC236}">
                  <a16:creationId xmlns:a16="http://schemas.microsoft.com/office/drawing/2014/main" id="{62AEF247-AB48-4ABE-BF7D-F260F172E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9" name="Text Box 62">
              <a:extLst>
                <a:ext uri="{FF2B5EF4-FFF2-40B4-BE49-F238E27FC236}">
                  <a16:creationId xmlns:a16="http://schemas.microsoft.com/office/drawing/2014/main" id="{5322F8B1-B8BF-42BE-A91E-B4AEAE825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44"/>
              <a:ext cx="720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Revenues</a:t>
              </a:r>
              <a:r>
                <a:rPr lang="en-US" altLang="en-US" sz="1600" dirty="0"/>
                <a:t> </a:t>
              </a:r>
              <a:r>
                <a:rPr lang="en-US" altLang="en-US" sz="1200" dirty="0"/>
                <a:t>$54k</a:t>
              </a:r>
              <a:endParaRPr lang="en-US" altLang="en-US" sz="1600" dirty="0"/>
            </a:p>
          </p:txBody>
        </p:sp>
      </p:grpSp>
      <p:grpSp>
        <p:nvGrpSpPr>
          <p:cNvPr id="8255" name="Group 63">
            <a:extLst>
              <a:ext uri="{FF2B5EF4-FFF2-40B4-BE49-F238E27FC236}">
                <a16:creationId xmlns:a16="http://schemas.microsoft.com/office/drawing/2014/main" id="{78BE6098-6A9A-4310-BFB4-80DCBB3B822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143250"/>
            <a:ext cx="1219200" cy="734616"/>
            <a:chOff x="2880" y="2352"/>
            <a:chExt cx="768" cy="617"/>
          </a:xfrm>
        </p:grpSpPr>
        <p:sp>
          <p:nvSpPr>
            <p:cNvPr id="16406" name="Line 64">
              <a:extLst>
                <a:ext uri="{FF2B5EF4-FFF2-40B4-BE49-F238E27FC236}">
                  <a16:creationId xmlns:a16="http://schemas.microsoft.com/office/drawing/2014/main" id="{C921BC8D-4700-4EB7-B447-4B0A0B8D1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35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Text Box 65">
              <a:extLst>
                <a:ext uri="{FF2B5EF4-FFF2-40B4-BE49-F238E27FC236}">
                  <a16:creationId xmlns:a16="http://schemas.microsoft.com/office/drawing/2014/main" id="{EF3C14AE-5AA0-4384-BD49-70EF47CB1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36"/>
              <a:ext cx="768" cy="2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Expenses $43.2k</a:t>
              </a:r>
              <a:endParaRPr lang="en-US" altLang="en-US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4D44221-E963-462B-912B-18C7978ED8A0}"/>
              </a:ext>
            </a:extLst>
          </p:cNvPr>
          <p:cNvSpPr txBox="1"/>
          <p:nvPr/>
        </p:nvSpPr>
        <p:spPr>
          <a:xfrm>
            <a:off x="4253643" y="4228654"/>
            <a:ext cx="63671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June</a:t>
            </a:r>
          </a:p>
          <a:p>
            <a:r>
              <a:rPr lang="en-US" sz="1100" dirty="0"/>
              <a:t>  1,800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148DF-474F-41EF-9BB2-0FD81D609F4B}"/>
              </a:ext>
            </a:extLst>
          </p:cNvPr>
          <p:cNvSpPr txBox="1"/>
          <p:nvPr/>
        </p:nvSpPr>
        <p:spPr>
          <a:xfrm>
            <a:off x="4291897" y="4237783"/>
            <a:ext cx="5501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July</a:t>
            </a:r>
          </a:p>
          <a:p>
            <a:r>
              <a:rPr lang="en-US" sz="1200" dirty="0"/>
              <a:t>1,800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A0472-4DF3-42FE-913C-1F176155DBE9}"/>
              </a:ext>
            </a:extLst>
          </p:cNvPr>
          <p:cNvSpPr txBox="1"/>
          <p:nvPr/>
        </p:nvSpPr>
        <p:spPr>
          <a:xfrm>
            <a:off x="4191000" y="4220333"/>
            <a:ext cx="83452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August</a:t>
            </a:r>
          </a:p>
          <a:p>
            <a:r>
              <a:rPr lang="en-US" sz="1100" dirty="0"/>
              <a:t>     1,800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48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 animBg="1"/>
      <p:bldP spid="8227" grpId="0" animBg="1"/>
      <p:bldP spid="8228" grpId="0" animBg="1"/>
      <p:bldP spid="8228" grpId="1" animBg="1"/>
      <p:bldP spid="8229" grpId="0" animBg="1"/>
      <p:bldP spid="8229" grpId="1" animBg="1"/>
      <p:bldP spid="8230" grpId="0" animBg="1"/>
      <p:bldP spid="16416" grpId="0" animBg="1"/>
      <p:bldP spid="16416" grpId="1" animBg="1"/>
      <p:bldP spid="16416" grpId="2" animBg="1"/>
      <p:bldP spid="16417" grpId="0"/>
      <p:bldP spid="16417" grpId="1"/>
      <p:bldP spid="16415" grpId="0"/>
      <p:bldP spid="16401" grpId="0"/>
      <p:bldP spid="2" grpId="0"/>
      <p:bldP spid="2" grpId="1"/>
      <p:bldP spid="3" grpId="0"/>
      <p:bldP spid="3" grpId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AC5B5B05-6A2E-44F0-8A79-FE02A43C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1E390-01D4-4AA0-BD64-3BE4D8748C11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BF332F8-8204-4970-AE80-CF14BAD8B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Cash Flows During Decline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45887E7-A09B-468B-ACFC-5A505255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514475"/>
            <a:ext cx="5943600" cy="26289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385A71BB-D015-42D2-816F-2B26A02AC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596" y="4274753"/>
            <a:ext cx="1038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/>
              <a:t># of dolls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6404B76-E796-4FE5-A57B-E4FD10034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1458913"/>
            <a:ext cx="30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/>
              <a:t>$</a:t>
            </a:r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1655A2B7-C655-4145-BEE6-05BD393A52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733550"/>
            <a:ext cx="3721100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12">
            <a:extLst>
              <a:ext uri="{FF2B5EF4-FFF2-40B4-BE49-F238E27FC236}">
                <a16:creationId xmlns:a16="http://schemas.microsoft.com/office/drawing/2014/main" id="{B1F94B2F-8236-411F-B899-73E0A0921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457450"/>
            <a:ext cx="3898900" cy="140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25">
            <a:extLst>
              <a:ext uri="{FF2B5EF4-FFF2-40B4-BE49-F238E27FC236}">
                <a16:creationId xmlns:a16="http://schemas.microsoft.com/office/drawing/2014/main" id="{0FD1C4E8-E077-4947-8B44-D972488F2E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1485900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Line 26">
            <a:extLst>
              <a:ext uri="{FF2B5EF4-FFF2-40B4-BE49-F238E27FC236}">
                <a16:creationId xmlns:a16="http://schemas.microsoft.com/office/drawing/2014/main" id="{D1757595-61E6-48A6-9928-50D8D9792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1519238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27">
            <a:extLst>
              <a:ext uri="{FF2B5EF4-FFF2-40B4-BE49-F238E27FC236}">
                <a16:creationId xmlns:a16="http://schemas.microsoft.com/office/drawing/2014/main" id="{B0A07ACF-30F4-4FD7-96BB-C82532868E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519238"/>
            <a:ext cx="0" cy="26289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7" name="Oval 35">
            <a:extLst>
              <a:ext uri="{FF2B5EF4-FFF2-40B4-BE49-F238E27FC236}">
                <a16:creationId xmlns:a16="http://schemas.microsoft.com/office/drawing/2014/main" id="{6D26AB01-5B64-4B15-9955-AD6B4691B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03" y="3367088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8" name="Oval 36">
            <a:extLst>
              <a:ext uri="{FF2B5EF4-FFF2-40B4-BE49-F238E27FC236}">
                <a16:creationId xmlns:a16="http://schemas.microsoft.com/office/drawing/2014/main" id="{3CACD1FE-2265-4684-9B48-EDD8F35A0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19425"/>
            <a:ext cx="152400" cy="1143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9" name="Oval 37">
            <a:extLst>
              <a:ext uri="{FF2B5EF4-FFF2-40B4-BE49-F238E27FC236}">
                <a16:creationId xmlns:a16="http://schemas.microsoft.com/office/drawing/2014/main" id="{03C8B2A8-4F45-4FB5-8DB9-6F8CFA54C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57450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30" name="Oval 38">
            <a:extLst>
              <a:ext uri="{FF2B5EF4-FFF2-40B4-BE49-F238E27FC236}">
                <a16:creationId xmlns:a16="http://schemas.microsoft.com/office/drawing/2014/main" id="{6D24CEF0-5EB2-4E90-A185-4CEA5A0F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917864"/>
            <a:ext cx="152400" cy="1143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6" name="AutoShape 42">
            <a:extLst>
              <a:ext uri="{FF2B5EF4-FFF2-40B4-BE49-F238E27FC236}">
                <a16:creationId xmlns:a16="http://schemas.microsoft.com/office/drawing/2014/main" id="{8AB597A4-AE59-4C1A-A897-76158D21ED77}"/>
              </a:ext>
            </a:extLst>
          </p:cNvPr>
          <p:cNvSpPr>
            <a:spLocks/>
          </p:cNvSpPr>
          <p:nvPr/>
        </p:nvSpPr>
        <p:spPr bwMode="auto">
          <a:xfrm>
            <a:off x="4686303" y="2514600"/>
            <a:ext cx="228600" cy="571500"/>
          </a:xfrm>
          <a:prstGeom prst="righ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417" name="Text Box 43">
            <a:extLst>
              <a:ext uri="{FF2B5EF4-FFF2-40B4-BE49-F238E27FC236}">
                <a16:creationId xmlns:a16="http://schemas.microsoft.com/office/drawing/2014/main" id="{8E62F50A-7156-485B-92C9-2EDDFE89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509129"/>
            <a:ext cx="1165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Income $7.2k</a:t>
            </a:r>
          </a:p>
        </p:txBody>
      </p:sp>
      <p:grpSp>
        <p:nvGrpSpPr>
          <p:cNvPr id="8259" name="Group 67">
            <a:extLst>
              <a:ext uri="{FF2B5EF4-FFF2-40B4-BE49-F238E27FC236}">
                <a16:creationId xmlns:a16="http://schemas.microsoft.com/office/drawing/2014/main" id="{C961EF49-D2B9-4E79-BC9A-A9378B86F595}"/>
              </a:ext>
            </a:extLst>
          </p:cNvPr>
          <p:cNvGrpSpPr>
            <a:grpSpLocks/>
          </p:cNvGrpSpPr>
          <p:nvPr/>
        </p:nvGrpSpPr>
        <p:grpSpPr bwMode="auto">
          <a:xfrm>
            <a:off x="5781679" y="2000248"/>
            <a:ext cx="1912941" cy="1464647"/>
            <a:chOff x="1482" y="1732"/>
            <a:chExt cx="1205" cy="1148"/>
          </a:xfrm>
        </p:grpSpPr>
        <p:sp>
          <p:nvSpPr>
            <p:cNvPr id="16414" name="AutoShape 45">
              <a:extLst>
                <a:ext uri="{FF2B5EF4-FFF2-40B4-BE49-F238E27FC236}">
                  <a16:creationId xmlns:a16="http://schemas.microsoft.com/office/drawing/2014/main" id="{4DB92B52-9406-4B67-98A7-DB6A5B410CD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482" y="1732"/>
              <a:ext cx="144" cy="1148"/>
            </a:xfrm>
            <a:prstGeom prst="leftBrace">
              <a:avLst>
                <a:gd name="adj1" fmla="val 11111"/>
                <a:gd name="adj2" fmla="val 55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15" name="Text Box 49">
              <a:extLst>
                <a:ext uri="{FF2B5EF4-FFF2-40B4-BE49-F238E27FC236}">
                  <a16:creationId xmlns:a16="http://schemas.microsoft.com/office/drawing/2014/main" id="{CA7014DF-37EC-4564-AE5B-A7A781805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164"/>
              <a:ext cx="110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Cash </a:t>
              </a:r>
              <a:r>
                <a:rPr lang="en-US" altLang="en-US" sz="1600" dirty="0">
                  <a:solidFill>
                    <a:schemeClr val="hlink"/>
                  </a:solidFill>
                </a:rPr>
                <a:t>in</a:t>
              </a:r>
              <a:r>
                <a:rPr lang="en-US" altLang="en-US" sz="1600" dirty="0"/>
                <a:t>flow $39.6k</a:t>
              </a:r>
            </a:p>
          </p:txBody>
        </p:sp>
      </p:grpSp>
      <p:sp>
        <p:nvSpPr>
          <p:cNvPr id="16401" name="Text Box 51">
            <a:extLst>
              <a:ext uri="{FF2B5EF4-FFF2-40B4-BE49-F238E27FC236}">
                <a16:creationId xmlns:a16="http://schemas.microsoft.com/office/drawing/2014/main" id="{961781FF-4774-475F-8D77-5D2152883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834" y="1556343"/>
            <a:ext cx="15161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dirty="0"/>
              <a:t>Collect on more than you buy in a declining business.</a:t>
            </a:r>
          </a:p>
        </p:txBody>
      </p:sp>
      <p:grpSp>
        <p:nvGrpSpPr>
          <p:cNvPr id="8251" name="Group 59">
            <a:extLst>
              <a:ext uri="{FF2B5EF4-FFF2-40B4-BE49-F238E27FC236}">
                <a16:creationId xmlns:a16="http://schemas.microsoft.com/office/drawing/2014/main" id="{C15AA960-4678-4969-86E6-5B2D1E3CF565}"/>
              </a:ext>
            </a:extLst>
          </p:cNvPr>
          <p:cNvGrpSpPr>
            <a:grpSpLocks/>
          </p:cNvGrpSpPr>
          <p:nvPr/>
        </p:nvGrpSpPr>
        <p:grpSpPr bwMode="auto">
          <a:xfrm>
            <a:off x="2619378" y="3495851"/>
            <a:ext cx="2105026" cy="584597"/>
            <a:chOff x="3641" y="2344"/>
            <a:chExt cx="1326" cy="491"/>
          </a:xfrm>
        </p:grpSpPr>
        <p:sp>
          <p:nvSpPr>
            <p:cNvPr id="16412" name="Line 53">
              <a:extLst>
                <a:ext uri="{FF2B5EF4-FFF2-40B4-BE49-F238E27FC236}">
                  <a16:creationId xmlns:a16="http://schemas.microsoft.com/office/drawing/2014/main" id="{FB18BDC9-FD91-41D6-AEF0-50262DD61E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6" y="2344"/>
              <a:ext cx="32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Text Box 54">
              <a:extLst>
                <a:ext uri="{FF2B5EF4-FFF2-40B4-BE49-F238E27FC236}">
                  <a16:creationId xmlns:a16="http://schemas.microsoft.com/office/drawing/2014/main" id="{6DCCE015-E879-4827-8C53-770832174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2551"/>
              <a:ext cx="1326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Disbursements $14.4k</a:t>
              </a:r>
            </a:p>
          </p:txBody>
        </p:sp>
      </p:grpSp>
      <p:grpSp>
        <p:nvGrpSpPr>
          <p:cNvPr id="8250" name="Group 58">
            <a:extLst>
              <a:ext uri="{FF2B5EF4-FFF2-40B4-BE49-F238E27FC236}">
                <a16:creationId xmlns:a16="http://schemas.microsoft.com/office/drawing/2014/main" id="{CA19BE0F-C85A-4D0B-A579-17D83E0DBF6E}"/>
              </a:ext>
            </a:extLst>
          </p:cNvPr>
          <p:cNvGrpSpPr>
            <a:grpSpLocks/>
          </p:cNvGrpSpPr>
          <p:nvPr/>
        </p:nvGrpSpPr>
        <p:grpSpPr bwMode="auto">
          <a:xfrm>
            <a:off x="4025106" y="1622455"/>
            <a:ext cx="1550988" cy="338138"/>
            <a:chOff x="1254" y="2592"/>
            <a:chExt cx="977" cy="284"/>
          </a:xfrm>
        </p:grpSpPr>
        <p:sp>
          <p:nvSpPr>
            <p:cNvPr id="16410" name="Text Box 56">
              <a:extLst>
                <a:ext uri="{FF2B5EF4-FFF2-40B4-BE49-F238E27FC236}">
                  <a16:creationId xmlns:a16="http://schemas.microsoft.com/office/drawing/2014/main" id="{56613784-4548-47F5-9E6A-4F274C770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" y="2592"/>
              <a:ext cx="794" cy="2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Receipts $54</a:t>
              </a:r>
            </a:p>
          </p:txBody>
        </p:sp>
        <p:sp>
          <p:nvSpPr>
            <p:cNvPr id="16411" name="Line 57">
              <a:extLst>
                <a:ext uri="{FF2B5EF4-FFF2-40B4-BE49-F238E27FC236}">
                  <a16:creationId xmlns:a16="http://schemas.microsoft.com/office/drawing/2014/main" id="{919F3C7B-7AD9-4B96-8642-17A108E48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765"/>
              <a:ext cx="183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52" name="Group 60">
            <a:extLst>
              <a:ext uri="{FF2B5EF4-FFF2-40B4-BE49-F238E27FC236}">
                <a16:creationId xmlns:a16="http://schemas.microsoft.com/office/drawing/2014/main" id="{ADAF604B-6C89-44B3-8DB6-3903EDAF310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14551"/>
            <a:ext cx="1371600" cy="342900"/>
            <a:chOff x="2640" y="1344"/>
            <a:chExt cx="864" cy="288"/>
          </a:xfrm>
        </p:grpSpPr>
        <p:sp>
          <p:nvSpPr>
            <p:cNvPr id="16408" name="Line 61">
              <a:extLst>
                <a:ext uri="{FF2B5EF4-FFF2-40B4-BE49-F238E27FC236}">
                  <a16:creationId xmlns:a16="http://schemas.microsoft.com/office/drawing/2014/main" id="{62AEF247-AB48-4ABE-BF7D-F260F172E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9" name="Text Box 62">
              <a:extLst>
                <a:ext uri="{FF2B5EF4-FFF2-40B4-BE49-F238E27FC236}">
                  <a16:creationId xmlns:a16="http://schemas.microsoft.com/office/drawing/2014/main" id="{5322F8B1-B8BF-42BE-A91E-B4AEAE825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44"/>
              <a:ext cx="720" cy="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Revenues</a:t>
              </a:r>
              <a:r>
                <a:rPr lang="en-US" altLang="en-US" sz="1600" dirty="0"/>
                <a:t> </a:t>
              </a:r>
              <a:r>
                <a:rPr lang="en-US" altLang="en-US" sz="1200" dirty="0"/>
                <a:t>$36k</a:t>
              </a:r>
              <a:endParaRPr lang="en-US" altLang="en-US" sz="1600" dirty="0"/>
            </a:p>
          </p:txBody>
        </p:sp>
      </p:grpSp>
      <p:grpSp>
        <p:nvGrpSpPr>
          <p:cNvPr id="8255" name="Group 63">
            <a:extLst>
              <a:ext uri="{FF2B5EF4-FFF2-40B4-BE49-F238E27FC236}">
                <a16:creationId xmlns:a16="http://schemas.microsoft.com/office/drawing/2014/main" id="{78BE6098-6A9A-4310-BFB4-80DCBB3B8221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3086277"/>
            <a:ext cx="1257300" cy="656035"/>
            <a:chOff x="2856" y="2418"/>
            <a:chExt cx="792" cy="551"/>
          </a:xfrm>
        </p:grpSpPr>
        <p:sp>
          <p:nvSpPr>
            <p:cNvPr id="16406" name="Line 64">
              <a:extLst>
                <a:ext uri="{FF2B5EF4-FFF2-40B4-BE49-F238E27FC236}">
                  <a16:creationId xmlns:a16="http://schemas.microsoft.com/office/drawing/2014/main" id="{C921BC8D-4700-4EB7-B447-4B0A0B8D1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6" y="2418"/>
              <a:ext cx="40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Text Box 65">
              <a:extLst>
                <a:ext uri="{FF2B5EF4-FFF2-40B4-BE49-F238E27FC236}">
                  <a16:creationId xmlns:a16="http://schemas.microsoft.com/office/drawing/2014/main" id="{EF3C14AE-5AA0-4384-BD49-70EF47CB1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36"/>
              <a:ext cx="768" cy="23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 dirty="0"/>
                <a:t>Expenses $28.8k</a:t>
              </a:r>
              <a:endParaRPr lang="en-US" altLang="en-US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4D44221-E963-462B-912B-18C7978ED8A0}"/>
              </a:ext>
            </a:extLst>
          </p:cNvPr>
          <p:cNvSpPr txBox="1"/>
          <p:nvPr/>
        </p:nvSpPr>
        <p:spPr>
          <a:xfrm>
            <a:off x="3017345" y="4228654"/>
            <a:ext cx="117365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November</a:t>
            </a:r>
          </a:p>
          <a:p>
            <a:r>
              <a:rPr lang="en-US" sz="1100" dirty="0"/>
              <a:t>           600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148DF-474F-41EF-9BB2-0FD81D609F4B}"/>
              </a:ext>
            </a:extLst>
          </p:cNvPr>
          <p:cNvSpPr txBox="1"/>
          <p:nvPr/>
        </p:nvSpPr>
        <p:spPr>
          <a:xfrm>
            <a:off x="4169062" y="4230169"/>
            <a:ext cx="958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October</a:t>
            </a:r>
          </a:p>
          <a:p>
            <a:r>
              <a:rPr lang="en-US" sz="1200" dirty="0"/>
              <a:t>     1,200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A0472-4DF3-42FE-913C-1F176155DBE9}"/>
              </a:ext>
            </a:extLst>
          </p:cNvPr>
          <p:cNvSpPr txBox="1"/>
          <p:nvPr/>
        </p:nvSpPr>
        <p:spPr>
          <a:xfrm>
            <a:off x="5146454" y="4230169"/>
            <a:ext cx="1218282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September</a:t>
            </a:r>
          </a:p>
          <a:p>
            <a:r>
              <a:rPr lang="en-US" sz="1100" dirty="0"/>
              <a:t>       1,800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87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93" grpId="0" animBg="1"/>
      <p:bldP spid="16394" grpId="0" animBg="1"/>
      <p:bldP spid="8227" grpId="0" animBg="1"/>
      <p:bldP spid="8228" grpId="0" animBg="1"/>
      <p:bldP spid="8229" grpId="0" animBg="1"/>
      <p:bldP spid="8230" grpId="0" animBg="1"/>
      <p:bldP spid="16416" grpId="0" animBg="1"/>
      <p:bldP spid="16417" grpId="0"/>
      <p:bldP spid="1640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6D47BE65-8E50-49D1-BEEF-AC16FD36D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We Can Learn from Total Toy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59B82359-3F26-4906-B7A9-80897D8FE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3625"/>
            <a:ext cx="8229600" cy="3394075"/>
          </a:xfrm>
        </p:spPr>
        <p:txBody>
          <a:bodyPr>
            <a:normAutofit lnSpcReduction="10000"/>
          </a:bodyPr>
          <a:lstStyle/>
          <a:p>
            <a:r>
              <a:rPr lang="en-US" altLang="en-US" sz="2800" b="1" dirty="0"/>
              <a:t>In theory,</a:t>
            </a:r>
            <a:r>
              <a:rPr lang="en-US" altLang="en-US" sz="2800" dirty="0"/>
              <a:t> cash flows and financial values are connected (at least over the long run), but the connection is complicated.</a:t>
            </a:r>
          </a:p>
          <a:p>
            <a:r>
              <a:rPr lang="en-US" altLang="en-US" sz="2800" b="1" dirty="0"/>
              <a:t>In practice,</a:t>
            </a:r>
            <a:r>
              <a:rPr lang="en-US" altLang="en-US" sz="2800" dirty="0"/>
              <a:t> we must </a:t>
            </a:r>
            <a:r>
              <a:rPr lang="en-US" altLang="en-US" sz="2800" i="1" dirty="0"/>
              <a:t>pay close attention</a:t>
            </a:r>
            <a:r>
              <a:rPr lang="en-US" altLang="en-US" sz="2800" dirty="0"/>
              <a:t> to the timing of cash flows to make sure we can operate the entity.</a:t>
            </a:r>
          </a:p>
          <a:p>
            <a:r>
              <a:rPr lang="en-US" altLang="en-US" sz="2800" dirty="0"/>
              <a:t>The </a:t>
            </a:r>
            <a:r>
              <a:rPr lang="en-US" altLang="en-US" sz="2800" b="1" i="1" dirty="0"/>
              <a:t>relation</a:t>
            </a:r>
            <a:r>
              <a:rPr lang="en-US" altLang="en-US" sz="2800" dirty="0"/>
              <a:t> between Net Income and Cash Flows tells us more than the </a:t>
            </a:r>
            <a:r>
              <a:rPr lang="en-US" altLang="en-US" sz="2800" b="1" i="1" dirty="0"/>
              <a:t>amount</a:t>
            </a:r>
            <a:r>
              <a:rPr lang="en-US" altLang="en-US" sz="2800" dirty="0"/>
              <a:t> of either.</a:t>
            </a:r>
            <a:endParaRPr lang="en-US" altLang="en-US" sz="2000" dirty="0"/>
          </a:p>
          <a:p>
            <a:pPr lvl="1"/>
            <a:endParaRPr lang="en-US" alt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D6296-5DD9-4EA0-AAD8-DCC677EC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AA9CD7-3AA0-4378-88CF-49173D84CE13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BE8F-8D99-44D5-8845-4BB51702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Exact graphs for total toy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59BF0-8C28-4F2F-A64A-E45CE19DC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308EFE4-2CDA-460E-B1D9-AAA3DCB3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11D46-637F-4627-8491-F03ECD4EA1E8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8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DFD43D-54D6-129D-67C9-B0A0EC42B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28"/>
          <a:stretch/>
        </p:blipFill>
        <p:spPr>
          <a:xfrm>
            <a:off x="1981200" y="285750"/>
            <a:ext cx="5221987" cy="37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5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6B3D08-CDF7-36DF-861E-FBB03D5AE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09550"/>
            <a:ext cx="5041644" cy="42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3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938859-0120-6F0B-A32A-78851EF600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51"/>
          <a:stretch/>
        </p:blipFill>
        <p:spPr>
          <a:xfrm>
            <a:off x="1905000" y="361950"/>
            <a:ext cx="5452110" cy="390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4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50BD19-0D3F-1CFC-93F1-EDF40CB3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3350"/>
            <a:ext cx="5194044" cy="442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0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2F098-056D-B0D6-3F5A-20541DA656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51"/>
          <a:stretch/>
        </p:blipFill>
        <p:spPr>
          <a:xfrm>
            <a:off x="1981200" y="438150"/>
            <a:ext cx="5336582" cy="390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189F3-B26B-4941-43BB-24BB1195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61950"/>
            <a:ext cx="4965444" cy="42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74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BE8F-8D99-44D5-8845-4BB51702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Cash flows &amp; accruals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59BF0-8C28-4F2F-A64A-E45CE19DC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308EFE4-2CDA-460E-B1D9-AAA3DCB3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11D46-637F-4627-8491-F03ECD4EA1E8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555"/>
            <a:ext cx="8229600" cy="857250"/>
          </a:xfrm>
        </p:spPr>
        <p:txBody>
          <a:bodyPr/>
          <a:lstStyle/>
          <a:p>
            <a:r>
              <a:rPr lang="en-US" dirty="0"/>
              <a:t>Suppose Value is Created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1070189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362200" y="3943350"/>
            <a:ext cx="381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Period in which Revenue is recognized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742" y="1455084"/>
            <a:ext cx="29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received in cash in the current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301022"/>
            <a:ext cx="266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received in cash in the future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705" y="1162523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has been received in cash in the past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1012" y="2099193"/>
            <a:ext cx="1976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count the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549" y="2044862"/>
            <a:ext cx="200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have an </a:t>
            </a:r>
            <a:r>
              <a:rPr lang="en-US" b="1" dirty="0"/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" y="209882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have a </a:t>
            </a:r>
            <a:r>
              <a:rPr lang="en-US" b="1" dirty="0"/>
              <a:t>liability</a:t>
            </a:r>
          </a:p>
        </p:txBody>
      </p:sp>
      <p:cxnSp>
        <p:nvCxnSpPr>
          <p:cNvPr id="23" name="Straight Arrow Connector 22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3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2" grpId="1"/>
      <p:bldP spid="13" grpId="0"/>
      <p:bldP spid="13" grpId="1"/>
      <p:bldP spid="14" grpId="0"/>
      <p:bldP spid="14" grpId="1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Value is Consumed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931690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38400" y="3943350"/>
            <a:ext cx="378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Period in which Expense is recognized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77" y="1400116"/>
            <a:ext cx="320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paid for with current cash disbursements, just count the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400116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to be paid for in cash in the future, must create a </a:t>
            </a:r>
            <a:r>
              <a:rPr lang="en-US" b="1" dirty="0"/>
              <a:t>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" y="1508771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has paid for in cash in the past, must create an </a:t>
            </a:r>
            <a:r>
              <a:rPr lang="en-US" b="1" dirty="0"/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cxnSp>
        <p:nvCxnSpPr>
          <p:cNvPr id="4" name="Straight Arrow Connector 3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5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2" grpId="1"/>
      <p:bldP spid="13" grpId="0"/>
      <p:bldP spid="14" grpId="0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401</TotalTime>
  <Words>690</Words>
  <Application>Microsoft Office PowerPoint</Application>
  <PresentationFormat>On-screen Show (16:9)</PresentationFormat>
  <Paragraphs>163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YLS-Class-White-Wide</vt:lpstr>
      <vt:lpstr>Financial Accounting LAW 21474 </vt:lpstr>
      <vt:lpstr>Net Income vs Cash Flow from Operations</vt:lpstr>
      <vt:lpstr>Total Toy Company: Basics</vt:lpstr>
      <vt:lpstr>Economics of Total Toy</vt:lpstr>
      <vt:lpstr>Economics of Total Toy</vt:lpstr>
      <vt:lpstr>Operational Details: Demand</vt:lpstr>
      <vt:lpstr>Demand for Dolls</vt:lpstr>
      <vt:lpstr>Operational Details: Inventory, Receivables &amp; Cash Flow</vt:lpstr>
      <vt:lpstr>Timeline</vt:lpstr>
      <vt:lpstr>The graphs that follow are illustrative</vt:lpstr>
      <vt:lpstr>Cash Flows During Growth</vt:lpstr>
      <vt:lpstr>Cash Flows During Steady State</vt:lpstr>
      <vt:lpstr>Cash Flows During Decline</vt:lpstr>
      <vt:lpstr>What We Can Learn from Total Toy</vt:lpstr>
      <vt:lpstr>Exact graphs for total toy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Cash flows &amp; accruals</vt:lpstr>
      <vt:lpstr>Suppose Value is Created </vt:lpstr>
      <vt:lpstr>Suppose Value is Consumed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18</cp:revision>
  <dcterms:created xsi:type="dcterms:W3CDTF">2018-01-16T22:21:00Z</dcterms:created>
  <dcterms:modified xsi:type="dcterms:W3CDTF">2026-02-16T01:16:22Z</dcterms:modified>
</cp:coreProperties>
</file>