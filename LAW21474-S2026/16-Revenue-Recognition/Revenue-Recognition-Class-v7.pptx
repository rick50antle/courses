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A6EA5"/>
          </a:solidFill>
          <a:ln/>
        </p:spPr>
      </p:sp>
      <p:sp>
        <p:nvSpPr>
          <p:cNvPr id="3" name="Text 1"/>
          <p:cNvSpPr/>
          <p:nvPr/>
        </p:nvSpPr>
        <p:spPr>
          <a:xfrm>
            <a:off x="731520" y="1097280"/>
            <a:ext cx="7772400" cy="109728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Revenue Recognition</a:t>
            </a:r>
            <a:endParaRPr lang="en-US" sz="4400" dirty="0"/>
          </a:p>
        </p:txBody>
      </p:sp>
      <p:sp>
        <p:nvSpPr>
          <p:cNvPr id="4" name="Text 2"/>
          <p:cNvSpPr/>
          <p:nvPr/>
        </p:nvSpPr>
        <p:spPr>
          <a:xfrm>
            <a:off x="731520" y="2103120"/>
            <a:ext cx="7772400" cy="64008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From Conventions to Standards</a:t>
            </a:r>
            <a:endParaRPr lang="en-US" sz="2400" dirty="0"/>
          </a:p>
        </p:txBody>
      </p:sp>
      <p:sp>
        <p:nvSpPr>
          <p:cNvPr id="5" name="Shape 3"/>
          <p:cNvSpPr/>
          <p:nvPr/>
        </p:nvSpPr>
        <p:spPr>
          <a:xfrm>
            <a:off x="731520" y="3017520"/>
            <a:ext cx="2743200" cy="0"/>
          </a:xfrm>
          <a:prstGeom prst="line">
            <a:avLst/>
          </a:prstGeom>
          <a:noFill/>
          <a:ln w="25400">
            <a:solidFill>
              <a:srgbClr val="3A6EA5"/>
            </a:solidFill>
            <a:prstDash val="solid"/>
          </a:ln>
        </p:spPr>
      </p:sp>
      <p:sp>
        <p:nvSpPr>
          <p:cNvPr id="6" name="Text 4"/>
          <p:cNvSpPr/>
          <p:nvPr/>
        </p:nvSpPr>
        <p:spPr>
          <a:xfrm>
            <a:off x="731520" y="3291840"/>
            <a:ext cx="7315200" cy="457200"/>
          </a:xfrm>
          <a:prstGeom prst="rect">
            <a:avLst/>
          </a:prstGeom>
          <a:noFill/>
          <a:ln/>
        </p:spPr>
        <p:txBody>
          <a:bodyPr wrap="square" lIns="0" tIns="0" rIns="0" bIns="0" rtlCol="0" anchor="ctr"/>
          <a:lstStyle/>
          <a:p>
            <a:pPr indent="0" marL="0">
              <a:buNone/>
            </a:pPr>
            <a:r>
              <a:rPr lang="en-US" sz="1400" dirty="0">
                <a:solidFill>
                  <a:srgbClr val="8888AA"/>
                </a:solidFill>
                <a:latin typeface="Calibri" pitchFamily="34" charset="0"/>
                <a:ea typeface="Calibri" pitchFamily="34" charset="-122"/>
                <a:cs typeface="Calibri" pitchFamily="34" charset="-120"/>
              </a:rPr>
              <a:t>LAW 21474  |  Financial Accounting  |  Spring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Today’s Class</a:t>
            </a:r>
            <a:endParaRPr lang="en-US" sz="3600" dirty="0"/>
          </a:p>
        </p:txBody>
      </p:sp>
      <p:sp>
        <p:nvSpPr>
          <p:cNvPr id="3" name="Shape 1"/>
          <p:cNvSpPr/>
          <p:nvPr/>
        </p:nvSpPr>
        <p:spPr>
          <a:xfrm>
            <a:off x="548640" y="1280160"/>
            <a:ext cx="80467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548640" y="1280160"/>
            <a:ext cx="73152" cy="960120"/>
          </a:xfrm>
          <a:prstGeom prst="rect">
            <a:avLst/>
          </a:prstGeom>
          <a:solidFill>
            <a:srgbClr val="3A6EA5"/>
          </a:solidFill>
          <a:ln/>
        </p:spPr>
      </p:sp>
      <p:sp>
        <p:nvSpPr>
          <p:cNvPr id="5" name="Shape 3"/>
          <p:cNvSpPr/>
          <p:nvPr/>
        </p:nvSpPr>
        <p:spPr>
          <a:xfrm>
            <a:off x="914400" y="1463040"/>
            <a:ext cx="548640" cy="548640"/>
          </a:xfrm>
          <a:prstGeom prst="ellipse">
            <a:avLst/>
          </a:prstGeom>
          <a:solidFill>
            <a:srgbClr val="3A6EA5"/>
          </a:solidFill>
          <a:ln/>
        </p:spPr>
      </p:sp>
      <p:sp>
        <p:nvSpPr>
          <p:cNvPr id="6" name="Text 4"/>
          <p:cNvSpPr/>
          <p:nvPr/>
        </p:nvSpPr>
        <p:spPr>
          <a:xfrm>
            <a:off x="914400" y="1463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Text 5"/>
          <p:cNvSpPr/>
          <p:nvPr/>
        </p:nvSpPr>
        <p:spPr>
          <a:xfrm>
            <a:off x="1737360" y="1371600"/>
            <a:ext cx="6400800" cy="411480"/>
          </a:xfrm>
          <a:prstGeom prst="rect">
            <a:avLst/>
          </a:prstGeom>
          <a:noFill/>
          <a:ln/>
        </p:spPr>
        <p:txBody>
          <a:bodyPr wrap="square" lIns="0" tIns="0" rIns="0" bIns="0"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What We Already Know</a:t>
            </a:r>
            <a:endParaRPr lang="en-US" sz="1800" dirty="0"/>
          </a:p>
        </p:txBody>
      </p:sp>
      <p:sp>
        <p:nvSpPr>
          <p:cNvPr id="8" name="Text 6"/>
          <p:cNvSpPr/>
          <p:nvPr/>
        </p:nvSpPr>
        <p:spPr>
          <a:xfrm>
            <a:off x="1737360" y="1755648"/>
            <a:ext cx="6400800" cy="365760"/>
          </a:xfrm>
          <a:prstGeom prst="rect">
            <a:avLst/>
          </a:prstGeom>
          <a:noFill/>
          <a:ln/>
        </p:spPr>
        <p:txBody>
          <a:bodyPr wrap="square" lIns="0" tIns="0" rIns="0" bIns="0" rtlCol="0" anchor="ctr"/>
          <a:lstStyle/>
          <a:p>
            <a:pPr indent="0" marL="0">
              <a:buNone/>
            </a:pPr>
            <a:r>
              <a:rPr lang="en-US" sz="1300" dirty="0">
                <a:solidFill>
                  <a:srgbClr val="4A4A6A"/>
                </a:solidFill>
                <a:latin typeface="Calibri" pitchFamily="34" charset="0"/>
                <a:ea typeface="Calibri" pitchFamily="34" charset="-122"/>
                <a:cs typeface="Calibri" pitchFamily="34" charset="-120"/>
              </a:rPr>
              <a:t>Revenue recognition decisions hiding in your practice problems</a:t>
            </a:r>
            <a:endParaRPr lang="en-US" sz="1300" dirty="0"/>
          </a:p>
        </p:txBody>
      </p:sp>
      <p:sp>
        <p:nvSpPr>
          <p:cNvPr id="9" name="Shape 7"/>
          <p:cNvSpPr/>
          <p:nvPr/>
        </p:nvSpPr>
        <p:spPr>
          <a:xfrm>
            <a:off x="548640" y="2468880"/>
            <a:ext cx="80467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548640" y="2468880"/>
            <a:ext cx="73152" cy="960120"/>
          </a:xfrm>
          <a:prstGeom prst="rect">
            <a:avLst/>
          </a:prstGeom>
          <a:solidFill>
            <a:srgbClr val="B83232"/>
          </a:solidFill>
          <a:ln/>
        </p:spPr>
      </p:sp>
      <p:sp>
        <p:nvSpPr>
          <p:cNvPr id="11" name="Shape 9"/>
          <p:cNvSpPr/>
          <p:nvPr/>
        </p:nvSpPr>
        <p:spPr>
          <a:xfrm>
            <a:off x="914400" y="2651760"/>
            <a:ext cx="548640" cy="548640"/>
          </a:xfrm>
          <a:prstGeom prst="ellipse">
            <a:avLst/>
          </a:prstGeom>
          <a:solidFill>
            <a:srgbClr val="B83232"/>
          </a:solidFill>
          <a:ln/>
        </p:spPr>
      </p:sp>
      <p:sp>
        <p:nvSpPr>
          <p:cNvPr id="12" name="Text 10"/>
          <p:cNvSpPr/>
          <p:nvPr/>
        </p:nvSpPr>
        <p:spPr>
          <a:xfrm>
            <a:off x="914400" y="2651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737360" y="2560320"/>
            <a:ext cx="6400800" cy="411480"/>
          </a:xfrm>
          <a:prstGeom prst="rect">
            <a:avLst/>
          </a:prstGeom>
          <a:noFill/>
          <a:ln/>
        </p:spPr>
        <p:txBody>
          <a:bodyPr wrap="square" lIns="0" tIns="0" rIns="0" bIns="0"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Why the Old Criteria Broke Down</a:t>
            </a:r>
            <a:endParaRPr lang="en-US" sz="1800" dirty="0"/>
          </a:p>
        </p:txBody>
      </p:sp>
      <p:sp>
        <p:nvSpPr>
          <p:cNvPr id="14" name="Text 12"/>
          <p:cNvSpPr/>
          <p:nvPr/>
        </p:nvSpPr>
        <p:spPr>
          <a:xfrm>
            <a:off x="1737360" y="2944368"/>
            <a:ext cx="6400800" cy="365760"/>
          </a:xfrm>
          <a:prstGeom prst="rect">
            <a:avLst/>
          </a:prstGeom>
          <a:noFill/>
          <a:ln/>
        </p:spPr>
        <p:txBody>
          <a:bodyPr wrap="square" lIns="0" tIns="0" rIns="0" bIns="0" rtlCol="0" anchor="ctr"/>
          <a:lstStyle/>
          <a:p>
            <a:pPr indent="0" marL="0">
              <a:buNone/>
            </a:pPr>
            <a:r>
              <a:rPr lang="en-US" sz="1300" dirty="0">
                <a:solidFill>
                  <a:srgbClr val="4A4A6A"/>
                </a:solidFill>
                <a:latin typeface="Calibri" pitchFamily="34" charset="0"/>
                <a:ea typeface="Calibri" pitchFamily="34" charset="-122"/>
                <a:cs typeface="Calibri" pitchFamily="34" charset="-120"/>
              </a:rPr>
              <a:t>Changing business models, rising audit costs, and where the cracks showed</a:t>
            </a:r>
            <a:endParaRPr lang="en-US" sz="1300" dirty="0"/>
          </a:p>
        </p:txBody>
      </p:sp>
      <p:sp>
        <p:nvSpPr>
          <p:cNvPr id="15" name="Shape 13"/>
          <p:cNvSpPr/>
          <p:nvPr/>
        </p:nvSpPr>
        <p:spPr>
          <a:xfrm>
            <a:off x="548640" y="3657600"/>
            <a:ext cx="80467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6" name="Shape 14"/>
          <p:cNvSpPr/>
          <p:nvPr/>
        </p:nvSpPr>
        <p:spPr>
          <a:xfrm>
            <a:off x="548640" y="3657600"/>
            <a:ext cx="73152" cy="960120"/>
          </a:xfrm>
          <a:prstGeom prst="rect">
            <a:avLst/>
          </a:prstGeom>
          <a:solidFill>
            <a:srgbClr val="2A7A4B"/>
          </a:solidFill>
          <a:ln/>
        </p:spPr>
      </p:sp>
      <p:sp>
        <p:nvSpPr>
          <p:cNvPr id="17" name="Shape 15"/>
          <p:cNvSpPr/>
          <p:nvPr/>
        </p:nvSpPr>
        <p:spPr>
          <a:xfrm>
            <a:off x="914400" y="3840480"/>
            <a:ext cx="548640" cy="548640"/>
          </a:xfrm>
          <a:prstGeom prst="ellipse">
            <a:avLst/>
          </a:prstGeom>
          <a:solidFill>
            <a:srgbClr val="2A7A4B"/>
          </a:solidFill>
          <a:ln/>
        </p:spPr>
      </p:sp>
      <p:sp>
        <p:nvSpPr>
          <p:cNvPr id="18" name="Text 16"/>
          <p:cNvSpPr/>
          <p:nvPr/>
        </p:nvSpPr>
        <p:spPr>
          <a:xfrm>
            <a:off x="914400" y="3840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9" name="Text 17"/>
          <p:cNvSpPr/>
          <p:nvPr/>
        </p:nvSpPr>
        <p:spPr>
          <a:xfrm>
            <a:off x="1737360" y="3749040"/>
            <a:ext cx="6400800" cy="411480"/>
          </a:xfrm>
          <a:prstGeom prst="rect">
            <a:avLst/>
          </a:prstGeom>
          <a:noFill/>
          <a:ln/>
        </p:spPr>
        <p:txBody>
          <a:bodyPr wrap="square" lIns="0" tIns="0" rIns="0" bIns="0"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The Fix: ASC 606</a:t>
            </a:r>
            <a:endParaRPr lang="en-US" sz="1800" dirty="0"/>
          </a:p>
        </p:txBody>
      </p:sp>
      <p:sp>
        <p:nvSpPr>
          <p:cNvPr id="20" name="Text 18"/>
          <p:cNvSpPr/>
          <p:nvPr/>
        </p:nvSpPr>
        <p:spPr>
          <a:xfrm>
            <a:off x="1737360" y="4133088"/>
            <a:ext cx="6400800" cy="365760"/>
          </a:xfrm>
          <a:prstGeom prst="rect">
            <a:avLst/>
          </a:prstGeom>
          <a:noFill/>
          <a:ln/>
        </p:spPr>
        <p:txBody>
          <a:bodyPr wrap="square" lIns="0" tIns="0" rIns="0" bIns="0" rtlCol="0" anchor="ctr"/>
          <a:lstStyle/>
          <a:p>
            <a:pPr indent="0" marL="0">
              <a:buNone/>
            </a:pPr>
            <a:r>
              <a:rPr lang="en-US" sz="1300" dirty="0">
                <a:solidFill>
                  <a:srgbClr val="4A4A6A"/>
                </a:solidFill>
                <a:latin typeface="Calibri" pitchFamily="34" charset="0"/>
                <a:ea typeface="Calibri" pitchFamily="34" charset="-122"/>
                <a:cs typeface="Calibri" pitchFamily="34" charset="-120"/>
              </a:rPr>
              <a:t>A global, principles-based response developed jointly by the FASB and IASB</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The Revenue Recognition Convention</a:t>
            </a:r>
            <a:endParaRPr lang="en-US" sz="2800" dirty="0"/>
          </a:p>
        </p:txBody>
      </p:sp>
      <p:sp>
        <p:nvSpPr>
          <p:cNvPr id="3" name="Text 1"/>
          <p:cNvSpPr/>
          <p:nvPr/>
        </p:nvSpPr>
        <p:spPr>
          <a:xfrm>
            <a:off x="548640" y="731520"/>
            <a:ext cx="8229600" cy="320040"/>
          </a:xfrm>
          <a:prstGeom prst="rect">
            <a:avLst/>
          </a:prstGeom>
          <a:noFill/>
          <a:ln/>
        </p:spPr>
        <p:txBody>
          <a:bodyPr wrap="square" lIns="0" tIns="0" rIns="0" bIns="0" rtlCol="0" anchor="ctr"/>
          <a:lstStyle/>
          <a:p>
            <a:pPr indent="0" marL="0">
              <a:buNone/>
            </a:pPr>
            <a:r>
              <a:rPr lang="en-US" sz="1200" i="1" dirty="0">
                <a:solidFill>
                  <a:srgbClr val="8888AA"/>
                </a:solidFill>
                <a:latin typeface="Calibri" pitchFamily="34" charset="0"/>
                <a:ea typeface="Calibri" pitchFamily="34" charset="-122"/>
                <a:cs typeface="Calibri" pitchFamily="34" charset="-120"/>
              </a:rPr>
              <a:t>From Section 4.0: Capturing and Reporting Value Flows</a:t>
            </a:r>
            <a:endParaRPr lang="en-US" sz="1200" dirty="0"/>
          </a:p>
        </p:txBody>
      </p:sp>
      <p:sp>
        <p:nvSpPr>
          <p:cNvPr id="4" name="Shape 2"/>
          <p:cNvSpPr/>
          <p:nvPr/>
        </p:nvSpPr>
        <p:spPr>
          <a:xfrm>
            <a:off x="548640" y="1234440"/>
            <a:ext cx="8046720" cy="658368"/>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234440"/>
            <a:ext cx="73152" cy="658368"/>
          </a:xfrm>
          <a:prstGeom prst="rect">
            <a:avLst/>
          </a:prstGeom>
          <a:solidFill>
            <a:srgbClr val="3A6EA5"/>
          </a:solidFill>
          <a:ln/>
        </p:spPr>
      </p:sp>
      <p:sp>
        <p:nvSpPr>
          <p:cNvPr id="6" name="Text 4"/>
          <p:cNvSpPr/>
          <p:nvPr/>
        </p:nvSpPr>
        <p:spPr>
          <a:xfrm>
            <a:off x="914400" y="1280160"/>
            <a:ext cx="2286000" cy="566928"/>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Earnings Process</a:t>
            </a:r>
            <a:endParaRPr lang="en-US" sz="1500" dirty="0"/>
          </a:p>
        </p:txBody>
      </p:sp>
      <p:sp>
        <p:nvSpPr>
          <p:cNvPr id="7" name="Text 5"/>
          <p:cNvSpPr/>
          <p:nvPr/>
        </p:nvSpPr>
        <p:spPr>
          <a:xfrm>
            <a:off x="3108960" y="1280160"/>
            <a:ext cx="5303520" cy="566928"/>
          </a:xfrm>
          <a:prstGeom prst="rect">
            <a:avLst/>
          </a:prstGeom>
          <a:noFill/>
          <a:ln/>
        </p:spPr>
        <p:txBody>
          <a:bodyPr wrap="square" lIns="0" tIns="0" rIns="0" bIns="0" rtlCol="0" anchor="ctr"/>
          <a:lstStyle/>
          <a:p>
            <a:pPr indent="0" marL="0">
              <a:buNone/>
            </a:pPr>
            <a:r>
              <a:rPr lang="en-US" sz="1400" dirty="0">
                <a:solidFill>
                  <a:srgbClr val="4A4A6A"/>
                </a:solidFill>
                <a:latin typeface="Calibri" pitchFamily="34" charset="0"/>
                <a:ea typeface="Calibri" pitchFamily="34" charset="-122"/>
                <a:cs typeface="Calibri" pitchFamily="34" charset="-120"/>
              </a:rPr>
              <a:t>The earnings process is complete or substantially complete</a:t>
            </a:r>
            <a:endParaRPr lang="en-US" sz="1400" dirty="0"/>
          </a:p>
        </p:txBody>
      </p:sp>
      <p:sp>
        <p:nvSpPr>
          <p:cNvPr id="8" name="Shape 6"/>
          <p:cNvSpPr/>
          <p:nvPr/>
        </p:nvSpPr>
        <p:spPr>
          <a:xfrm>
            <a:off x="548640" y="2039112"/>
            <a:ext cx="8046720" cy="658368"/>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548640" y="2039112"/>
            <a:ext cx="73152" cy="658368"/>
          </a:xfrm>
          <a:prstGeom prst="rect">
            <a:avLst/>
          </a:prstGeom>
          <a:solidFill>
            <a:srgbClr val="3A6EA5"/>
          </a:solidFill>
          <a:ln/>
        </p:spPr>
      </p:sp>
      <p:sp>
        <p:nvSpPr>
          <p:cNvPr id="10" name="Text 8"/>
          <p:cNvSpPr/>
          <p:nvPr/>
        </p:nvSpPr>
        <p:spPr>
          <a:xfrm>
            <a:off x="914400" y="2084832"/>
            <a:ext cx="2286000" cy="566928"/>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Exchange</a:t>
            </a:r>
            <a:endParaRPr lang="en-US" sz="1500" dirty="0"/>
          </a:p>
        </p:txBody>
      </p:sp>
      <p:sp>
        <p:nvSpPr>
          <p:cNvPr id="11" name="Text 9"/>
          <p:cNvSpPr/>
          <p:nvPr/>
        </p:nvSpPr>
        <p:spPr>
          <a:xfrm>
            <a:off x="3108960" y="2084832"/>
            <a:ext cx="5303520" cy="566928"/>
          </a:xfrm>
          <a:prstGeom prst="rect">
            <a:avLst/>
          </a:prstGeom>
          <a:noFill/>
          <a:ln/>
        </p:spPr>
        <p:txBody>
          <a:bodyPr wrap="square" lIns="0" tIns="0" rIns="0" bIns="0" rtlCol="0" anchor="ctr"/>
          <a:lstStyle/>
          <a:p>
            <a:pPr indent="0" marL="0">
              <a:buNone/>
            </a:pPr>
            <a:r>
              <a:rPr lang="en-US" sz="1400" dirty="0">
                <a:solidFill>
                  <a:srgbClr val="4A4A6A"/>
                </a:solidFill>
                <a:latin typeface="Calibri" pitchFamily="34" charset="0"/>
                <a:ea typeface="Calibri" pitchFamily="34" charset="-122"/>
                <a:cs typeface="Calibri" pitchFamily="34" charset="-120"/>
              </a:rPr>
              <a:t>An exchange has occurred</a:t>
            </a:r>
            <a:endParaRPr lang="en-US" sz="1400" dirty="0"/>
          </a:p>
        </p:txBody>
      </p:sp>
      <p:sp>
        <p:nvSpPr>
          <p:cNvPr id="12" name="Shape 10"/>
          <p:cNvSpPr/>
          <p:nvPr/>
        </p:nvSpPr>
        <p:spPr>
          <a:xfrm>
            <a:off x="548640" y="2843784"/>
            <a:ext cx="8046720" cy="658368"/>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548640" y="2843784"/>
            <a:ext cx="73152" cy="658368"/>
          </a:xfrm>
          <a:prstGeom prst="rect">
            <a:avLst/>
          </a:prstGeom>
          <a:solidFill>
            <a:srgbClr val="3A6EA5"/>
          </a:solidFill>
          <a:ln/>
        </p:spPr>
      </p:sp>
      <p:sp>
        <p:nvSpPr>
          <p:cNvPr id="14" name="Text 12"/>
          <p:cNvSpPr/>
          <p:nvPr/>
        </p:nvSpPr>
        <p:spPr>
          <a:xfrm>
            <a:off x="914400" y="2889504"/>
            <a:ext cx="2286000" cy="566928"/>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Measurement</a:t>
            </a:r>
            <a:endParaRPr lang="en-US" sz="1500" dirty="0"/>
          </a:p>
        </p:txBody>
      </p:sp>
      <p:sp>
        <p:nvSpPr>
          <p:cNvPr id="15" name="Text 13"/>
          <p:cNvSpPr/>
          <p:nvPr/>
        </p:nvSpPr>
        <p:spPr>
          <a:xfrm>
            <a:off x="3108960" y="2889504"/>
            <a:ext cx="5303520" cy="566928"/>
          </a:xfrm>
          <a:prstGeom prst="rect">
            <a:avLst/>
          </a:prstGeom>
          <a:noFill/>
          <a:ln/>
        </p:spPr>
        <p:txBody>
          <a:bodyPr wrap="square" lIns="0" tIns="0" rIns="0" bIns="0" rtlCol="0" anchor="ctr"/>
          <a:lstStyle/>
          <a:p>
            <a:pPr indent="0" marL="0">
              <a:buNone/>
            </a:pPr>
            <a:r>
              <a:rPr lang="en-US" sz="1400" dirty="0">
                <a:solidFill>
                  <a:srgbClr val="4A4A6A"/>
                </a:solidFill>
                <a:latin typeface="Calibri" pitchFamily="34" charset="0"/>
                <a:ea typeface="Calibri" pitchFamily="34" charset="-122"/>
                <a:cs typeface="Calibri" pitchFamily="34" charset="-120"/>
              </a:rPr>
              <a:t>The amount of revenue can be measured with some accuracy</a:t>
            </a:r>
            <a:endParaRPr lang="en-US" sz="1400" dirty="0"/>
          </a:p>
        </p:txBody>
      </p:sp>
      <p:sp>
        <p:nvSpPr>
          <p:cNvPr id="16" name="Shape 14"/>
          <p:cNvSpPr/>
          <p:nvPr/>
        </p:nvSpPr>
        <p:spPr>
          <a:xfrm>
            <a:off x="548640" y="3648456"/>
            <a:ext cx="8046720" cy="658368"/>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548640" y="3648456"/>
            <a:ext cx="73152" cy="658368"/>
          </a:xfrm>
          <a:prstGeom prst="rect">
            <a:avLst/>
          </a:prstGeom>
          <a:solidFill>
            <a:srgbClr val="3A6EA5"/>
          </a:solidFill>
          <a:ln/>
        </p:spPr>
      </p:sp>
      <p:sp>
        <p:nvSpPr>
          <p:cNvPr id="18" name="Text 16"/>
          <p:cNvSpPr/>
          <p:nvPr/>
        </p:nvSpPr>
        <p:spPr>
          <a:xfrm>
            <a:off x="914400" y="3694176"/>
            <a:ext cx="2286000" cy="566928"/>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Collectibility</a:t>
            </a:r>
            <a:endParaRPr lang="en-US" sz="1500" dirty="0"/>
          </a:p>
        </p:txBody>
      </p:sp>
      <p:sp>
        <p:nvSpPr>
          <p:cNvPr id="19" name="Text 17"/>
          <p:cNvSpPr/>
          <p:nvPr/>
        </p:nvSpPr>
        <p:spPr>
          <a:xfrm>
            <a:off x="3108960" y="3694176"/>
            <a:ext cx="5303520" cy="566928"/>
          </a:xfrm>
          <a:prstGeom prst="rect">
            <a:avLst/>
          </a:prstGeom>
          <a:noFill/>
          <a:ln/>
        </p:spPr>
        <p:txBody>
          <a:bodyPr wrap="square" lIns="0" tIns="0" rIns="0" bIns="0" rtlCol="0" anchor="ctr"/>
          <a:lstStyle/>
          <a:p>
            <a:pPr indent="0" marL="0">
              <a:buNone/>
            </a:pPr>
            <a:r>
              <a:rPr lang="en-US" sz="1400" dirty="0">
                <a:solidFill>
                  <a:srgbClr val="4A4A6A"/>
                </a:solidFill>
                <a:latin typeface="Calibri" pitchFamily="34" charset="0"/>
                <a:ea typeface="Calibri" pitchFamily="34" charset="-122"/>
                <a:cs typeface="Calibri" pitchFamily="34" charset="-120"/>
              </a:rPr>
              <a:t>The entity is reasonably sure of collection</a:t>
            </a:r>
            <a:endParaRPr lang="en-US" sz="1400" dirty="0"/>
          </a:p>
        </p:txBody>
      </p:sp>
      <p:sp>
        <p:nvSpPr>
          <p:cNvPr id="20" name="Text 18"/>
          <p:cNvSpPr/>
          <p:nvPr/>
        </p:nvSpPr>
        <p:spPr>
          <a:xfrm>
            <a:off x="548640" y="4617720"/>
            <a:ext cx="8046720" cy="365760"/>
          </a:xfrm>
          <a:prstGeom prst="rect">
            <a:avLst/>
          </a:prstGeom>
          <a:noFill/>
          <a:ln/>
        </p:spPr>
        <p:txBody>
          <a:bodyPr wrap="square" lIns="0" tIns="0" rIns="0" bIns="0" rtlCol="0" anchor="ctr"/>
          <a:lstStyle/>
          <a:p>
            <a:pPr indent="0" marL="0">
              <a:buNone/>
            </a:pPr>
            <a:r>
              <a:rPr lang="en-US" sz="1300" i="1" dirty="0">
                <a:solidFill>
                  <a:srgbClr val="3A6EA5"/>
                </a:solidFill>
                <a:latin typeface="Calibri" pitchFamily="34" charset="0"/>
                <a:ea typeface="Calibri" pitchFamily="34" charset="-122"/>
                <a:cs typeface="Calibri" pitchFamily="34" charset="-120"/>
              </a:rPr>
              <a:t>These worked fine for Ralphy’s Business and Grow Co. — but what happens when things get complicated?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The Business World Changed</a:t>
            </a:r>
            <a:endParaRPr lang="en-US" sz="2800" dirty="0"/>
          </a:p>
        </p:txBody>
      </p:sp>
      <p:sp>
        <p:nvSpPr>
          <p:cNvPr id="3" name="Text 1"/>
          <p:cNvSpPr/>
          <p:nvPr/>
        </p:nvSpPr>
        <p:spPr>
          <a:xfrm>
            <a:off x="548640" y="731520"/>
            <a:ext cx="8046720" cy="320040"/>
          </a:xfrm>
          <a:prstGeom prst="rect">
            <a:avLst/>
          </a:prstGeom>
          <a:noFill/>
          <a:ln/>
        </p:spPr>
        <p:txBody>
          <a:bodyPr wrap="square" lIns="0" tIns="0" rIns="0" bIns="0" rtlCol="0" anchor="ctr"/>
          <a:lstStyle/>
          <a:p>
            <a:pPr indent="0" marL="0">
              <a:buNone/>
            </a:pPr>
            <a:r>
              <a:rPr lang="en-US" sz="1300" i="1" dirty="0">
                <a:solidFill>
                  <a:srgbClr val="4A4A6A"/>
                </a:solidFill>
                <a:latin typeface="Calibri" pitchFamily="34" charset="0"/>
                <a:ea typeface="Calibri" pitchFamily="34" charset="-122"/>
                <a:cs typeface="Calibri" pitchFamily="34" charset="-120"/>
              </a:rPr>
              <a:t>The old criteria assumed simple transactions. The economy stopped delivering them.</a:t>
            </a:r>
            <a:endParaRPr lang="en-US" sz="1300" dirty="0"/>
          </a:p>
        </p:txBody>
      </p:sp>
      <p:sp>
        <p:nvSpPr>
          <p:cNvPr id="4" name="Shape 2"/>
          <p:cNvSpPr/>
          <p:nvPr/>
        </p:nvSpPr>
        <p:spPr>
          <a:xfrm>
            <a:off x="548640" y="1234440"/>
            <a:ext cx="1097280" cy="685800"/>
          </a:xfrm>
          <a:prstGeom prst="rect">
            <a:avLst/>
          </a:prstGeom>
          <a:solidFill>
            <a:srgbClr val="1E2761"/>
          </a:solidFill>
          <a:ln/>
        </p:spPr>
      </p:sp>
      <p:sp>
        <p:nvSpPr>
          <p:cNvPr id="5" name="Text 3"/>
          <p:cNvSpPr/>
          <p:nvPr/>
        </p:nvSpPr>
        <p:spPr>
          <a:xfrm>
            <a:off x="548640" y="1234440"/>
            <a:ext cx="109728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1970s–80s</a:t>
            </a:r>
            <a:endParaRPr lang="en-US" sz="1100" dirty="0"/>
          </a:p>
        </p:txBody>
      </p:sp>
      <p:sp>
        <p:nvSpPr>
          <p:cNvPr id="6" name="Text 4"/>
          <p:cNvSpPr/>
          <p:nvPr/>
        </p:nvSpPr>
        <p:spPr>
          <a:xfrm>
            <a:off x="1828800" y="1216152"/>
            <a:ext cx="667512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Sell a product, ship it, get paid</a:t>
            </a:r>
            <a:endParaRPr lang="en-US" sz="1400" dirty="0"/>
          </a:p>
        </p:txBody>
      </p:sp>
      <p:sp>
        <p:nvSpPr>
          <p:cNvPr id="7" name="Text 5"/>
          <p:cNvSpPr/>
          <p:nvPr/>
        </p:nvSpPr>
        <p:spPr>
          <a:xfrm>
            <a:off x="1828800" y="1481328"/>
            <a:ext cx="6675120" cy="438912"/>
          </a:xfrm>
          <a:prstGeom prst="rect">
            <a:avLst/>
          </a:prstGeom>
          <a:noFill/>
          <a:ln/>
        </p:spPr>
        <p:txBody>
          <a:bodyPr wrap="square" lIns="0" tIns="0" rIns="0" bIns="0" rtlCol="0" anchor="ctr"/>
          <a:lstStyle/>
          <a:p>
            <a:pPr indent="0" marL="0">
              <a:buNone/>
            </a:pPr>
            <a:r>
              <a:rPr lang="en-US" sz="1100" dirty="0">
                <a:solidFill>
                  <a:srgbClr val="4A4A6A"/>
                </a:solidFill>
                <a:latin typeface="Calibri" pitchFamily="34" charset="0"/>
                <a:ea typeface="Calibri" pitchFamily="34" charset="-122"/>
                <a:cs typeface="Calibri" pitchFamily="34" charset="-120"/>
              </a:rPr>
              <a:t>Most revenue transactions were straightforward: goods crossed a loading dock, an invoice went out, cash came in. The four criteria worked.</a:t>
            </a:r>
            <a:endParaRPr lang="en-US" sz="1100" dirty="0"/>
          </a:p>
        </p:txBody>
      </p:sp>
      <p:sp>
        <p:nvSpPr>
          <p:cNvPr id="8" name="Shape 6"/>
          <p:cNvSpPr/>
          <p:nvPr/>
        </p:nvSpPr>
        <p:spPr>
          <a:xfrm>
            <a:off x="1508760" y="1463040"/>
            <a:ext cx="164592" cy="164592"/>
          </a:xfrm>
          <a:prstGeom prst="ellipse">
            <a:avLst/>
          </a:prstGeom>
          <a:solidFill>
            <a:srgbClr val="2A7A4B"/>
          </a:solidFill>
          <a:ln/>
        </p:spPr>
      </p:sp>
      <p:sp>
        <p:nvSpPr>
          <p:cNvPr id="9" name="Shape 7"/>
          <p:cNvSpPr/>
          <p:nvPr/>
        </p:nvSpPr>
        <p:spPr>
          <a:xfrm>
            <a:off x="548640" y="2148840"/>
            <a:ext cx="1097280" cy="685800"/>
          </a:xfrm>
          <a:prstGeom prst="rect">
            <a:avLst/>
          </a:prstGeom>
          <a:solidFill>
            <a:srgbClr val="1E2761"/>
          </a:solidFill>
          <a:ln/>
        </p:spPr>
      </p:sp>
      <p:sp>
        <p:nvSpPr>
          <p:cNvPr id="10" name="Text 8"/>
          <p:cNvSpPr/>
          <p:nvPr/>
        </p:nvSpPr>
        <p:spPr>
          <a:xfrm>
            <a:off x="548640" y="2148840"/>
            <a:ext cx="109728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1990s</a:t>
            </a:r>
            <a:endParaRPr lang="en-US" sz="1100" dirty="0"/>
          </a:p>
        </p:txBody>
      </p:sp>
      <p:sp>
        <p:nvSpPr>
          <p:cNvPr id="11" name="Text 9"/>
          <p:cNvSpPr/>
          <p:nvPr/>
        </p:nvSpPr>
        <p:spPr>
          <a:xfrm>
            <a:off x="1828800" y="2130552"/>
            <a:ext cx="667512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Software licensing and bundled deals</a:t>
            </a:r>
            <a:endParaRPr lang="en-US" sz="1400" dirty="0"/>
          </a:p>
        </p:txBody>
      </p:sp>
      <p:sp>
        <p:nvSpPr>
          <p:cNvPr id="12" name="Text 10"/>
          <p:cNvSpPr/>
          <p:nvPr/>
        </p:nvSpPr>
        <p:spPr>
          <a:xfrm>
            <a:off x="1828800" y="2395728"/>
            <a:ext cx="6675120" cy="438912"/>
          </a:xfrm>
          <a:prstGeom prst="rect">
            <a:avLst/>
          </a:prstGeom>
          <a:noFill/>
          <a:ln/>
        </p:spPr>
        <p:txBody>
          <a:bodyPr wrap="square" lIns="0" tIns="0" rIns="0" bIns="0" rtlCol="0" anchor="ctr"/>
          <a:lstStyle/>
          <a:p>
            <a:pPr indent="0" marL="0">
              <a:buNone/>
            </a:pPr>
            <a:r>
              <a:rPr lang="en-US" sz="1100" dirty="0">
                <a:solidFill>
                  <a:srgbClr val="4A4A6A"/>
                </a:solidFill>
                <a:latin typeface="Calibri" pitchFamily="34" charset="0"/>
                <a:ea typeface="Calibri" pitchFamily="34" charset="-122"/>
                <a:cs typeface="Calibri" pitchFamily="34" charset="-120"/>
              </a:rPr>
              <a:t>Companies began selling software licenses bundled with implementation, training, and support. What exactly was “delivered”? FASB responded with industry-specific rules (SOP 97-2 for software, SOP 81-1 for construction, etc.).</a:t>
            </a:r>
            <a:endParaRPr lang="en-US" sz="1100" dirty="0"/>
          </a:p>
        </p:txBody>
      </p:sp>
      <p:sp>
        <p:nvSpPr>
          <p:cNvPr id="13" name="Shape 11"/>
          <p:cNvSpPr/>
          <p:nvPr/>
        </p:nvSpPr>
        <p:spPr>
          <a:xfrm>
            <a:off x="1508760" y="2377440"/>
            <a:ext cx="164592" cy="164592"/>
          </a:xfrm>
          <a:prstGeom prst="ellipse">
            <a:avLst/>
          </a:prstGeom>
          <a:solidFill>
            <a:srgbClr val="C68A00"/>
          </a:solidFill>
          <a:ln/>
        </p:spPr>
      </p:sp>
      <p:sp>
        <p:nvSpPr>
          <p:cNvPr id="14" name="Shape 12"/>
          <p:cNvSpPr/>
          <p:nvPr/>
        </p:nvSpPr>
        <p:spPr>
          <a:xfrm>
            <a:off x="548640" y="3063240"/>
            <a:ext cx="1097280" cy="685800"/>
          </a:xfrm>
          <a:prstGeom prst="rect">
            <a:avLst/>
          </a:prstGeom>
          <a:solidFill>
            <a:srgbClr val="1E2761"/>
          </a:solidFill>
          <a:ln/>
        </p:spPr>
      </p:sp>
      <p:sp>
        <p:nvSpPr>
          <p:cNvPr id="15" name="Text 13"/>
          <p:cNvSpPr/>
          <p:nvPr/>
        </p:nvSpPr>
        <p:spPr>
          <a:xfrm>
            <a:off x="548640" y="3063240"/>
            <a:ext cx="109728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2000s</a:t>
            </a:r>
            <a:endParaRPr lang="en-US" sz="1100" dirty="0"/>
          </a:p>
        </p:txBody>
      </p:sp>
      <p:sp>
        <p:nvSpPr>
          <p:cNvPr id="16" name="Text 14"/>
          <p:cNvSpPr/>
          <p:nvPr/>
        </p:nvSpPr>
        <p:spPr>
          <a:xfrm>
            <a:off x="1828800" y="3044952"/>
            <a:ext cx="667512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Multi-element arrangements everywhere</a:t>
            </a:r>
            <a:endParaRPr lang="en-US" sz="1400" dirty="0"/>
          </a:p>
        </p:txBody>
      </p:sp>
      <p:sp>
        <p:nvSpPr>
          <p:cNvPr id="17" name="Text 15"/>
          <p:cNvSpPr/>
          <p:nvPr/>
        </p:nvSpPr>
        <p:spPr>
          <a:xfrm>
            <a:off x="1828800" y="3310128"/>
            <a:ext cx="6675120" cy="438912"/>
          </a:xfrm>
          <a:prstGeom prst="rect">
            <a:avLst/>
          </a:prstGeom>
          <a:noFill/>
          <a:ln/>
        </p:spPr>
        <p:txBody>
          <a:bodyPr wrap="square" lIns="0" tIns="0" rIns="0" bIns="0" rtlCol="0" anchor="ctr"/>
          <a:lstStyle/>
          <a:p>
            <a:pPr indent="0" marL="0">
              <a:buNone/>
            </a:pPr>
            <a:r>
              <a:rPr lang="en-US" sz="1100" dirty="0">
                <a:solidFill>
                  <a:srgbClr val="4A4A6A"/>
                </a:solidFill>
                <a:latin typeface="Calibri" pitchFamily="34" charset="0"/>
                <a:ea typeface="Calibri" pitchFamily="34" charset="-122"/>
                <a:cs typeface="Calibri" pitchFamily="34" charset="-120"/>
              </a:rPr>
              <a:t>Telecom, tech, and media companies sold packages — hardware + software + service contracts + warranties. Each required its own revenue timing. Dozens of industry-specific standards now existed, often treating similar transactions differently.</a:t>
            </a:r>
            <a:endParaRPr lang="en-US" sz="1100" dirty="0"/>
          </a:p>
        </p:txBody>
      </p:sp>
      <p:sp>
        <p:nvSpPr>
          <p:cNvPr id="18" name="Shape 16"/>
          <p:cNvSpPr/>
          <p:nvPr/>
        </p:nvSpPr>
        <p:spPr>
          <a:xfrm>
            <a:off x="1508760" y="3291840"/>
            <a:ext cx="164592" cy="164592"/>
          </a:xfrm>
          <a:prstGeom prst="ellipse">
            <a:avLst/>
          </a:prstGeom>
          <a:solidFill>
            <a:srgbClr val="C68A00"/>
          </a:solidFill>
          <a:ln/>
        </p:spPr>
      </p:sp>
      <p:sp>
        <p:nvSpPr>
          <p:cNvPr id="19" name="Shape 17"/>
          <p:cNvSpPr/>
          <p:nvPr/>
        </p:nvSpPr>
        <p:spPr>
          <a:xfrm>
            <a:off x="548640" y="3977640"/>
            <a:ext cx="1097280" cy="685800"/>
          </a:xfrm>
          <a:prstGeom prst="rect">
            <a:avLst/>
          </a:prstGeom>
          <a:solidFill>
            <a:srgbClr val="1E2761"/>
          </a:solidFill>
          <a:ln/>
        </p:spPr>
      </p:sp>
      <p:sp>
        <p:nvSpPr>
          <p:cNvPr id="20" name="Text 18"/>
          <p:cNvSpPr/>
          <p:nvPr/>
        </p:nvSpPr>
        <p:spPr>
          <a:xfrm>
            <a:off x="548640" y="3977640"/>
            <a:ext cx="109728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2010s</a:t>
            </a:r>
            <a:endParaRPr lang="en-US" sz="1100" dirty="0"/>
          </a:p>
        </p:txBody>
      </p:sp>
      <p:sp>
        <p:nvSpPr>
          <p:cNvPr id="21" name="Text 19"/>
          <p:cNvSpPr/>
          <p:nvPr/>
        </p:nvSpPr>
        <p:spPr>
          <a:xfrm>
            <a:off x="1828800" y="3959352"/>
            <a:ext cx="667512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Subscriptions, SaaS, the “as-a-service” economy</a:t>
            </a:r>
            <a:endParaRPr lang="en-US" sz="1400" dirty="0"/>
          </a:p>
        </p:txBody>
      </p:sp>
      <p:sp>
        <p:nvSpPr>
          <p:cNvPr id="22" name="Text 20"/>
          <p:cNvSpPr/>
          <p:nvPr/>
        </p:nvSpPr>
        <p:spPr>
          <a:xfrm>
            <a:off x="1828800" y="4224528"/>
            <a:ext cx="6675120" cy="438912"/>
          </a:xfrm>
          <a:prstGeom prst="rect">
            <a:avLst/>
          </a:prstGeom>
          <a:noFill/>
          <a:ln/>
        </p:spPr>
        <p:txBody>
          <a:bodyPr wrap="square" lIns="0" tIns="0" rIns="0" bIns="0" rtlCol="0" anchor="ctr"/>
          <a:lstStyle/>
          <a:p>
            <a:pPr indent="0" marL="0">
              <a:buNone/>
            </a:pPr>
            <a:r>
              <a:rPr lang="en-US" sz="1100" dirty="0">
                <a:solidFill>
                  <a:srgbClr val="4A4A6A"/>
                </a:solidFill>
                <a:latin typeface="Calibri" pitchFamily="34" charset="0"/>
                <a:ea typeface="Calibri" pitchFamily="34" charset="-122"/>
                <a:cs typeface="Calibri" pitchFamily="34" charset="-120"/>
              </a:rPr>
              <a:t>The product itself might never ship. Customers pay monthly for ongoing access. “Exchange occurred” and “learnings process complete” barely apply. The patchwork of old rules couldn’t keep up.</a:t>
            </a:r>
            <a:endParaRPr lang="en-US" sz="1100" dirty="0"/>
          </a:p>
        </p:txBody>
      </p:sp>
      <p:sp>
        <p:nvSpPr>
          <p:cNvPr id="23" name="Shape 21"/>
          <p:cNvSpPr/>
          <p:nvPr/>
        </p:nvSpPr>
        <p:spPr>
          <a:xfrm>
            <a:off x="1508760" y="4206240"/>
            <a:ext cx="164592" cy="164592"/>
          </a:xfrm>
          <a:prstGeom prst="ellipse">
            <a:avLst/>
          </a:prstGeom>
          <a:solidFill>
            <a:srgbClr val="B83232"/>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The Patchwork</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By the 2000s, FASB had issued separate revenue rules for each industry that didn’t fit the general model</a:t>
            </a:r>
            <a:endParaRPr lang="en-US" sz="1200" dirty="0"/>
          </a:p>
        </p:txBody>
      </p:sp>
      <p:sp>
        <p:nvSpPr>
          <p:cNvPr id="4" name="Shape 2"/>
          <p:cNvSpPr/>
          <p:nvPr/>
        </p:nvSpPr>
        <p:spPr>
          <a:xfrm>
            <a:off x="548640" y="1143000"/>
            <a:ext cx="384048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143000"/>
            <a:ext cx="54864" cy="1051560"/>
          </a:xfrm>
          <a:prstGeom prst="rect">
            <a:avLst/>
          </a:prstGeom>
          <a:solidFill>
            <a:srgbClr val="3A6EA5"/>
          </a:solidFill>
          <a:ln/>
        </p:spPr>
      </p:sp>
      <p:sp>
        <p:nvSpPr>
          <p:cNvPr id="6" name="Text 4"/>
          <p:cNvSpPr/>
          <p:nvPr/>
        </p:nvSpPr>
        <p:spPr>
          <a:xfrm>
            <a:off x="731520" y="1188720"/>
            <a:ext cx="1280160" cy="256032"/>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Software</a:t>
            </a:r>
            <a:endParaRPr lang="en-US" sz="1200" dirty="0"/>
          </a:p>
        </p:txBody>
      </p:sp>
      <p:sp>
        <p:nvSpPr>
          <p:cNvPr id="7" name="Text 5"/>
          <p:cNvSpPr/>
          <p:nvPr/>
        </p:nvSpPr>
        <p:spPr>
          <a:xfrm>
            <a:off x="2011680" y="1188720"/>
            <a:ext cx="2103120" cy="256032"/>
          </a:xfrm>
          <a:prstGeom prst="rect">
            <a:avLst/>
          </a:prstGeom>
          <a:noFill/>
          <a:ln/>
        </p:spPr>
        <p:txBody>
          <a:bodyPr wrap="square" lIns="0" tIns="0" rIns="0" bIns="0" rtlCol="0" anchor="ctr"/>
          <a:lstStyle/>
          <a:p>
            <a:pPr indent="0" marL="0">
              <a:buNone/>
            </a:pPr>
            <a:r>
              <a:rPr lang="en-US" sz="900" dirty="0">
                <a:solidFill>
                  <a:srgbClr val="8888AA"/>
                </a:solidFill>
                <a:latin typeface="Calibri" pitchFamily="34" charset="0"/>
                <a:ea typeface="Calibri" pitchFamily="34" charset="-122"/>
                <a:cs typeface="Calibri" pitchFamily="34" charset="-120"/>
              </a:rPr>
              <a:t>SOP 97-2 / ASC 985</a:t>
            </a:r>
            <a:endParaRPr lang="en-US" sz="900" dirty="0"/>
          </a:p>
        </p:txBody>
      </p:sp>
      <p:sp>
        <p:nvSpPr>
          <p:cNvPr id="8" name="Text 6"/>
          <p:cNvSpPr/>
          <p:nvPr/>
        </p:nvSpPr>
        <p:spPr>
          <a:xfrm>
            <a:off x="731520" y="1463040"/>
            <a:ext cx="3474720" cy="658368"/>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Required “vendor-specific objective evidence” (VSOE) to unbundle. No VSOE for support? Defer all revenue — even on delivered software.</a:t>
            </a:r>
            <a:endParaRPr lang="en-US" sz="1050" dirty="0"/>
          </a:p>
        </p:txBody>
      </p:sp>
      <p:sp>
        <p:nvSpPr>
          <p:cNvPr id="9" name="Shape 7"/>
          <p:cNvSpPr/>
          <p:nvPr/>
        </p:nvSpPr>
        <p:spPr>
          <a:xfrm>
            <a:off x="548640" y="2377440"/>
            <a:ext cx="384048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548640" y="2377440"/>
            <a:ext cx="54864" cy="1051560"/>
          </a:xfrm>
          <a:prstGeom prst="rect">
            <a:avLst/>
          </a:prstGeom>
          <a:solidFill>
            <a:srgbClr val="2A7A4B"/>
          </a:solidFill>
          <a:ln/>
        </p:spPr>
      </p:sp>
      <p:sp>
        <p:nvSpPr>
          <p:cNvPr id="11" name="Text 9"/>
          <p:cNvSpPr/>
          <p:nvPr/>
        </p:nvSpPr>
        <p:spPr>
          <a:xfrm>
            <a:off x="731520" y="2423160"/>
            <a:ext cx="1280160" cy="256032"/>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Construction</a:t>
            </a:r>
            <a:endParaRPr lang="en-US" sz="1200" dirty="0"/>
          </a:p>
        </p:txBody>
      </p:sp>
      <p:sp>
        <p:nvSpPr>
          <p:cNvPr id="12" name="Text 10"/>
          <p:cNvSpPr/>
          <p:nvPr/>
        </p:nvSpPr>
        <p:spPr>
          <a:xfrm>
            <a:off x="2011680" y="2423160"/>
            <a:ext cx="2103120" cy="256032"/>
          </a:xfrm>
          <a:prstGeom prst="rect">
            <a:avLst/>
          </a:prstGeom>
          <a:noFill/>
          <a:ln/>
        </p:spPr>
        <p:txBody>
          <a:bodyPr wrap="square" lIns="0" tIns="0" rIns="0" bIns="0" rtlCol="0" anchor="ctr"/>
          <a:lstStyle/>
          <a:p>
            <a:pPr indent="0" marL="0">
              <a:buNone/>
            </a:pPr>
            <a:r>
              <a:rPr lang="en-US" sz="900" dirty="0">
                <a:solidFill>
                  <a:srgbClr val="8888AA"/>
                </a:solidFill>
                <a:latin typeface="Calibri" pitchFamily="34" charset="0"/>
                <a:ea typeface="Calibri" pitchFamily="34" charset="-122"/>
                <a:cs typeface="Calibri" pitchFamily="34" charset="-120"/>
              </a:rPr>
              <a:t>SOP 81-1 / ASC 605-35</a:t>
            </a:r>
            <a:endParaRPr lang="en-US" sz="900" dirty="0"/>
          </a:p>
        </p:txBody>
      </p:sp>
      <p:sp>
        <p:nvSpPr>
          <p:cNvPr id="13" name="Text 11"/>
          <p:cNvSpPr/>
          <p:nvPr/>
        </p:nvSpPr>
        <p:spPr>
          <a:xfrm>
            <a:off x="731520" y="2697480"/>
            <a:ext cx="3474720" cy="658368"/>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Choose % complete or completed-contract. Different methods → radically different income on the same project.</a:t>
            </a:r>
            <a:endParaRPr lang="en-US" sz="1050" dirty="0"/>
          </a:p>
        </p:txBody>
      </p:sp>
      <p:sp>
        <p:nvSpPr>
          <p:cNvPr id="14" name="Shape 12"/>
          <p:cNvSpPr/>
          <p:nvPr/>
        </p:nvSpPr>
        <p:spPr>
          <a:xfrm>
            <a:off x="548640" y="3611880"/>
            <a:ext cx="384048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548640" y="3611880"/>
            <a:ext cx="54864" cy="1051560"/>
          </a:xfrm>
          <a:prstGeom prst="rect">
            <a:avLst/>
          </a:prstGeom>
          <a:solidFill>
            <a:srgbClr val="C68A00"/>
          </a:solidFill>
          <a:ln/>
        </p:spPr>
      </p:sp>
      <p:sp>
        <p:nvSpPr>
          <p:cNvPr id="16" name="Text 14"/>
          <p:cNvSpPr/>
          <p:nvPr/>
        </p:nvSpPr>
        <p:spPr>
          <a:xfrm>
            <a:off x="731520" y="3657600"/>
            <a:ext cx="1280160" cy="256032"/>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Real Estate</a:t>
            </a:r>
            <a:endParaRPr lang="en-US" sz="1200" dirty="0"/>
          </a:p>
        </p:txBody>
      </p:sp>
      <p:sp>
        <p:nvSpPr>
          <p:cNvPr id="17" name="Text 15"/>
          <p:cNvSpPr/>
          <p:nvPr/>
        </p:nvSpPr>
        <p:spPr>
          <a:xfrm>
            <a:off x="2011680" y="3657600"/>
            <a:ext cx="2103120" cy="256032"/>
          </a:xfrm>
          <a:prstGeom prst="rect">
            <a:avLst/>
          </a:prstGeom>
          <a:noFill/>
          <a:ln/>
        </p:spPr>
        <p:txBody>
          <a:bodyPr wrap="square" lIns="0" tIns="0" rIns="0" bIns="0" rtlCol="0" anchor="ctr"/>
          <a:lstStyle/>
          <a:p>
            <a:pPr indent="0" marL="0">
              <a:buNone/>
            </a:pPr>
            <a:r>
              <a:rPr lang="en-US" sz="900" dirty="0">
                <a:solidFill>
                  <a:srgbClr val="8888AA"/>
                </a:solidFill>
                <a:latin typeface="Calibri" pitchFamily="34" charset="0"/>
                <a:ea typeface="Calibri" pitchFamily="34" charset="-122"/>
                <a:cs typeface="Calibri" pitchFamily="34" charset="-120"/>
              </a:rPr>
              <a:t>SFAS 66 / ASC 360-20</a:t>
            </a:r>
            <a:endParaRPr lang="en-US" sz="900" dirty="0"/>
          </a:p>
        </p:txBody>
      </p:sp>
      <p:sp>
        <p:nvSpPr>
          <p:cNvPr id="18" name="Text 16"/>
          <p:cNvSpPr/>
          <p:nvPr/>
        </p:nvSpPr>
        <p:spPr>
          <a:xfrm>
            <a:off x="731520" y="3931920"/>
            <a:ext cx="3474720" cy="658368"/>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Own criteria: minimum down-payment thresholds varying by property type. Residential ≠ office ≠ undeveloped land.</a:t>
            </a:r>
            <a:endParaRPr lang="en-US" sz="1050" dirty="0"/>
          </a:p>
        </p:txBody>
      </p:sp>
      <p:sp>
        <p:nvSpPr>
          <p:cNvPr id="19" name="Shape 17"/>
          <p:cNvSpPr/>
          <p:nvPr/>
        </p:nvSpPr>
        <p:spPr>
          <a:xfrm>
            <a:off x="4663440" y="1143000"/>
            <a:ext cx="384048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4663440" y="1143000"/>
            <a:ext cx="54864" cy="1051560"/>
          </a:xfrm>
          <a:prstGeom prst="rect">
            <a:avLst/>
          </a:prstGeom>
          <a:solidFill>
            <a:srgbClr val="B83232"/>
          </a:solidFill>
          <a:ln/>
        </p:spPr>
      </p:sp>
      <p:sp>
        <p:nvSpPr>
          <p:cNvPr id="21" name="Text 19"/>
          <p:cNvSpPr/>
          <p:nvPr/>
        </p:nvSpPr>
        <p:spPr>
          <a:xfrm>
            <a:off x="4846320" y="1188720"/>
            <a:ext cx="1280160" cy="256032"/>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Franchises</a:t>
            </a:r>
            <a:endParaRPr lang="en-US" sz="1200" dirty="0"/>
          </a:p>
        </p:txBody>
      </p:sp>
      <p:sp>
        <p:nvSpPr>
          <p:cNvPr id="22" name="Text 20"/>
          <p:cNvSpPr/>
          <p:nvPr/>
        </p:nvSpPr>
        <p:spPr>
          <a:xfrm>
            <a:off x="6126480" y="1188720"/>
            <a:ext cx="2103120" cy="256032"/>
          </a:xfrm>
          <a:prstGeom prst="rect">
            <a:avLst/>
          </a:prstGeom>
          <a:noFill/>
          <a:ln/>
        </p:spPr>
        <p:txBody>
          <a:bodyPr wrap="square" lIns="0" tIns="0" rIns="0" bIns="0" rtlCol="0" anchor="ctr"/>
          <a:lstStyle/>
          <a:p>
            <a:pPr indent="0" marL="0">
              <a:buNone/>
            </a:pPr>
            <a:r>
              <a:rPr lang="en-US" sz="900" dirty="0">
                <a:solidFill>
                  <a:srgbClr val="8888AA"/>
                </a:solidFill>
                <a:latin typeface="Calibri" pitchFamily="34" charset="0"/>
                <a:ea typeface="Calibri" pitchFamily="34" charset="-122"/>
                <a:cs typeface="Calibri" pitchFamily="34" charset="-120"/>
              </a:rPr>
              <a:t>SFAS 45 / ASC 952</a:t>
            </a:r>
            <a:endParaRPr lang="en-US" sz="900" dirty="0"/>
          </a:p>
        </p:txBody>
      </p:sp>
      <p:sp>
        <p:nvSpPr>
          <p:cNvPr id="23" name="Text 21"/>
          <p:cNvSpPr/>
          <p:nvPr/>
        </p:nvSpPr>
        <p:spPr>
          <a:xfrm>
            <a:off x="4846320" y="1463040"/>
            <a:ext cx="3474720" cy="658368"/>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“Substantially all” services must be performed before recognizing the initial fee. What counts as “substantially all”?</a:t>
            </a:r>
            <a:endParaRPr lang="en-US" sz="1050" dirty="0"/>
          </a:p>
        </p:txBody>
      </p:sp>
      <p:sp>
        <p:nvSpPr>
          <p:cNvPr id="24" name="Shape 22"/>
          <p:cNvSpPr/>
          <p:nvPr/>
        </p:nvSpPr>
        <p:spPr>
          <a:xfrm>
            <a:off x="4663440" y="2377440"/>
            <a:ext cx="384048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5" name="Shape 23"/>
          <p:cNvSpPr/>
          <p:nvPr/>
        </p:nvSpPr>
        <p:spPr>
          <a:xfrm>
            <a:off x="4663440" y="2377440"/>
            <a:ext cx="54864" cy="1051560"/>
          </a:xfrm>
          <a:prstGeom prst="rect">
            <a:avLst/>
          </a:prstGeom>
          <a:solidFill>
            <a:srgbClr val="7B2D8E"/>
          </a:solidFill>
          <a:ln/>
        </p:spPr>
      </p:sp>
      <p:sp>
        <p:nvSpPr>
          <p:cNvPr id="26" name="Text 24"/>
          <p:cNvSpPr/>
          <p:nvPr/>
        </p:nvSpPr>
        <p:spPr>
          <a:xfrm>
            <a:off x="4846320" y="2423160"/>
            <a:ext cx="1280160" cy="256032"/>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Film &amp; TV</a:t>
            </a:r>
            <a:endParaRPr lang="en-US" sz="1200" dirty="0"/>
          </a:p>
        </p:txBody>
      </p:sp>
      <p:sp>
        <p:nvSpPr>
          <p:cNvPr id="27" name="Text 25"/>
          <p:cNvSpPr/>
          <p:nvPr/>
        </p:nvSpPr>
        <p:spPr>
          <a:xfrm>
            <a:off x="6126480" y="2423160"/>
            <a:ext cx="2103120" cy="256032"/>
          </a:xfrm>
          <a:prstGeom prst="rect">
            <a:avLst/>
          </a:prstGeom>
          <a:noFill/>
          <a:ln/>
        </p:spPr>
        <p:txBody>
          <a:bodyPr wrap="square" lIns="0" tIns="0" rIns="0" bIns="0" rtlCol="0" anchor="ctr"/>
          <a:lstStyle/>
          <a:p>
            <a:pPr indent="0" marL="0">
              <a:buNone/>
            </a:pPr>
            <a:r>
              <a:rPr lang="en-US" sz="900" dirty="0">
                <a:solidFill>
                  <a:srgbClr val="8888AA"/>
                </a:solidFill>
                <a:latin typeface="Calibri" pitchFamily="34" charset="0"/>
                <a:ea typeface="Calibri" pitchFamily="34" charset="-122"/>
                <a:cs typeface="Calibri" pitchFamily="34" charset="-120"/>
              </a:rPr>
              <a:t>SOP 00-2 / ASC 926</a:t>
            </a:r>
            <a:endParaRPr lang="en-US" sz="900" dirty="0"/>
          </a:p>
        </p:txBody>
      </p:sp>
      <p:sp>
        <p:nvSpPr>
          <p:cNvPr id="28" name="Text 26"/>
          <p:cNvSpPr/>
          <p:nvPr/>
        </p:nvSpPr>
        <p:spPr>
          <a:xfrm>
            <a:off x="4846320" y="2697480"/>
            <a:ext cx="3474720" cy="658368"/>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Different timing rules for each distribution window: theatrical, home video, pay TV, free TV.</a:t>
            </a:r>
            <a:endParaRPr lang="en-US" sz="1050" dirty="0"/>
          </a:p>
        </p:txBody>
      </p:sp>
      <p:sp>
        <p:nvSpPr>
          <p:cNvPr id="29" name="Shape 27"/>
          <p:cNvSpPr/>
          <p:nvPr/>
        </p:nvSpPr>
        <p:spPr>
          <a:xfrm>
            <a:off x="4663440" y="3611880"/>
            <a:ext cx="384048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0" name="Shape 28"/>
          <p:cNvSpPr/>
          <p:nvPr/>
        </p:nvSpPr>
        <p:spPr>
          <a:xfrm>
            <a:off x="4663440" y="3611880"/>
            <a:ext cx="54864" cy="1051560"/>
          </a:xfrm>
          <a:prstGeom prst="rect">
            <a:avLst/>
          </a:prstGeom>
          <a:solidFill>
            <a:srgbClr val="1E2761"/>
          </a:solidFill>
          <a:ln/>
        </p:spPr>
      </p:sp>
      <p:sp>
        <p:nvSpPr>
          <p:cNvPr id="31" name="Text 29"/>
          <p:cNvSpPr/>
          <p:nvPr/>
        </p:nvSpPr>
        <p:spPr>
          <a:xfrm>
            <a:off x="4846320" y="3657600"/>
            <a:ext cx="1280160" cy="256032"/>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Telecom</a:t>
            </a:r>
            <a:endParaRPr lang="en-US" sz="1200" dirty="0"/>
          </a:p>
        </p:txBody>
      </p:sp>
      <p:sp>
        <p:nvSpPr>
          <p:cNvPr id="32" name="Text 30"/>
          <p:cNvSpPr/>
          <p:nvPr/>
        </p:nvSpPr>
        <p:spPr>
          <a:xfrm>
            <a:off x="6126480" y="3657600"/>
            <a:ext cx="2103120" cy="256032"/>
          </a:xfrm>
          <a:prstGeom prst="rect">
            <a:avLst/>
          </a:prstGeom>
          <a:noFill/>
          <a:ln/>
        </p:spPr>
        <p:txBody>
          <a:bodyPr wrap="square" lIns="0" tIns="0" rIns="0" bIns="0" rtlCol="0" anchor="ctr"/>
          <a:lstStyle/>
          <a:p>
            <a:pPr indent="0" marL="0">
              <a:buNone/>
            </a:pPr>
            <a:r>
              <a:rPr lang="en-US" sz="900" dirty="0">
                <a:solidFill>
                  <a:srgbClr val="8888AA"/>
                </a:solidFill>
                <a:latin typeface="Calibri" pitchFamily="34" charset="0"/>
                <a:ea typeface="Calibri" pitchFamily="34" charset="-122"/>
                <a:cs typeface="Calibri" pitchFamily="34" charset="-120"/>
              </a:rPr>
              <a:t>ASC 605-25 / SAB 104</a:t>
            </a:r>
            <a:endParaRPr lang="en-US" sz="900" dirty="0"/>
          </a:p>
        </p:txBody>
      </p:sp>
      <p:sp>
        <p:nvSpPr>
          <p:cNvPr id="33" name="Text 31"/>
          <p:cNvSpPr/>
          <p:nvPr/>
        </p:nvSpPr>
        <p:spPr>
          <a:xfrm>
            <a:off x="4846320" y="3931920"/>
            <a:ext cx="3474720" cy="658368"/>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Is a subsidized phone a separate deliverable from the wireless plan? Years of debate.</a:t>
            </a:r>
            <a:endParaRPr lang="en-US" sz="1050" dirty="0"/>
          </a:p>
        </p:txBody>
      </p:sp>
      <p:sp>
        <p:nvSpPr>
          <p:cNvPr id="34" name="Text 32"/>
          <p:cNvSpPr/>
          <p:nvPr/>
        </p:nvSpPr>
        <p:spPr>
          <a:xfrm>
            <a:off x="548640" y="4709160"/>
            <a:ext cx="8046720" cy="320040"/>
          </a:xfrm>
          <a:prstGeom prst="rect">
            <a:avLst/>
          </a:prstGeom>
          <a:noFill/>
          <a:ln/>
        </p:spPr>
        <p:txBody>
          <a:bodyPr wrap="square" lIns="0" tIns="0" rIns="0" bIns="0" rtlCol="0" anchor="ctr"/>
          <a:lstStyle/>
          <a:p>
            <a:pPr indent="0" marL="0">
              <a:buNone/>
            </a:pPr>
            <a:r>
              <a:rPr lang="en-US" sz="1150" i="1" dirty="0">
                <a:solidFill>
                  <a:srgbClr val="3A6EA5"/>
                </a:solidFill>
                <a:latin typeface="Calibri" pitchFamily="34" charset="0"/>
                <a:ea typeface="Calibri" pitchFamily="34" charset="-122"/>
                <a:cs typeface="Calibri" pitchFamily="34" charset="-120"/>
              </a:rPr>
              <a:t>Result: ~100 pieces of authoritative guidance on revenue recognition. An auditor working across industries needed a different rulebook for each client.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83232"/>
          </a:solidFill>
          <a:ln/>
        </p:spPr>
      </p:sp>
      <p:sp>
        <p:nvSpPr>
          <p:cNvPr id="3" name="Text 1"/>
          <p:cNvSpPr/>
          <p:nvPr/>
        </p:nvSpPr>
        <p:spPr>
          <a:xfrm>
            <a:off x="731520" y="1371600"/>
            <a:ext cx="7772400" cy="109728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Where the Cracks Showed</a:t>
            </a:r>
            <a:endParaRPr lang="en-US" sz="4400" dirty="0"/>
          </a:p>
        </p:txBody>
      </p:sp>
      <p:sp>
        <p:nvSpPr>
          <p:cNvPr id="4" name="Text 2"/>
          <p:cNvSpPr/>
          <p:nvPr/>
        </p:nvSpPr>
        <p:spPr>
          <a:xfrm>
            <a:off x="731520" y="2468880"/>
            <a:ext cx="7772400" cy="64008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Each of these companies exploited vagueness in the traditional criteria</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548640" y="91440"/>
            <a:ext cx="822960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Criterion Tested:  “An exchange has occurred”</a:t>
            </a:r>
            <a:endParaRPr lang="en-US" sz="1600" dirty="0"/>
          </a:p>
        </p:txBody>
      </p:sp>
      <p:sp>
        <p:nvSpPr>
          <p:cNvPr id="4" name="Text 2"/>
          <p:cNvSpPr/>
          <p:nvPr/>
        </p:nvSpPr>
        <p:spPr>
          <a:xfrm>
            <a:off x="548640" y="100584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Sunbeam Corporation (1996–1998)</a:t>
            </a:r>
            <a:endParaRPr lang="en-US" sz="2800" dirty="0"/>
          </a:p>
        </p:txBody>
      </p:sp>
      <p:sp>
        <p:nvSpPr>
          <p:cNvPr id="5" name="Text 3"/>
          <p:cNvSpPr/>
          <p:nvPr/>
        </p:nvSpPr>
        <p:spPr>
          <a:xfrm>
            <a:off x="548640" y="1463040"/>
            <a:ext cx="8229600" cy="365760"/>
          </a:xfrm>
          <a:prstGeom prst="rect">
            <a:avLst/>
          </a:prstGeom>
          <a:noFill/>
          <a:ln/>
        </p:spPr>
        <p:txBody>
          <a:bodyPr wrap="square" lIns="0" tIns="0" rIns="0" bIns="0" rtlCol="0" anchor="ctr"/>
          <a:lstStyle/>
          <a:p>
            <a:pPr indent="0" marL="0">
              <a:buNone/>
            </a:pPr>
            <a:r>
              <a:rPr lang="en-US" sz="1600" b="1" dirty="0">
                <a:solidFill>
                  <a:srgbClr val="B83232"/>
                </a:solidFill>
                <a:latin typeface="Calibri" pitchFamily="34" charset="0"/>
                <a:ea typeface="Calibri" pitchFamily="34" charset="-122"/>
                <a:cs typeface="Calibri" pitchFamily="34" charset="-120"/>
              </a:rPr>
              <a:t>Bill-and-Hold Revenue</a:t>
            </a:r>
            <a:endParaRPr lang="en-US" sz="1600" dirty="0"/>
          </a:p>
        </p:txBody>
      </p:sp>
      <p:sp>
        <p:nvSpPr>
          <p:cNvPr id="6" name="Shape 4"/>
          <p:cNvSpPr/>
          <p:nvPr/>
        </p:nvSpPr>
        <p:spPr>
          <a:xfrm>
            <a:off x="548640" y="2011680"/>
            <a:ext cx="804672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2011680"/>
            <a:ext cx="73152" cy="2194560"/>
          </a:xfrm>
          <a:prstGeom prst="rect">
            <a:avLst/>
          </a:prstGeom>
          <a:solidFill>
            <a:srgbClr val="B83232"/>
          </a:solidFill>
          <a:ln/>
        </p:spPr>
      </p:sp>
      <p:sp>
        <p:nvSpPr>
          <p:cNvPr id="8" name="Text 6"/>
          <p:cNvSpPr/>
          <p:nvPr/>
        </p:nvSpPr>
        <p:spPr>
          <a:xfrm>
            <a:off x="914400" y="2148840"/>
            <a:ext cx="7406640" cy="1920240"/>
          </a:xfrm>
          <a:prstGeom prst="rect">
            <a:avLst/>
          </a:prstGeom>
          <a:noFill/>
          <a:ln/>
        </p:spPr>
        <p:txBody>
          <a:bodyPr wrap="square" lIns="0" tIns="0" rIns="0" bIns="0" rtlCol="0" anchor="t"/>
          <a:lstStyle/>
          <a:p>
            <a:pPr indent="0" marL="0">
              <a:buNone/>
            </a:pPr>
            <a:r>
              <a:rPr lang="en-US" sz="1400" b="1" dirty="0">
                <a:solidFill>
                  <a:srgbClr val="1E2761"/>
                </a:solidFill>
              </a:rPr>
              <a:t>The Facts:</a:t>
            </a:r>
            <a:endParaRPr lang="en-US" sz="1400" dirty="0"/>
          </a:p>
          <a:p>
            <a:pPr indent="0" marL="0">
              <a:buNone/>
            </a:pPr>
            <a:endParaRPr lang="en-US" sz="1400" dirty="0"/>
          </a:p>
          <a:p>
            <a:pPr indent="0" marL="0">
              <a:buNone/>
            </a:pPr>
            <a:r>
              <a:rPr lang="en-US" sz="1300" dirty="0">
                <a:solidFill>
                  <a:srgbClr val="4A4A6A"/>
                </a:solidFill>
              </a:rPr>
              <a:t>Under CEO “Chainsaw Al” Dunlap, Sunbeam recorded revenue on products that customers had “purchased” but asked Sunbeam to hold in its own warehouses. The goods never shipped. At least $62 million of Sunbeam’s reported $189 million in income came from these and related practices.</a:t>
            </a:r>
            <a:endParaRPr lang="en-US" sz="1400" dirty="0"/>
          </a:p>
          <a:p>
            <a:pPr indent="0" marL="0">
              <a:buNone/>
            </a:pPr>
            <a:endParaRPr lang="en-US" sz="1400" dirty="0"/>
          </a:p>
          <a:p>
            <a:pPr indent="0" marL="0">
              <a:buNone/>
            </a:pPr>
            <a:r>
              <a:rPr lang="en-US" sz="1300" dirty="0">
                <a:solidFill>
                  <a:srgbClr val="4A4A6A"/>
                </a:solidFill>
              </a:rPr>
              <a:t>The customer had title on paper. But the goods sat in Sunbeam’s warehouse, at Sunbeam’s risk, and often with side agreements allowing returns.</a:t>
            </a:r>
            <a:endParaRPr lang="en-US" sz="1400" dirty="0"/>
          </a:p>
        </p:txBody>
      </p:sp>
      <p:sp>
        <p:nvSpPr>
          <p:cNvPr id="9" name="Shape 7"/>
          <p:cNvSpPr/>
          <p:nvPr/>
        </p:nvSpPr>
        <p:spPr>
          <a:xfrm>
            <a:off x="548640" y="4434840"/>
            <a:ext cx="8046720" cy="502920"/>
          </a:xfrm>
          <a:prstGeom prst="rect">
            <a:avLst/>
          </a:prstGeom>
          <a:solidFill>
            <a:srgbClr val="EDF2F7"/>
          </a:solidFill>
          <a:ln/>
        </p:spPr>
      </p:sp>
      <p:sp>
        <p:nvSpPr>
          <p:cNvPr id="10" name="Text 8"/>
          <p:cNvSpPr/>
          <p:nvPr/>
        </p:nvSpPr>
        <p:spPr>
          <a:xfrm>
            <a:off x="822960" y="4434840"/>
            <a:ext cx="7498080" cy="502920"/>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Discussion:  Did an exchange occur? Title transferred, but goods never left the building.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548640" y="91440"/>
            <a:ext cx="822960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Criterion Tested:  “Earnings process substantially complete”</a:t>
            </a:r>
            <a:endParaRPr lang="en-US" sz="1600" dirty="0"/>
          </a:p>
        </p:txBody>
      </p:sp>
      <p:sp>
        <p:nvSpPr>
          <p:cNvPr id="4" name="Text 2"/>
          <p:cNvSpPr/>
          <p:nvPr/>
        </p:nvSpPr>
        <p:spPr>
          <a:xfrm>
            <a:off x="548640" y="100584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Xerox Corporation (1997–2000)</a:t>
            </a:r>
            <a:endParaRPr lang="en-US" sz="2800" dirty="0"/>
          </a:p>
        </p:txBody>
      </p:sp>
      <p:sp>
        <p:nvSpPr>
          <p:cNvPr id="5" name="Text 3"/>
          <p:cNvSpPr/>
          <p:nvPr/>
        </p:nvSpPr>
        <p:spPr>
          <a:xfrm>
            <a:off x="548640" y="1463040"/>
            <a:ext cx="8229600" cy="365760"/>
          </a:xfrm>
          <a:prstGeom prst="rect">
            <a:avLst/>
          </a:prstGeom>
          <a:noFill/>
          <a:ln/>
        </p:spPr>
        <p:txBody>
          <a:bodyPr wrap="square" lIns="0" tIns="0" rIns="0" bIns="0" rtlCol="0" anchor="ctr"/>
          <a:lstStyle/>
          <a:p>
            <a:pPr indent="0" marL="0">
              <a:buNone/>
            </a:pPr>
            <a:r>
              <a:rPr lang="en-US" sz="1600" b="1" dirty="0">
                <a:solidFill>
                  <a:srgbClr val="B83232"/>
                </a:solidFill>
                <a:latin typeface="Calibri" pitchFamily="34" charset="0"/>
                <a:ea typeface="Calibri" pitchFamily="34" charset="-122"/>
                <a:cs typeface="Calibri" pitchFamily="34" charset="-120"/>
              </a:rPr>
              <a:t>Lease vs. Rental Reclassification</a:t>
            </a:r>
            <a:endParaRPr lang="en-US" sz="1600" dirty="0"/>
          </a:p>
        </p:txBody>
      </p:sp>
      <p:sp>
        <p:nvSpPr>
          <p:cNvPr id="6" name="Shape 4"/>
          <p:cNvSpPr/>
          <p:nvPr/>
        </p:nvSpPr>
        <p:spPr>
          <a:xfrm>
            <a:off x="548640" y="2011680"/>
            <a:ext cx="804672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2011680"/>
            <a:ext cx="73152" cy="2194560"/>
          </a:xfrm>
          <a:prstGeom prst="rect">
            <a:avLst/>
          </a:prstGeom>
          <a:solidFill>
            <a:srgbClr val="B83232"/>
          </a:solidFill>
          <a:ln/>
        </p:spPr>
      </p:sp>
      <p:sp>
        <p:nvSpPr>
          <p:cNvPr id="8" name="Text 6"/>
          <p:cNvSpPr/>
          <p:nvPr/>
        </p:nvSpPr>
        <p:spPr>
          <a:xfrm>
            <a:off x="914400" y="2148840"/>
            <a:ext cx="7406640" cy="1920240"/>
          </a:xfrm>
          <a:prstGeom prst="rect">
            <a:avLst/>
          </a:prstGeom>
          <a:noFill/>
          <a:ln/>
        </p:spPr>
        <p:txBody>
          <a:bodyPr wrap="square" lIns="0" tIns="0" rIns="0" bIns="0" rtlCol="0" anchor="t"/>
          <a:lstStyle/>
          <a:p>
            <a:pPr indent="0" marL="0">
              <a:buNone/>
            </a:pPr>
            <a:r>
              <a:rPr lang="en-US" sz="1400" b="1" dirty="0">
                <a:solidFill>
                  <a:srgbClr val="1E2761"/>
                </a:solidFill>
              </a:rPr>
              <a:t>The Facts:</a:t>
            </a:r>
            <a:endParaRPr lang="en-US" sz="1400" dirty="0"/>
          </a:p>
          <a:p>
            <a:pPr indent="0" marL="0">
              <a:buNone/>
            </a:pPr>
            <a:endParaRPr lang="en-US" sz="1400" dirty="0"/>
          </a:p>
          <a:p>
            <a:pPr indent="0" marL="0">
              <a:buNone/>
            </a:pPr>
            <a:r>
              <a:rPr lang="en-US" sz="1300" dirty="0">
                <a:solidFill>
                  <a:srgbClr val="4A4A6A"/>
                </a:solidFill>
              </a:rPr>
              <a:t>Xerox accelerated over $3 billion in revenue by reclassifying short-term equipment rentals as long-term leases. Under GAAP, the full value of a long-term lease can be recognized in Year 1; rental revenue must be spread over the contract term.</a:t>
            </a:r>
            <a:endParaRPr lang="en-US" sz="1400" dirty="0"/>
          </a:p>
          <a:p>
            <a:pPr indent="0" marL="0">
              <a:buNone/>
            </a:pPr>
            <a:endParaRPr lang="en-US" sz="1400" dirty="0"/>
          </a:p>
          <a:p>
            <a:pPr indent="0" marL="0">
              <a:buNone/>
            </a:pPr>
            <a:r>
              <a:rPr lang="en-US" sz="1300" dirty="0">
                <a:solidFill>
                  <a:srgbClr val="4A4A6A"/>
                </a:solidFill>
              </a:rPr>
              <a:t>The economic substance was a rental — service delivered over time — but the accounting label let Xerox book years of future revenue immediately. SEC fine: $10 million, plus restatement of four years of financials.</a:t>
            </a:r>
            <a:endParaRPr lang="en-US" sz="1400" dirty="0"/>
          </a:p>
        </p:txBody>
      </p:sp>
      <p:sp>
        <p:nvSpPr>
          <p:cNvPr id="9" name="Shape 7"/>
          <p:cNvSpPr/>
          <p:nvPr/>
        </p:nvSpPr>
        <p:spPr>
          <a:xfrm>
            <a:off x="548640" y="4434840"/>
            <a:ext cx="8046720" cy="502920"/>
          </a:xfrm>
          <a:prstGeom prst="rect">
            <a:avLst/>
          </a:prstGeom>
          <a:solidFill>
            <a:srgbClr val="EDF2F7"/>
          </a:solidFill>
          <a:ln/>
        </p:spPr>
      </p:sp>
      <p:sp>
        <p:nvSpPr>
          <p:cNvPr id="10" name="Text 8"/>
          <p:cNvSpPr/>
          <p:nvPr/>
        </p:nvSpPr>
        <p:spPr>
          <a:xfrm>
            <a:off x="822960" y="4434840"/>
            <a:ext cx="7498080" cy="502920"/>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Discussion:  When is the earnings process “substantially complete” on a 5-year service contract?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548640" y="91440"/>
            <a:ext cx="822960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Criterion Tested:  “Reasonably sure of collection”</a:t>
            </a:r>
            <a:endParaRPr lang="en-US" sz="1600" dirty="0"/>
          </a:p>
        </p:txBody>
      </p:sp>
      <p:sp>
        <p:nvSpPr>
          <p:cNvPr id="4" name="Text 2"/>
          <p:cNvSpPr/>
          <p:nvPr/>
        </p:nvSpPr>
        <p:spPr>
          <a:xfrm>
            <a:off x="548640" y="100584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Bristol-Myers Squibb (2000–2001)</a:t>
            </a:r>
            <a:endParaRPr lang="en-US" sz="2800" dirty="0"/>
          </a:p>
        </p:txBody>
      </p:sp>
      <p:sp>
        <p:nvSpPr>
          <p:cNvPr id="5" name="Text 3"/>
          <p:cNvSpPr/>
          <p:nvPr/>
        </p:nvSpPr>
        <p:spPr>
          <a:xfrm>
            <a:off x="548640" y="1463040"/>
            <a:ext cx="8229600" cy="365760"/>
          </a:xfrm>
          <a:prstGeom prst="rect">
            <a:avLst/>
          </a:prstGeom>
          <a:noFill/>
          <a:ln/>
        </p:spPr>
        <p:txBody>
          <a:bodyPr wrap="square" lIns="0" tIns="0" rIns="0" bIns="0" rtlCol="0" anchor="ctr"/>
          <a:lstStyle/>
          <a:p>
            <a:pPr indent="0" marL="0">
              <a:buNone/>
            </a:pPr>
            <a:r>
              <a:rPr lang="en-US" sz="1600" b="1" dirty="0">
                <a:solidFill>
                  <a:srgbClr val="B83232"/>
                </a:solidFill>
                <a:latin typeface="Calibri" pitchFamily="34" charset="0"/>
                <a:ea typeface="Calibri" pitchFamily="34" charset="-122"/>
                <a:cs typeface="Calibri" pitchFamily="34" charset="-120"/>
              </a:rPr>
              <a:t>Channel Stuffing</a:t>
            </a:r>
            <a:endParaRPr lang="en-US" sz="1600" dirty="0"/>
          </a:p>
        </p:txBody>
      </p:sp>
      <p:sp>
        <p:nvSpPr>
          <p:cNvPr id="6" name="Shape 4"/>
          <p:cNvSpPr/>
          <p:nvPr/>
        </p:nvSpPr>
        <p:spPr>
          <a:xfrm>
            <a:off x="548640" y="2011680"/>
            <a:ext cx="804672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2011680"/>
            <a:ext cx="73152" cy="2194560"/>
          </a:xfrm>
          <a:prstGeom prst="rect">
            <a:avLst/>
          </a:prstGeom>
          <a:solidFill>
            <a:srgbClr val="B83232"/>
          </a:solidFill>
          <a:ln/>
        </p:spPr>
      </p:sp>
      <p:sp>
        <p:nvSpPr>
          <p:cNvPr id="8" name="Text 6"/>
          <p:cNvSpPr/>
          <p:nvPr/>
        </p:nvSpPr>
        <p:spPr>
          <a:xfrm>
            <a:off x="914400" y="2148840"/>
            <a:ext cx="7406640" cy="1920240"/>
          </a:xfrm>
          <a:prstGeom prst="rect">
            <a:avLst/>
          </a:prstGeom>
          <a:noFill/>
          <a:ln/>
        </p:spPr>
        <p:txBody>
          <a:bodyPr wrap="square" lIns="0" tIns="0" rIns="0" bIns="0" rtlCol="0" anchor="t"/>
          <a:lstStyle/>
          <a:p>
            <a:pPr indent="0" marL="0">
              <a:buNone/>
            </a:pPr>
            <a:r>
              <a:rPr lang="en-US" sz="1400" b="1" dirty="0">
                <a:solidFill>
                  <a:srgbClr val="1E2761"/>
                </a:solidFill>
              </a:rPr>
              <a:t>The Facts:</a:t>
            </a:r>
            <a:endParaRPr lang="en-US" sz="1400" dirty="0"/>
          </a:p>
          <a:p>
            <a:pPr indent="0" marL="0">
              <a:buNone/>
            </a:pPr>
            <a:endParaRPr lang="en-US" sz="1400" dirty="0"/>
          </a:p>
          <a:p>
            <a:pPr indent="0" marL="0">
              <a:buNone/>
            </a:pPr>
            <a:r>
              <a:rPr lang="en-US" sz="1300" dirty="0">
                <a:solidFill>
                  <a:srgbClr val="4A4A6A"/>
                </a:solidFill>
              </a:rPr>
              <a:t>Bristol-Myers shipped $1.5 billion in excess pharmaceuticals to its two largest wholesalers — far more than they could sell. The wholesalers technically owed the money, but had side agreements allowing returns of unsold product.</a:t>
            </a:r>
            <a:endParaRPr lang="en-US" sz="1400" dirty="0"/>
          </a:p>
          <a:p>
            <a:pPr indent="0" marL="0">
              <a:buNone/>
            </a:pPr>
            <a:endParaRPr lang="en-US" sz="1400" dirty="0"/>
          </a:p>
          <a:p>
            <a:pPr indent="0" marL="0">
              <a:buNone/>
            </a:pPr>
            <a:r>
              <a:rPr lang="en-US" sz="1300" dirty="0">
                <a:solidFill>
                  <a:srgbClr val="4A4A6A"/>
                </a:solidFill>
              </a:rPr>
              <a:t>The company was borrowing sales from the future to meet Wall Street earnings targets. SEC penalty: $150 million. The practice artificially inflated revenue by about $2.5 billion over the period.</a:t>
            </a:r>
            <a:endParaRPr lang="en-US" sz="1400" dirty="0"/>
          </a:p>
        </p:txBody>
      </p:sp>
      <p:sp>
        <p:nvSpPr>
          <p:cNvPr id="9" name="Shape 7"/>
          <p:cNvSpPr/>
          <p:nvPr/>
        </p:nvSpPr>
        <p:spPr>
          <a:xfrm>
            <a:off x="548640" y="4434840"/>
            <a:ext cx="8046720" cy="502920"/>
          </a:xfrm>
          <a:prstGeom prst="rect">
            <a:avLst/>
          </a:prstGeom>
          <a:solidFill>
            <a:srgbClr val="EDF2F7"/>
          </a:solidFill>
          <a:ln/>
        </p:spPr>
      </p:sp>
      <p:sp>
        <p:nvSpPr>
          <p:cNvPr id="10" name="Text 8"/>
          <p:cNvSpPr/>
          <p:nvPr/>
        </p:nvSpPr>
        <p:spPr>
          <a:xfrm>
            <a:off x="822960" y="4434840"/>
            <a:ext cx="7498080" cy="502920"/>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Discussion:  Are you “reasonably sure of collection” when there’s a side agreement allowing returns?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548640" y="91440"/>
            <a:ext cx="822960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Criterion Tested:  “Measured with some accuracy”</a:t>
            </a:r>
            <a:endParaRPr lang="en-US" sz="1600" dirty="0"/>
          </a:p>
        </p:txBody>
      </p:sp>
      <p:sp>
        <p:nvSpPr>
          <p:cNvPr id="4" name="Text 2"/>
          <p:cNvSpPr/>
          <p:nvPr/>
        </p:nvSpPr>
        <p:spPr>
          <a:xfrm>
            <a:off x="548640" y="100584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Enron Corporation (1996–2001)</a:t>
            </a:r>
            <a:endParaRPr lang="en-US" sz="2800" dirty="0"/>
          </a:p>
        </p:txBody>
      </p:sp>
      <p:sp>
        <p:nvSpPr>
          <p:cNvPr id="5" name="Text 3"/>
          <p:cNvSpPr/>
          <p:nvPr/>
        </p:nvSpPr>
        <p:spPr>
          <a:xfrm>
            <a:off x="548640" y="1463040"/>
            <a:ext cx="8229600" cy="365760"/>
          </a:xfrm>
          <a:prstGeom prst="rect">
            <a:avLst/>
          </a:prstGeom>
          <a:noFill/>
          <a:ln/>
        </p:spPr>
        <p:txBody>
          <a:bodyPr wrap="square" lIns="0" tIns="0" rIns="0" bIns="0" rtlCol="0" anchor="ctr"/>
          <a:lstStyle/>
          <a:p>
            <a:pPr indent="0" marL="0">
              <a:buNone/>
            </a:pPr>
            <a:r>
              <a:rPr lang="en-US" sz="1600" b="1" dirty="0">
                <a:solidFill>
                  <a:srgbClr val="B83232"/>
                </a:solidFill>
                <a:latin typeface="Calibri" pitchFamily="34" charset="0"/>
                <a:ea typeface="Calibri" pitchFamily="34" charset="-122"/>
                <a:cs typeface="Calibri" pitchFamily="34" charset="-120"/>
              </a:rPr>
              <a:t>Mark-to-Market on Long-Term Energy Contracts</a:t>
            </a:r>
            <a:endParaRPr lang="en-US" sz="1600" dirty="0"/>
          </a:p>
        </p:txBody>
      </p:sp>
      <p:sp>
        <p:nvSpPr>
          <p:cNvPr id="6" name="Shape 4"/>
          <p:cNvSpPr/>
          <p:nvPr/>
        </p:nvSpPr>
        <p:spPr>
          <a:xfrm>
            <a:off x="548640" y="2011680"/>
            <a:ext cx="8046720" cy="2194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2011680"/>
            <a:ext cx="73152" cy="2194560"/>
          </a:xfrm>
          <a:prstGeom prst="rect">
            <a:avLst/>
          </a:prstGeom>
          <a:solidFill>
            <a:srgbClr val="B83232"/>
          </a:solidFill>
          <a:ln/>
        </p:spPr>
      </p:sp>
      <p:sp>
        <p:nvSpPr>
          <p:cNvPr id="8" name="Text 6"/>
          <p:cNvSpPr/>
          <p:nvPr/>
        </p:nvSpPr>
        <p:spPr>
          <a:xfrm>
            <a:off x="914400" y="2148840"/>
            <a:ext cx="7406640" cy="1920240"/>
          </a:xfrm>
          <a:prstGeom prst="rect">
            <a:avLst/>
          </a:prstGeom>
          <a:noFill/>
          <a:ln/>
        </p:spPr>
        <p:txBody>
          <a:bodyPr wrap="square" lIns="0" tIns="0" rIns="0" bIns="0" rtlCol="0" anchor="t"/>
          <a:lstStyle/>
          <a:p>
            <a:pPr indent="0" marL="0">
              <a:buNone/>
            </a:pPr>
            <a:r>
              <a:rPr lang="en-US" sz="1400" b="1" dirty="0">
                <a:solidFill>
                  <a:srgbClr val="1E2761"/>
                </a:solidFill>
              </a:rPr>
              <a:t>The Facts:</a:t>
            </a:r>
            <a:endParaRPr lang="en-US" sz="1400" dirty="0"/>
          </a:p>
          <a:p>
            <a:pPr indent="0" marL="0">
              <a:buNone/>
            </a:pPr>
            <a:endParaRPr lang="en-US" sz="1400" dirty="0"/>
          </a:p>
          <a:p>
            <a:pPr indent="0" marL="0">
              <a:buNone/>
            </a:pPr>
            <a:r>
              <a:rPr lang="en-US" sz="1300" dirty="0">
                <a:solidFill>
                  <a:srgbClr val="4A4A6A"/>
                </a:solidFill>
              </a:rPr>
              <a:t>Enron applied mark-to-market accounting to long-term energy contracts with no active market. When they signed a 20-year deal with $200 million in projected profit, they booked the entire present value as revenue on Day 1.</a:t>
            </a:r>
            <a:endParaRPr lang="en-US" sz="1400" dirty="0"/>
          </a:p>
          <a:p>
            <a:pPr indent="0" marL="0">
              <a:buNone/>
            </a:pPr>
            <a:endParaRPr lang="en-US" sz="1400" dirty="0"/>
          </a:p>
          <a:p>
            <a:pPr indent="0" marL="0">
              <a:buNone/>
            </a:pPr>
            <a:r>
              <a:rPr lang="en-US" sz="1300" dirty="0">
                <a:solidFill>
                  <a:srgbClr val="4A4A6A"/>
                </a:solidFill>
              </a:rPr>
              <a:t>With no market prices available, Enron’s own traders chose the discount rates and assumptions. The company reported $111 billion in revenue in 2000. By December 2001, it was bankrupt.</a:t>
            </a:r>
            <a:endParaRPr lang="en-US" sz="1400" dirty="0"/>
          </a:p>
        </p:txBody>
      </p:sp>
      <p:sp>
        <p:nvSpPr>
          <p:cNvPr id="9" name="Shape 7"/>
          <p:cNvSpPr/>
          <p:nvPr/>
        </p:nvSpPr>
        <p:spPr>
          <a:xfrm>
            <a:off x="548640" y="4434840"/>
            <a:ext cx="8046720" cy="502920"/>
          </a:xfrm>
          <a:prstGeom prst="rect">
            <a:avLst/>
          </a:prstGeom>
          <a:solidFill>
            <a:srgbClr val="EDF2F7"/>
          </a:solidFill>
          <a:ln/>
        </p:spPr>
      </p:sp>
      <p:sp>
        <p:nvSpPr>
          <p:cNvPr id="10" name="Text 8"/>
          <p:cNvSpPr/>
          <p:nvPr/>
        </p:nvSpPr>
        <p:spPr>
          <a:xfrm>
            <a:off x="822960" y="4434840"/>
            <a:ext cx="7498080" cy="502920"/>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Discussion:  Who decides what “some accuracy” means when there’s no market to check against?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The Pattern</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2011680"/>
                <a:gridCol w="1463040"/>
                <a:gridCol w="45720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Company</a:t>
                      </a:r>
                      <a:endParaRPr lang="en-US" sz="13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They Exploited It</a:t>
                      </a:r>
                      <a:endParaRPr lang="en-US" sz="13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1E2761"/>
                    </a:solidFill>
                  </a:tcPr>
                </a:tc>
              </a:tr>
              <a:tr h="548640">
                <a:tc>
                  <a:txBody>
                    <a:bodyPr/>
                    <a:lstStyle/>
                    <a:p>
                      <a:pPr indent="0" marL="0">
                        <a:buNone/>
                      </a:pPr>
                      <a:r>
                        <a:rPr lang="en-US" sz="1200" dirty="0">
                          <a:solidFill>
                            <a:srgbClr val="1A1A2E"/>
                          </a:solidFill>
                        </a:rPr>
                        <a:t>“Exchange occurred”</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rPr>
                        <a:t>Sunbeam</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c>
                  <a:txBody>
                    <a:bodyPr/>
                    <a:lstStyle/>
                    <a:p>
                      <a:pPr indent="0" marL="0">
                        <a:buNone/>
                      </a:pPr>
                      <a:r>
                        <a:rPr lang="en-US" sz="1200" dirty="0">
                          <a:solidFill>
                            <a:srgbClr val="4A4A6A"/>
                          </a:solidFill>
                        </a:rPr>
                        <a:t>Goods never left the warehouse; title transferred on paper only</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A1A2E"/>
                          </a:solidFill>
                        </a:rPr>
                        <a:t>“Substantially complete”</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c>
                  <a:txBody>
                    <a:bodyPr/>
                    <a:lstStyle/>
                    <a:p>
                      <a:pPr indent="0" marL="0">
                        <a:buNone/>
                      </a:pPr>
                      <a:r>
                        <a:rPr lang="en-US" sz="1200" dirty="0">
                          <a:solidFill>
                            <a:srgbClr val="1A1A2E"/>
                          </a:solidFill>
                        </a:rPr>
                        <a:t>Xerox</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c>
                  <a:txBody>
                    <a:bodyPr/>
                    <a:lstStyle/>
                    <a:p>
                      <a:pPr indent="0" marL="0">
                        <a:buNone/>
                      </a:pPr>
                      <a:r>
                        <a:rPr lang="en-US" sz="1200" dirty="0">
                          <a:solidFill>
                            <a:srgbClr val="4A4A6A"/>
                          </a:solidFill>
                        </a:rPr>
                        <a:t>Relabeled rentals as leases to front-load multi-year revenue</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r>
              <a:tr h="548640">
                <a:tc>
                  <a:txBody>
                    <a:bodyPr/>
                    <a:lstStyle/>
                    <a:p>
                      <a:pPr indent="0" marL="0">
                        <a:buNone/>
                      </a:pPr>
                      <a:r>
                        <a:rPr lang="en-US" sz="1200" dirty="0">
                          <a:solidFill>
                            <a:srgbClr val="1A1A2E"/>
                          </a:solidFill>
                        </a:rPr>
                        <a:t>“Reasonably sure”</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rPr>
                        <a:t>Bristol-Myers</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c>
                  <a:txBody>
                    <a:bodyPr/>
                    <a:lstStyle/>
                    <a:p>
                      <a:pPr indent="0" marL="0">
                        <a:buNone/>
                      </a:pPr>
                      <a:r>
                        <a:rPr lang="en-US" sz="1200" dirty="0">
                          <a:solidFill>
                            <a:srgbClr val="4A4A6A"/>
                          </a:solidFill>
                        </a:rPr>
                        <a:t>Shipped excess product with secret return agreements</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A1A2E"/>
                          </a:solidFill>
                        </a:rPr>
                        <a:t>“Some accuracy”</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c>
                  <a:txBody>
                    <a:bodyPr/>
                    <a:lstStyle/>
                    <a:p>
                      <a:pPr indent="0" marL="0">
                        <a:buNone/>
                      </a:pPr>
                      <a:r>
                        <a:rPr lang="en-US" sz="1200" dirty="0">
                          <a:solidFill>
                            <a:srgbClr val="1A1A2E"/>
                          </a:solidFill>
                        </a:rPr>
                        <a:t>Enron</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c>
                  <a:txBody>
                    <a:bodyPr/>
                    <a:lstStyle/>
                    <a:p>
                      <a:pPr indent="0" marL="0">
                        <a:buNone/>
                      </a:pPr>
                      <a:r>
                        <a:rPr lang="en-US" sz="1200" dirty="0">
                          <a:solidFill>
                            <a:srgbClr val="4A4A6A"/>
                          </a:solidFill>
                        </a:rPr>
                        <a:t>Booked present value of 20-year projections using internal assumptions</a:t>
                      </a:r>
                      <a:endParaRPr lang="en-US" sz="1200" dirty="0"/>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r>
            </a:tbl>
          </a:graphicData>
        </a:graphic>
      </p:graphicFrame>
      <p:sp>
        <p:nvSpPr>
          <p:cNvPr id="4" name="Text 1"/>
          <p:cNvSpPr/>
          <p:nvPr/>
        </p:nvSpPr>
        <p:spPr>
          <a:xfrm>
            <a:off x="548640" y="4297680"/>
            <a:ext cx="8046720" cy="457200"/>
          </a:xfrm>
          <a:prstGeom prst="rect">
            <a:avLst/>
          </a:prstGeom>
          <a:noFill/>
          <a:ln/>
        </p:spPr>
        <p:txBody>
          <a:bodyPr wrap="square" lIns="0" tIns="0" rIns="0" bIns="0" rtlCol="0" anchor="ctr"/>
          <a:lstStyle/>
          <a:p>
            <a:pPr indent="0" marL="0">
              <a:buNone/>
            </a:pPr>
            <a:r>
              <a:rPr lang="en-US" sz="1400" b="1" dirty="0">
                <a:solidFill>
                  <a:srgbClr val="3A6EA5"/>
                </a:solidFill>
                <a:latin typeface="Calibri" pitchFamily="34" charset="0"/>
                <a:ea typeface="Calibri" pitchFamily="34" charset="-122"/>
                <a:cs typeface="Calibri" pitchFamily="34" charset="-120"/>
              </a:rPr>
              <a:t>The old criteria had too much give — and as business models grew more complex, that give was exploited.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2761"/>
          </a:solidFill>
          <a:ln/>
        </p:spPr>
      </p:sp>
      <p:sp>
        <p:nvSpPr>
          <p:cNvPr id="3" name="Text 1"/>
          <p:cNvSpPr/>
          <p:nvPr/>
        </p:nvSpPr>
        <p:spPr>
          <a:xfrm>
            <a:off x="548640" y="91440"/>
            <a:ext cx="822960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Another Kind of Problem:  Who Is the Principal?</a:t>
            </a:r>
            <a:endParaRPr lang="en-US" sz="1600" dirty="0"/>
          </a:p>
        </p:txBody>
      </p:sp>
      <p:sp>
        <p:nvSpPr>
          <p:cNvPr id="4" name="Text 2"/>
          <p:cNvSpPr/>
          <p:nvPr/>
        </p:nvSpPr>
        <p:spPr>
          <a:xfrm>
            <a:off x="548640" y="100584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Priceline.com (Late 1990s–2000s)</a:t>
            </a:r>
            <a:endParaRPr lang="en-US" sz="2800" dirty="0"/>
          </a:p>
        </p:txBody>
      </p:sp>
      <p:sp>
        <p:nvSpPr>
          <p:cNvPr id="5" name="Text 3"/>
          <p:cNvSpPr/>
          <p:nvPr/>
        </p:nvSpPr>
        <p:spPr>
          <a:xfrm>
            <a:off x="548640" y="1463040"/>
            <a:ext cx="8229600" cy="365760"/>
          </a:xfrm>
          <a:prstGeom prst="rect">
            <a:avLst/>
          </a:prstGeom>
          <a:noFill/>
          <a:ln/>
        </p:spPr>
        <p:txBody>
          <a:bodyPr wrap="square" lIns="0" tIns="0" rIns="0" bIns="0" rtlCol="0" anchor="ctr"/>
          <a:lstStyle/>
          <a:p>
            <a:pPr indent="0" marL="0">
              <a:buNone/>
            </a:pPr>
            <a:r>
              <a:rPr lang="en-US" sz="1600" b="1" dirty="0">
                <a:solidFill>
                  <a:srgbClr val="C68A00"/>
                </a:solidFill>
                <a:latin typeface="Calibri" pitchFamily="34" charset="0"/>
                <a:ea typeface="Calibri" pitchFamily="34" charset="-122"/>
                <a:cs typeface="Calibri" pitchFamily="34" charset="-120"/>
              </a:rPr>
              <a:t>Gross vs. Net Revenue Reporting</a:t>
            </a:r>
            <a:endParaRPr lang="en-US" sz="1600" dirty="0"/>
          </a:p>
        </p:txBody>
      </p:sp>
      <p:sp>
        <p:nvSpPr>
          <p:cNvPr id="6" name="Shape 4"/>
          <p:cNvSpPr/>
          <p:nvPr/>
        </p:nvSpPr>
        <p:spPr>
          <a:xfrm>
            <a:off x="548640" y="1920240"/>
            <a:ext cx="8046720" cy="14630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1920240"/>
            <a:ext cx="73152" cy="1463040"/>
          </a:xfrm>
          <a:prstGeom prst="rect">
            <a:avLst/>
          </a:prstGeom>
          <a:solidFill>
            <a:srgbClr val="C68A00"/>
          </a:solidFill>
          <a:ln/>
        </p:spPr>
      </p:sp>
      <p:sp>
        <p:nvSpPr>
          <p:cNvPr id="8" name="Text 6"/>
          <p:cNvSpPr/>
          <p:nvPr/>
        </p:nvSpPr>
        <p:spPr>
          <a:xfrm>
            <a:off x="914400" y="1965960"/>
            <a:ext cx="7406640" cy="1325880"/>
          </a:xfrm>
          <a:prstGeom prst="rect">
            <a:avLst/>
          </a:prstGeom>
          <a:noFill/>
          <a:ln/>
        </p:spPr>
        <p:txBody>
          <a:bodyPr wrap="square" lIns="0" tIns="0" rIns="0" bIns="0" rtlCol="0" anchor="t"/>
          <a:lstStyle/>
          <a:p>
            <a:pPr indent="0" marL="0">
              <a:buNone/>
            </a:pPr>
            <a:r>
              <a:rPr lang="en-US" sz="1300" b="1" dirty="0">
                <a:solidFill>
                  <a:srgbClr val="1E2761"/>
                </a:solidFill>
              </a:rPr>
              <a:t>The Facts:</a:t>
            </a:r>
            <a:endParaRPr lang="en-US" sz="1300" dirty="0"/>
          </a:p>
          <a:p>
            <a:pPr indent="0" marL="0">
              <a:buNone/>
            </a:pPr>
            <a:endParaRPr lang="en-US" sz="1300" dirty="0"/>
          </a:p>
          <a:p>
            <a:pPr indent="0" marL="0">
              <a:buNone/>
            </a:pPr>
            <a:r>
              <a:rPr lang="en-US" sz="1150" dirty="0">
                <a:solidFill>
                  <a:srgbClr val="4A4A6A"/>
                </a:solidFill>
              </a:rPr>
              <a:t>Priceline’s “Name Your Own Price” model let users bid on airline tickets and hotel rooms. If a customer paid $300 for a flight and Priceline’s spread was $30, Priceline reported $300 as revenue and $270 as cost of goods sold — not $30 in net revenue.</a:t>
            </a:r>
            <a:endParaRPr lang="en-US" sz="1300" dirty="0"/>
          </a:p>
          <a:p>
            <a:pPr indent="0" marL="0">
              <a:buNone/>
            </a:pPr>
            <a:endParaRPr lang="en-US" sz="1300" dirty="0"/>
          </a:p>
          <a:p>
            <a:pPr indent="0" marL="0">
              <a:buNone/>
            </a:pPr>
            <a:r>
              <a:rPr lang="en-US" sz="1150" b="1" dirty="0">
                <a:solidFill>
                  <a:srgbClr val="1E2761"/>
                </a:solidFill>
              </a:rPr>
              <a:t>The SEC pushed back. Was Priceline a principal (controlling the service) or an agent (just matching buyers and sellers)?</a:t>
            </a:r>
            <a:endParaRPr lang="en-US" sz="1300" dirty="0"/>
          </a:p>
        </p:txBody>
      </p:sp>
      <p:sp>
        <p:nvSpPr>
          <p:cNvPr id="9" name="Shape 7"/>
          <p:cNvSpPr/>
          <p:nvPr/>
        </p:nvSpPr>
        <p:spPr>
          <a:xfrm>
            <a:off x="548640" y="3566160"/>
            <a:ext cx="379476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548640" y="3566160"/>
            <a:ext cx="54864" cy="1051560"/>
          </a:xfrm>
          <a:prstGeom prst="rect">
            <a:avLst/>
          </a:prstGeom>
          <a:solidFill>
            <a:srgbClr val="3A6EA5"/>
          </a:solidFill>
          <a:ln/>
        </p:spPr>
      </p:sp>
      <p:sp>
        <p:nvSpPr>
          <p:cNvPr id="11" name="Text 9"/>
          <p:cNvSpPr/>
          <p:nvPr/>
        </p:nvSpPr>
        <p:spPr>
          <a:xfrm>
            <a:off x="777240" y="3611880"/>
            <a:ext cx="3383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EITF 99-19</a:t>
            </a:r>
            <a:endParaRPr lang="en-US" sz="1300" dirty="0"/>
          </a:p>
        </p:txBody>
      </p:sp>
      <p:sp>
        <p:nvSpPr>
          <p:cNvPr id="12" name="Text 10"/>
          <p:cNvSpPr/>
          <p:nvPr/>
        </p:nvSpPr>
        <p:spPr>
          <a:xfrm>
            <a:off x="777240" y="3886200"/>
            <a:ext cx="3383280" cy="6400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Indicators for gross vs. net: Who bears inventory risk? Who sets the price? Who selects the supplier? Different dot-com companies in the same industry reached different conclusions.</a:t>
            </a:r>
            <a:endParaRPr lang="en-US" sz="1050" dirty="0"/>
          </a:p>
        </p:txBody>
      </p:sp>
      <p:sp>
        <p:nvSpPr>
          <p:cNvPr id="13" name="Shape 11"/>
          <p:cNvSpPr/>
          <p:nvPr/>
        </p:nvSpPr>
        <p:spPr>
          <a:xfrm>
            <a:off x="4800600" y="3566160"/>
            <a:ext cx="379476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800600" y="3566160"/>
            <a:ext cx="54864" cy="1051560"/>
          </a:xfrm>
          <a:prstGeom prst="rect">
            <a:avLst/>
          </a:prstGeom>
          <a:solidFill>
            <a:srgbClr val="2A7A4B"/>
          </a:solidFill>
          <a:ln/>
        </p:spPr>
      </p:sp>
      <p:sp>
        <p:nvSpPr>
          <p:cNvPr id="15" name="Text 13"/>
          <p:cNvSpPr/>
          <p:nvPr/>
        </p:nvSpPr>
        <p:spPr>
          <a:xfrm>
            <a:off x="5029200" y="3611880"/>
            <a:ext cx="3383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ASC 606 Response</a:t>
            </a:r>
            <a:endParaRPr lang="en-US" sz="1300" dirty="0"/>
          </a:p>
        </p:txBody>
      </p:sp>
      <p:sp>
        <p:nvSpPr>
          <p:cNvPr id="16" name="Text 14"/>
          <p:cNvSpPr/>
          <p:nvPr/>
        </p:nvSpPr>
        <p:spPr>
          <a:xfrm>
            <a:off x="5029200" y="3886200"/>
            <a:ext cx="3383280" cy="6400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Replaced the indicator list with one question: Does the entity control the good or service before transferring it to the customer? Uber applies this test today — agent for rides (net), principal for freight (gross).</a:t>
            </a:r>
            <a:endParaRPr lang="en-US" sz="1050" dirty="0"/>
          </a:p>
        </p:txBody>
      </p:sp>
      <p:sp>
        <p:nvSpPr>
          <p:cNvPr id="17" name="Shape 15"/>
          <p:cNvSpPr/>
          <p:nvPr/>
        </p:nvSpPr>
        <p:spPr>
          <a:xfrm>
            <a:off x="548640" y="4754880"/>
            <a:ext cx="8046720" cy="228600"/>
          </a:xfrm>
          <a:prstGeom prst="rect">
            <a:avLst/>
          </a:prstGeom>
          <a:solidFill>
            <a:srgbClr val="EDF2F7"/>
          </a:solidFill>
          <a:ln/>
        </p:spPr>
      </p:sp>
      <p:sp>
        <p:nvSpPr>
          <p:cNvPr id="18" name="Text 16"/>
          <p:cNvSpPr/>
          <p:nvPr/>
        </p:nvSpPr>
        <p:spPr>
          <a:xfrm>
            <a:off x="822960" y="4736592"/>
            <a:ext cx="7498080" cy="274320"/>
          </a:xfrm>
          <a:prstGeom prst="rect">
            <a:avLst/>
          </a:prstGeom>
          <a:noFill/>
          <a:ln/>
        </p:spPr>
        <p:txBody>
          <a:bodyPr wrap="square" lIns="0" tIns="0" rIns="0" bIns="0"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This is the same question we’ll see in Uber’s 10-K — with a $100 billion difference in reported revenue.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How ASC 606 Responds</a:t>
            </a:r>
            <a:endParaRPr lang="en-US" sz="3200" dirty="0"/>
          </a:p>
        </p:txBody>
      </p:sp>
      <p:sp>
        <p:nvSpPr>
          <p:cNvPr id="3" name="Text 1"/>
          <p:cNvSpPr/>
          <p:nvPr/>
        </p:nvSpPr>
        <p:spPr>
          <a:xfrm>
            <a:off x="548640" y="868680"/>
            <a:ext cx="8046720" cy="27432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Each old criterion maps to a specific step in the new framework</a:t>
            </a:r>
            <a:endParaRPr lang="en-US" sz="1200" dirty="0"/>
          </a:p>
        </p:txBody>
      </p:sp>
      <p:sp>
        <p:nvSpPr>
          <p:cNvPr id="4" name="Shape 2"/>
          <p:cNvSpPr/>
          <p:nvPr/>
        </p:nvSpPr>
        <p:spPr>
          <a:xfrm>
            <a:off x="548640" y="1280160"/>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280160"/>
            <a:ext cx="73152" cy="777240"/>
          </a:xfrm>
          <a:prstGeom prst="rect">
            <a:avLst/>
          </a:prstGeom>
          <a:solidFill>
            <a:srgbClr val="3A6EA5"/>
          </a:solidFill>
          <a:ln/>
        </p:spPr>
      </p:sp>
      <p:sp>
        <p:nvSpPr>
          <p:cNvPr id="6" name="Text 4"/>
          <p:cNvSpPr/>
          <p:nvPr/>
        </p:nvSpPr>
        <p:spPr>
          <a:xfrm>
            <a:off x="914400" y="1325880"/>
            <a:ext cx="2011680" cy="685800"/>
          </a:xfrm>
          <a:prstGeom prst="rect">
            <a:avLst/>
          </a:prstGeom>
          <a:noFill/>
          <a:ln/>
        </p:spPr>
        <p:txBody>
          <a:bodyPr wrap="square" lIns="0" tIns="0" rIns="0" bIns="0" rtlCol="0" anchor="ctr"/>
          <a:lstStyle/>
          <a:p>
            <a:pPr indent="0" marL="0">
              <a:buNone/>
            </a:pPr>
            <a:r>
              <a:rPr lang="en-US" sz="1200" b="1" dirty="0">
                <a:solidFill>
                  <a:srgbClr val="B83232"/>
                </a:solidFill>
                <a:latin typeface="Calibri" pitchFamily="34" charset="0"/>
                <a:ea typeface="Calibri" pitchFamily="34" charset="-122"/>
                <a:cs typeface="Calibri" pitchFamily="34" charset="-120"/>
              </a:rPr>
              <a:t>“Exchange occurred”</a:t>
            </a:r>
            <a:endParaRPr lang="en-US" sz="1200" dirty="0"/>
          </a:p>
        </p:txBody>
      </p:sp>
      <p:sp>
        <p:nvSpPr>
          <p:cNvPr id="7" name="Text 5"/>
          <p:cNvSpPr/>
          <p:nvPr/>
        </p:nvSpPr>
        <p:spPr>
          <a:xfrm>
            <a:off x="2834640" y="1325880"/>
            <a:ext cx="365760" cy="685800"/>
          </a:xfrm>
          <a:prstGeom prst="rect">
            <a:avLst/>
          </a:prstGeom>
          <a:noFill/>
          <a:ln/>
        </p:spPr>
        <p:txBody>
          <a:bodyPr wrap="square" lIns="0" tIns="0" rIns="0" bIns="0" rtlCol="0" anchor="ctr"/>
          <a:lstStyle/>
          <a:p>
            <a:pPr algn="ctr" indent="0" marL="0">
              <a:buNone/>
            </a:pPr>
            <a:r>
              <a:rPr lang="en-US" sz="1800" dirty="0">
                <a:solidFill>
                  <a:srgbClr val="8888AA"/>
                </a:solidFill>
              </a:rPr>
              <a:t>→</a:t>
            </a:r>
            <a:endParaRPr lang="en-US" sz="1800" dirty="0"/>
          </a:p>
        </p:txBody>
      </p:sp>
      <p:sp>
        <p:nvSpPr>
          <p:cNvPr id="8" name="Text 6"/>
          <p:cNvSpPr/>
          <p:nvPr/>
        </p:nvSpPr>
        <p:spPr>
          <a:xfrm>
            <a:off x="3200400" y="1325880"/>
            <a:ext cx="3840480" cy="685800"/>
          </a:xfrm>
          <a:prstGeom prst="rect">
            <a:avLst/>
          </a:prstGeom>
          <a:noFill/>
          <a:ln/>
        </p:spPr>
        <p:txBody>
          <a:bodyPr wrap="square" lIns="0" tIns="0" rIns="0" bIns="0" rtlCol="0" anchor="ctr"/>
          <a:lstStyle/>
          <a:p>
            <a:pPr indent="0" marL="0">
              <a:buNone/>
            </a:pPr>
            <a:r>
              <a:rPr lang="en-US" sz="1200" dirty="0">
                <a:solidFill>
                  <a:srgbClr val="1E2761"/>
                </a:solidFill>
                <a:latin typeface="Calibri" pitchFamily="34" charset="0"/>
                <a:ea typeface="Calibri" pitchFamily="34" charset="-122"/>
                <a:cs typeface="Calibri" pitchFamily="34" charset="-120"/>
              </a:rPr>
              <a:t>Step 1: Identify the contract</a:t>
            </a:r>
            <a:endParaRPr lang="en-US" sz="1200" dirty="0"/>
          </a:p>
          <a:p>
            <a:pPr indent="0" marL="0">
              <a:buNone/>
            </a:pPr>
            <a:r>
              <a:rPr lang="en-US" sz="1200" dirty="0">
                <a:solidFill>
                  <a:srgbClr val="1E2761"/>
                </a:solidFill>
                <a:latin typeface="Calibri" pitchFamily="34" charset="0"/>
                <a:ea typeface="Calibri" pitchFamily="34" charset="-122"/>
                <a:cs typeface="Calibri" pitchFamily="34" charset="-120"/>
              </a:rPr>
              <a:t>Step 5: Transfer of control</a:t>
            </a:r>
            <a:endParaRPr lang="en-US" sz="1200" dirty="0"/>
          </a:p>
        </p:txBody>
      </p:sp>
      <p:sp>
        <p:nvSpPr>
          <p:cNvPr id="9" name="Text 7"/>
          <p:cNvSpPr/>
          <p:nvPr/>
        </p:nvSpPr>
        <p:spPr>
          <a:xfrm>
            <a:off x="7132320" y="1325880"/>
            <a:ext cx="1371600" cy="685800"/>
          </a:xfrm>
          <a:prstGeom prst="rect">
            <a:avLst/>
          </a:prstGeom>
          <a:noFill/>
          <a:ln/>
        </p:spPr>
        <p:txBody>
          <a:bodyPr wrap="square" lIns="0" tIns="0" rIns="0" bIns="0" rtlCol="0" anchor="ctr"/>
          <a:lstStyle/>
          <a:p>
            <a:pPr algn="r" indent="0" marL="0">
              <a:buNone/>
            </a:pPr>
            <a:r>
              <a:rPr lang="en-US" sz="1100" i="1" dirty="0">
                <a:solidFill>
                  <a:srgbClr val="4A4A6A"/>
                </a:solidFill>
                <a:latin typeface="Calibri" pitchFamily="34" charset="0"/>
                <a:ea typeface="Calibri" pitchFamily="34" charset="-122"/>
                <a:cs typeface="Calibri" pitchFamily="34" charset="-120"/>
              </a:rPr>
              <a:t>Sunbeam</a:t>
            </a:r>
            <a:endParaRPr lang="en-US" sz="1100" dirty="0"/>
          </a:p>
        </p:txBody>
      </p:sp>
      <p:sp>
        <p:nvSpPr>
          <p:cNvPr id="10" name="Shape 8"/>
          <p:cNvSpPr/>
          <p:nvPr/>
        </p:nvSpPr>
        <p:spPr>
          <a:xfrm>
            <a:off x="548640" y="2194560"/>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548640" y="2194560"/>
            <a:ext cx="73152" cy="777240"/>
          </a:xfrm>
          <a:prstGeom prst="rect">
            <a:avLst/>
          </a:prstGeom>
          <a:solidFill>
            <a:srgbClr val="3A6EA5"/>
          </a:solidFill>
          <a:ln/>
        </p:spPr>
      </p:sp>
      <p:sp>
        <p:nvSpPr>
          <p:cNvPr id="12" name="Text 10"/>
          <p:cNvSpPr/>
          <p:nvPr/>
        </p:nvSpPr>
        <p:spPr>
          <a:xfrm>
            <a:off x="914400" y="2240280"/>
            <a:ext cx="2011680" cy="685800"/>
          </a:xfrm>
          <a:prstGeom prst="rect">
            <a:avLst/>
          </a:prstGeom>
          <a:noFill/>
          <a:ln/>
        </p:spPr>
        <p:txBody>
          <a:bodyPr wrap="square" lIns="0" tIns="0" rIns="0" bIns="0" rtlCol="0" anchor="ctr"/>
          <a:lstStyle/>
          <a:p>
            <a:pPr indent="0" marL="0">
              <a:buNone/>
            </a:pPr>
            <a:r>
              <a:rPr lang="en-US" sz="1200" b="1" dirty="0">
                <a:solidFill>
                  <a:srgbClr val="B83232"/>
                </a:solidFill>
                <a:latin typeface="Calibri" pitchFamily="34" charset="0"/>
                <a:ea typeface="Calibri" pitchFamily="34" charset="-122"/>
                <a:cs typeface="Calibri" pitchFamily="34" charset="-120"/>
              </a:rPr>
              <a:t>“Substantially complete”</a:t>
            </a:r>
            <a:endParaRPr lang="en-US" sz="1200" dirty="0"/>
          </a:p>
        </p:txBody>
      </p:sp>
      <p:sp>
        <p:nvSpPr>
          <p:cNvPr id="13" name="Text 11"/>
          <p:cNvSpPr/>
          <p:nvPr/>
        </p:nvSpPr>
        <p:spPr>
          <a:xfrm>
            <a:off x="2834640" y="2240280"/>
            <a:ext cx="365760" cy="685800"/>
          </a:xfrm>
          <a:prstGeom prst="rect">
            <a:avLst/>
          </a:prstGeom>
          <a:noFill/>
          <a:ln/>
        </p:spPr>
        <p:txBody>
          <a:bodyPr wrap="square" lIns="0" tIns="0" rIns="0" bIns="0" rtlCol="0" anchor="ctr"/>
          <a:lstStyle/>
          <a:p>
            <a:pPr algn="ctr" indent="0" marL="0">
              <a:buNone/>
            </a:pPr>
            <a:r>
              <a:rPr lang="en-US" sz="1800" dirty="0">
                <a:solidFill>
                  <a:srgbClr val="8888AA"/>
                </a:solidFill>
              </a:rPr>
              <a:t>→</a:t>
            </a:r>
            <a:endParaRPr lang="en-US" sz="1800" dirty="0"/>
          </a:p>
        </p:txBody>
      </p:sp>
      <p:sp>
        <p:nvSpPr>
          <p:cNvPr id="14" name="Text 12"/>
          <p:cNvSpPr/>
          <p:nvPr/>
        </p:nvSpPr>
        <p:spPr>
          <a:xfrm>
            <a:off x="3200400" y="2240280"/>
            <a:ext cx="3840480" cy="685800"/>
          </a:xfrm>
          <a:prstGeom prst="rect">
            <a:avLst/>
          </a:prstGeom>
          <a:noFill/>
          <a:ln/>
        </p:spPr>
        <p:txBody>
          <a:bodyPr wrap="square" lIns="0" tIns="0" rIns="0" bIns="0" rtlCol="0" anchor="ctr"/>
          <a:lstStyle/>
          <a:p>
            <a:pPr indent="0" marL="0">
              <a:buNone/>
            </a:pPr>
            <a:r>
              <a:rPr lang="en-US" sz="1200" dirty="0">
                <a:solidFill>
                  <a:srgbClr val="1E2761"/>
                </a:solidFill>
                <a:latin typeface="Calibri" pitchFamily="34" charset="0"/>
                <a:ea typeface="Calibri" pitchFamily="34" charset="-122"/>
                <a:cs typeface="Calibri" pitchFamily="34" charset="-120"/>
              </a:rPr>
              <a:t>Step 2: Identify performance obligations</a:t>
            </a:r>
            <a:endParaRPr lang="en-US" sz="1200" dirty="0"/>
          </a:p>
          <a:p>
            <a:pPr indent="0" marL="0">
              <a:buNone/>
            </a:pPr>
            <a:r>
              <a:rPr lang="en-US" sz="1200" dirty="0">
                <a:solidFill>
                  <a:srgbClr val="1E2761"/>
                </a:solidFill>
                <a:latin typeface="Calibri" pitchFamily="34" charset="0"/>
                <a:ea typeface="Calibri" pitchFamily="34" charset="-122"/>
                <a:cs typeface="Calibri" pitchFamily="34" charset="-120"/>
              </a:rPr>
              <a:t>Step 5: Over time vs. point in time</a:t>
            </a:r>
            <a:endParaRPr lang="en-US" sz="1200" dirty="0"/>
          </a:p>
        </p:txBody>
      </p:sp>
      <p:sp>
        <p:nvSpPr>
          <p:cNvPr id="15" name="Text 13"/>
          <p:cNvSpPr/>
          <p:nvPr/>
        </p:nvSpPr>
        <p:spPr>
          <a:xfrm>
            <a:off x="7132320" y="2240280"/>
            <a:ext cx="1371600" cy="685800"/>
          </a:xfrm>
          <a:prstGeom prst="rect">
            <a:avLst/>
          </a:prstGeom>
          <a:noFill/>
          <a:ln/>
        </p:spPr>
        <p:txBody>
          <a:bodyPr wrap="square" lIns="0" tIns="0" rIns="0" bIns="0" rtlCol="0" anchor="ctr"/>
          <a:lstStyle/>
          <a:p>
            <a:pPr algn="r" indent="0" marL="0">
              <a:buNone/>
            </a:pPr>
            <a:r>
              <a:rPr lang="en-US" sz="1100" i="1" dirty="0">
                <a:solidFill>
                  <a:srgbClr val="4A4A6A"/>
                </a:solidFill>
                <a:latin typeface="Calibri" pitchFamily="34" charset="0"/>
                <a:ea typeface="Calibri" pitchFamily="34" charset="-122"/>
                <a:cs typeface="Calibri" pitchFamily="34" charset="-120"/>
              </a:rPr>
              <a:t>Xerox</a:t>
            </a:r>
            <a:endParaRPr lang="en-US" sz="1100" dirty="0"/>
          </a:p>
        </p:txBody>
      </p:sp>
      <p:sp>
        <p:nvSpPr>
          <p:cNvPr id="16" name="Shape 14"/>
          <p:cNvSpPr/>
          <p:nvPr/>
        </p:nvSpPr>
        <p:spPr>
          <a:xfrm>
            <a:off x="548640" y="3108960"/>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548640" y="3108960"/>
            <a:ext cx="73152" cy="777240"/>
          </a:xfrm>
          <a:prstGeom prst="rect">
            <a:avLst/>
          </a:prstGeom>
          <a:solidFill>
            <a:srgbClr val="3A6EA5"/>
          </a:solidFill>
          <a:ln/>
        </p:spPr>
      </p:sp>
      <p:sp>
        <p:nvSpPr>
          <p:cNvPr id="18" name="Text 16"/>
          <p:cNvSpPr/>
          <p:nvPr/>
        </p:nvSpPr>
        <p:spPr>
          <a:xfrm>
            <a:off x="914400" y="3154680"/>
            <a:ext cx="2011680" cy="685800"/>
          </a:xfrm>
          <a:prstGeom prst="rect">
            <a:avLst/>
          </a:prstGeom>
          <a:noFill/>
          <a:ln/>
        </p:spPr>
        <p:txBody>
          <a:bodyPr wrap="square" lIns="0" tIns="0" rIns="0" bIns="0" rtlCol="0" anchor="ctr"/>
          <a:lstStyle/>
          <a:p>
            <a:pPr indent="0" marL="0">
              <a:buNone/>
            </a:pPr>
            <a:r>
              <a:rPr lang="en-US" sz="1200" b="1" dirty="0">
                <a:solidFill>
                  <a:srgbClr val="B83232"/>
                </a:solidFill>
                <a:latin typeface="Calibri" pitchFamily="34" charset="0"/>
                <a:ea typeface="Calibri" pitchFamily="34" charset="-122"/>
                <a:cs typeface="Calibri" pitchFamily="34" charset="-120"/>
              </a:rPr>
              <a:t>“Reasonably sure”</a:t>
            </a:r>
            <a:endParaRPr lang="en-US" sz="1200" dirty="0"/>
          </a:p>
        </p:txBody>
      </p:sp>
      <p:sp>
        <p:nvSpPr>
          <p:cNvPr id="19" name="Text 17"/>
          <p:cNvSpPr/>
          <p:nvPr/>
        </p:nvSpPr>
        <p:spPr>
          <a:xfrm>
            <a:off x="2834640" y="3154680"/>
            <a:ext cx="365760" cy="685800"/>
          </a:xfrm>
          <a:prstGeom prst="rect">
            <a:avLst/>
          </a:prstGeom>
          <a:noFill/>
          <a:ln/>
        </p:spPr>
        <p:txBody>
          <a:bodyPr wrap="square" lIns="0" tIns="0" rIns="0" bIns="0" rtlCol="0" anchor="ctr"/>
          <a:lstStyle/>
          <a:p>
            <a:pPr algn="ctr" indent="0" marL="0">
              <a:buNone/>
            </a:pPr>
            <a:r>
              <a:rPr lang="en-US" sz="1800" dirty="0">
                <a:solidFill>
                  <a:srgbClr val="8888AA"/>
                </a:solidFill>
              </a:rPr>
              <a:t>→</a:t>
            </a:r>
            <a:endParaRPr lang="en-US" sz="1800" dirty="0"/>
          </a:p>
        </p:txBody>
      </p:sp>
      <p:sp>
        <p:nvSpPr>
          <p:cNvPr id="20" name="Text 18"/>
          <p:cNvSpPr/>
          <p:nvPr/>
        </p:nvSpPr>
        <p:spPr>
          <a:xfrm>
            <a:off x="3200400" y="3154680"/>
            <a:ext cx="3840480" cy="685800"/>
          </a:xfrm>
          <a:prstGeom prst="rect">
            <a:avLst/>
          </a:prstGeom>
          <a:noFill/>
          <a:ln/>
        </p:spPr>
        <p:txBody>
          <a:bodyPr wrap="square" lIns="0" tIns="0" rIns="0" bIns="0" rtlCol="0" anchor="ctr"/>
          <a:lstStyle/>
          <a:p>
            <a:pPr indent="0" marL="0">
              <a:buNone/>
            </a:pPr>
            <a:r>
              <a:rPr lang="en-US" sz="1200" dirty="0">
                <a:solidFill>
                  <a:srgbClr val="1E2761"/>
                </a:solidFill>
                <a:latin typeface="Calibri" pitchFamily="34" charset="0"/>
                <a:ea typeface="Calibri" pitchFamily="34" charset="-122"/>
                <a:cs typeface="Calibri" pitchFamily="34" charset="-120"/>
              </a:rPr>
              <a:t>Step 1: Collectibility threshold</a:t>
            </a:r>
            <a:endParaRPr lang="en-US" sz="1200" dirty="0"/>
          </a:p>
          <a:p>
            <a:pPr indent="0" marL="0">
              <a:buNone/>
            </a:pPr>
            <a:r>
              <a:rPr lang="en-US" sz="1200" dirty="0">
                <a:solidFill>
                  <a:srgbClr val="1E2761"/>
                </a:solidFill>
                <a:latin typeface="Calibri" pitchFamily="34" charset="0"/>
                <a:ea typeface="Calibri" pitchFamily="34" charset="-122"/>
                <a:cs typeface="Calibri" pitchFamily="34" charset="-120"/>
              </a:rPr>
              <a:t>Step 3: Variable consideration constraints</a:t>
            </a:r>
            <a:endParaRPr lang="en-US" sz="1200" dirty="0"/>
          </a:p>
        </p:txBody>
      </p:sp>
      <p:sp>
        <p:nvSpPr>
          <p:cNvPr id="21" name="Text 19"/>
          <p:cNvSpPr/>
          <p:nvPr/>
        </p:nvSpPr>
        <p:spPr>
          <a:xfrm>
            <a:off x="7132320" y="3154680"/>
            <a:ext cx="1371600" cy="685800"/>
          </a:xfrm>
          <a:prstGeom prst="rect">
            <a:avLst/>
          </a:prstGeom>
          <a:noFill/>
          <a:ln/>
        </p:spPr>
        <p:txBody>
          <a:bodyPr wrap="square" lIns="0" tIns="0" rIns="0" bIns="0" rtlCol="0" anchor="ctr"/>
          <a:lstStyle/>
          <a:p>
            <a:pPr algn="r" indent="0" marL="0">
              <a:buNone/>
            </a:pPr>
            <a:r>
              <a:rPr lang="en-US" sz="1100" i="1" dirty="0">
                <a:solidFill>
                  <a:srgbClr val="4A4A6A"/>
                </a:solidFill>
                <a:latin typeface="Calibri" pitchFamily="34" charset="0"/>
                <a:ea typeface="Calibri" pitchFamily="34" charset="-122"/>
                <a:cs typeface="Calibri" pitchFamily="34" charset="-120"/>
              </a:rPr>
              <a:t>Bristol-Myers</a:t>
            </a:r>
            <a:endParaRPr lang="en-US" sz="1100" dirty="0"/>
          </a:p>
        </p:txBody>
      </p:sp>
      <p:sp>
        <p:nvSpPr>
          <p:cNvPr id="22" name="Shape 20"/>
          <p:cNvSpPr/>
          <p:nvPr/>
        </p:nvSpPr>
        <p:spPr>
          <a:xfrm>
            <a:off x="548640" y="4023360"/>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3" name="Shape 21"/>
          <p:cNvSpPr/>
          <p:nvPr/>
        </p:nvSpPr>
        <p:spPr>
          <a:xfrm>
            <a:off x="548640" y="4023360"/>
            <a:ext cx="73152" cy="777240"/>
          </a:xfrm>
          <a:prstGeom prst="rect">
            <a:avLst/>
          </a:prstGeom>
          <a:solidFill>
            <a:srgbClr val="3A6EA5"/>
          </a:solidFill>
          <a:ln/>
        </p:spPr>
      </p:sp>
      <p:sp>
        <p:nvSpPr>
          <p:cNvPr id="24" name="Text 22"/>
          <p:cNvSpPr/>
          <p:nvPr/>
        </p:nvSpPr>
        <p:spPr>
          <a:xfrm>
            <a:off x="914400" y="4069080"/>
            <a:ext cx="2011680" cy="685800"/>
          </a:xfrm>
          <a:prstGeom prst="rect">
            <a:avLst/>
          </a:prstGeom>
          <a:noFill/>
          <a:ln/>
        </p:spPr>
        <p:txBody>
          <a:bodyPr wrap="square" lIns="0" tIns="0" rIns="0" bIns="0" rtlCol="0" anchor="ctr"/>
          <a:lstStyle/>
          <a:p>
            <a:pPr indent="0" marL="0">
              <a:buNone/>
            </a:pPr>
            <a:r>
              <a:rPr lang="en-US" sz="1200" b="1" dirty="0">
                <a:solidFill>
                  <a:srgbClr val="B83232"/>
                </a:solidFill>
                <a:latin typeface="Calibri" pitchFamily="34" charset="0"/>
                <a:ea typeface="Calibri" pitchFamily="34" charset="-122"/>
                <a:cs typeface="Calibri" pitchFamily="34" charset="-120"/>
              </a:rPr>
              <a:t>“Some accuracy”</a:t>
            </a:r>
            <a:endParaRPr lang="en-US" sz="1200" dirty="0"/>
          </a:p>
        </p:txBody>
      </p:sp>
      <p:sp>
        <p:nvSpPr>
          <p:cNvPr id="25" name="Text 23"/>
          <p:cNvSpPr/>
          <p:nvPr/>
        </p:nvSpPr>
        <p:spPr>
          <a:xfrm>
            <a:off x="2834640" y="4069080"/>
            <a:ext cx="365760" cy="685800"/>
          </a:xfrm>
          <a:prstGeom prst="rect">
            <a:avLst/>
          </a:prstGeom>
          <a:noFill/>
          <a:ln/>
        </p:spPr>
        <p:txBody>
          <a:bodyPr wrap="square" lIns="0" tIns="0" rIns="0" bIns="0" rtlCol="0" anchor="ctr"/>
          <a:lstStyle/>
          <a:p>
            <a:pPr algn="ctr" indent="0" marL="0">
              <a:buNone/>
            </a:pPr>
            <a:r>
              <a:rPr lang="en-US" sz="1800" dirty="0">
                <a:solidFill>
                  <a:srgbClr val="8888AA"/>
                </a:solidFill>
              </a:rPr>
              <a:t>→</a:t>
            </a:r>
            <a:endParaRPr lang="en-US" sz="1800" dirty="0"/>
          </a:p>
        </p:txBody>
      </p:sp>
      <p:sp>
        <p:nvSpPr>
          <p:cNvPr id="26" name="Text 24"/>
          <p:cNvSpPr/>
          <p:nvPr/>
        </p:nvSpPr>
        <p:spPr>
          <a:xfrm>
            <a:off x="3200400" y="4069080"/>
            <a:ext cx="3840480" cy="685800"/>
          </a:xfrm>
          <a:prstGeom prst="rect">
            <a:avLst/>
          </a:prstGeom>
          <a:noFill/>
          <a:ln/>
        </p:spPr>
        <p:txBody>
          <a:bodyPr wrap="square" lIns="0" tIns="0" rIns="0" bIns="0" rtlCol="0" anchor="ctr"/>
          <a:lstStyle/>
          <a:p>
            <a:pPr indent="0" marL="0">
              <a:buNone/>
            </a:pPr>
            <a:r>
              <a:rPr lang="en-US" sz="1200" dirty="0">
                <a:solidFill>
                  <a:srgbClr val="1E2761"/>
                </a:solidFill>
                <a:latin typeface="Calibri" pitchFamily="34" charset="0"/>
                <a:ea typeface="Calibri" pitchFamily="34" charset="-122"/>
                <a:cs typeface="Calibri" pitchFamily="34" charset="-120"/>
              </a:rPr>
              <a:t>Step 3: Transaction price</a:t>
            </a:r>
            <a:endParaRPr lang="en-US" sz="1200" dirty="0"/>
          </a:p>
          <a:p>
            <a:pPr indent="0" marL="0">
              <a:buNone/>
            </a:pPr>
            <a:r>
              <a:rPr lang="en-US" sz="1200" dirty="0">
                <a:solidFill>
                  <a:srgbClr val="1E2761"/>
                </a:solidFill>
                <a:latin typeface="Calibri" pitchFamily="34" charset="0"/>
                <a:ea typeface="Calibri" pitchFamily="34" charset="-122"/>
                <a:cs typeface="Calibri" pitchFamily="34" charset="-120"/>
              </a:rPr>
              <a:t>Step 4: Allocation methodology</a:t>
            </a:r>
            <a:endParaRPr lang="en-US" sz="1200" dirty="0"/>
          </a:p>
        </p:txBody>
      </p:sp>
      <p:sp>
        <p:nvSpPr>
          <p:cNvPr id="27" name="Text 25"/>
          <p:cNvSpPr/>
          <p:nvPr/>
        </p:nvSpPr>
        <p:spPr>
          <a:xfrm>
            <a:off x="7132320" y="4069080"/>
            <a:ext cx="1371600" cy="685800"/>
          </a:xfrm>
          <a:prstGeom prst="rect">
            <a:avLst/>
          </a:prstGeom>
          <a:noFill/>
          <a:ln/>
        </p:spPr>
        <p:txBody>
          <a:bodyPr wrap="square" lIns="0" tIns="0" rIns="0" bIns="0" rtlCol="0" anchor="ctr"/>
          <a:lstStyle/>
          <a:p>
            <a:pPr algn="r" indent="0" marL="0">
              <a:buNone/>
            </a:pPr>
            <a:r>
              <a:rPr lang="en-US" sz="1100" i="1" dirty="0">
                <a:solidFill>
                  <a:srgbClr val="4A4A6A"/>
                </a:solidFill>
                <a:latin typeface="Calibri" pitchFamily="34" charset="0"/>
                <a:ea typeface="Calibri" pitchFamily="34" charset="-122"/>
                <a:cs typeface="Calibri" pitchFamily="34" charset="-120"/>
              </a:rPr>
              <a:t>Enron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A7A4B"/>
          </a:solidFill>
          <a:ln/>
        </p:spPr>
      </p:sp>
      <p:sp>
        <p:nvSpPr>
          <p:cNvPr id="3" name="Text 1"/>
          <p:cNvSpPr/>
          <p:nvPr/>
        </p:nvSpPr>
        <p:spPr>
          <a:xfrm>
            <a:off x="731520" y="1371600"/>
            <a:ext cx="7772400" cy="109728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The Fix: ASC 606</a:t>
            </a:r>
            <a:endParaRPr lang="en-US" sz="4400" dirty="0"/>
          </a:p>
        </p:txBody>
      </p:sp>
      <p:sp>
        <p:nvSpPr>
          <p:cNvPr id="4" name="Text 2"/>
          <p:cNvSpPr/>
          <p:nvPr/>
        </p:nvSpPr>
        <p:spPr>
          <a:xfrm>
            <a:off x="731520" y="2468880"/>
            <a:ext cx="7772400" cy="64008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Revenue from Contracts with Customers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The Five-Step Model</a:t>
            </a:r>
            <a:endParaRPr lang="en-US" sz="3200" dirty="0"/>
          </a:p>
        </p:txBody>
      </p:sp>
      <p:sp>
        <p:nvSpPr>
          <p:cNvPr id="3" name="Shape 1"/>
          <p:cNvSpPr/>
          <p:nvPr/>
        </p:nvSpPr>
        <p:spPr>
          <a:xfrm>
            <a:off x="548640" y="1234440"/>
            <a:ext cx="502920" cy="502920"/>
          </a:xfrm>
          <a:prstGeom prst="ellipse">
            <a:avLst/>
          </a:prstGeom>
          <a:solidFill>
            <a:srgbClr val="2A7A4B"/>
          </a:solidFill>
          <a:ln/>
        </p:spPr>
      </p:sp>
      <p:sp>
        <p:nvSpPr>
          <p:cNvPr id="4" name="Text 2"/>
          <p:cNvSpPr/>
          <p:nvPr/>
        </p:nvSpPr>
        <p:spPr>
          <a:xfrm>
            <a:off x="548640" y="12344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5" name="Text 3"/>
          <p:cNvSpPr/>
          <p:nvPr/>
        </p:nvSpPr>
        <p:spPr>
          <a:xfrm>
            <a:off x="1280160" y="1188720"/>
            <a:ext cx="7315200" cy="594360"/>
          </a:xfrm>
          <a:prstGeom prst="rect">
            <a:avLst/>
          </a:prstGeom>
          <a:noFill/>
          <a:ln/>
        </p:spPr>
        <p:txBody>
          <a:bodyPr wrap="square" lIns="0" tIns="0" rIns="0" bIns="0" rtlCol="0" anchor="ctr"/>
          <a:lstStyle/>
          <a:p>
            <a:pPr indent="0" marL="0">
              <a:buNone/>
            </a:pPr>
            <a:r>
              <a:rPr lang="en-US" sz="1600" b="1" dirty="0">
                <a:solidFill>
                  <a:srgbClr val="1E2761"/>
                </a:solidFill>
              </a:rPr>
              <a:t>Identify the contract</a:t>
            </a:r>
            <a:pPr indent="0" marL="0">
              <a:buNone/>
            </a:pPr>
            <a:r>
              <a:rPr lang="en-US" sz="1400" dirty="0">
                <a:solidFill>
                  <a:srgbClr val="4A4A6A"/>
                </a:solidFill>
              </a:rPr>
              <a:t>  with a customer</a:t>
            </a:r>
            <a:endParaRPr lang="en-US" sz="1600" dirty="0"/>
          </a:p>
        </p:txBody>
      </p:sp>
      <p:sp>
        <p:nvSpPr>
          <p:cNvPr id="6" name="Shape 4"/>
          <p:cNvSpPr/>
          <p:nvPr/>
        </p:nvSpPr>
        <p:spPr>
          <a:xfrm>
            <a:off x="800100" y="1737360"/>
            <a:ext cx="0" cy="182880"/>
          </a:xfrm>
          <a:prstGeom prst="line">
            <a:avLst/>
          </a:prstGeom>
          <a:noFill/>
          <a:ln w="19050">
            <a:solidFill>
              <a:srgbClr val="2A7A4B"/>
            </a:solidFill>
            <a:prstDash val="solid"/>
          </a:ln>
        </p:spPr>
      </p:sp>
      <p:sp>
        <p:nvSpPr>
          <p:cNvPr id="7" name="Shape 5"/>
          <p:cNvSpPr/>
          <p:nvPr/>
        </p:nvSpPr>
        <p:spPr>
          <a:xfrm>
            <a:off x="548640" y="1965960"/>
            <a:ext cx="502920" cy="502920"/>
          </a:xfrm>
          <a:prstGeom prst="ellipse">
            <a:avLst/>
          </a:prstGeom>
          <a:solidFill>
            <a:srgbClr val="2A7A4B"/>
          </a:solidFill>
          <a:ln/>
        </p:spPr>
      </p:sp>
      <p:sp>
        <p:nvSpPr>
          <p:cNvPr id="8" name="Text 6"/>
          <p:cNvSpPr/>
          <p:nvPr/>
        </p:nvSpPr>
        <p:spPr>
          <a:xfrm>
            <a:off x="54864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9" name="Text 7"/>
          <p:cNvSpPr/>
          <p:nvPr/>
        </p:nvSpPr>
        <p:spPr>
          <a:xfrm>
            <a:off x="1280160" y="1920240"/>
            <a:ext cx="7315200" cy="594360"/>
          </a:xfrm>
          <a:prstGeom prst="rect">
            <a:avLst/>
          </a:prstGeom>
          <a:noFill/>
          <a:ln/>
        </p:spPr>
        <p:txBody>
          <a:bodyPr wrap="square" lIns="0" tIns="0" rIns="0" bIns="0" rtlCol="0" anchor="ctr"/>
          <a:lstStyle/>
          <a:p>
            <a:pPr indent="0" marL="0">
              <a:buNone/>
            </a:pPr>
            <a:r>
              <a:rPr lang="en-US" sz="1600" b="1" dirty="0">
                <a:solidFill>
                  <a:srgbClr val="1E2761"/>
                </a:solidFill>
              </a:rPr>
              <a:t>Identify the performance obligations</a:t>
            </a:r>
            <a:pPr indent="0" marL="0">
              <a:buNone/>
            </a:pPr>
            <a:r>
              <a:rPr lang="en-US" sz="1400" dirty="0">
                <a:solidFill>
                  <a:srgbClr val="4A4A6A"/>
                </a:solidFill>
              </a:rPr>
              <a:t>  in the contract</a:t>
            </a:r>
            <a:endParaRPr lang="en-US" sz="1600" dirty="0"/>
          </a:p>
        </p:txBody>
      </p:sp>
      <p:sp>
        <p:nvSpPr>
          <p:cNvPr id="10" name="Shape 8"/>
          <p:cNvSpPr/>
          <p:nvPr/>
        </p:nvSpPr>
        <p:spPr>
          <a:xfrm>
            <a:off x="800100" y="2468880"/>
            <a:ext cx="0" cy="182880"/>
          </a:xfrm>
          <a:prstGeom prst="line">
            <a:avLst/>
          </a:prstGeom>
          <a:noFill/>
          <a:ln w="19050">
            <a:solidFill>
              <a:srgbClr val="2A7A4B"/>
            </a:solidFill>
            <a:prstDash val="solid"/>
          </a:ln>
        </p:spPr>
      </p:sp>
      <p:sp>
        <p:nvSpPr>
          <p:cNvPr id="11" name="Shape 9"/>
          <p:cNvSpPr/>
          <p:nvPr/>
        </p:nvSpPr>
        <p:spPr>
          <a:xfrm>
            <a:off x="548640" y="2697480"/>
            <a:ext cx="502920" cy="502920"/>
          </a:xfrm>
          <a:prstGeom prst="ellipse">
            <a:avLst/>
          </a:prstGeom>
          <a:solidFill>
            <a:srgbClr val="2A7A4B"/>
          </a:solidFill>
          <a:ln/>
        </p:spPr>
      </p:sp>
      <p:sp>
        <p:nvSpPr>
          <p:cNvPr id="12" name="Text 10"/>
          <p:cNvSpPr/>
          <p:nvPr/>
        </p:nvSpPr>
        <p:spPr>
          <a:xfrm>
            <a:off x="548640" y="2697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3" name="Text 11"/>
          <p:cNvSpPr/>
          <p:nvPr/>
        </p:nvSpPr>
        <p:spPr>
          <a:xfrm>
            <a:off x="1280160" y="2651760"/>
            <a:ext cx="7315200" cy="594360"/>
          </a:xfrm>
          <a:prstGeom prst="rect">
            <a:avLst/>
          </a:prstGeom>
          <a:noFill/>
          <a:ln/>
        </p:spPr>
        <p:txBody>
          <a:bodyPr wrap="square" lIns="0" tIns="0" rIns="0" bIns="0" rtlCol="0" anchor="ctr"/>
          <a:lstStyle/>
          <a:p>
            <a:pPr indent="0" marL="0">
              <a:buNone/>
            </a:pPr>
            <a:r>
              <a:rPr lang="en-US" sz="1600" b="1" dirty="0">
                <a:solidFill>
                  <a:srgbClr val="1E2761"/>
                </a:solidFill>
              </a:rPr>
              <a:t>Determine the transaction price</a:t>
            </a:r>
            <a:pPr indent="0" marL="0">
              <a:buNone/>
            </a:pPr>
            <a:endParaRPr lang="en-US" sz="1600" dirty="0"/>
          </a:p>
        </p:txBody>
      </p:sp>
      <p:sp>
        <p:nvSpPr>
          <p:cNvPr id="14" name="Shape 12"/>
          <p:cNvSpPr/>
          <p:nvPr/>
        </p:nvSpPr>
        <p:spPr>
          <a:xfrm>
            <a:off x="800100" y="3200400"/>
            <a:ext cx="0" cy="182880"/>
          </a:xfrm>
          <a:prstGeom prst="line">
            <a:avLst/>
          </a:prstGeom>
          <a:noFill/>
          <a:ln w="19050">
            <a:solidFill>
              <a:srgbClr val="2A7A4B"/>
            </a:solidFill>
            <a:prstDash val="solid"/>
          </a:ln>
        </p:spPr>
      </p:sp>
      <p:sp>
        <p:nvSpPr>
          <p:cNvPr id="15" name="Shape 13"/>
          <p:cNvSpPr/>
          <p:nvPr/>
        </p:nvSpPr>
        <p:spPr>
          <a:xfrm>
            <a:off x="548640" y="3429000"/>
            <a:ext cx="502920" cy="502920"/>
          </a:xfrm>
          <a:prstGeom prst="ellipse">
            <a:avLst/>
          </a:prstGeom>
          <a:solidFill>
            <a:srgbClr val="2A7A4B"/>
          </a:solidFill>
          <a:ln/>
        </p:spPr>
      </p:sp>
      <p:sp>
        <p:nvSpPr>
          <p:cNvPr id="16" name="Text 14"/>
          <p:cNvSpPr/>
          <p:nvPr/>
        </p:nvSpPr>
        <p:spPr>
          <a:xfrm>
            <a:off x="548640" y="34290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7" name="Text 15"/>
          <p:cNvSpPr/>
          <p:nvPr/>
        </p:nvSpPr>
        <p:spPr>
          <a:xfrm>
            <a:off x="1280160" y="3383280"/>
            <a:ext cx="7315200" cy="594360"/>
          </a:xfrm>
          <a:prstGeom prst="rect">
            <a:avLst/>
          </a:prstGeom>
          <a:noFill/>
          <a:ln/>
        </p:spPr>
        <p:txBody>
          <a:bodyPr wrap="square" lIns="0" tIns="0" rIns="0" bIns="0" rtlCol="0" anchor="ctr"/>
          <a:lstStyle/>
          <a:p>
            <a:pPr indent="0" marL="0">
              <a:buNone/>
            </a:pPr>
            <a:r>
              <a:rPr lang="en-US" sz="1600" b="1" dirty="0">
                <a:solidFill>
                  <a:srgbClr val="1E2761"/>
                </a:solidFill>
              </a:rPr>
              <a:t>Allocate the transaction price</a:t>
            </a:r>
            <a:pPr indent="0" marL="0">
              <a:buNone/>
            </a:pPr>
            <a:r>
              <a:rPr lang="en-US" sz="1400" dirty="0">
                <a:solidFill>
                  <a:srgbClr val="4A4A6A"/>
                </a:solidFill>
              </a:rPr>
              <a:t>  to performance obligations</a:t>
            </a:r>
            <a:endParaRPr lang="en-US" sz="1600" dirty="0"/>
          </a:p>
        </p:txBody>
      </p:sp>
      <p:sp>
        <p:nvSpPr>
          <p:cNvPr id="18" name="Shape 16"/>
          <p:cNvSpPr/>
          <p:nvPr/>
        </p:nvSpPr>
        <p:spPr>
          <a:xfrm>
            <a:off x="800100" y="3931920"/>
            <a:ext cx="0" cy="182880"/>
          </a:xfrm>
          <a:prstGeom prst="line">
            <a:avLst/>
          </a:prstGeom>
          <a:noFill/>
          <a:ln w="19050">
            <a:solidFill>
              <a:srgbClr val="2A7A4B"/>
            </a:solidFill>
            <a:prstDash val="solid"/>
          </a:ln>
        </p:spPr>
      </p:sp>
      <p:sp>
        <p:nvSpPr>
          <p:cNvPr id="19" name="Shape 17"/>
          <p:cNvSpPr/>
          <p:nvPr/>
        </p:nvSpPr>
        <p:spPr>
          <a:xfrm>
            <a:off x="548640" y="4160520"/>
            <a:ext cx="502920" cy="502920"/>
          </a:xfrm>
          <a:prstGeom prst="ellipse">
            <a:avLst/>
          </a:prstGeom>
          <a:solidFill>
            <a:srgbClr val="2A7A4B"/>
          </a:solidFill>
          <a:ln/>
        </p:spPr>
      </p:sp>
      <p:sp>
        <p:nvSpPr>
          <p:cNvPr id="20" name="Text 18"/>
          <p:cNvSpPr/>
          <p:nvPr/>
        </p:nvSpPr>
        <p:spPr>
          <a:xfrm>
            <a:off x="548640" y="4160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1" name="Text 19"/>
          <p:cNvSpPr/>
          <p:nvPr/>
        </p:nvSpPr>
        <p:spPr>
          <a:xfrm>
            <a:off x="1280160" y="4114800"/>
            <a:ext cx="7315200" cy="594360"/>
          </a:xfrm>
          <a:prstGeom prst="rect">
            <a:avLst/>
          </a:prstGeom>
          <a:noFill/>
          <a:ln/>
        </p:spPr>
        <p:txBody>
          <a:bodyPr wrap="square" lIns="0" tIns="0" rIns="0" bIns="0" rtlCol="0" anchor="ctr"/>
          <a:lstStyle/>
          <a:p>
            <a:pPr indent="0" marL="0">
              <a:buNone/>
            </a:pPr>
            <a:r>
              <a:rPr lang="en-US" sz="1600" b="1" dirty="0">
                <a:solidFill>
                  <a:srgbClr val="1E2761"/>
                </a:solidFill>
              </a:rPr>
              <a:t>Recognize revenue</a:t>
            </a:r>
            <a:pPr indent="0" marL="0">
              <a:buNone/>
            </a:pPr>
            <a:r>
              <a:rPr lang="en-US" sz="1400" dirty="0">
                <a:solidFill>
                  <a:srgbClr val="4A4A6A"/>
                </a:solidFill>
              </a:rPr>
              <a:t>  when (or as) obligations are satisfied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Step 1 Deep Dive: Identify the Contract</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No contract, no revenue. But what counts as a “contract” under ASC 606?</a:t>
            </a:r>
            <a:endParaRPr lang="en-US" sz="1200" dirty="0"/>
          </a:p>
        </p:txBody>
      </p:sp>
      <p:sp>
        <p:nvSpPr>
          <p:cNvPr id="4" name="Shape 2"/>
          <p:cNvSpPr/>
          <p:nvPr/>
        </p:nvSpPr>
        <p:spPr>
          <a:xfrm>
            <a:off x="548640" y="1143000"/>
            <a:ext cx="4572000" cy="438912"/>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143000"/>
            <a:ext cx="54864" cy="438912"/>
          </a:xfrm>
          <a:prstGeom prst="rect">
            <a:avLst/>
          </a:prstGeom>
          <a:solidFill>
            <a:srgbClr val="2A7A4B"/>
          </a:solidFill>
          <a:ln/>
        </p:spPr>
      </p:sp>
      <p:sp>
        <p:nvSpPr>
          <p:cNvPr id="6" name="Text 4"/>
          <p:cNvSpPr/>
          <p:nvPr/>
        </p:nvSpPr>
        <p:spPr>
          <a:xfrm>
            <a:off x="777240" y="1161288"/>
            <a:ext cx="1280160" cy="402336"/>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Approval</a:t>
            </a:r>
            <a:endParaRPr lang="en-US" sz="1100" dirty="0"/>
          </a:p>
        </p:txBody>
      </p:sp>
      <p:sp>
        <p:nvSpPr>
          <p:cNvPr id="7" name="Text 5"/>
          <p:cNvSpPr/>
          <p:nvPr/>
        </p:nvSpPr>
        <p:spPr>
          <a:xfrm>
            <a:off x="2103120" y="1161288"/>
            <a:ext cx="2834640" cy="402336"/>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All parties have approved the contract and are committed to their obligations</a:t>
            </a:r>
            <a:endParaRPr lang="en-US" sz="1000" dirty="0"/>
          </a:p>
        </p:txBody>
      </p:sp>
      <p:sp>
        <p:nvSpPr>
          <p:cNvPr id="8" name="Shape 6"/>
          <p:cNvSpPr/>
          <p:nvPr/>
        </p:nvSpPr>
        <p:spPr>
          <a:xfrm>
            <a:off x="548640" y="1673352"/>
            <a:ext cx="4572000" cy="438912"/>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548640" y="1673352"/>
            <a:ext cx="54864" cy="438912"/>
          </a:xfrm>
          <a:prstGeom prst="rect">
            <a:avLst/>
          </a:prstGeom>
          <a:solidFill>
            <a:srgbClr val="2A7A4B"/>
          </a:solidFill>
          <a:ln/>
        </p:spPr>
      </p:sp>
      <p:sp>
        <p:nvSpPr>
          <p:cNvPr id="10" name="Text 8"/>
          <p:cNvSpPr/>
          <p:nvPr/>
        </p:nvSpPr>
        <p:spPr>
          <a:xfrm>
            <a:off x="777240" y="1691640"/>
            <a:ext cx="1280160" cy="402336"/>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Rights</a:t>
            </a:r>
            <a:endParaRPr lang="en-US" sz="1100" dirty="0"/>
          </a:p>
        </p:txBody>
      </p:sp>
      <p:sp>
        <p:nvSpPr>
          <p:cNvPr id="11" name="Text 9"/>
          <p:cNvSpPr/>
          <p:nvPr/>
        </p:nvSpPr>
        <p:spPr>
          <a:xfrm>
            <a:off x="2103120" y="1691640"/>
            <a:ext cx="2834640" cy="402336"/>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Each party’s rights regarding goods or services to be transferred can be identified</a:t>
            </a:r>
            <a:endParaRPr lang="en-US" sz="1000" dirty="0"/>
          </a:p>
        </p:txBody>
      </p:sp>
      <p:sp>
        <p:nvSpPr>
          <p:cNvPr id="12" name="Shape 10"/>
          <p:cNvSpPr/>
          <p:nvPr/>
        </p:nvSpPr>
        <p:spPr>
          <a:xfrm>
            <a:off x="548640" y="2203704"/>
            <a:ext cx="4572000" cy="438912"/>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548640" y="2203704"/>
            <a:ext cx="54864" cy="438912"/>
          </a:xfrm>
          <a:prstGeom prst="rect">
            <a:avLst/>
          </a:prstGeom>
          <a:solidFill>
            <a:srgbClr val="2A7A4B"/>
          </a:solidFill>
          <a:ln/>
        </p:spPr>
      </p:sp>
      <p:sp>
        <p:nvSpPr>
          <p:cNvPr id="14" name="Text 12"/>
          <p:cNvSpPr/>
          <p:nvPr/>
        </p:nvSpPr>
        <p:spPr>
          <a:xfrm>
            <a:off x="777240" y="2221992"/>
            <a:ext cx="1280160" cy="402336"/>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Payment Terms</a:t>
            </a:r>
            <a:endParaRPr lang="en-US" sz="1100" dirty="0"/>
          </a:p>
        </p:txBody>
      </p:sp>
      <p:sp>
        <p:nvSpPr>
          <p:cNvPr id="15" name="Text 13"/>
          <p:cNvSpPr/>
          <p:nvPr/>
        </p:nvSpPr>
        <p:spPr>
          <a:xfrm>
            <a:off x="2103120" y="2221992"/>
            <a:ext cx="2834640" cy="402336"/>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Payment terms for the goods or services can be identified</a:t>
            </a:r>
            <a:endParaRPr lang="en-US" sz="1000" dirty="0"/>
          </a:p>
        </p:txBody>
      </p:sp>
      <p:sp>
        <p:nvSpPr>
          <p:cNvPr id="16" name="Shape 14"/>
          <p:cNvSpPr/>
          <p:nvPr/>
        </p:nvSpPr>
        <p:spPr>
          <a:xfrm>
            <a:off x="548640" y="2734056"/>
            <a:ext cx="4572000" cy="438912"/>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548640" y="2734056"/>
            <a:ext cx="54864" cy="438912"/>
          </a:xfrm>
          <a:prstGeom prst="rect">
            <a:avLst/>
          </a:prstGeom>
          <a:solidFill>
            <a:srgbClr val="2A7A4B"/>
          </a:solidFill>
          <a:ln/>
        </p:spPr>
      </p:sp>
      <p:sp>
        <p:nvSpPr>
          <p:cNvPr id="18" name="Text 16"/>
          <p:cNvSpPr/>
          <p:nvPr/>
        </p:nvSpPr>
        <p:spPr>
          <a:xfrm>
            <a:off x="777240" y="2752344"/>
            <a:ext cx="1280160" cy="402336"/>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Commercial Substance</a:t>
            </a:r>
            <a:endParaRPr lang="en-US" sz="1100" dirty="0"/>
          </a:p>
        </p:txBody>
      </p:sp>
      <p:sp>
        <p:nvSpPr>
          <p:cNvPr id="19" name="Text 17"/>
          <p:cNvSpPr/>
          <p:nvPr/>
        </p:nvSpPr>
        <p:spPr>
          <a:xfrm>
            <a:off x="2103120" y="2752344"/>
            <a:ext cx="2834640" cy="402336"/>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The contract has commercial substance — the entity’s future cash flows will change</a:t>
            </a:r>
            <a:endParaRPr lang="en-US" sz="1000" dirty="0"/>
          </a:p>
        </p:txBody>
      </p:sp>
      <p:sp>
        <p:nvSpPr>
          <p:cNvPr id="20" name="Shape 18"/>
          <p:cNvSpPr/>
          <p:nvPr/>
        </p:nvSpPr>
        <p:spPr>
          <a:xfrm>
            <a:off x="548640" y="3264408"/>
            <a:ext cx="4572000" cy="438912"/>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1" name="Shape 19"/>
          <p:cNvSpPr/>
          <p:nvPr/>
        </p:nvSpPr>
        <p:spPr>
          <a:xfrm>
            <a:off x="548640" y="3264408"/>
            <a:ext cx="54864" cy="438912"/>
          </a:xfrm>
          <a:prstGeom prst="rect">
            <a:avLst/>
          </a:prstGeom>
          <a:solidFill>
            <a:srgbClr val="2A7A4B"/>
          </a:solidFill>
          <a:ln/>
        </p:spPr>
      </p:sp>
      <p:sp>
        <p:nvSpPr>
          <p:cNvPr id="22" name="Text 20"/>
          <p:cNvSpPr/>
          <p:nvPr/>
        </p:nvSpPr>
        <p:spPr>
          <a:xfrm>
            <a:off x="777240" y="3282696"/>
            <a:ext cx="1280160" cy="402336"/>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Collectibility</a:t>
            </a:r>
            <a:endParaRPr lang="en-US" sz="1100" dirty="0"/>
          </a:p>
        </p:txBody>
      </p:sp>
      <p:sp>
        <p:nvSpPr>
          <p:cNvPr id="23" name="Text 21"/>
          <p:cNvSpPr/>
          <p:nvPr/>
        </p:nvSpPr>
        <p:spPr>
          <a:xfrm>
            <a:off x="2103120" y="3282696"/>
            <a:ext cx="2834640" cy="402336"/>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It is probable the entity will collect the consideration it is entitled to</a:t>
            </a:r>
            <a:endParaRPr lang="en-US" sz="1000" dirty="0"/>
          </a:p>
        </p:txBody>
      </p:sp>
      <p:sp>
        <p:nvSpPr>
          <p:cNvPr id="24" name="Shape 22"/>
          <p:cNvSpPr/>
          <p:nvPr/>
        </p:nvSpPr>
        <p:spPr>
          <a:xfrm>
            <a:off x="5577840" y="1143000"/>
            <a:ext cx="3017520" cy="26517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5" name="Shape 23"/>
          <p:cNvSpPr/>
          <p:nvPr/>
        </p:nvSpPr>
        <p:spPr>
          <a:xfrm>
            <a:off x="5577840" y="1143000"/>
            <a:ext cx="54864" cy="2651760"/>
          </a:xfrm>
          <a:prstGeom prst="rect">
            <a:avLst/>
          </a:prstGeom>
          <a:solidFill>
            <a:srgbClr val="B83232"/>
          </a:solidFill>
          <a:ln/>
        </p:spPr>
      </p:sp>
      <p:sp>
        <p:nvSpPr>
          <p:cNvPr id="26" name="Text 24"/>
          <p:cNvSpPr/>
          <p:nvPr/>
        </p:nvSpPr>
        <p:spPr>
          <a:xfrm>
            <a:off x="5806440" y="1188720"/>
            <a:ext cx="2651760" cy="27432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Where Judgment Lives</a:t>
            </a:r>
            <a:endParaRPr lang="en-US" sz="1300" dirty="0"/>
          </a:p>
        </p:txBody>
      </p:sp>
      <p:sp>
        <p:nvSpPr>
          <p:cNvPr id="27" name="Text 25"/>
          <p:cNvSpPr/>
          <p:nvPr/>
        </p:nvSpPr>
        <p:spPr>
          <a:xfrm>
            <a:off x="5806440" y="1463040"/>
            <a:ext cx="2606040" cy="2194560"/>
          </a:xfrm>
          <a:prstGeom prst="rect">
            <a:avLst/>
          </a:prstGeom>
          <a:noFill/>
          <a:ln/>
        </p:spPr>
        <p:txBody>
          <a:bodyPr wrap="square" lIns="0" tIns="0" rIns="0" bIns="0" rtlCol="0" anchor="t"/>
          <a:lstStyle/>
          <a:p>
            <a:pPr indent="0" marL="0">
              <a:buNone/>
            </a:pPr>
            <a:r>
              <a:rPr lang="en-US" sz="1000" b="1" dirty="0">
                <a:solidFill>
                  <a:srgbClr val="1E2761"/>
                </a:solidFill>
              </a:rPr>
              <a:t>Contract combinations: </a:t>
            </a:r>
            <a:pPr indent="0" marL="0">
              <a:buNone/>
            </a:pPr>
            <a:r>
              <a:rPr lang="en-US" sz="1000" dirty="0">
                <a:solidFill>
                  <a:srgbClr val="4A4A6A"/>
                </a:solidFill>
              </a:rPr>
              <a:t>Contracts negotiated as a package, or where consideration in one depends on the other, may need to be combined into one.
</a:t>
            </a:r>
            <a:pPr indent="0" marL="0">
              <a:buNone/>
            </a:pPr>
            <a:r>
              <a:rPr lang="en-US" sz="1000" b="1" dirty="0">
                <a:solidFill>
                  <a:srgbClr val="1E2761"/>
                </a:solidFill>
              </a:rPr>
              <a:t>Contract modifications: </a:t>
            </a:r>
            <a:pPr indent="0" marL="0">
              <a:buNone/>
            </a:pPr>
            <a:r>
              <a:rPr lang="en-US" sz="1000" dirty="0">
                <a:solidFill>
                  <a:srgbClr val="4A4A6A"/>
                </a:solidFill>
              </a:rPr>
              <a:t>Change orders can be a new contract (if distinct goods at standalone price) or a modification of the existing one (cumulative catch-up).
</a:t>
            </a:r>
            <a:pPr indent="0" marL="0">
              <a:buNone/>
            </a:pPr>
            <a:r>
              <a:rPr lang="en-US" sz="1000" b="1" dirty="0">
                <a:solidFill>
                  <a:srgbClr val="1E2761"/>
                </a:solidFill>
              </a:rPr>
              <a:t>Oral &amp; implied contracts: </a:t>
            </a:r>
            <a:pPr indent="0" marL="0">
              <a:buNone/>
            </a:pPr>
            <a:r>
              <a:rPr lang="en-US" sz="1000" dirty="0">
                <a:solidFill>
                  <a:srgbClr val="4A4A6A"/>
                </a:solidFill>
              </a:rPr>
              <a:t>Written agreements aren’t required. Customary business practices and published policies can create enforceable rights.</a:t>
            </a:r>
            <a:endParaRPr lang="en-US" sz="1000" dirty="0"/>
          </a:p>
        </p:txBody>
      </p:sp>
      <p:sp>
        <p:nvSpPr>
          <p:cNvPr id="28" name="Shape 26"/>
          <p:cNvSpPr/>
          <p:nvPr/>
        </p:nvSpPr>
        <p:spPr>
          <a:xfrm>
            <a:off x="548640" y="4160520"/>
            <a:ext cx="8046720" cy="868680"/>
          </a:xfrm>
          <a:prstGeom prst="rect">
            <a:avLst/>
          </a:prstGeom>
          <a:solidFill>
            <a:srgbClr val="1E2761"/>
          </a:solidFill>
          <a:ln/>
        </p:spPr>
      </p:sp>
      <p:sp>
        <p:nvSpPr>
          <p:cNvPr id="29" name="Text 27"/>
          <p:cNvSpPr/>
          <p:nvPr/>
        </p:nvSpPr>
        <p:spPr>
          <a:xfrm>
            <a:off x="777240" y="4206240"/>
            <a:ext cx="758952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Remember Session 2?</a:t>
            </a:r>
            <a:endParaRPr lang="en-US" sz="1400" dirty="0"/>
          </a:p>
        </p:txBody>
      </p:sp>
      <p:sp>
        <p:nvSpPr>
          <p:cNvPr id="30" name="Text 28"/>
          <p:cNvSpPr/>
          <p:nvPr/>
        </p:nvSpPr>
        <p:spPr>
          <a:xfrm>
            <a:off x="777240" y="4498848"/>
            <a:ext cx="7589520" cy="45720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Accounting Identity LLC’s contract with New Haven (items o–t): announcing intent to bid → submitting a bid → making the final round → contract accepted → services performed → payment received. At which step did a “contract” exist under ASC 606?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Step 1 in Your Readings</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Each company confronts the “what is a contract?” question differently</a:t>
            </a:r>
            <a:endParaRPr lang="en-US" sz="1200" dirty="0"/>
          </a:p>
        </p:txBody>
      </p:sp>
      <p:sp>
        <p:nvSpPr>
          <p:cNvPr id="4" name="Shape 2"/>
          <p:cNvSpPr/>
          <p:nvPr/>
        </p:nvSpPr>
        <p:spPr>
          <a:xfrm>
            <a:off x="548640" y="1143000"/>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143000"/>
            <a:ext cx="54864" cy="777240"/>
          </a:xfrm>
          <a:prstGeom prst="rect">
            <a:avLst/>
          </a:prstGeom>
          <a:solidFill>
            <a:srgbClr val="B83232"/>
          </a:solidFill>
          <a:ln/>
        </p:spPr>
      </p:sp>
      <p:sp>
        <p:nvSpPr>
          <p:cNvPr id="6" name="Text 4"/>
          <p:cNvSpPr/>
          <p:nvPr/>
        </p:nvSpPr>
        <p:spPr>
          <a:xfrm>
            <a:off x="777240" y="1188720"/>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Boeing</a:t>
            </a:r>
            <a:endParaRPr lang="en-US" sz="1300" dirty="0"/>
          </a:p>
        </p:txBody>
      </p:sp>
      <p:sp>
        <p:nvSpPr>
          <p:cNvPr id="7" name="Text 5"/>
          <p:cNvSpPr/>
          <p:nvPr/>
        </p:nvSpPr>
        <p:spPr>
          <a:xfrm>
            <a:off x="1874520" y="1188720"/>
            <a:ext cx="27432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Contract Modifications</a:t>
            </a:r>
            <a:endParaRPr lang="en-US" sz="1100" dirty="0"/>
          </a:p>
        </p:txBody>
      </p:sp>
      <p:sp>
        <p:nvSpPr>
          <p:cNvPr id="8" name="Shape 6"/>
          <p:cNvSpPr/>
          <p:nvPr/>
        </p:nvSpPr>
        <p:spPr>
          <a:xfrm>
            <a:off x="6949440" y="1197864"/>
            <a:ext cx="1463040" cy="219456"/>
          </a:xfrm>
          <a:prstGeom prst="rect">
            <a:avLst/>
          </a:prstGeom>
          <a:solidFill>
            <a:srgbClr val="EDF2F7"/>
          </a:solidFill>
          <a:ln/>
        </p:spPr>
      </p:sp>
      <p:sp>
        <p:nvSpPr>
          <p:cNvPr id="9" name="Text 7"/>
          <p:cNvSpPr/>
          <p:nvPr/>
        </p:nvSpPr>
        <p:spPr>
          <a:xfrm>
            <a:off x="6949440" y="1197864"/>
            <a:ext cx="146304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Modification</a:t>
            </a:r>
            <a:endParaRPr lang="en-US" sz="850" dirty="0"/>
          </a:p>
        </p:txBody>
      </p:sp>
      <p:sp>
        <p:nvSpPr>
          <p:cNvPr id="10" name="Text 8"/>
          <p:cNvSpPr/>
          <p:nvPr/>
        </p:nvSpPr>
        <p:spPr>
          <a:xfrm>
            <a:off x="777240" y="1463040"/>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Defense programs routinely involve change orders that alter scope, price, or both. Boeing must determine whether each modification creates a new contract or adjusts the existing one — different answers produce different revenue timing. The 787 program alone has had hundreds of modifications.</a:t>
            </a:r>
            <a:endParaRPr lang="en-US" sz="1050" dirty="0"/>
          </a:p>
        </p:txBody>
      </p:sp>
      <p:sp>
        <p:nvSpPr>
          <p:cNvPr id="11" name="Shape 9"/>
          <p:cNvSpPr/>
          <p:nvPr/>
        </p:nvSpPr>
        <p:spPr>
          <a:xfrm>
            <a:off x="548640" y="2075688"/>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2" name="Shape 10"/>
          <p:cNvSpPr/>
          <p:nvPr/>
        </p:nvSpPr>
        <p:spPr>
          <a:xfrm>
            <a:off x="548640" y="2075688"/>
            <a:ext cx="54864" cy="777240"/>
          </a:xfrm>
          <a:prstGeom prst="rect">
            <a:avLst/>
          </a:prstGeom>
          <a:solidFill>
            <a:srgbClr val="C68A00"/>
          </a:solidFill>
          <a:ln/>
        </p:spPr>
      </p:sp>
      <p:sp>
        <p:nvSpPr>
          <p:cNvPr id="13" name="Text 11"/>
          <p:cNvSpPr/>
          <p:nvPr/>
        </p:nvSpPr>
        <p:spPr>
          <a:xfrm>
            <a:off x="777240" y="2121408"/>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Tesla</a:t>
            </a:r>
            <a:endParaRPr lang="en-US" sz="1300" dirty="0"/>
          </a:p>
        </p:txBody>
      </p:sp>
      <p:sp>
        <p:nvSpPr>
          <p:cNvPr id="14" name="Text 12"/>
          <p:cNvSpPr/>
          <p:nvPr/>
        </p:nvSpPr>
        <p:spPr>
          <a:xfrm>
            <a:off x="1874520" y="2121408"/>
            <a:ext cx="27432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Implied Contracts</a:t>
            </a:r>
            <a:endParaRPr lang="en-US" sz="1100" dirty="0"/>
          </a:p>
        </p:txBody>
      </p:sp>
      <p:sp>
        <p:nvSpPr>
          <p:cNvPr id="15" name="Shape 13"/>
          <p:cNvSpPr/>
          <p:nvPr/>
        </p:nvSpPr>
        <p:spPr>
          <a:xfrm>
            <a:off x="6949440" y="2130552"/>
            <a:ext cx="1463040" cy="219456"/>
          </a:xfrm>
          <a:prstGeom prst="rect">
            <a:avLst/>
          </a:prstGeom>
          <a:solidFill>
            <a:srgbClr val="EDF2F7"/>
          </a:solidFill>
          <a:ln/>
        </p:spPr>
      </p:sp>
      <p:sp>
        <p:nvSpPr>
          <p:cNvPr id="16" name="Text 14"/>
          <p:cNvSpPr/>
          <p:nvPr/>
        </p:nvSpPr>
        <p:spPr>
          <a:xfrm>
            <a:off x="6949440" y="2130552"/>
            <a:ext cx="146304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Implied terms</a:t>
            </a:r>
            <a:endParaRPr lang="en-US" sz="850" dirty="0"/>
          </a:p>
        </p:txBody>
      </p:sp>
      <p:sp>
        <p:nvSpPr>
          <p:cNvPr id="17" name="Text 15"/>
          <p:cNvSpPr/>
          <p:nvPr/>
        </p:nvSpPr>
        <p:spPr>
          <a:xfrm>
            <a:off x="777240" y="2395728"/>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When Tesla sells a vehicle with “over-the-air update” promises, some future features aren’t in the written purchase agreement. Are Tesla’s public statements about future capabilities part of the “contract”? ASC 606 says customary business practices can create enforceable rights.</a:t>
            </a:r>
            <a:endParaRPr lang="en-US" sz="1050" dirty="0"/>
          </a:p>
        </p:txBody>
      </p:sp>
      <p:sp>
        <p:nvSpPr>
          <p:cNvPr id="18" name="Shape 16"/>
          <p:cNvSpPr/>
          <p:nvPr/>
        </p:nvSpPr>
        <p:spPr>
          <a:xfrm>
            <a:off x="548640" y="3008376"/>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548640" y="3008376"/>
            <a:ext cx="54864" cy="777240"/>
          </a:xfrm>
          <a:prstGeom prst="rect">
            <a:avLst/>
          </a:prstGeom>
          <a:solidFill>
            <a:srgbClr val="3A6EA5"/>
          </a:solidFill>
          <a:ln/>
        </p:spPr>
      </p:sp>
      <p:sp>
        <p:nvSpPr>
          <p:cNvPr id="20" name="Text 18"/>
          <p:cNvSpPr/>
          <p:nvPr/>
        </p:nvSpPr>
        <p:spPr>
          <a:xfrm>
            <a:off x="777240" y="3054096"/>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Dell</a:t>
            </a:r>
            <a:endParaRPr lang="en-US" sz="1300" dirty="0"/>
          </a:p>
        </p:txBody>
      </p:sp>
      <p:sp>
        <p:nvSpPr>
          <p:cNvPr id="21" name="Text 19"/>
          <p:cNvSpPr/>
          <p:nvPr/>
        </p:nvSpPr>
        <p:spPr>
          <a:xfrm>
            <a:off x="1874520" y="3054096"/>
            <a:ext cx="27432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Contract Combinations</a:t>
            </a:r>
            <a:endParaRPr lang="en-US" sz="1100" dirty="0"/>
          </a:p>
        </p:txBody>
      </p:sp>
      <p:sp>
        <p:nvSpPr>
          <p:cNvPr id="22" name="Shape 20"/>
          <p:cNvSpPr/>
          <p:nvPr/>
        </p:nvSpPr>
        <p:spPr>
          <a:xfrm>
            <a:off x="6949440" y="3063240"/>
            <a:ext cx="1463040" cy="219456"/>
          </a:xfrm>
          <a:prstGeom prst="rect">
            <a:avLst/>
          </a:prstGeom>
          <a:solidFill>
            <a:srgbClr val="EDF2F7"/>
          </a:solidFill>
          <a:ln/>
        </p:spPr>
      </p:sp>
      <p:sp>
        <p:nvSpPr>
          <p:cNvPr id="23" name="Text 21"/>
          <p:cNvSpPr/>
          <p:nvPr/>
        </p:nvSpPr>
        <p:spPr>
          <a:xfrm>
            <a:off x="6949440" y="3063240"/>
            <a:ext cx="146304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Combination</a:t>
            </a:r>
            <a:endParaRPr lang="en-US" sz="850" dirty="0"/>
          </a:p>
        </p:txBody>
      </p:sp>
      <p:sp>
        <p:nvSpPr>
          <p:cNvPr id="24" name="Text 22"/>
          <p:cNvSpPr/>
          <p:nvPr/>
        </p:nvSpPr>
        <p:spPr>
          <a:xfrm>
            <a:off x="777240" y="3328416"/>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A single customer may sign separate agreements for hardware, software licenses, and multi-year support. If negotiated as a package with interdependent pricing, ASC 606 may require combining them into a single contract for revenue recognition purposes.</a:t>
            </a:r>
            <a:endParaRPr lang="en-US" sz="1050" dirty="0"/>
          </a:p>
        </p:txBody>
      </p:sp>
      <p:sp>
        <p:nvSpPr>
          <p:cNvPr id="25" name="Shape 23"/>
          <p:cNvSpPr/>
          <p:nvPr/>
        </p:nvSpPr>
        <p:spPr>
          <a:xfrm>
            <a:off x="548640" y="3941064"/>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548640" y="3941064"/>
            <a:ext cx="54864" cy="777240"/>
          </a:xfrm>
          <a:prstGeom prst="rect">
            <a:avLst/>
          </a:prstGeom>
          <a:solidFill>
            <a:srgbClr val="2A7A4B"/>
          </a:solidFill>
          <a:ln/>
        </p:spPr>
      </p:sp>
      <p:sp>
        <p:nvSpPr>
          <p:cNvPr id="27" name="Text 25"/>
          <p:cNvSpPr/>
          <p:nvPr/>
        </p:nvSpPr>
        <p:spPr>
          <a:xfrm>
            <a:off x="777240" y="3986784"/>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Moderna</a:t>
            </a:r>
            <a:endParaRPr lang="en-US" sz="1300" dirty="0"/>
          </a:p>
        </p:txBody>
      </p:sp>
      <p:sp>
        <p:nvSpPr>
          <p:cNvPr id="28" name="Text 26"/>
          <p:cNvSpPr/>
          <p:nvPr/>
        </p:nvSpPr>
        <p:spPr>
          <a:xfrm>
            <a:off x="1874520" y="3986784"/>
            <a:ext cx="27432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Government Contracts</a:t>
            </a:r>
            <a:endParaRPr lang="en-US" sz="1100" dirty="0"/>
          </a:p>
        </p:txBody>
      </p:sp>
      <p:sp>
        <p:nvSpPr>
          <p:cNvPr id="29" name="Shape 27"/>
          <p:cNvSpPr/>
          <p:nvPr/>
        </p:nvSpPr>
        <p:spPr>
          <a:xfrm>
            <a:off x="6949440" y="3995928"/>
            <a:ext cx="1463040" cy="219456"/>
          </a:xfrm>
          <a:prstGeom prst="rect">
            <a:avLst/>
          </a:prstGeom>
          <a:solidFill>
            <a:srgbClr val="EDF2F7"/>
          </a:solidFill>
          <a:ln/>
        </p:spPr>
      </p:sp>
      <p:sp>
        <p:nvSpPr>
          <p:cNvPr id="30" name="Text 28"/>
          <p:cNvSpPr/>
          <p:nvPr/>
        </p:nvSpPr>
        <p:spPr>
          <a:xfrm>
            <a:off x="6949440" y="3995928"/>
            <a:ext cx="146304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Options</a:t>
            </a:r>
            <a:endParaRPr lang="en-US" sz="850" dirty="0"/>
          </a:p>
        </p:txBody>
      </p:sp>
      <p:sp>
        <p:nvSpPr>
          <p:cNvPr id="31" name="Text 29"/>
          <p:cNvSpPr/>
          <p:nvPr/>
        </p:nvSpPr>
        <p:spPr>
          <a:xfrm>
            <a:off x="777240" y="4261104"/>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Government purchase agreements with option clauses for additional doses, milestone triggers, and termination rights. Each element must be evaluated: is the option a separate contract, a modification, or part of the original? The answer changes how much revenue is recognized and when.</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Step 2 Deep Dive: Performance Obligations</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How many promises are in a single contract? Each distinct promise is a separate “bucket” for revenue.</a:t>
            </a:r>
            <a:endParaRPr lang="en-US" sz="1200" dirty="0"/>
          </a:p>
        </p:txBody>
      </p:sp>
      <p:sp>
        <p:nvSpPr>
          <p:cNvPr id="4" name="Text 2"/>
          <p:cNvSpPr/>
          <p:nvPr/>
        </p:nvSpPr>
        <p:spPr>
          <a:xfrm>
            <a:off x="548640" y="1097280"/>
            <a:ext cx="8229600" cy="32004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The Two-Part Test for “Distinct”</a:t>
            </a:r>
            <a:endParaRPr lang="en-US" sz="1400" dirty="0"/>
          </a:p>
        </p:txBody>
      </p:sp>
      <p:sp>
        <p:nvSpPr>
          <p:cNvPr id="5" name="Shape 3"/>
          <p:cNvSpPr/>
          <p:nvPr/>
        </p:nvSpPr>
        <p:spPr>
          <a:xfrm>
            <a:off x="548640" y="1463040"/>
            <a:ext cx="379476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548640" y="1463040"/>
            <a:ext cx="54864" cy="1188720"/>
          </a:xfrm>
          <a:prstGeom prst="rect">
            <a:avLst/>
          </a:prstGeom>
          <a:solidFill>
            <a:srgbClr val="3A6EA5"/>
          </a:solidFill>
          <a:ln/>
        </p:spPr>
      </p:sp>
      <p:sp>
        <p:nvSpPr>
          <p:cNvPr id="7" name="Shape 5"/>
          <p:cNvSpPr/>
          <p:nvPr/>
        </p:nvSpPr>
        <p:spPr>
          <a:xfrm>
            <a:off x="777240" y="1536192"/>
            <a:ext cx="365760" cy="365760"/>
          </a:xfrm>
          <a:prstGeom prst="ellipse">
            <a:avLst/>
          </a:prstGeom>
          <a:solidFill>
            <a:srgbClr val="3A6EA5"/>
          </a:solidFill>
          <a:ln/>
        </p:spPr>
      </p:sp>
      <p:sp>
        <p:nvSpPr>
          <p:cNvPr id="8" name="Text 6"/>
          <p:cNvSpPr/>
          <p:nvPr/>
        </p:nvSpPr>
        <p:spPr>
          <a:xfrm>
            <a:off x="777240" y="153619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9" name="Text 7"/>
          <p:cNvSpPr/>
          <p:nvPr/>
        </p:nvSpPr>
        <p:spPr>
          <a:xfrm>
            <a:off x="1280160" y="1517904"/>
            <a:ext cx="292608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Capable of Being Distinct</a:t>
            </a:r>
            <a:endParaRPr lang="en-US" sz="1200" dirty="0"/>
          </a:p>
        </p:txBody>
      </p:sp>
      <p:sp>
        <p:nvSpPr>
          <p:cNvPr id="10" name="Text 8"/>
          <p:cNvSpPr/>
          <p:nvPr/>
        </p:nvSpPr>
        <p:spPr>
          <a:xfrm>
            <a:off x="777240" y="1874520"/>
            <a:ext cx="3383280" cy="68580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Can the customer benefit from the good or service on its own, or together with other resources that are readily available? If yes, it’s capable of being distinct.</a:t>
            </a:r>
            <a:endParaRPr lang="en-US" sz="1050" dirty="0"/>
          </a:p>
        </p:txBody>
      </p:sp>
      <p:sp>
        <p:nvSpPr>
          <p:cNvPr id="11" name="Shape 9"/>
          <p:cNvSpPr/>
          <p:nvPr/>
        </p:nvSpPr>
        <p:spPr>
          <a:xfrm>
            <a:off x="4800600" y="1463040"/>
            <a:ext cx="379476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2" name="Shape 10"/>
          <p:cNvSpPr/>
          <p:nvPr/>
        </p:nvSpPr>
        <p:spPr>
          <a:xfrm>
            <a:off x="4800600" y="1463040"/>
            <a:ext cx="54864" cy="1188720"/>
          </a:xfrm>
          <a:prstGeom prst="rect">
            <a:avLst/>
          </a:prstGeom>
          <a:solidFill>
            <a:srgbClr val="3A6EA5"/>
          </a:solidFill>
          <a:ln/>
        </p:spPr>
      </p:sp>
      <p:sp>
        <p:nvSpPr>
          <p:cNvPr id="13" name="Shape 11"/>
          <p:cNvSpPr/>
          <p:nvPr/>
        </p:nvSpPr>
        <p:spPr>
          <a:xfrm>
            <a:off x="5029200" y="1536192"/>
            <a:ext cx="365760" cy="365760"/>
          </a:xfrm>
          <a:prstGeom prst="ellipse">
            <a:avLst/>
          </a:prstGeom>
          <a:solidFill>
            <a:srgbClr val="3A6EA5"/>
          </a:solidFill>
          <a:ln/>
        </p:spPr>
      </p:sp>
      <p:sp>
        <p:nvSpPr>
          <p:cNvPr id="14" name="Text 12"/>
          <p:cNvSpPr/>
          <p:nvPr/>
        </p:nvSpPr>
        <p:spPr>
          <a:xfrm>
            <a:off x="5029200" y="153619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5" name="Text 13"/>
          <p:cNvSpPr/>
          <p:nvPr/>
        </p:nvSpPr>
        <p:spPr>
          <a:xfrm>
            <a:off x="5532120" y="1517904"/>
            <a:ext cx="292608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Separately Identifiable</a:t>
            </a:r>
            <a:endParaRPr lang="en-US" sz="1200" dirty="0"/>
          </a:p>
        </p:txBody>
      </p:sp>
      <p:sp>
        <p:nvSpPr>
          <p:cNvPr id="16" name="Text 14"/>
          <p:cNvSpPr/>
          <p:nvPr/>
        </p:nvSpPr>
        <p:spPr>
          <a:xfrm>
            <a:off x="5029200" y="1874520"/>
            <a:ext cx="3383280" cy="68580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Is the promise to transfer the good or service separately identifiable from other promises in the contract? Or are the goods/services highly interdependent, so that the entity is really providing a combined output?</a:t>
            </a:r>
            <a:endParaRPr lang="en-US" sz="1050" dirty="0"/>
          </a:p>
        </p:txBody>
      </p:sp>
      <p:sp>
        <p:nvSpPr>
          <p:cNvPr id="17" name="Shape 15"/>
          <p:cNvSpPr/>
          <p:nvPr/>
        </p:nvSpPr>
        <p:spPr>
          <a:xfrm>
            <a:off x="548640" y="2834640"/>
            <a:ext cx="8046720" cy="6858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548640" y="2834640"/>
            <a:ext cx="54864" cy="685800"/>
          </a:xfrm>
          <a:prstGeom prst="rect">
            <a:avLst/>
          </a:prstGeom>
          <a:solidFill>
            <a:srgbClr val="B83232"/>
          </a:solidFill>
          <a:ln/>
        </p:spPr>
      </p:sp>
      <p:sp>
        <p:nvSpPr>
          <p:cNvPr id="19" name="Text 17"/>
          <p:cNvSpPr/>
          <p:nvPr/>
        </p:nvSpPr>
        <p:spPr>
          <a:xfrm>
            <a:off x="777240" y="2880360"/>
            <a:ext cx="182880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Why It Matters</a:t>
            </a:r>
            <a:endParaRPr lang="en-US" sz="1200" dirty="0"/>
          </a:p>
        </p:txBody>
      </p:sp>
      <p:sp>
        <p:nvSpPr>
          <p:cNvPr id="20" name="Text 18"/>
          <p:cNvSpPr/>
          <p:nvPr/>
        </p:nvSpPr>
        <p:spPr>
          <a:xfrm>
            <a:off x="777240" y="3127248"/>
            <a:ext cx="7589520" cy="36576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More performance obligations = more “buckets” to allocate revenue to, each with its own recognition timing. Fewer obligations = more revenue recognized together, usually at a single point. The number of obligations you identify determines the shape of the income statement.</a:t>
            </a:r>
            <a:endParaRPr lang="en-US" sz="1050" dirty="0"/>
          </a:p>
        </p:txBody>
      </p:sp>
      <p:sp>
        <p:nvSpPr>
          <p:cNvPr id="21" name="Text 19"/>
          <p:cNvSpPr/>
          <p:nvPr/>
        </p:nvSpPr>
        <p:spPr>
          <a:xfrm>
            <a:off x="548640" y="3749040"/>
            <a:ext cx="822960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The Spectrum</a:t>
            </a:r>
            <a:endParaRPr lang="en-US" sz="1400" dirty="0"/>
          </a:p>
        </p:txBody>
      </p:sp>
      <p:sp>
        <p:nvSpPr>
          <p:cNvPr id="22" name="Shape 20"/>
          <p:cNvSpPr/>
          <p:nvPr/>
        </p:nvSpPr>
        <p:spPr>
          <a:xfrm>
            <a:off x="548640" y="4069080"/>
            <a:ext cx="3200400" cy="502920"/>
          </a:xfrm>
          <a:prstGeom prst="rect">
            <a:avLst/>
          </a:prstGeom>
          <a:solidFill>
            <a:srgbClr val="1E2761"/>
          </a:solidFill>
          <a:ln/>
        </p:spPr>
      </p:sp>
      <p:sp>
        <p:nvSpPr>
          <p:cNvPr id="23" name="Text 21"/>
          <p:cNvSpPr/>
          <p:nvPr/>
        </p:nvSpPr>
        <p:spPr>
          <a:xfrm>
            <a:off x="640080" y="4087368"/>
            <a:ext cx="3017520" cy="457200"/>
          </a:xfrm>
          <a:prstGeom prst="rect">
            <a:avLst/>
          </a:prstGeom>
          <a:noFill/>
          <a:ln/>
        </p:spPr>
        <p:txBody>
          <a:bodyPr wrap="square" lIns="0" tIns="0" rIns="0" bIns="0" rtlCol="0" anchor="ctr"/>
          <a:lstStyle/>
          <a:p>
            <a:pPr indent="0" marL="0">
              <a:buNone/>
            </a:pPr>
            <a:r>
              <a:rPr lang="en-US" sz="1100" b="1" dirty="0">
                <a:solidFill>
                  <a:srgbClr val="FFFFFF"/>
                </a:solidFill>
              </a:rPr>
              <a:t>Single Obligation
</a:t>
            </a:r>
            <a:pPr indent="0" marL="0">
              <a:buNone/>
            </a:pPr>
            <a:r>
              <a:rPr lang="en-US" sz="900" dirty="0">
                <a:solidFill>
                  <a:srgbClr val="CADCFC"/>
                </a:solidFill>
              </a:rPr>
              <a:t>Custom construction, integrated consulting</a:t>
            </a:r>
            <a:endParaRPr lang="en-US" sz="1100" dirty="0"/>
          </a:p>
        </p:txBody>
      </p:sp>
      <p:sp>
        <p:nvSpPr>
          <p:cNvPr id="24" name="Shape 22"/>
          <p:cNvSpPr/>
          <p:nvPr/>
        </p:nvSpPr>
        <p:spPr>
          <a:xfrm>
            <a:off x="3840480" y="4315968"/>
            <a:ext cx="1463040" cy="0"/>
          </a:xfrm>
          <a:prstGeom prst="line">
            <a:avLst/>
          </a:prstGeom>
          <a:noFill/>
          <a:ln w="25400">
            <a:solidFill>
              <a:srgbClr val="3A6EA5"/>
            </a:solidFill>
            <a:prstDash val="solid"/>
          </a:ln>
        </p:spPr>
      </p:sp>
      <p:sp>
        <p:nvSpPr>
          <p:cNvPr id="25" name="Text 23"/>
          <p:cNvSpPr/>
          <p:nvPr/>
        </p:nvSpPr>
        <p:spPr>
          <a:xfrm>
            <a:off x="5029200" y="4160520"/>
            <a:ext cx="274320" cy="320040"/>
          </a:xfrm>
          <a:prstGeom prst="rect">
            <a:avLst/>
          </a:prstGeom>
          <a:noFill/>
          <a:ln/>
        </p:spPr>
        <p:txBody>
          <a:bodyPr wrap="square" lIns="0" tIns="0" rIns="0" bIns="0" rtlCol="0" anchor="ctr"/>
          <a:lstStyle/>
          <a:p>
            <a:pPr algn="ctr" indent="0" marL="0">
              <a:buNone/>
            </a:pPr>
            <a:r>
              <a:rPr lang="en-US" sz="1400" dirty="0">
                <a:solidFill>
                  <a:srgbClr val="3A6EA5"/>
                </a:solidFill>
              </a:rPr>
              <a:t>▶</a:t>
            </a:r>
            <a:endParaRPr lang="en-US" sz="1400" dirty="0"/>
          </a:p>
        </p:txBody>
      </p:sp>
      <p:sp>
        <p:nvSpPr>
          <p:cNvPr id="26" name="Shape 24"/>
          <p:cNvSpPr/>
          <p:nvPr/>
        </p:nvSpPr>
        <p:spPr>
          <a:xfrm>
            <a:off x="5394960" y="4069080"/>
            <a:ext cx="3200400" cy="502920"/>
          </a:xfrm>
          <a:prstGeom prst="rect">
            <a:avLst/>
          </a:prstGeom>
          <a:solidFill>
            <a:srgbClr val="2A7A4B"/>
          </a:solidFill>
          <a:ln/>
        </p:spPr>
      </p:sp>
      <p:sp>
        <p:nvSpPr>
          <p:cNvPr id="27" name="Text 25"/>
          <p:cNvSpPr/>
          <p:nvPr/>
        </p:nvSpPr>
        <p:spPr>
          <a:xfrm>
            <a:off x="5486400" y="4087368"/>
            <a:ext cx="3017520" cy="457200"/>
          </a:xfrm>
          <a:prstGeom prst="rect">
            <a:avLst/>
          </a:prstGeom>
          <a:noFill/>
          <a:ln/>
        </p:spPr>
        <p:txBody>
          <a:bodyPr wrap="square" lIns="0" tIns="0" rIns="0" bIns="0" rtlCol="0" anchor="ctr"/>
          <a:lstStyle/>
          <a:p>
            <a:pPr indent="0" marL="0">
              <a:buNone/>
            </a:pPr>
            <a:r>
              <a:rPr lang="en-US" sz="1100" b="1" dirty="0">
                <a:solidFill>
                  <a:srgbClr val="FFFFFF"/>
                </a:solidFill>
              </a:rPr>
              <a:t>Many Obligations
</a:t>
            </a:r>
            <a:pPr indent="0" marL="0">
              <a:buNone/>
            </a:pPr>
            <a:r>
              <a:rPr lang="en-US" sz="900" dirty="0">
                <a:solidFill>
                  <a:srgbClr val="D4EDDA"/>
                </a:solidFill>
              </a:rPr>
              <a:t>Tesla vehicle + FSD + connectivity + Supercharging</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Step 2 in Your Readings</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How many promises are in the contract — and does it change the financial picture?</a:t>
            </a:r>
            <a:endParaRPr lang="en-US" sz="1200" dirty="0"/>
          </a:p>
        </p:txBody>
      </p:sp>
      <p:sp>
        <p:nvSpPr>
          <p:cNvPr id="4" name="Shape 2"/>
          <p:cNvSpPr/>
          <p:nvPr/>
        </p:nvSpPr>
        <p:spPr>
          <a:xfrm>
            <a:off x="548640" y="1143000"/>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143000"/>
            <a:ext cx="54864" cy="777240"/>
          </a:xfrm>
          <a:prstGeom prst="rect">
            <a:avLst/>
          </a:prstGeom>
          <a:solidFill>
            <a:srgbClr val="3A6EA5"/>
          </a:solidFill>
          <a:ln/>
        </p:spPr>
      </p:sp>
      <p:sp>
        <p:nvSpPr>
          <p:cNvPr id="6" name="Text 4"/>
          <p:cNvSpPr/>
          <p:nvPr/>
        </p:nvSpPr>
        <p:spPr>
          <a:xfrm>
            <a:off x="777240" y="1188720"/>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Tesla</a:t>
            </a:r>
            <a:endParaRPr lang="en-US" sz="1300" dirty="0"/>
          </a:p>
        </p:txBody>
      </p:sp>
      <p:sp>
        <p:nvSpPr>
          <p:cNvPr id="7" name="Text 5"/>
          <p:cNvSpPr/>
          <p:nvPr/>
        </p:nvSpPr>
        <p:spPr>
          <a:xfrm>
            <a:off x="1874520" y="1188720"/>
            <a:ext cx="32004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5+ Performance Obligations</a:t>
            </a:r>
            <a:endParaRPr lang="en-US" sz="1100" dirty="0"/>
          </a:p>
        </p:txBody>
      </p:sp>
      <p:sp>
        <p:nvSpPr>
          <p:cNvPr id="8" name="Shape 6"/>
          <p:cNvSpPr/>
          <p:nvPr/>
        </p:nvSpPr>
        <p:spPr>
          <a:xfrm>
            <a:off x="6675120" y="1197864"/>
            <a:ext cx="1737360" cy="219456"/>
          </a:xfrm>
          <a:prstGeom prst="rect">
            <a:avLst/>
          </a:prstGeom>
          <a:solidFill>
            <a:srgbClr val="EDF2F7"/>
          </a:solidFill>
          <a:ln/>
        </p:spPr>
      </p:sp>
      <p:sp>
        <p:nvSpPr>
          <p:cNvPr id="9" name="Text 7"/>
          <p:cNvSpPr/>
          <p:nvPr/>
        </p:nvSpPr>
        <p:spPr>
          <a:xfrm>
            <a:off x="6675120" y="1197864"/>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Many → deferred</a:t>
            </a:r>
            <a:endParaRPr lang="en-US" sz="850" dirty="0"/>
          </a:p>
        </p:txBody>
      </p:sp>
      <p:sp>
        <p:nvSpPr>
          <p:cNvPr id="10" name="Text 8"/>
          <p:cNvSpPr/>
          <p:nvPr/>
        </p:nvSpPr>
        <p:spPr>
          <a:xfrm>
            <a:off x="777240" y="1463040"/>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Vehicle, FSD capability, connectivity, Supercharging, software updates. Each is distinct — the customer can benefit from the car without FSD, and FSD updates are separately identifiable. Result: $3.5B in deferred revenue from obligations not yet satisfied.</a:t>
            </a:r>
            <a:endParaRPr lang="en-US" sz="1050" dirty="0"/>
          </a:p>
        </p:txBody>
      </p:sp>
      <p:sp>
        <p:nvSpPr>
          <p:cNvPr id="11" name="Shape 9"/>
          <p:cNvSpPr/>
          <p:nvPr/>
        </p:nvSpPr>
        <p:spPr>
          <a:xfrm>
            <a:off x="548640" y="2075688"/>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2" name="Shape 10"/>
          <p:cNvSpPr/>
          <p:nvPr/>
        </p:nvSpPr>
        <p:spPr>
          <a:xfrm>
            <a:off x="548640" y="2075688"/>
            <a:ext cx="54864" cy="777240"/>
          </a:xfrm>
          <a:prstGeom prst="rect">
            <a:avLst/>
          </a:prstGeom>
          <a:solidFill>
            <a:srgbClr val="C68A00"/>
          </a:solidFill>
          <a:ln/>
        </p:spPr>
      </p:sp>
      <p:sp>
        <p:nvSpPr>
          <p:cNvPr id="13" name="Text 11"/>
          <p:cNvSpPr/>
          <p:nvPr/>
        </p:nvSpPr>
        <p:spPr>
          <a:xfrm>
            <a:off x="777240" y="2121408"/>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Dell</a:t>
            </a:r>
            <a:endParaRPr lang="en-US" sz="1300" dirty="0"/>
          </a:p>
        </p:txBody>
      </p:sp>
      <p:sp>
        <p:nvSpPr>
          <p:cNvPr id="14" name="Text 12"/>
          <p:cNvSpPr/>
          <p:nvPr/>
        </p:nvSpPr>
        <p:spPr>
          <a:xfrm>
            <a:off x="1874520" y="2121408"/>
            <a:ext cx="32004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Hardware + Software + Support</a:t>
            </a:r>
            <a:endParaRPr lang="en-US" sz="1100" dirty="0"/>
          </a:p>
        </p:txBody>
      </p:sp>
      <p:sp>
        <p:nvSpPr>
          <p:cNvPr id="15" name="Shape 13"/>
          <p:cNvSpPr/>
          <p:nvPr/>
        </p:nvSpPr>
        <p:spPr>
          <a:xfrm>
            <a:off x="6675120" y="2130552"/>
            <a:ext cx="1737360" cy="219456"/>
          </a:xfrm>
          <a:prstGeom prst="rect">
            <a:avLst/>
          </a:prstGeom>
          <a:solidFill>
            <a:srgbClr val="EDF2F7"/>
          </a:solidFill>
          <a:ln/>
        </p:spPr>
      </p:sp>
      <p:sp>
        <p:nvSpPr>
          <p:cNvPr id="16" name="Text 14"/>
          <p:cNvSpPr/>
          <p:nvPr/>
        </p:nvSpPr>
        <p:spPr>
          <a:xfrm>
            <a:off x="6675120" y="2130552"/>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Mixed timing</a:t>
            </a:r>
            <a:endParaRPr lang="en-US" sz="850" dirty="0"/>
          </a:p>
        </p:txBody>
      </p:sp>
      <p:sp>
        <p:nvSpPr>
          <p:cNvPr id="17" name="Text 15"/>
          <p:cNvSpPr/>
          <p:nvPr/>
        </p:nvSpPr>
        <p:spPr>
          <a:xfrm>
            <a:off x="777240" y="2395728"/>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A single order may include a server (point-in-time), a software license (point-in-time or over-time depending on type), and a 3-year ProSupport contract (over-time). Each is distinct. The number of obligations determines how much revenue Dell recognizes on Day 1 vs. over 3 years.</a:t>
            </a:r>
            <a:endParaRPr lang="en-US" sz="1050" dirty="0"/>
          </a:p>
        </p:txBody>
      </p:sp>
      <p:sp>
        <p:nvSpPr>
          <p:cNvPr id="18" name="Shape 16"/>
          <p:cNvSpPr/>
          <p:nvPr/>
        </p:nvSpPr>
        <p:spPr>
          <a:xfrm>
            <a:off x="548640" y="3008376"/>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548640" y="3008376"/>
            <a:ext cx="54864" cy="777240"/>
          </a:xfrm>
          <a:prstGeom prst="rect">
            <a:avLst/>
          </a:prstGeom>
          <a:solidFill>
            <a:srgbClr val="B83232"/>
          </a:solidFill>
          <a:ln/>
        </p:spPr>
      </p:sp>
      <p:sp>
        <p:nvSpPr>
          <p:cNvPr id="20" name="Text 18"/>
          <p:cNvSpPr/>
          <p:nvPr/>
        </p:nvSpPr>
        <p:spPr>
          <a:xfrm>
            <a:off x="777240" y="3054096"/>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Boeing</a:t>
            </a:r>
            <a:endParaRPr lang="en-US" sz="1300" dirty="0"/>
          </a:p>
        </p:txBody>
      </p:sp>
      <p:sp>
        <p:nvSpPr>
          <p:cNvPr id="21" name="Text 19"/>
          <p:cNvSpPr/>
          <p:nvPr/>
        </p:nvSpPr>
        <p:spPr>
          <a:xfrm>
            <a:off x="1874520" y="3054096"/>
            <a:ext cx="32004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One Integrated Obligation</a:t>
            </a:r>
            <a:endParaRPr lang="en-US" sz="1100" dirty="0"/>
          </a:p>
        </p:txBody>
      </p:sp>
      <p:sp>
        <p:nvSpPr>
          <p:cNvPr id="22" name="Shape 20"/>
          <p:cNvSpPr/>
          <p:nvPr/>
        </p:nvSpPr>
        <p:spPr>
          <a:xfrm>
            <a:off x="6675120" y="3063240"/>
            <a:ext cx="1737360" cy="219456"/>
          </a:xfrm>
          <a:prstGeom prst="rect">
            <a:avLst/>
          </a:prstGeom>
          <a:solidFill>
            <a:srgbClr val="EDF2F7"/>
          </a:solidFill>
          <a:ln/>
        </p:spPr>
      </p:sp>
      <p:sp>
        <p:nvSpPr>
          <p:cNvPr id="23" name="Text 21"/>
          <p:cNvSpPr/>
          <p:nvPr/>
        </p:nvSpPr>
        <p:spPr>
          <a:xfrm>
            <a:off x="6675120" y="3063240"/>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Single → over time</a:t>
            </a:r>
            <a:endParaRPr lang="en-US" sz="850" dirty="0"/>
          </a:p>
        </p:txBody>
      </p:sp>
      <p:sp>
        <p:nvSpPr>
          <p:cNvPr id="24" name="Text 22"/>
          <p:cNvSpPr/>
          <p:nvPr/>
        </p:nvSpPr>
        <p:spPr>
          <a:xfrm>
            <a:off x="777240" y="3328416"/>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A custom military aircraft program is typically a single performance obligation — the airframe, avionics, and integration are highly interdependent. The customer can’t benefit from the wing alone. Result: all revenue recognized over time on a single cost-to-cost measure.</a:t>
            </a:r>
            <a:endParaRPr lang="en-US" sz="1050" dirty="0"/>
          </a:p>
        </p:txBody>
      </p:sp>
      <p:sp>
        <p:nvSpPr>
          <p:cNvPr id="25" name="Shape 23"/>
          <p:cNvSpPr/>
          <p:nvPr/>
        </p:nvSpPr>
        <p:spPr>
          <a:xfrm>
            <a:off x="548640" y="3941064"/>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548640" y="3941064"/>
            <a:ext cx="54864" cy="777240"/>
          </a:xfrm>
          <a:prstGeom prst="rect">
            <a:avLst/>
          </a:prstGeom>
          <a:solidFill>
            <a:srgbClr val="2A7A4B"/>
          </a:solidFill>
          <a:ln/>
        </p:spPr>
      </p:sp>
      <p:sp>
        <p:nvSpPr>
          <p:cNvPr id="27" name="Text 25"/>
          <p:cNvSpPr/>
          <p:nvPr/>
        </p:nvSpPr>
        <p:spPr>
          <a:xfrm>
            <a:off x="777240" y="3986784"/>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Moderna</a:t>
            </a:r>
            <a:endParaRPr lang="en-US" sz="1300" dirty="0"/>
          </a:p>
        </p:txBody>
      </p:sp>
      <p:sp>
        <p:nvSpPr>
          <p:cNvPr id="28" name="Text 26"/>
          <p:cNvSpPr/>
          <p:nvPr/>
        </p:nvSpPr>
        <p:spPr>
          <a:xfrm>
            <a:off x="1874520" y="3986784"/>
            <a:ext cx="32004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Doses + Options + Storage</a:t>
            </a:r>
            <a:endParaRPr lang="en-US" sz="1100" dirty="0"/>
          </a:p>
        </p:txBody>
      </p:sp>
      <p:sp>
        <p:nvSpPr>
          <p:cNvPr id="29" name="Shape 27"/>
          <p:cNvSpPr/>
          <p:nvPr/>
        </p:nvSpPr>
        <p:spPr>
          <a:xfrm>
            <a:off x="6675120" y="3995928"/>
            <a:ext cx="1737360" cy="219456"/>
          </a:xfrm>
          <a:prstGeom prst="rect">
            <a:avLst/>
          </a:prstGeom>
          <a:solidFill>
            <a:srgbClr val="EDF2F7"/>
          </a:solidFill>
          <a:ln/>
        </p:spPr>
      </p:sp>
      <p:sp>
        <p:nvSpPr>
          <p:cNvPr id="30" name="Text 28"/>
          <p:cNvSpPr/>
          <p:nvPr/>
        </p:nvSpPr>
        <p:spPr>
          <a:xfrm>
            <a:off x="6675120" y="3995928"/>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Material rights</a:t>
            </a:r>
            <a:endParaRPr lang="en-US" sz="850" dirty="0"/>
          </a:p>
        </p:txBody>
      </p:sp>
      <p:sp>
        <p:nvSpPr>
          <p:cNvPr id="31" name="Text 29"/>
          <p:cNvSpPr/>
          <p:nvPr/>
        </p:nvSpPr>
        <p:spPr>
          <a:xfrm>
            <a:off x="777240" y="4261104"/>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A government vaccine contract may include committed doses (one obligation), options for additional doses at favorable prices (a material right = separate obligation if exercised), and bill-and-hold storage. Identifying each obligation drives when revenue is recognized.</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Step 3 Deep Dive: Variable Consideration</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Many transactions don’t have a fixed price. ASC 606 structures how companies estimate uncertain amounts.</a:t>
            </a:r>
            <a:endParaRPr lang="en-US" sz="1200" dirty="0"/>
          </a:p>
        </p:txBody>
      </p:sp>
      <p:sp>
        <p:nvSpPr>
          <p:cNvPr id="4" name="Shape 2"/>
          <p:cNvSpPr/>
          <p:nvPr/>
        </p:nvSpPr>
        <p:spPr>
          <a:xfrm>
            <a:off x="548640" y="1143000"/>
            <a:ext cx="379476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143000"/>
            <a:ext cx="54864" cy="1371600"/>
          </a:xfrm>
          <a:prstGeom prst="rect">
            <a:avLst/>
          </a:prstGeom>
          <a:solidFill>
            <a:srgbClr val="B83232"/>
          </a:solidFill>
          <a:ln/>
        </p:spPr>
      </p:sp>
      <p:sp>
        <p:nvSpPr>
          <p:cNvPr id="6" name="Text 4"/>
          <p:cNvSpPr/>
          <p:nvPr/>
        </p:nvSpPr>
        <p:spPr>
          <a:xfrm>
            <a:off x="777240" y="1188720"/>
            <a:ext cx="338328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The Problem</a:t>
            </a:r>
            <a:endParaRPr lang="en-US" sz="1400" dirty="0"/>
          </a:p>
        </p:txBody>
      </p:sp>
      <p:sp>
        <p:nvSpPr>
          <p:cNvPr id="7" name="Text 5"/>
          <p:cNvSpPr/>
          <p:nvPr/>
        </p:nvSpPr>
        <p:spPr>
          <a:xfrm>
            <a:off x="777240" y="1481328"/>
            <a:ext cx="3383280" cy="96012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Returns, rebates, volume discounts, performance bonuses, penalties, price concessions, milestone payments — all make the transaction price uncertain at contract inception. Under the old criteria, “measured with some accuracy” and “reasonably sure of collection” gave companies wide latitude to be optimistic.</a:t>
            </a:r>
            <a:endParaRPr lang="en-US" sz="1050" dirty="0"/>
          </a:p>
        </p:txBody>
      </p:sp>
      <p:sp>
        <p:nvSpPr>
          <p:cNvPr id="8" name="Shape 6"/>
          <p:cNvSpPr/>
          <p:nvPr/>
        </p:nvSpPr>
        <p:spPr>
          <a:xfrm>
            <a:off x="4800600" y="1143000"/>
            <a:ext cx="379476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4800600" y="1143000"/>
            <a:ext cx="54864" cy="1371600"/>
          </a:xfrm>
          <a:prstGeom prst="rect">
            <a:avLst/>
          </a:prstGeom>
          <a:solidFill>
            <a:srgbClr val="2A7A4B"/>
          </a:solidFill>
          <a:ln/>
        </p:spPr>
      </p:sp>
      <p:sp>
        <p:nvSpPr>
          <p:cNvPr id="10" name="Text 8"/>
          <p:cNvSpPr/>
          <p:nvPr/>
        </p:nvSpPr>
        <p:spPr>
          <a:xfrm>
            <a:off x="5029200" y="1188720"/>
            <a:ext cx="338328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The ASC 606 Approach</a:t>
            </a:r>
            <a:endParaRPr lang="en-US" sz="1400" dirty="0"/>
          </a:p>
        </p:txBody>
      </p:sp>
      <p:sp>
        <p:nvSpPr>
          <p:cNvPr id="11" name="Text 9"/>
          <p:cNvSpPr/>
          <p:nvPr/>
        </p:nvSpPr>
        <p:spPr>
          <a:xfrm>
            <a:off x="5029200" y="1481328"/>
            <a:ext cx="3383280" cy="96012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Estimate variable amounts using one of two methods, then apply a constraint that limits revenue to amounts unlikely to be reversed. The estimate is updated each reporting period.</a:t>
            </a:r>
            <a:endParaRPr lang="en-US" sz="1050" dirty="0"/>
          </a:p>
        </p:txBody>
      </p:sp>
      <p:sp>
        <p:nvSpPr>
          <p:cNvPr id="12" name="Text 10"/>
          <p:cNvSpPr/>
          <p:nvPr/>
        </p:nvSpPr>
        <p:spPr>
          <a:xfrm>
            <a:off x="548640" y="2743200"/>
            <a:ext cx="8229600" cy="32004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Two Estimation Methods</a:t>
            </a:r>
            <a:endParaRPr lang="en-US" sz="1400" dirty="0"/>
          </a:p>
        </p:txBody>
      </p:sp>
      <p:sp>
        <p:nvSpPr>
          <p:cNvPr id="13" name="Shape 11"/>
          <p:cNvSpPr/>
          <p:nvPr/>
        </p:nvSpPr>
        <p:spPr>
          <a:xfrm>
            <a:off x="548640" y="3108960"/>
            <a:ext cx="3794760" cy="8229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548640" y="3108960"/>
            <a:ext cx="54864" cy="822960"/>
          </a:xfrm>
          <a:prstGeom prst="rect">
            <a:avLst/>
          </a:prstGeom>
          <a:solidFill>
            <a:srgbClr val="3A6EA5"/>
          </a:solidFill>
          <a:ln/>
        </p:spPr>
      </p:sp>
      <p:sp>
        <p:nvSpPr>
          <p:cNvPr id="15" name="Text 13"/>
          <p:cNvSpPr/>
          <p:nvPr/>
        </p:nvSpPr>
        <p:spPr>
          <a:xfrm>
            <a:off x="777240" y="3154680"/>
            <a:ext cx="3383280" cy="256032"/>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Expected Value</a:t>
            </a:r>
            <a:endParaRPr lang="en-US" sz="1200" dirty="0"/>
          </a:p>
        </p:txBody>
      </p:sp>
      <p:sp>
        <p:nvSpPr>
          <p:cNvPr id="16" name="Text 14"/>
          <p:cNvSpPr/>
          <p:nvPr/>
        </p:nvSpPr>
        <p:spPr>
          <a:xfrm>
            <a:off x="777240" y="3419856"/>
            <a:ext cx="3383280" cy="45720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Probability-weighted average of possible outcomes. Best when there are many possible amounts (e.g., volume rebates with multiple tiers, product returns based on historical rates).</a:t>
            </a:r>
            <a:endParaRPr lang="en-US" sz="1050" dirty="0"/>
          </a:p>
        </p:txBody>
      </p:sp>
      <p:sp>
        <p:nvSpPr>
          <p:cNvPr id="17" name="Shape 15"/>
          <p:cNvSpPr/>
          <p:nvPr/>
        </p:nvSpPr>
        <p:spPr>
          <a:xfrm>
            <a:off x="4800600" y="3108960"/>
            <a:ext cx="3794760" cy="8229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800600" y="3108960"/>
            <a:ext cx="54864" cy="822960"/>
          </a:xfrm>
          <a:prstGeom prst="rect">
            <a:avLst/>
          </a:prstGeom>
          <a:solidFill>
            <a:srgbClr val="3A6EA5"/>
          </a:solidFill>
          <a:ln/>
        </p:spPr>
      </p:sp>
      <p:sp>
        <p:nvSpPr>
          <p:cNvPr id="19" name="Text 17"/>
          <p:cNvSpPr/>
          <p:nvPr/>
        </p:nvSpPr>
        <p:spPr>
          <a:xfrm>
            <a:off x="5029200" y="3154680"/>
            <a:ext cx="3383280" cy="256032"/>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Most Likely Amount</a:t>
            </a:r>
            <a:endParaRPr lang="en-US" sz="1200" dirty="0"/>
          </a:p>
        </p:txBody>
      </p:sp>
      <p:sp>
        <p:nvSpPr>
          <p:cNvPr id="20" name="Text 18"/>
          <p:cNvSpPr/>
          <p:nvPr/>
        </p:nvSpPr>
        <p:spPr>
          <a:xfrm>
            <a:off x="5029200" y="3419856"/>
            <a:ext cx="3383280" cy="45720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The single most probable outcome. Best for binary situations (e.g., a milestone payment: either achieved or not, a performance bonus: either triggered or not).</a:t>
            </a:r>
            <a:endParaRPr lang="en-US" sz="1050" dirty="0"/>
          </a:p>
        </p:txBody>
      </p:sp>
      <p:sp>
        <p:nvSpPr>
          <p:cNvPr id="21" name="Shape 19"/>
          <p:cNvSpPr/>
          <p:nvPr/>
        </p:nvSpPr>
        <p:spPr>
          <a:xfrm>
            <a:off x="548640" y="4160520"/>
            <a:ext cx="8046720" cy="868680"/>
          </a:xfrm>
          <a:prstGeom prst="rect">
            <a:avLst/>
          </a:prstGeom>
          <a:solidFill>
            <a:srgbClr val="1E2761"/>
          </a:solidFill>
          <a:ln/>
        </p:spPr>
      </p:sp>
      <p:sp>
        <p:nvSpPr>
          <p:cNvPr id="22" name="Text 20"/>
          <p:cNvSpPr/>
          <p:nvPr/>
        </p:nvSpPr>
        <p:spPr>
          <a:xfrm>
            <a:off x="777240" y="4206240"/>
            <a:ext cx="758952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The Constraint</a:t>
            </a:r>
            <a:endParaRPr lang="en-US" sz="1400" dirty="0"/>
          </a:p>
        </p:txBody>
      </p:sp>
      <p:sp>
        <p:nvSpPr>
          <p:cNvPr id="23" name="Text 21"/>
          <p:cNvSpPr/>
          <p:nvPr/>
        </p:nvSpPr>
        <p:spPr>
          <a:xfrm>
            <a:off x="777240" y="4498848"/>
            <a:ext cx="7589520" cy="45720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Include variable consideration in the transaction price only to the extent that it is probable a significant reversal will not occur when the uncertainty is resolved. Don’t book revenue you’ll likely have to take back.</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Variable Consideration in Your Readings</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The same concept, different contexts — each raising its own judgment call</a:t>
            </a:r>
            <a:endParaRPr lang="en-US" sz="1200" dirty="0"/>
          </a:p>
        </p:txBody>
      </p:sp>
      <p:sp>
        <p:nvSpPr>
          <p:cNvPr id="4" name="Shape 2"/>
          <p:cNvSpPr/>
          <p:nvPr/>
        </p:nvSpPr>
        <p:spPr>
          <a:xfrm>
            <a:off x="548640" y="1143000"/>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143000"/>
            <a:ext cx="54864" cy="777240"/>
          </a:xfrm>
          <a:prstGeom prst="rect">
            <a:avLst/>
          </a:prstGeom>
          <a:solidFill>
            <a:srgbClr val="3A6EA5"/>
          </a:solidFill>
          <a:ln/>
        </p:spPr>
      </p:sp>
      <p:sp>
        <p:nvSpPr>
          <p:cNvPr id="6" name="Text 4"/>
          <p:cNvSpPr/>
          <p:nvPr/>
        </p:nvSpPr>
        <p:spPr>
          <a:xfrm>
            <a:off x="777240" y="1188720"/>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Uber</a:t>
            </a:r>
            <a:endParaRPr lang="en-US" sz="1300" dirty="0"/>
          </a:p>
        </p:txBody>
      </p:sp>
      <p:sp>
        <p:nvSpPr>
          <p:cNvPr id="7" name="Text 5"/>
          <p:cNvSpPr/>
          <p:nvPr/>
        </p:nvSpPr>
        <p:spPr>
          <a:xfrm>
            <a:off x="1874520" y="1188720"/>
            <a:ext cx="27432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Driver Incentives</a:t>
            </a:r>
            <a:endParaRPr lang="en-US" sz="1100" dirty="0"/>
          </a:p>
        </p:txBody>
      </p:sp>
      <p:sp>
        <p:nvSpPr>
          <p:cNvPr id="8" name="Shape 6"/>
          <p:cNvSpPr/>
          <p:nvPr/>
        </p:nvSpPr>
        <p:spPr>
          <a:xfrm>
            <a:off x="6949440" y="1197864"/>
            <a:ext cx="1463040" cy="219456"/>
          </a:xfrm>
          <a:prstGeom prst="rect">
            <a:avLst/>
          </a:prstGeom>
          <a:solidFill>
            <a:srgbClr val="EDF2F7"/>
          </a:solidFill>
          <a:ln/>
        </p:spPr>
      </p:sp>
      <p:sp>
        <p:nvSpPr>
          <p:cNvPr id="9" name="Text 7"/>
          <p:cNvSpPr/>
          <p:nvPr/>
        </p:nvSpPr>
        <p:spPr>
          <a:xfrm>
            <a:off x="6949440" y="1197864"/>
            <a:ext cx="146304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Expected value</a:t>
            </a:r>
            <a:endParaRPr lang="en-US" sz="850" dirty="0"/>
          </a:p>
        </p:txBody>
      </p:sp>
      <p:sp>
        <p:nvSpPr>
          <p:cNvPr id="10" name="Text 8"/>
          <p:cNvSpPr/>
          <p:nvPr/>
        </p:nvSpPr>
        <p:spPr>
          <a:xfrm>
            <a:off x="777240" y="1463040"/>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Payments to drivers to complete more trips reduce what Uber earns from them. Since drivers are the customer, incentives are a reduction of revenue. Rider discounts flow differently — riders aren’t the customer.</a:t>
            </a:r>
            <a:endParaRPr lang="en-US" sz="1050" dirty="0"/>
          </a:p>
        </p:txBody>
      </p:sp>
      <p:sp>
        <p:nvSpPr>
          <p:cNvPr id="11" name="Shape 9"/>
          <p:cNvSpPr/>
          <p:nvPr/>
        </p:nvSpPr>
        <p:spPr>
          <a:xfrm>
            <a:off x="548640" y="2075688"/>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2" name="Shape 10"/>
          <p:cNvSpPr/>
          <p:nvPr/>
        </p:nvSpPr>
        <p:spPr>
          <a:xfrm>
            <a:off x="548640" y="2075688"/>
            <a:ext cx="54864" cy="777240"/>
          </a:xfrm>
          <a:prstGeom prst="rect">
            <a:avLst/>
          </a:prstGeom>
          <a:solidFill>
            <a:srgbClr val="C68A00"/>
          </a:solidFill>
          <a:ln/>
        </p:spPr>
      </p:sp>
      <p:sp>
        <p:nvSpPr>
          <p:cNvPr id="13" name="Text 11"/>
          <p:cNvSpPr/>
          <p:nvPr/>
        </p:nvSpPr>
        <p:spPr>
          <a:xfrm>
            <a:off x="777240" y="2121408"/>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Perrigo</a:t>
            </a:r>
            <a:endParaRPr lang="en-US" sz="1300" dirty="0"/>
          </a:p>
        </p:txBody>
      </p:sp>
      <p:sp>
        <p:nvSpPr>
          <p:cNvPr id="14" name="Text 12"/>
          <p:cNvSpPr/>
          <p:nvPr/>
        </p:nvSpPr>
        <p:spPr>
          <a:xfrm>
            <a:off x="1874520" y="2121408"/>
            <a:ext cx="27432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Returns, Chargebacks &amp; Rebates</a:t>
            </a:r>
            <a:endParaRPr lang="en-US" sz="1100" dirty="0"/>
          </a:p>
        </p:txBody>
      </p:sp>
      <p:sp>
        <p:nvSpPr>
          <p:cNvPr id="15" name="Shape 13"/>
          <p:cNvSpPr/>
          <p:nvPr/>
        </p:nvSpPr>
        <p:spPr>
          <a:xfrm>
            <a:off x="6949440" y="2130552"/>
            <a:ext cx="1463040" cy="219456"/>
          </a:xfrm>
          <a:prstGeom prst="rect">
            <a:avLst/>
          </a:prstGeom>
          <a:solidFill>
            <a:srgbClr val="EDF2F7"/>
          </a:solidFill>
          <a:ln/>
        </p:spPr>
      </p:sp>
      <p:sp>
        <p:nvSpPr>
          <p:cNvPr id="16" name="Text 14"/>
          <p:cNvSpPr/>
          <p:nvPr/>
        </p:nvSpPr>
        <p:spPr>
          <a:xfrm>
            <a:off x="6949440" y="2130552"/>
            <a:ext cx="146304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Expected value</a:t>
            </a:r>
            <a:endParaRPr lang="en-US" sz="850" dirty="0"/>
          </a:p>
        </p:txBody>
      </p:sp>
      <p:sp>
        <p:nvSpPr>
          <p:cNvPr id="17" name="Text 15"/>
          <p:cNvSpPr/>
          <p:nvPr/>
        </p:nvSpPr>
        <p:spPr>
          <a:xfrm>
            <a:off x="777240" y="2395728"/>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OTC product sales with return rights, wholesaler chargebacks, and volume-based rebates. Must estimate at inception and constrain. The same dynamics as the Bristol-Myers scandal.</a:t>
            </a:r>
            <a:endParaRPr lang="en-US" sz="1050" dirty="0"/>
          </a:p>
        </p:txBody>
      </p:sp>
      <p:sp>
        <p:nvSpPr>
          <p:cNvPr id="18" name="Shape 16"/>
          <p:cNvSpPr/>
          <p:nvPr/>
        </p:nvSpPr>
        <p:spPr>
          <a:xfrm>
            <a:off x="548640" y="3008376"/>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548640" y="3008376"/>
            <a:ext cx="54864" cy="777240"/>
          </a:xfrm>
          <a:prstGeom prst="rect">
            <a:avLst/>
          </a:prstGeom>
          <a:solidFill>
            <a:srgbClr val="2A7A4B"/>
          </a:solidFill>
          <a:ln/>
        </p:spPr>
      </p:sp>
      <p:sp>
        <p:nvSpPr>
          <p:cNvPr id="20" name="Text 18"/>
          <p:cNvSpPr/>
          <p:nvPr/>
        </p:nvSpPr>
        <p:spPr>
          <a:xfrm>
            <a:off x="777240" y="3054096"/>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Moderna</a:t>
            </a:r>
            <a:endParaRPr lang="en-US" sz="1300" dirty="0"/>
          </a:p>
        </p:txBody>
      </p:sp>
      <p:sp>
        <p:nvSpPr>
          <p:cNvPr id="21" name="Text 19"/>
          <p:cNvSpPr/>
          <p:nvPr/>
        </p:nvSpPr>
        <p:spPr>
          <a:xfrm>
            <a:off x="1874520" y="3054096"/>
            <a:ext cx="27432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Milestone Payments</a:t>
            </a:r>
            <a:endParaRPr lang="en-US" sz="1100" dirty="0"/>
          </a:p>
        </p:txBody>
      </p:sp>
      <p:sp>
        <p:nvSpPr>
          <p:cNvPr id="22" name="Shape 20"/>
          <p:cNvSpPr/>
          <p:nvPr/>
        </p:nvSpPr>
        <p:spPr>
          <a:xfrm>
            <a:off x="6949440" y="3063240"/>
            <a:ext cx="1463040" cy="219456"/>
          </a:xfrm>
          <a:prstGeom prst="rect">
            <a:avLst/>
          </a:prstGeom>
          <a:solidFill>
            <a:srgbClr val="EDF2F7"/>
          </a:solidFill>
          <a:ln/>
        </p:spPr>
      </p:sp>
      <p:sp>
        <p:nvSpPr>
          <p:cNvPr id="23" name="Text 21"/>
          <p:cNvSpPr/>
          <p:nvPr/>
        </p:nvSpPr>
        <p:spPr>
          <a:xfrm>
            <a:off x="6949440" y="3063240"/>
            <a:ext cx="146304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Most likely amount</a:t>
            </a:r>
            <a:endParaRPr lang="en-US" sz="850" dirty="0"/>
          </a:p>
        </p:txBody>
      </p:sp>
      <p:sp>
        <p:nvSpPr>
          <p:cNvPr id="24" name="Text 22"/>
          <p:cNvSpPr/>
          <p:nvPr/>
        </p:nvSpPr>
        <p:spPr>
          <a:xfrm>
            <a:off x="777240" y="3328416"/>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$300M payment contingent on FDA approval. Binary outcome, outside Moderna’s control. Constraint kept it off the books until approval was highly probable.</a:t>
            </a:r>
            <a:endParaRPr lang="en-US" sz="1050" dirty="0"/>
          </a:p>
        </p:txBody>
      </p:sp>
      <p:sp>
        <p:nvSpPr>
          <p:cNvPr id="25" name="Shape 23"/>
          <p:cNvSpPr/>
          <p:nvPr/>
        </p:nvSpPr>
        <p:spPr>
          <a:xfrm>
            <a:off x="548640" y="3941064"/>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548640" y="3941064"/>
            <a:ext cx="54864" cy="777240"/>
          </a:xfrm>
          <a:prstGeom prst="rect">
            <a:avLst/>
          </a:prstGeom>
          <a:solidFill>
            <a:srgbClr val="B83232"/>
          </a:solidFill>
          <a:ln/>
        </p:spPr>
      </p:sp>
      <p:sp>
        <p:nvSpPr>
          <p:cNvPr id="27" name="Text 25"/>
          <p:cNvSpPr/>
          <p:nvPr/>
        </p:nvSpPr>
        <p:spPr>
          <a:xfrm>
            <a:off x="777240" y="3986784"/>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Boeing</a:t>
            </a:r>
            <a:endParaRPr lang="en-US" sz="1300" dirty="0"/>
          </a:p>
        </p:txBody>
      </p:sp>
      <p:sp>
        <p:nvSpPr>
          <p:cNvPr id="28" name="Text 26"/>
          <p:cNvSpPr/>
          <p:nvPr/>
        </p:nvSpPr>
        <p:spPr>
          <a:xfrm>
            <a:off x="1874520" y="3986784"/>
            <a:ext cx="27432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Long-Term Contract Estimates</a:t>
            </a:r>
            <a:endParaRPr lang="en-US" sz="1100" dirty="0"/>
          </a:p>
        </p:txBody>
      </p:sp>
      <p:sp>
        <p:nvSpPr>
          <p:cNvPr id="29" name="Shape 27"/>
          <p:cNvSpPr/>
          <p:nvPr/>
        </p:nvSpPr>
        <p:spPr>
          <a:xfrm>
            <a:off x="6949440" y="3995928"/>
            <a:ext cx="1463040" cy="219456"/>
          </a:xfrm>
          <a:prstGeom prst="rect">
            <a:avLst/>
          </a:prstGeom>
          <a:solidFill>
            <a:srgbClr val="EDF2F7"/>
          </a:solidFill>
          <a:ln/>
        </p:spPr>
      </p:sp>
      <p:sp>
        <p:nvSpPr>
          <p:cNvPr id="30" name="Text 28"/>
          <p:cNvSpPr/>
          <p:nvPr/>
        </p:nvSpPr>
        <p:spPr>
          <a:xfrm>
            <a:off x="6949440" y="3995928"/>
            <a:ext cx="146304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Expected value</a:t>
            </a:r>
            <a:endParaRPr lang="en-US" sz="850" dirty="0"/>
          </a:p>
        </p:txBody>
      </p:sp>
      <p:sp>
        <p:nvSpPr>
          <p:cNvPr id="31" name="Text 29"/>
          <p:cNvSpPr/>
          <p:nvPr/>
        </p:nvSpPr>
        <p:spPr>
          <a:xfrm>
            <a:off x="777240" y="4261104"/>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Defense program margins depend on cost estimates spanning decades. A 1% change in estimate swings earnings by $330M. Cumulative catch-up adjustments of $2.9B in 2023.</a:t>
            </a:r>
            <a:endParaRPr lang="en-US" sz="1050" dirty="0"/>
          </a:p>
        </p:txBody>
      </p:sp>
      <p:sp>
        <p:nvSpPr>
          <p:cNvPr id="32" name="Text 30"/>
          <p:cNvSpPr/>
          <p:nvPr/>
        </p:nvSpPr>
        <p:spPr>
          <a:xfrm>
            <a:off x="548640" y="4709160"/>
            <a:ext cx="8046720" cy="320040"/>
          </a:xfrm>
          <a:prstGeom prst="rect">
            <a:avLst/>
          </a:prstGeom>
          <a:noFill/>
          <a:ln/>
        </p:spPr>
        <p:txBody>
          <a:bodyPr wrap="square" lIns="0" tIns="0" rIns="0" bIns="0" rtlCol="0" anchor="ctr"/>
          <a:lstStyle/>
          <a:p>
            <a:pPr indent="0" marL="0">
              <a:buNone/>
            </a:pPr>
            <a:r>
              <a:rPr lang="en-US" sz="1150" i="1" dirty="0">
                <a:solidFill>
                  <a:srgbClr val="3A6EA5"/>
                </a:solidFill>
                <a:latin typeface="Calibri" pitchFamily="34" charset="0"/>
                <a:ea typeface="Calibri" pitchFamily="34" charset="-122"/>
                <a:cs typeface="Calibri" pitchFamily="34" charset="-120"/>
              </a:rPr>
              <a:t>The constraint is ASC 606’s answer to the “reasonably sure” problem — it replaces a vague criterion with a structured estimation process and an explicit limit on optimism.</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Step 4 Deep Dive: Allocate the Transaction Price</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Once you know the price and the obligations, how do you divide the dollars among them?</a:t>
            </a:r>
            <a:endParaRPr lang="en-US" sz="1200" dirty="0"/>
          </a:p>
        </p:txBody>
      </p:sp>
      <p:sp>
        <p:nvSpPr>
          <p:cNvPr id="4" name="Shape 2"/>
          <p:cNvSpPr/>
          <p:nvPr/>
        </p:nvSpPr>
        <p:spPr>
          <a:xfrm>
            <a:off x="548640" y="1097280"/>
            <a:ext cx="8046720" cy="640080"/>
          </a:xfrm>
          <a:prstGeom prst="rect">
            <a:avLst/>
          </a:prstGeom>
          <a:solidFill>
            <a:srgbClr val="1E2761"/>
          </a:solidFill>
          <a:ln/>
        </p:spPr>
      </p:sp>
      <p:sp>
        <p:nvSpPr>
          <p:cNvPr id="5" name="Text 3"/>
          <p:cNvSpPr/>
          <p:nvPr/>
        </p:nvSpPr>
        <p:spPr>
          <a:xfrm>
            <a:off x="777240" y="1143000"/>
            <a:ext cx="758952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Default Rule: Relative Standalone Selling Prices</a:t>
            </a:r>
            <a:endParaRPr lang="en-US" sz="1400" dirty="0"/>
          </a:p>
        </p:txBody>
      </p:sp>
      <p:sp>
        <p:nvSpPr>
          <p:cNvPr id="6" name="Text 4"/>
          <p:cNvSpPr/>
          <p:nvPr/>
        </p:nvSpPr>
        <p:spPr>
          <a:xfrm>
            <a:off x="777240" y="1417320"/>
            <a:ext cx="758952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Allocate the transaction price to each performance obligation in proportion to the standalone selling price of each. What would each obligation sell for if sold separately?</a:t>
            </a:r>
            <a:endParaRPr lang="en-US" sz="1100" dirty="0"/>
          </a:p>
        </p:txBody>
      </p:sp>
      <p:sp>
        <p:nvSpPr>
          <p:cNvPr id="7" name="Text 5"/>
          <p:cNvSpPr/>
          <p:nvPr/>
        </p:nvSpPr>
        <p:spPr>
          <a:xfrm>
            <a:off x="548640" y="1920240"/>
            <a:ext cx="8229600" cy="32004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When Observable Prices Don’t Exist</a:t>
            </a:r>
            <a:endParaRPr lang="en-US" sz="1400" dirty="0"/>
          </a:p>
        </p:txBody>
      </p:sp>
      <p:sp>
        <p:nvSpPr>
          <p:cNvPr id="8" name="Shape 6"/>
          <p:cNvSpPr/>
          <p:nvPr/>
        </p:nvSpPr>
        <p:spPr>
          <a:xfrm>
            <a:off x="548640" y="2286000"/>
            <a:ext cx="25603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548640" y="2286000"/>
            <a:ext cx="2560320" cy="54864"/>
          </a:xfrm>
          <a:prstGeom prst="rect">
            <a:avLst/>
          </a:prstGeom>
          <a:solidFill>
            <a:srgbClr val="3A6EA5"/>
          </a:solidFill>
          <a:ln/>
        </p:spPr>
      </p:sp>
      <p:sp>
        <p:nvSpPr>
          <p:cNvPr id="10" name="Text 8"/>
          <p:cNvSpPr/>
          <p:nvPr/>
        </p:nvSpPr>
        <p:spPr>
          <a:xfrm>
            <a:off x="685800" y="2359152"/>
            <a:ext cx="2286000" cy="457200"/>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Adjusted Market</a:t>
            </a:r>
            <a:endParaRPr lang="en-US" sz="1100" dirty="0"/>
          </a:p>
          <a:p>
            <a:pPr indent="0" marL="0">
              <a:buNone/>
            </a:pPr>
            <a:r>
              <a:rPr lang="en-US" sz="1100" b="1" dirty="0">
                <a:solidFill>
                  <a:srgbClr val="1E2761"/>
                </a:solidFill>
                <a:latin typeface="Georgia" pitchFamily="34" charset="0"/>
                <a:ea typeface="Georgia" pitchFamily="34" charset="-122"/>
                <a:cs typeface="Georgia" pitchFamily="34" charset="-120"/>
              </a:rPr>
              <a:t>Assessment</a:t>
            </a:r>
            <a:endParaRPr lang="en-US" sz="1100" dirty="0"/>
          </a:p>
        </p:txBody>
      </p:sp>
      <p:sp>
        <p:nvSpPr>
          <p:cNvPr id="11" name="Text 9"/>
          <p:cNvSpPr/>
          <p:nvPr/>
        </p:nvSpPr>
        <p:spPr>
          <a:xfrm>
            <a:off x="685800" y="2834640"/>
            <a:ext cx="2286000" cy="731520"/>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Estimate what the market would pay for the good or service. Look at competitor pricing, market conditions, entity-specific factors.</a:t>
            </a:r>
            <a:endParaRPr lang="en-US" sz="1000" dirty="0"/>
          </a:p>
        </p:txBody>
      </p:sp>
      <p:sp>
        <p:nvSpPr>
          <p:cNvPr id="12" name="Shape 10"/>
          <p:cNvSpPr/>
          <p:nvPr/>
        </p:nvSpPr>
        <p:spPr>
          <a:xfrm>
            <a:off x="3383280" y="2286000"/>
            <a:ext cx="25603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383280" y="2286000"/>
            <a:ext cx="2560320" cy="54864"/>
          </a:xfrm>
          <a:prstGeom prst="rect">
            <a:avLst/>
          </a:prstGeom>
          <a:solidFill>
            <a:srgbClr val="2A7A4B"/>
          </a:solidFill>
          <a:ln/>
        </p:spPr>
      </p:sp>
      <p:sp>
        <p:nvSpPr>
          <p:cNvPr id="14" name="Text 12"/>
          <p:cNvSpPr/>
          <p:nvPr/>
        </p:nvSpPr>
        <p:spPr>
          <a:xfrm>
            <a:off x="3520440" y="2359152"/>
            <a:ext cx="2286000" cy="457200"/>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Expected Cost</a:t>
            </a:r>
            <a:endParaRPr lang="en-US" sz="1100" dirty="0"/>
          </a:p>
          <a:p>
            <a:pPr indent="0" marL="0">
              <a:buNone/>
            </a:pPr>
            <a:r>
              <a:rPr lang="en-US" sz="1100" b="1" dirty="0">
                <a:solidFill>
                  <a:srgbClr val="1E2761"/>
                </a:solidFill>
                <a:latin typeface="Georgia" pitchFamily="34" charset="0"/>
                <a:ea typeface="Georgia" pitchFamily="34" charset="-122"/>
                <a:cs typeface="Georgia" pitchFamily="34" charset="-120"/>
              </a:rPr>
              <a:t>Plus Margin</a:t>
            </a:r>
            <a:endParaRPr lang="en-US" sz="1100" dirty="0"/>
          </a:p>
        </p:txBody>
      </p:sp>
      <p:sp>
        <p:nvSpPr>
          <p:cNvPr id="15" name="Text 13"/>
          <p:cNvSpPr/>
          <p:nvPr/>
        </p:nvSpPr>
        <p:spPr>
          <a:xfrm>
            <a:off x="3520440" y="2834640"/>
            <a:ext cx="2286000" cy="731520"/>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Forecast costs to satisfy the obligation, then add an appropriate margin. Useful when costs are estimable but market prices aren’t.</a:t>
            </a:r>
            <a:endParaRPr lang="en-US" sz="1000" dirty="0"/>
          </a:p>
        </p:txBody>
      </p:sp>
      <p:sp>
        <p:nvSpPr>
          <p:cNvPr id="16" name="Shape 14"/>
          <p:cNvSpPr/>
          <p:nvPr/>
        </p:nvSpPr>
        <p:spPr>
          <a:xfrm>
            <a:off x="6217920" y="2286000"/>
            <a:ext cx="25603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6217920" y="2286000"/>
            <a:ext cx="2560320" cy="54864"/>
          </a:xfrm>
          <a:prstGeom prst="rect">
            <a:avLst/>
          </a:prstGeom>
          <a:solidFill>
            <a:srgbClr val="C68A00"/>
          </a:solidFill>
          <a:ln/>
        </p:spPr>
      </p:sp>
      <p:sp>
        <p:nvSpPr>
          <p:cNvPr id="18" name="Text 16"/>
          <p:cNvSpPr/>
          <p:nvPr/>
        </p:nvSpPr>
        <p:spPr>
          <a:xfrm>
            <a:off x="6355080" y="2359152"/>
            <a:ext cx="2286000" cy="457200"/>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Residual</a:t>
            </a:r>
            <a:endParaRPr lang="en-US" sz="1100" dirty="0"/>
          </a:p>
          <a:p>
            <a:pPr indent="0" marL="0">
              <a:buNone/>
            </a:pPr>
            <a:r>
              <a:rPr lang="en-US" sz="1100" b="1" dirty="0">
                <a:solidFill>
                  <a:srgbClr val="1E2761"/>
                </a:solidFill>
                <a:latin typeface="Georgia" pitchFamily="34" charset="0"/>
                <a:ea typeface="Georgia" pitchFamily="34" charset="-122"/>
                <a:cs typeface="Georgia" pitchFamily="34" charset="-120"/>
              </a:rPr>
              <a:t>Approach</a:t>
            </a:r>
            <a:endParaRPr lang="en-US" sz="1100" dirty="0"/>
          </a:p>
        </p:txBody>
      </p:sp>
      <p:sp>
        <p:nvSpPr>
          <p:cNvPr id="19" name="Text 17"/>
          <p:cNvSpPr/>
          <p:nvPr/>
        </p:nvSpPr>
        <p:spPr>
          <a:xfrm>
            <a:off x="6355080" y="2834640"/>
            <a:ext cx="2286000" cy="731520"/>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Total transaction price minus the observable standalone prices of other obligations. Only permitted when selling price is highly variable or uncertain.</a:t>
            </a:r>
            <a:endParaRPr lang="en-US" sz="1000" dirty="0"/>
          </a:p>
        </p:txBody>
      </p:sp>
      <p:sp>
        <p:nvSpPr>
          <p:cNvPr id="20" name="Shape 18"/>
          <p:cNvSpPr/>
          <p:nvPr/>
        </p:nvSpPr>
        <p:spPr>
          <a:xfrm>
            <a:off x="548640" y="3886200"/>
            <a:ext cx="80467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1" name="Shape 19"/>
          <p:cNvSpPr/>
          <p:nvPr/>
        </p:nvSpPr>
        <p:spPr>
          <a:xfrm>
            <a:off x="548640" y="3886200"/>
            <a:ext cx="54864" cy="1051560"/>
          </a:xfrm>
          <a:prstGeom prst="rect">
            <a:avLst/>
          </a:prstGeom>
          <a:solidFill>
            <a:srgbClr val="B83232"/>
          </a:solidFill>
          <a:ln/>
        </p:spPr>
      </p:sp>
      <p:sp>
        <p:nvSpPr>
          <p:cNvPr id="22" name="Text 20"/>
          <p:cNvSpPr/>
          <p:nvPr/>
        </p:nvSpPr>
        <p:spPr>
          <a:xfrm>
            <a:off x="777240" y="3931920"/>
            <a:ext cx="758952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Why Allocation Is High-Stakes</a:t>
            </a:r>
            <a:endParaRPr lang="en-US" sz="1200" dirty="0"/>
          </a:p>
        </p:txBody>
      </p:sp>
      <p:sp>
        <p:nvSpPr>
          <p:cNvPr id="23" name="Text 21"/>
          <p:cNvSpPr/>
          <p:nvPr/>
        </p:nvSpPr>
        <p:spPr>
          <a:xfrm>
            <a:off x="777240" y="4206240"/>
            <a:ext cx="7589520" cy="640080"/>
          </a:xfrm>
          <a:prstGeom prst="rect">
            <a:avLst/>
          </a:prstGeom>
          <a:noFill/>
          <a:ln/>
        </p:spPr>
        <p:txBody>
          <a:bodyPr wrap="square" lIns="0" tIns="0" rIns="0" bIns="0" rtlCol="0" anchor="ctr"/>
          <a:lstStyle/>
          <a:p>
            <a:pPr indent="0" marL="0">
              <a:buNone/>
            </a:pPr>
            <a:r>
              <a:rPr lang="en-US" sz="1050" b="1" dirty="0">
                <a:solidFill>
                  <a:srgbClr val="1E2761"/>
                </a:solidFill>
              </a:rPr>
              <a:t>Allocation determines timing. </a:t>
            </a:r>
            <a:pPr indent="0" marL="0">
              <a:buNone/>
            </a:pPr>
            <a:r>
              <a:rPr lang="en-US" sz="1050" dirty="0">
                <a:solidFill>
                  <a:srgbClr val="4A4A6A"/>
                </a:solidFill>
              </a:rPr>
              <a:t>If Tesla allocates more of the vehicle price to the car (point-in-time recognition) and less to FSD (over-time), it pulls revenue forward. If it allocates more to FSD, it defers revenue. Same total dollars, different income statement shape. </a:t>
            </a:r>
            <a:pPr indent="0" marL="0">
              <a:buNone/>
            </a:pPr>
            <a:r>
              <a:rPr lang="en-US" sz="1050" b="1" dirty="0">
                <a:solidFill>
                  <a:srgbClr val="1E2761"/>
                </a:solidFill>
              </a:rPr>
              <a:t>Discounts get allocated proportionally </a:t>
            </a:r>
            <a:pPr indent="0" marL="0">
              <a:buNone/>
            </a:pPr>
            <a:r>
              <a:rPr lang="en-US" sz="1050" dirty="0">
                <a:solidFill>
                  <a:srgbClr val="4A4A6A"/>
                </a:solidFill>
              </a:rPr>
              <a:t>unless there is observable evidence the discount relates to specific obligations. Volume discounts on bundles spread across all obligations by default.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Step 4 in Your Readings</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Dividing the transaction price — where small assumptions move large numbers</a:t>
            </a:r>
            <a:endParaRPr lang="en-US" sz="1200" dirty="0"/>
          </a:p>
        </p:txBody>
      </p:sp>
      <p:sp>
        <p:nvSpPr>
          <p:cNvPr id="4" name="Shape 2"/>
          <p:cNvSpPr/>
          <p:nvPr/>
        </p:nvSpPr>
        <p:spPr>
          <a:xfrm>
            <a:off x="548640" y="1143000"/>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143000"/>
            <a:ext cx="54864" cy="777240"/>
          </a:xfrm>
          <a:prstGeom prst="rect">
            <a:avLst/>
          </a:prstGeom>
          <a:solidFill>
            <a:srgbClr val="3A6EA5"/>
          </a:solidFill>
          <a:ln/>
        </p:spPr>
      </p:sp>
      <p:sp>
        <p:nvSpPr>
          <p:cNvPr id="6" name="Text 4"/>
          <p:cNvSpPr/>
          <p:nvPr/>
        </p:nvSpPr>
        <p:spPr>
          <a:xfrm>
            <a:off x="777240" y="1188720"/>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Tesla</a:t>
            </a:r>
            <a:endParaRPr lang="en-US" sz="1300" dirty="0"/>
          </a:p>
        </p:txBody>
      </p:sp>
      <p:sp>
        <p:nvSpPr>
          <p:cNvPr id="7" name="Text 5"/>
          <p:cNvSpPr/>
          <p:nvPr/>
        </p:nvSpPr>
        <p:spPr>
          <a:xfrm>
            <a:off x="1874520" y="1188720"/>
            <a:ext cx="32004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FSD Standalone Selling Price</a:t>
            </a:r>
            <a:endParaRPr lang="en-US" sz="1100" dirty="0"/>
          </a:p>
        </p:txBody>
      </p:sp>
      <p:sp>
        <p:nvSpPr>
          <p:cNvPr id="8" name="Shape 6"/>
          <p:cNvSpPr/>
          <p:nvPr/>
        </p:nvSpPr>
        <p:spPr>
          <a:xfrm>
            <a:off x="6675120" y="1197864"/>
            <a:ext cx="1737360" cy="219456"/>
          </a:xfrm>
          <a:prstGeom prst="rect">
            <a:avLst/>
          </a:prstGeom>
          <a:solidFill>
            <a:srgbClr val="EDF2F7"/>
          </a:solidFill>
          <a:ln/>
        </p:spPr>
      </p:sp>
      <p:sp>
        <p:nvSpPr>
          <p:cNvPr id="9" name="Text 7"/>
          <p:cNvSpPr/>
          <p:nvPr/>
        </p:nvSpPr>
        <p:spPr>
          <a:xfrm>
            <a:off x="6675120" y="1197864"/>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Residual approach</a:t>
            </a:r>
            <a:endParaRPr lang="en-US" sz="850" dirty="0"/>
          </a:p>
        </p:txBody>
      </p:sp>
      <p:sp>
        <p:nvSpPr>
          <p:cNvPr id="10" name="Text 8"/>
          <p:cNvSpPr/>
          <p:nvPr/>
        </p:nvSpPr>
        <p:spPr>
          <a:xfrm>
            <a:off x="777240" y="1463040"/>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FSD is rarely sold separately and its features are still evolving. Tesla must estimate a standalone price to allocate between the car (recognized at delivery) and FSD (recognized over time). Different estimates shift billions between current and deferred revenue.</a:t>
            </a:r>
            <a:endParaRPr lang="en-US" sz="1050" dirty="0"/>
          </a:p>
        </p:txBody>
      </p:sp>
      <p:sp>
        <p:nvSpPr>
          <p:cNvPr id="11" name="Shape 9"/>
          <p:cNvSpPr/>
          <p:nvPr/>
        </p:nvSpPr>
        <p:spPr>
          <a:xfrm>
            <a:off x="548640" y="2075688"/>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2" name="Shape 10"/>
          <p:cNvSpPr/>
          <p:nvPr/>
        </p:nvSpPr>
        <p:spPr>
          <a:xfrm>
            <a:off x="548640" y="2075688"/>
            <a:ext cx="54864" cy="777240"/>
          </a:xfrm>
          <a:prstGeom prst="rect">
            <a:avLst/>
          </a:prstGeom>
          <a:solidFill>
            <a:srgbClr val="C68A00"/>
          </a:solidFill>
          <a:ln/>
        </p:spPr>
      </p:sp>
      <p:sp>
        <p:nvSpPr>
          <p:cNvPr id="13" name="Text 11"/>
          <p:cNvSpPr/>
          <p:nvPr/>
        </p:nvSpPr>
        <p:spPr>
          <a:xfrm>
            <a:off x="777240" y="2121408"/>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Dell</a:t>
            </a:r>
            <a:endParaRPr lang="en-US" sz="1300" dirty="0"/>
          </a:p>
        </p:txBody>
      </p:sp>
      <p:sp>
        <p:nvSpPr>
          <p:cNvPr id="14" name="Text 12"/>
          <p:cNvSpPr/>
          <p:nvPr/>
        </p:nvSpPr>
        <p:spPr>
          <a:xfrm>
            <a:off x="1874520" y="2121408"/>
            <a:ext cx="32004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Bundle Discount Allocation</a:t>
            </a:r>
            <a:endParaRPr lang="en-US" sz="1100" dirty="0"/>
          </a:p>
        </p:txBody>
      </p:sp>
      <p:sp>
        <p:nvSpPr>
          <p:cNvPr id="15" name="Shape 13"/>
          <p:cNvSpPr/>
          <p:nvPr/>
        </p:nvSpPr>
        <p:spPr>
          <a:xfrm>
            <a:off x="6675120" y="2130552"/>
            <a:ext cx="1737360" cy="219456"/>
          </a:xfrm>
          <a:prstGeom prst="rect">
            <a:avLst/>
          </a:prstGeom>
          <a:solidFill>
            <a:srgbClr val="EDF2F7"/>
          </a:solidFill>
          <a:ln/>
        </p:spPr>
      </p:sp>
      <p:sp>
        <p:nvSpPr>
          <p:cNvPr id="16" name="Text 14"/>
          <p:cNvSpPr/>
          <p:nvPr/>
        </p:nvSpPr>
        <p:spPr>
          <a:xfrm>
            <a:off x="6675120" y="2130552"/>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Proportional</a:t>
            </a:r>
            <a:endParaRPr lang="en-US" sz="850" dirty="0"/>
          </a:p>
        </p:txBody>
      </p:sp>
      <p:sp>
        <p:nvSpPr>
          <p:cNvPr id="17" name="Text 15"/>
          <p:cNvSpPr/>
          <p:nvPr/>
        </p:nvSpPr>
        <p:spPr>
          <a:xfrm>
            <a:off x="777240" y="2395728"/>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A customer buying a server + 3-year ProSupport gets a package discount. Does the discount attach to the hardware or the support? By default, ASC 606 allocates proportionally. But if Dell regularly discounts hardware to win support contracts, evidence may point to hardware-specific allocation.</a:t>
            </a:r>
            <a:endParaRPr lang="en-US" sz="1050" dirty="0"/>
          </a:p>
        </p:txBody>
      </p:sp>
      <p:sp>
        <p:nvSpPr>
          <p:cNvPr id="18" name="Shape 16"/>
          <p:cNvSpPr/>
          <p:nvPr/>
        </p:nvSpPr>
        <p:spPr>
          <a:xfrm>
            <a:off x="548640" y="3008376"/>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548640" y="3008376"/>
            <a:ext cx="54864" cy="777240"/>
          </a:xfrm>
          <a:prstGeom prst="rect">
            <a:avLst/>
          </a:prstGeom>
          <a:solidFill>
            <a:srgbClr val="2A7A4B"/>
          </a:solidFill>
          <a:ln/>
        </p:spPr>
      </p:sp>
      <p:sp>
        <p:nvSpPr>
          <p:cNvPr id="20" name="Text 18"/>
          <p:cNvSpPr/>
          <p:nvPr/>
        </p:nvSpPr>
        <p:spPr>
          <a:xfrm>
            <a:off x="777240" y="3054096"/>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Moderna</a:t>
            </a:r>
            <a:endParaRPr lang="en-US" sz="1300" dirty="0"/>
          </a:p>
        </p:txBody>
      </p:sp>
      <p:sp>
        <p:nvSpPr>
          <p:cNvPr id="21" name="Text 19"/>
          <p:cNvSpPr/>
          <p:nvPr/>
        </p:nvSpPr>
        <p:spPr>
          <a:xfrm>
            <a:off x="1874520" y="3054096"/>
            <a:ext cx="32004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Material Right Allocation</a:t>
            </a:r>
            <a:endParaRPr lang="en-US" sz="1100" dirty="0"/>
          </a:p>
        </p:txBody>
      </p:sp>
      <p:sp>
        <p:nvSpPr>
          <p:cNvPr id="22" name="Shape 20"/>
          <p:cNvSpPr/>
          <p:nvPr/>
        </p:nvSpPr>
        <p:spPr>
          <a:xfrm>
            <a:off x="6675120" y="3063240"/>
            <a:ext cx="1737360" cy="219456"/>
          </a:xfrm>
          <a:prstGeom prst="rect">
            <a:avLst/>
          </a:prstGeom>
          <a:solidFill>
            <a:srgbClr val="EDF2F7"/>
          </a:solidFill>
          <a:ln/>
        </p:spPr>
      </p:sp>
      <p:sp>
        <p:nvSpPr>
          <p:cNvPr id="23" name="Text 21"/>
          <p:cNvSpPr/>
          <p:nvPr/>
        </p:nvSpPr>
        <p:spPr>
          <a:xfrm>
            <a:off x="6675120" y="3063240"/>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Expected cost + margin</a:t>
            </a:r>
            <a:endParaRPr lang="en-US" sz="850" dirty="0"/>
          </a:p>
        </p:txBody>
      </p:sp>
      <p:sp>
        <p:nvSpPr>
          <p:cNvPr id="24" name="Text 22"/>
          <p:cNvSpPr/>
          <p:nvPr/>
        </p:nvSpPr>
        <p:spPr>
          <a:xfrm>
            <a:off x="777240" y="3328416"/>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If a purchase option is a material right (a discount not available to the general market), the transaction price must be allocated to it. This reduces the amount allocated to initial doses and defers revenue until the option is exercised or expires.</a:t>
            </a:r>
            <a:endParaRPr lang="en-US" sz="1050" dirty="0"/>
          </a:p>
        </p:txBody>
      </p:sp>
      <p:sp>
        <p:nvSpPr>
          <p:cNvPr id="25" name="Shape 23"/>
          <p:cNvSpPr/>
          <p:nvPr/>
        </p:nvSpPr>
        <p:spPr>
          <a:xfrm>
            <a:off x="548640" y="3941064"/>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548640" y="3941064"/>
            <a:ext cx="54864" cy="777240"/>
          </a:xfrm>
          <a:prstGeom prst="rect">
            <a:avLst/>
          </a:prstGeom>
          <a:solidFill>
            <a:srgbClr val="B83232"/>
          </a:solidFill>
          <a:ln/>
        </p:spPr>
      </p:sp>
      <p:sp>
        <p:nvSpPr>
          <p:cNvPr id="27" name="Text 25"/>
          <p:cNvSpPr/>
          <p:nvPr/>
        </p:nvSpPr>
        <p:spPr>
          <a:xfrm>
            <a:off x="777240" y="3986784"/>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Uber</a:t>
            </a:r>
            <a:endParaRPr lang="en-US" sz="1300" dirty="0"/>
          </a:p>
        </p:txBody>
      </p:sp>
      <p:sp>
        <p:nvSpPr>
          <p:cNvPr id="28" name="Text 26"/>
          <p:cNvSpPr/>
          <p:nvPr/>
        </p:nvSpPr>
        <p:spPr>
          <a:xfrm>
            <a:off x="1874520" y="3986784"/>
            <a:ext cx="32004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Not Applicable — Single Obligation</a:t>
            </a:r>
            <a:endParaRPr lang="en-US" sz="1100" dirty="0"/>
          </a:p>
        </p:txBody>
      </p:sp>
      <p:sp>
        <p:nvSpPr>
          <p:cNvPr id="29" name="Shape 27"/>
          <p:cNvSpPr/>
          <p:nvPr/>
        </p:nvSpPr>
        <p:spPr>
          <a:xfrm>
            <a:off x="6675120" y="3995928"/>
            <a:ext cx="1737360" cy="219456"/>
          </a:xfrm>
          <a:prstGeom prst="rect">
            <a:avLst/>
          </a:prstGeom>
          <a:solidFill>
            <a:srgbClr val="EDF2F7"/>
          </a:solidFill>
          <a:ln/>
        </p:spPr>
      </p:sp>
      <p:sp>
        <p:nvSpPr>
          <p:cNvPr id="30" name="Text 28"/>
          <p:cNvSpPr/>
          <p:nvPr/>
        </p:nvSpPr>
        <p:spPr>
          <a:xfrm>
            <a:off x="6675120" y="3995928"/>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N/A</a:t>
            </a:r>
            <a:endParaRPr lang="en-US" sz="850" dirty="0"/>
          </a:p>
        </p:txBody>
      </p:sp>
      <p:sp>
        <p:nvSpPr>
          <p:cNvPr id="31" name="Text 29"/>
          <p:cNvSpPr/>
          <p:nvPr/>
        </p:nvSpPr>
        <p:spPr>
          <a:xfrm>
            <a:off x="777240" y="4261104"/>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Uber’s platform fee per trip is a single performance obligation with one price. No allocation needed. This is one reason Uber’s Step 4 is simple while Tesla’s is complex — the number of obligations (Step 2) determines allocation complexity.</a:t>
            </a:r>
            <a:endParaRPr lang="en-US" sz="1050" dirty="0"/>
          </a:p>
        </p:txBody>
      </p:sp>
      <p:sp>
        <p:nvSpPr>
          <p:cNvPr id="32" name="Text 30"/>
          <p:cNvSpPr/>
          <p:nvPr/>
        </p:nvSpPr>
        <p:spPr>
          <a:xfrm>
            <a:off x="548640" y="4709160"/>
            <a:ext cx="8046720" cy="320040"/>
          </a:xfrm>
          <a:prstGeom prst="rect">
            <a:avLst/>
          </a:prstGeom>
          <a:noFill/>
          <a:ln/>
        </p:spPr>
        <p:txBody>
          <a:bodyPr wrap="square" lIns="0" tIns="0" rIns="0" bIns="0" rtlCol="0" anchor="ctr"/>
          <a:lstStyle/>
          <a:p>
            <a:pPr indent="0" marL="0">
              <a:buNone/>
            </a:pPr>
            <a:r>
              <a:rPr lang="en-US" sz="1150" i="1" dirty="0">
                <a:solidFill>
                  <a:srgbClr val="3A6EA5"/>
                </a:solidFill>
                <a:latin typeface="Calibri" pitchFamily="34" charset="0"/>
                <a:ea typeface="Calibri" pitchFamily="34" charset="-122"/>
                <a:cs typeface="Calibri" pitchFamily="34" charset="-120"/>
              </a:rPr>
              <a:t>The old software rule (SOP 97-2) required VSOE — vendor-specific objective evidence — for allocation. ASC 606 replaced it with a flexible hierarchy that every industry uses. Same problem, universal solution.</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Step 5 Deep Dive: Recognize Revenue</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When does the customer get control? The answer determines the shape of the income statement.</a:t>
            </a:r>
            <a:endParaRPr lang="en-US" sz="1200" dirty="0"/>
          </a:p>
        </p:txBody>
      </p:sp>
      <p:sp>
        <p:nvSpPr>
          <p:cNvPr id="4" name="Text 2"/>
          <p:cNvSpPr/>
          <p:nvPr/>
        </p:nvSpPr>
        <p:spPr>
          <a:xfrm>
            <a:off x="548640" y="1097280"/>
            <a:ext cx="8229600" cy="32004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The Core Question: Over Time or Point in Time?</a:t>
            </a:r>
            <a:endParaRPr lang="en-US" sz="1400" dirty="0"/>
          </a:p>
        </p:txBody>
      </p:sp>
      <p:sp>
        <p:nvSpPr>
          <p:cNvPr id="5" name="Shape 3"/>
          <p:cNvSpPr/>
          <p:nvPr/>
        </p:nvSpPr>
        <p:spPr>
          <a:xfrm>
            <a:off x="548640" y="1463040"/>
            <a:ext cx="256032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548640" y="1463040"/>
            <a:ext cx="2560320" cy="54864"/>
          </a:xfrm>
          <a:prstGeom prst="rect">
            <a:avLst/>
          </a:prstGeom>
          <a:solidFill>
            <a:srgbClr val="2A7A4B"/>
          </a:solidFill>
          <a:ln/>
        </p:spPr>
      </p:sp>
      <p:sp>
        <p:nvSpPr>
          <p:cNvPr id="7" name="Text 5"/>
          <p:cNvSpPr/>
          <p:nvPr/>
        </p:nvSpPr>
        <p:spPr>
          <a:xfrm>
            <a:off x="685800" y="1536192"/>
            <a:ext cx="2286000" cy="384048"/>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Simultaneous Receipt</a:t>
            </a:r>
            <a:endParaRPr lang="en-US" sz="1100" dirty="0"/>
          </a:p>
        </p:txBody>
      </p:sp>
      <p:sp>
        <p:nvSpPr>
          <p:cNvPr id="8" name="Text 6"/>
          <p:cNvSpPr/>
          <p:nvPr/>
        </p:nvSpPr>
        <p:spPr>
          <a:xfrm>
            <a:off x="685800" y="1938528"/>
            <a:ext cx="2286000" cy="594360"/>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Customer simultaneously receives and consumes the benefits as the entity performs</a:t>
            </a:r>
            <a:endParaRPr lang="en-US" sz="1000" dirty="0"/>
          </a:p>
        </p:txBody>
      </p:sp>
      <p:sp>
        <p:nvSpPr>
          <p:cNvPr id="9" name="Shape 7"/>
          <p:cNvSpPr/>
          <p:nvPr/>
        </p:nvSpPr>
        <p:spPr>
          <a:xfrm>
            <a:off x="685800" y="2578608"/>
            <a:ext cx="2286000" cy="54864"/>
          </a:xfrm>
          <a:prstGeom prst="rect">
            <a:avLst/>
          </a:prstGeom>
          <a:solidFill>
            <a:srgbClr val="F4F6FA"/>
          </a:solidFill>
          <a:ln/>
        </p:spPr>
      </p:sp>
      <p:sp>
        <p:nvSpPr>
          <p:cNvPr id="10" name="Text 8"/>
          <p:cNvSpPr/>
          <p:nvPr/>
        </p:nvSpPr>
        <p:spPr>
          <a:xfrm>
            <a:off x="685800" y="2670048"/>
            <a:ext cx="2286000" cy="320040"/>
          </a:xfrm>
          <a:prstGeom prst="rect">
            <a:avLst/>
          </a:prstGeom>
          <a:noFill/>
          <a:ln/>
        </p:spPr>
        <p:txBody>
          <a:bodyPr wrap="square" lIns="0" tIns="0" rIns="0" bIns="0" rtlCol="0" anchor="ctr"/>
          <a:lstStyle/>
          <a:p>
            <a:pPr indent="0" marL="0">
              <a:buNone/>
            </a:pPr>
            <a:r>
              <a:rPr lang="en-US" sz="950" i="1" dirty="0">
                <a:solidFill>
                  <a:srgbClr val="3A6EA5"/>
                </a:solidFill>
                <a:latin typeface="Calibri" pitchFamily="34" charset="0"/>
                <a:ea typeface="Calibri" pitchFamily="34" charset="-122"/>
                <a:cs typeface="Calibri" pitchFamily="34" charset="-120"/>
              </a:rPr>
              <a:t>Cleaning services, monthly SaaS access</a:t>
            </a:r>
            <a:endParaRPr lang="en-US" sz="950" dirty="0"/>
          </a:p>
        </p:txBody>
      </p:sp>
      <p:sp>
        <p:nvSpPr>
          <p:cNvPr id="11" name="Shape 9"/>
          <p:cNvSpPr/>
          <p:nvPr/>
        </p:nvSpPr>
        <p:spPr>
          <a:xfrm>
            <a:off x="3383280" y="1463040"/>
            <a:ext cx="256032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2" name="Shape 10"/>
          <p:cNvSpPr/>
          <p:nvPr/>
        </p:nvSpPr>
        <p:spPr>
          <a:xfrm>
            <a:off x="3383280" y="1463040"/>
            <a:ext cx="2560320" cy="54864"/>
          </a:xfrm>
          <a:prstGeom prst="rect">
            <a:avLst/>
          </a:prstGeom>
          <a:solidFill>
            <a:srgbClr val="2A7A4B"/>
          </a:solidFill>
          <a:ln/>
        </p:spPr>
      </p:sp>
      <p:sp>
        <p:nvSpPr>
          <p:cNvPr id="13" name="Text 11"/>
          <p:cNvSpPr/>
          <p:nvPr/>
        </p:nvSpPr>
        <p:spPr>
          <a:xfrm>
            <a:off x="3520440" y="1536192"/>
            <a:ext cx="2286000" cy="384048"/>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Customer Controls WIP</a:t>
            </a:r>
            <a:endParaRPr lang="en-US" sz="1100" dirty="0"/>
          </a:p>
        </p:txBody>
      </p:sp>
      <p:sp>
        <p:nvSpPr>
          <p:cNvPr id="14" name="Text 12"/>
          <p:cNvSpPr/>
          <p:nvPr/>
        </p:nvSpPr>
        <p:spPr>
          <a:xfrm>
            <a:off x="3520440" y="1938528"/>
            <a:ext cx="2286000" cy="594360"/>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Entity’s performance creates or enhances an asset the customer controls</a:t>
            </a:r>
            <a:endParaRPr lang="en-US" sz="1000" dirty="0"/>
          </a:p>
        </p:txBody>
      </p:sp>
      <p:sp>
        <p:nvSpPr>
          <p:cNvPr id="15" name="Shape 13"/>
          <p:cNvSpPr/>
          <p:nvPr/>
        </p:nvSpPr>
        <p:spPr>
          <a:xfrm>
            <a:off x="3520440" y="2578608"/>
            <a:ext cx="2286000" cy="54864"/>
          </a:xfrm>
          <a:prstGeom prst="rect">
            <a:avLst/>
          </a:prstGeom>
          <a:solidFill>
            <a:srgbClr val="F4F6FA"/>
          </a:solidFill>
          <a:ln/>
        </p:spPr>
      </p:sp>
      <p:sp>
        <p:nvSpPr>
          <p:cNvPr id="16" name="Text 14"/>
          <p:cNvSpPr/>
          <p:nvPr/>
        </p:nvSpPr>
        <p:spPr>
          <a:xfrm>
            <a:off x="3520440" y="2670048"/>
            <a:ext cx="2286000" cy="320040"/>
          </a:xfrm>
          <a:prstGeom prst="rect">
            <a:avLst/>
          </a:prstGeom>
          <a:noFill/>
          <a:ln/>
        </p:spPr>
        <p:txBody>
          <a:bodyPr wrap="square" lIns="0" tIns="0" rIns="0" bIns="0" rtlCol="0" anchor="ctr"/>
          <a:lstStyle/>
          <a:p>
            <a:pPr indent="0" marL="0">
              <a:buNone/>
            </a:pPr>
            <a:r>
              <a:rPr lang="en-US" sz="950" i="1" dirty="0">
                <a:solidFill>
                  <a:srgbClr val="3A6EA5"/>
                </a:solidFill>
                <a:latin typeface="Calibri" pitchFamily="34" charset="0"/>
                <a:ea typeface="Calibri" pitchFamily="34" charset="-122"/>
                <a:cs typeface="Calibri" pitchFamily="34" charset="-120"/>
              </a:rPr>
              <a:t>Building on the customer’s land</a:t>
            </a:r>
            <a:endParaRPr lang="en-US" sz="950" dirty="0"/>
          </a:p>
        </p:txBody>
      </p:sp>
      <p:sp>
        <p:nvSpPr>
          <p:cNvPr id="17" name="Shape 15"/>
          <p:cNvSpPr/>
          <p:nvPr/>
        </p:nvSpPr>
        <p:spPr>
          <a:xfrm>
            <a:off x="6217920" y="1463040"/>
            <a:ext cx="256032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217920" y="1463040"/>
            <a:ext cx="2560320" cy="54864"/>
          </a:xfrm>
          <a:prstGeom prst="rect">
            <a:avLst/>
          </a:prstGeom>
          <a:solidFill>
            <a:srgbClr val="2A7A4B"/>
          </a:solidFill>
          <a:ln/>
        </p:spPr>
      </p:sp>
      <p:sp>
        <p:nvSpPr>
          <p:cNvPr id="19" name="Text 17"/>
          <p:cNvSpPr/>
          <p:nvPr/>
        </p:nvSpPr>
        <p:spPr>
          <a:xfrm>
            <a:off x="6355080" y="1536192"/>
            <a:ext cx="2286000" cy="384048"/>
          </a:xfrm>
          <a:prstGeom prst="rect">
            <a:avLst/>
          </a:prstGeom>
          <a:noFill/>
          <a:ln/>
        </p:spPr>
        <p:txBody>
          <a:bodyPr wrap="square" lIns="0" tIns="0" rIns="0" bIns="0" rtlCol="0" anchor="ctr"/>
          <a:lstStyle/>
          <a:p>
            <a:pPr indent="0" marL="0">
              <a:buNone/>
            </a:pPr>
            <a:r>
              <a:rPr lang="en-US" sz="1100" b="1" dirty="0">
                <a:solidFill>
                  <a:srgbClr val="1E2761"/>
                </a:solidFill>
                <a:latin typeface="Georgia" pitchFamily="34" charset="0"/>
                <a:ea typeface="Georgia" pitchFamily="34" charset="-122"/>
                <a:cs typeface="Georgia" pitchFamily="34" charset="-120"/>
              </a:rPr>
              <a:t>No Alternative Use + Right to Payment</a:t>
            </a:r>
            <a:endParaRPr lang="en-US" sz="1100" dirty="0"/>
          </a:p>
        </p:txBody>
      </p:sp>
      <p:sp>
        <p:nvSpPr>
          <p:cNvPr id="20" name="Text 18"/>
          <p:cNvSpPr/>
          <p:nvPr/>
        </p:nvSpPr>
        <p:spPr>
          <a:xfrm>
            <a:off x="6355080" y="1938528"/>
            <a:ext cx="2286000" cy="594360"/>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Asset has no alternative use to the entity AND the entity has an enforceable right to payment for work completed to date</a:t>
            </a:r>
            <a:endParaRPr lang="en-US" sz="1000" dirty="0"/>
          </a:p>
        </p:txBody>
      </p:sp>
      <p:sp>
        <p:nvSpPr>
          <p:cNvPr id="21" name="Shape 19"/>
          <p:cNvSpPr/>
          <p:nvPr/>
        </p:nvSpPr>
        <p:spPr>
          <a:xfrm>
            <a:off x="6355080" y="2578608"/>
            <a:ext cx="2286000" cy="54864"/>
          </a:xfrm>
          <a:prstGeom prst="rect">
            <a:avLst/>
          </a:prstGeom>
          <a:solidFill>
            <a:srgbClr val="F4F6FA"/>
          </a:solidFill>
          <a:ln/>
        </p:spPr>
      </p:sp>
      <p:sp>
        <p:nvSpPr>
          <p:cNvPr id="22" name="Text 20"/>
          <p:cNvSpPr/>
          <p:nvPr/>
        </p:nvSpPr>
        <p:spPr>
          <a:xfrm>
            <a:off x="6355080" y="2670048"/>
            <a:ext cx="2286000" cy="320040"/>
          </a:xfrm>
          <a:prstGeom prst="rect">
            <a:avLst/>
          </a:prstGeom>
          <a:noFill/>
          <a:ln/>
        </p:spPr>
        <p:txBody>
          <a:bodyPr wrap="square" lIns="0" tIns="0" rIns="0" bIns="0" rtlCol="0" anchor="ctr"/>
          <a:lstStyle/>
          <a:p>
            <a:pPr indent="0" marL="0">
              <a:buNone/>
            </a:pPr>
            <a:r>
              <a:rPr lang="en-US" sz="950" i="1" dirty="0">
                <a:solidFill>
                  <a:srgbClr val="3A6EA5"/>
                </a:solidFill>
                <a:latin typeface="Calibri" pitchFamily="34" charset="0"/>
                <a:ea typeface="Calibri" pitchFamily="34" charset="-122"/>
                <a:cs typeface="Calibri" pitchFamily="34" charset="-120"/>
              </a:rPr>
              <a:t>Boeing defense contracts (termination-for-convenience)</a:t>
            </a:r>
            <a:endParaRPr lang="en-US" sz="950" dirty="0"/>
          </a:p>
        </p:txBody>
      </p:sp>
      <p:sp>
        <p:nvSpPr>
          <p:cNvPr id="23" name="Shape 21"/>
          <p:cNvSpPr/>
          <p:nvPr/>
        </p:nvSpPr>
        <p:spPr>
          <a:xfrm>
            <a:off x="548640" y="3291840"/>
            <a:ext cx="8046720" cy="594360"/>
          </a:xfrm>
          <a:prstGeom prst="rect">
            <a:avLst/>
          </a:prstGeom>
          <a:solidFill>
            <a:srgbClr val="1E2761"/>
          </a:solidFill>
          <a:ln/>
        </p:spPr>
      </p:sp>
      <p:sp>
        <p:nvSpPr>
          <p:cNvPr id="24" name="Text 22"/>
          <p:cNvSpPr/>
          <p:nvPr/>
        </p:nvSpPr>
        <p:spPr>
          <a:xfrm>
            <a:off x="777240" y="3337560"/>
            <a:ext cx="7589520" cy="22860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If None Apply → Point in Time</a:t>
            </a:r>
            <a:endParaRPr lang="en-US" sz="1300" dirty="0"/>
          </a:p>
        </p:txBody>
      </p:sp>
      <p:sp>
        <p:nvSpPr>
          <p:cNvPr id="25" name="Text 23"/>
          <p:cNvSpPr/>
          <p:nvPr/>
        </p:nvSpPr>
        <p:spPr>
          <a:xfrm>
            <a:off x="777240" y="3584448"/>
            <a:ext cx="7589520" cy="27432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Revenue recognized at the moment control transfers: physical possession, legal title, risks and rewards pass, customer acceptance, or the entity has a present right to payment.</a:t>
            </a:r>
            <a:endParaRPr lang="en-US" sz="1050" dirty="0"/>
          </a:p>
        </p:txBody>
      </p:sp>
      <p:sp>
        <p:nvSpPr>
          <p:cNvPr id="26" name="Text 24"/>
          <p:cNvSpPr/>
          <p:nvPr/>
        </p:nvSpPr>
        <p:spPr>
          <a:xfrm>
            <a:off x="548640" y="4114800"/>
            <a:ext cx="822960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Measuring Progress Over Time</a:t>
            </a:r>
            <a:endParaRPr lang="en-US" sz="1200" dirty="0"/>
          </a:p>
        </p:txBody>
      </p:sp>
      <p:sp>
        <p:nvSpPr>
          <p:cNvPr id="27" name="Shape 25"/>
          <p:cNvSpPr/>
          <p:nvPr/>
        </p:nvSpPr>
        <p:spPr>
          <a:xfrm>
            <a:off x="548640" y="4434840"/>
            <a:ext cx="379476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8" name="Shape 26"/>
          <p:cNvSpPr/>
          <p:nvPr/>
        </p:nvSpPr>
        <p:spPr>
          <a:xfrm>
            <a:off x="548640" y="4434840"/>
            <a:ext cx="54864" cy="594360"/>
          </a:xfrm>
          <a:prstGeom prst="rect">
            <a:avLst/>
          </a:prstGeom>
          <a:solidFill>
            <a:srgbClr val="3A6EA5"/>
          </a:solidFill>
          <a:ln/>
        </p:spPr>
      </p:sp>
      <p:sp>
        <p:nvSpPr>
          <p:cNvPr id="29" name="Text 27"/>
          <p:cNvSpPr/>
          <p:nvPr/>
        </p:nvSpPr>
        <p:spPr>
          <a:xfrm>
            <a:off x="777240" y="4462272"/>
            <a:ext cx="3383280" cy="530352"/>
          </a:xfrm>
          <a:prstGeom prst="rect">
            <a:avLst/>
          </a:prstGeom>
          <a:noFill/>
          <a:ln/>
        </p:spPr>
        <p:txBody>
          <a:bodyPr wrap="square" lIns="0" tIns="0" rIns="0" bIns="0" rtlCol="0" anchor="ctr"/>
          <a:lstStyle/>
          <a:p>
            <a:pPr indent="0" marL="0">
              <a:buNone/>
            </a:pPr>
            <a:r>
              <a:rPr lang="en-US" sz="1100" b="1" dirty="0">
                <a:solidFill>
                  <a:srgbClr val="1E2761"/>
                </a:solidFill>
              </a:rPr>
              <a:t>Input Methods  </a:t>
            </a:r>
            <a:pPr indent="0" marL="0">
              <a:buNone/>
            </a:pPr>
            <a:r>
              <a:rPr lang="en-US" sz="1000" dirty="0">
                <a:solidFill>
                  <a:srgbClr val="4A4A6A"/>
                </a:solidFill>
              </a:rPr>
              <a:t>(costs incurred, labor hours)</a:t>
            </a:r>
            <a:endParaRPr lang="en-US" sz="1100" dirty="0"/>
          </a:p>
          <a:p>
            <a:pPr indent="0" marL="0">
              <a:buNone/>
            </a:pPr>
            <a:r>
              <a:rPr lang="en-US" sz="1000" dirty="0">
                <a:solidFill>
                  <a:srgbClr val="4A4A6A"/>
                </a:solidFill>
              </a:rPr>
              <a:t>Boeing’s cost-to-cost: % complete = costs to date ÷ total estimated costs</a:t>
            </a:r>
            <a:endParaRPr lang="en-US" sz="1100" dirty="0"/>
          </a:p>
        </p:txBody>
      </p:sp>
      <p:sp>
        <p:nvSpPr>
          <p:cNvPr id="30" name="Shape 28"/>
          <p:cNvSpPr/>
          <p:nvPr/>
        </p:nvSpPr>
        <p:spPr>
          <a:xfrm>
            <a:off x="4800600" y="4434840"/>
            <a:ext cx="379476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1" name="Shape 29"/>
          <p:cNvSpPr/>
          <p:nvPr/>
        </p:nvSpPr>
        <p:spPr>
          <a:xfrm>
            <a:off x="4800600" y="4434840"/>
            <a:ext cx="54864" cy="594360"/>
          </a:xfrm>
          <a:prstGeom prst="rect">
            <a:avLst/>
          </a:prstGeom>
          <a:solidFill>
            <a:srgbClr val="3A6EA5"/>
          </a:solidFill>
          <a:ln/>
        </p:spPr>
      </p:sp>
      <p:sp>
        <p:nvSpPr>
          <p:cNvPr id="32" name="Text 30"/>
          <p:cNvSpPr/>
          <p:nvPr/>
        </p:nvSpPr>
        <p:spPr>
          <a:xfrm>
            <a:off x="5029200" y="4462272"/>
            <a:ext cx="3383280" cy="530352"/>
          </a:xfrm>
          <a:prstGeom prst="rect">
            <a:avLst/>
          </a:prstGeom>
          <a:noFill/>
          <a:ln/>
        </p:spPr>
        <p:txBody>
          <a:bodyPr wrap="square" lIns="0" tIns="0" rIns="0" bIns="0" rtlCol="0" anchor="ctr"/>
          <a:lstStyle/>
          <a:p>
            <a:pPr indent="0" marL="0">
              <a:buNone/>
            </a:pPr>
            <a:r>
              <a:rPr lang="en-US" sz="1100" b="1" dirty="0">
                <a:solidFill>
                  <a:srgbClr val="1E2761"/>
                </a:solidFill>
              </a:rPr>
              <a:t>Output Methods  </a:t>
            </a:r>
            <a:pPr indent="0" marL="0">
              <a:buNone/>
            </a:pPr>
            <a:r>
              <a:rPr lang="en-US" sz="1000" dirty="0">
                <a:solidFill>
                  <a:srgbClr val="4A4A6A"/>
                </a:solidFill>
              </a:rPr>
              <a:t>(units delivered, milestones reached)</a:t>
            </a:r>
            <a:endParaRPr lang="en-US" sz="1100" dirty="0"/>
          </a:p>
          <a:p>
            <a:pPr indent="0" marL="0">
              <a:buNone/>
            </a:pPr>
            <a:r>
              <a:rPr lang="en-US" sz="1000" dirty="0">
                <a:solidFill>
                  <a:srgbClr val="4A4A6A"/>
                </a:solidFill>
              </a:rPr>
              <a:t>Pharmaceutical milestones, construction phases completed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Step 5 in Your Readings</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Same standard, radically different recognition patterns</a:t>
            </a:r>
            <a:endParaRPr lang="en-US" sz="1200" dirty="0"/>
          </a:p>
        </p:txBody>
      </p:sp>
      <p:sp>
        <p:nvSpPr>
          <p:cNvPr id="4" name="Shape 2"/>
          <p:cNvSpPr/>
          <p:nvPr/>
        </p:nvSpPr>
        <p:spPr>
          <a:xfrm>
            <a:off x="548640" y="1143000"/>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143000"/>
            <a:ext cx="54864" cy="777240"/>
          </a:xfrm>
          <a:prstGeom prst="rect">
            <a:avLst/>
          </a:prstGeom>
          <a:solidFill>
            <a:srgbClr val="B83232"/>
          </a:solidFill>
          <a:ln/>
        </p:spPr>
      </p:sp>
      <p:sp>
        <p:nvSpPr>
          <p:cNvPr id="6" name="Text 4"/>
          <p:cNvSpPr/>
          <p:nvPr/>
        </p:nvSpPr>
        <p:spPr>
          <a:xfrm>
            <a:off x="777240" y="1188720"/>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Boeing</a:t>
            </a:r>
            <a:endParaRPr lang="en-US" sz="1300" dirty="0"/>
          </a:p>
        </p:txBody>
      </p:sp>
      <p:sp>
        <p:nvSpPr>
          <p:cNvPr id="7" name="Text 5"/>
          <p:cNvSpPr/>
          <p:nvPr/>
        </p:nvSpPr>
        <p:spPr>
          <a:xfrm>
            <a:off x="1874520" y="1188720"/>
            <a:ext cx="36576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Over Time (Defense) vs. Point in Time (Commercial)</a:t>
            </a:r>
            <a:endParaRPr lang="en-US" sz="1100" dirty="0"/>
          </a:p>
        </p:txBody>
      </p:sp>
      <p:sp>
        <p:nvSpPr>
          <p:cNvPr id="8" name="Shape 6"/>
          <p:cNvSpPr/>
          <p:nvPr/>
        </p:nvSpPr>
        <p:spPr>
          <a:xfrm>
            <a:off x="6675120" y="1197864"/>
            <a:ext cx="1737360" cy="219456"/>
          </a:xfrm>
          <a:prstGeom prst="rect">
            <a:avLst/>
          </a:prstGeom>
          <a:solidFill>
            <a:srgbClr val="EDF2F7"/>
          </a:solidFill>
          <a:ln/>
        </p:spPr>
      </p:sp>
      <p:sp>
        <p:nvSpPr>
          <p:cNvPr id="9" name="Text 7"/>
          <p:cNvSpPr/>
          <p:nvPr/>
        </p:nvSpPr>
        <p:spPr>
          <a:xfrm>
            <a:off x="6675120" y="1197864"/>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Both patterns</a:t>
            </a:r>
            <a:endParaRPr lang="en-US" sz="850" dirty="0"/>
          </a:p>
        </p:txBody>
      </p:sp>
      <p:sp>
        <p:nvSpPr>
          <p:cNvPr id="10" name="Text 8"/>
          <p:cNvSpPr/>
          <p:nvPr/>
        </p:nvSpPr>
        <p:spPr>
          <a:xfrm>
            <a:off x="777240" y="1463040"/>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Defense contracts: over time via cost-to-cost (termination-for-convenience gives the government control of WIP). Commercial aircraft: point in time upon delivery and acceptance. Same company, two recognition patterns. The $2.9B catch-up shows the risk of input-method estimates.</a:t>
            </a:r>
            <a:endParaRPr lang="en-US" sz="1050" dirty="0"/>
          </a:p>
        </p:txBody>
      </p:sp>
      <p:sp>
        <p:nvSpPr>
          <p:cNvPr id="11" name="Shape 9"/>
          <p:cNvSpPr/>
          <p:nvPr/>
        </p:nvSpPr>
        <p:spPr>
          <a:xfrm>
            <a:off x="548640" y="2075688"/>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2" name="Shape 10"/>
          <p:cNvSpPr/>
          <p:nvPr/>
        </p:nvSpPr>
        <p:spPr>
          <a:xfrm>
            <a:off x="548640" y="2075688"/>
            <a:ext cx="54864" cy="777240"/>
          </a:xfrm>
          <a:prstGeom prst="rect">
            <a:avLst/>
          </a:prstGeom>
          <a:solidFill>
            <a:srgbClr val="3A6EA5"/>
          </a:solidFill>
          <a:ln/>
        </p:spPr>
      </p:sp>
      <p:sp>
        <p:nvSpPr>
          <p:cNvPr id="13" name="Text 11"/>
          <p:cNvSpPr/>
          <p:nvPr/>
        </p:nvSpPr>
        <p:spPr>
          <a:xfrm>
            <a:off x="777240" y="2121408"/>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Tesla</a:t>
            </a:r>
            <a:endParaRPr lang="en-US" sz="1300" dirty="0"/>
          </a:p>
        </p:txBody>
      </p:sp>
      <p:sp>
        <p:nvSpPr>
          <p:cNvPr id="14" name="Text 12"/>
          <p:cNvSpPr/>
          <p:nvPr/>
        </p:nvSpPr>
        <p:spPr>
          <a:xfrm>
            <a:off x="1874520" y="2121408"/>
            <a:ext cx="36576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Point in Time + Multiple Over-Time Streams</a:t>
            </a:r>
            <a:endParaRPr lang="en-US" sz="1100" dirty="0"/>
          </a:p>
        </p:txBody>
      </p:sp>
      <p:sp>
        <p:nvSpPr>
          <p:cNvPr id="15" name="Shape 13"/>
          <p:cNvSpPr/>
          <p:nvPr/>
        </p:nvSpPr>
        <p:spPr>
          <a:xfrm>
            <a:off x="6675120" y="2130552"/>
            <a:ext cx="1737360" cy="219456"/>
          </a:xfrm>
          <a:prstGeom prst="rect">
            <a:avLst/>
          </a:prstGeom>
          <a:solidFill>
            <a:srgbClr val="EDF2F7"/>
          </a:solidFill>
          <a:ln/>
        </p:spPr>
      </p:sp>
      <p:sp>
        <p:nvSpPr>
          <p:cNvPr id="16" name="Text 14"/>
          <p:cNvSpPr/>
          <p:nvPr/>
        </p:nvSpPr>
        <p:spPr>
          <a:xfrm>
            <a:off x="6675120" y="2130552"/>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Split recognition</a:t>
            </a:r>
            <a:endParaRPr lang="en-US" sz="850" dirty="0"/>
          </a:p>
        </p:txBody>
      </p:sp>
      <p:sp>
        <p:nvSpPr>
          <p:cNvPr id="17" name="Text 15"/>
          <p:cNvSpPr/>
          <p:nvPr/>
        </p:nvSpPr>
        <p:spPr>
          <a:xfrm>
            <a:off x="777240" y="2395728"/>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Vehicle delivery: point in time (control transfers to the buyer). FSD, connectivity, Supercharging: over time as the stand-ready obligations are fulfilled. Tesla recognizes the car revenue on delivery day, then drips out deferred revenue over years.</a:t>
            </a:r>
            <a:endParaRPr lang="en-US" sz="1050" dirty="0"/>
          </a:p>
        </p:txBody>
      </p:sp>
      <p:sp>
        <p:nvSpPr>
          <p:cNvPr id="18" name="Shape 16"/>
          <p:cNvSpPr/>
          <p:nvPr/>
        </p:nvSpPr>
        <p:spPr>
          <a:xfrm>
            <a:off x="548640" y="3008376"/>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548640" y="3008376"/>
            <a:ext cx="54864" cy="777240"/>
          </a:xfrm>
          <a:prstGeom prst="rect">
            <a:avLst/>
          </a:prstGeom>
          <a:solidFill>
            <a:srgbClr val="C68A00"/>
          </a:solidFill>
          <a:ln/>
        </p:spPr>
      </p:sp>
      <p:sp>
        <p:nvSpPr>
          <p:cNvPr id="20" name="Text 18"/>
          <p:cNvSpPr/>
          <p:nvPr/>
        </p:nvSpPr>
        <p:spPr>
          <a:xfrm>
            <a:off x="777240" y="3054096"/>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Uber</a:t>
            </a:r>
            <a:endParaRPr lang="en-US" sz="1300" dirty="0"/>
          </a:p>
        </p:txBody>
      </p:sp>
      <p:sp>
        <p:nvSpPr>
          <p:cNvPr id="21" name="Text 19"/>
          <p:cNvSpPr/>
          <p:nvPr/>
        </p:nvSpPr>
        <p:spPr>
          <a:xfrm>
            <a:off x="1874520" y="3054096"/>
            <a:ext cx="36576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Over Time (Each Trip)</a:t>
            </a:r>
            <a:endParaRPr lang="en-US" sz="1100" dirty="0"/>
          </a:p>
        </p:txBody>
      </p:sp>
      <p:sp>
        <p:nvSpPr>
          <p:cNvPr id="22" name="Shape 20"/>
          <p:cNvSpPr/>
          <p:nvPr/>
        </p:nvSpPr>
        <p:spPr>
          <a:xfrm>
            <a:off x="6675120" y="3063240"/>
            <a:ext cx="1737360" cy="219456"/>
          </a:xfrm>
          <a:prstGeom prst="rect">
            <a:avLst/>
          </a:prstGeom>
          <a:solidFill>
            <a:srgbClr val="EDF2F7"/>
          </a:solidFill>
          <a:ln/>
        </p:spPr>
      </p:sp>
      <p:sp>
        <p:nvSpPr>
          <p:cNvPr id="23" name="Text 21"/>
          <p:cNvSpPr/>
          <p:nvPr/>
        </p:nvSpPr>
        <p:spPr>
          <a:xfrm>
            <a:off x="6675120" y="3063240"/>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Simultaneous receipt</a:t>
            </a:r>
            <a:endParaRPr lang="en-US" sz="850" dirty="0"/>
          </a:p>
        </p:txBody>
      </p:sp>
      <p:sp>
        <p:nvSpPr>
          <p:cNvPr id="24" name="Text 22"/>
          <p:cNvSpPr/>
          <p:nvPr/>
        </p:nvSpPr>
        <p:spPr>
          <a:xfrm>
            <a:off x="777240" y="3328416"/>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Each ride is a performance obligation satisfied over time — the rider simultaneously receives and consumes the transportation service as the driver provides it. Revenue is recognized trip by trip as each is completed. The simplicity is striking compared to Boeing or Tesla.</a:t>
            </a:r>
            <a:endParaRPr lang="en-US" sz="1050" dirty="0"/>
          </a:p>
        </p:txBody>
      </p:sp>
      <p:sp>
        <p:nvSpPr>
          <p:cNvPr id="25" name="Shape 23"/>
          <p:cNvSpPr/>
          <p:nvPr/>
        </p:nvSpPr>
        <p:spPr>
          <a:xfrm>
            <a:off x="548640" y="3941064"/>
            <a:ext cx="8046720" cy="7772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548640" y="3941064"/>
            <a:ext cx="54864" cy="777240"/>
          </a:xfrm>
          <a:prstGeom prst="rect">
            <a:avLst/>
          </a:prstGeom>
          <a:solidFill>
            <a:srgbClr val="2A7A4B"/>
          </a:solidFill>
          <a:ln/>
        </p:spPr>
      </p:sp>
      <p:sp>
        <p:nvSpPr>
          <p:cNvPr id="27" name="Text 25"/>
          <p:cNvSpPr/>
          <p:nvPr/>
        </p:nvSpPr>
        <p:spPr>
          <a:xfrm>
            <a:off x="777240" y="3986784"/>
            <a:ext cx="109728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Moderna</a:t>
            </a:r>
            <a:endParaRPr lang="en-US" sz="1300" dirty="0"/>
          </a:p>
        </p:txBody>
      </p:sp>
      <p:sp>
        <p:nvSpPr>
          <p:cNvPr id="28" name="Text 26"/>
          <p:cNvSpPr/>
          <p:nvPr/>
        </p:nvSpPr>
        <p:spPr>
          <a:xfrm>
            <a:off x="1874520" y="3986784"/>
            <a:ext cx="3657600" cy="256032"/>
          </a:xfrm>
          <a:prstGeom prst="rect">
            <a:avLst/>
          </a:prstGeom>
          <a:noFill/>
          <a:ln/>
        </p:spPr>
        <p:txBody>
          <a:bodyPr wrap="square" lIns="0" tIns="0" rIns="0" bIns="0" rtlCol="0" anchor="ctr"/>
          <a:lstStyle/>
          <a:p>
            <a:pPr indent="0" marL="0">
              <a:buNone/>
            </a:pPr>
            <a:r>
              <a:rPr lang="en-US" sz="1100" b="1" dirty="0">
                <a:solidFill>
                  <a:srgbClr val="3A6EA5"/>
                </a:solidFill>
                <a:latin typeface="Calibri" pitchFamily="34" charset="0"/>
                <a:ea typeface="Calibri" pitchFamily="34" charset="-122"/>
                <a:cs typeface="Calibri" pitchFamily="34" charset="-120"/>
              </a:rPr>
              <a:t>Bill-and-Hold: Point in Time Without Delivery</a:t>
            </a:r>
            <a:endParaRPr lang="en-US" sz="1100" dirty="0"/>
          </a:p>
        </p:txBody>
      </p:sp>
      <p:sp>
        <p:nvSpPr>
          <p:cNvPr id="29" name="Shape 27"/>
          <p:cNvSpPr/>
          <p:nvPr/>
        </p:nvSpPr>
        <p:spPr>
          <a:xfrm>
            <a:off x="6675120" y="3995928"/>
            <a:ext cx="1737360" cy="219456"/>
          </a:xfrm>
          <a:prstGeom prst="rect">
            <a:avLst/>
          </a:prstGeom>
          <a:solidFill>
            <a:srgbClr val="EDF2F7"/>
          </a:solidFill>
          <a:ln/>
        </p:spPr>
      </p:sp>
      <p:sp>
        <p:nvSpPr>
          <p:cNvPr id="30" name="Text 28"/>
          <p:cNvSpPr/>
          <p:nvPr/>
        </p:nvSpPr>
        <p:spPr>
          <a:xfrm>
            <a:off x="6675120" y="3995928"/>
            <a:ext cx="1737360" cy="219456"/>
          </a:xfrm>
          <a:prstGeom prst="rect">
            <a:avLst/>
          </a:prstGeom>
          <a:noFill/>
          <a:ln/>
        </p:spPr>
        <p:txBody>
          <a:bodyPr wrap="square" lIns="0" tIns="0" rIns="0" bIns="0" rtlCol="0" anchor="ctr"/>
          <a:lstStyle/>
          <a:p>
            <a:pPr algn="ctr" indent="0" marL="0">
              <a:buNone/>
            </a:pPr>
            <a:r>
              <a:rPr lang="en-US" sz="850" dirty="0">
                <a:solidFill>
                  <a:srgbClr val="4A4A6A"/>
                </a:solidFill>
                <a:latin typeface="Calibri" pitchFamily="34" charset="0"/>
                <a:ea typeface="Calibri" pitchFamily="34" charset="-122"/>
                <a:cs typeface="Calibri" pitchFamily="34" charset="-120"/>
              </a:rPr>
              <a:t>Bill-and-hold</a:t>
            </a:r>
            <a:endParaRPr lang="en-US" sz="850" dirty="0"/>
          </a:p>
        </p:txBody>
      </p:sp>
      <p:sp>
        <p:nvSpPr>
          <p:cNvPr id="31" name="Text 29"/>
          <p:cNvSpPr/>
          <p:nvPr/>
        </p:nvSpPr>
        <p:spPr>
          <a:xfrm>
            <a:off x="777240" y="4261104"/>
            <a:ext cx="7589520" cy="411480"/>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Vaccines manufactured for the Strategic National Stockpile are billed but physically stored by Moderna. ASC 606 allows point-in-time recognition if: the arrangement is substantive, the product is identified and ready, and Moderna can’t use or redirect it. This is Sunbeam’s bill-and-hold, done legitimately.</a:t>
            </a:r>
            <a:endParaRPr lang="en-US" sz="1050" dirty="0"/>
          </a:p>
        </p:txBody>
      </p:sp>
      <p:sp>
        <p:nvSpPr>
          <p:cNvPr id="32" name="Text 30"/>
          <p:cNvSpPr/>
          <p:nvPr/>
        </p:nvSpPr>
        <p:spPr>
          <a:xfrm>
            <a:off x="548640" y="4709160"/>
            <a:ext cx="8046720" cy="320040"/>
          </a:xfrm>
          <a:prstGeom prst="rect">
            <a:avLst/>
          </a:prstGeom>
          <a:noFill/>
          <a:ln/>
        </p:spPr>
        <p:txBody>
          <a:bodyPr wrap="square" lIns="0" tIns="0" rIns="0" bIns="0" rtlCol="0" anchor="ctr"/>
          <a:lstStyle/>
          <a:p>
            <a:pPr indent="0" marL="0">
              <a:buNone/>
            </a:pPr>
            <a:r>
              <a:rPr lang="en-US" sz="1150" i="1" dirty="0">
                <a:solidFill>
                  <a:srgbClr val="3A6EA5"/>
                </a:solidFill>
                <a:latin typeface="Calibri" pitchFamily="34" charset="0"/>
                <a:ea typeface="Calibri" pitchFamily="34" charset="-122"/>
                <a:cs typeface="Calibri" pitchFamily="34" charset="-120"/>
              </a:rPr>
              <a:t>ASC 606 didn’t eliminate judgment — it moved it. The question is no longer “is the earnings process complete?” but “does the customer have control?” That’s a legal concept law students can evaluate.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A6EA5"/>
          </a:solidFill>
          <a:ln/>
        </p:spPr>
      </p:sp>
      <p:sp>
        <p:nvSpPr>
          <p:cNvPr id="3" name="Text 1"/>
          <p:cNvSpPr/>
          <p:nvPr/>
        </p:nvSpPr>
        <p:spPr>
          <a:xfrm>
            <a:off x="731520" y="1188720"/>
            <a:ext cx="7772400" cy="9144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Does ASC 606 solve the problem?</a:t>
            </a:r>
            <a:endParaRPr lang="en-US" sz="3600" dirty="0"/>
          </a:p>
        </p:txBody>
      </p:sp>
      <p:sp>
        <p:nvSpPr>
          <p:cNvPr id="4" name="Text 2"/>
          <p:cNvSpPr/>
          <p:nvPr/>
        </p:nvSpPr>
        <p:spPr>
          <a:xfrm>
            <a:off x="731520" y="2103120"/>
            <a:ext cx="7772400" cy="64008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Or does it just move the judgment calls to different places?</a:t>
            </a:r>
            <a:endParaRPr lang="en-US" sz="2000" dirty="0"/>
          </a:p>
        </p:txBody>
      </p:sp>
      <p:sp>
        <p:nvSpPr>
          <p:cNvPr id="5" name="Shape 3"/>
          <p:cNvSpPr/>
          <p:nvPr/>
        </p:nvSpPr>
        <p:spPr>
          <a:xfrm>
            <a:off x="731520" y="3108960"/>
            <a:ext cx="2743200" cy="0"/>
          </a:xfrm>
          <a:prstGeom prst="line">
            <a:avLst/>
          </a:prstGeom>
          <a:noFill/>
          <a:ln w="25400">
            <a:solidFill>
              <a:srgbClr val="3A6EA5"/>
            </a:solidFill>
            <a:prstDash val="solid"/>
          </a:ln>
        </p:spPr>
      </p:sp>
      <p:sp>
        <p:nvSpPr>
          <p:cNvPr id="6" name="Text 4"/>
          <p:cNvSpPr/>
          <p:nvPr/>
        </p:nvSpPr>
        <p:spPr>
          <a:xfrm>
            <a:off x="731520" y="3383280"/>
            <a:ext cx="7315200" cy="457200"/>
          </a:xfrm>
          <a:prstGeom prst="rect">
            <a:avLst/>
          </a:prstGeom>
          <a:noFill/>
          <a:ln/>
        </p:spPr>
        <p:txBody>
          <a:bodyPr wrap="square" lIns="0" tIns="0" rIns="0" bIns="0" rtlCol="0" anchor="ctr"/>
          <a:lstStyle/>
          <a:p>
            <a:pPr indent="0" marL="0">
              <a:buNone/>
            </a:pPr>
            <a:r>
              <a:rPr lang="en-US" sz="1500" dirty="0">
                <a:solidFill>
                  <a:srgbClr val="8888AA"/>
                </a:solidFill>
                <a:latin typeface="Calibri" pitchFamily="34" charset="0"/>
                <a:ea typeface="Calibri" pitchFamily="34" charset="-122"/>
                <a:cs typeface="Calibri" pitchFamily="34" charset="-120"/>
              </a:rPr>
              <a:t>Rules vs. Standards — a question law students know well.</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A6EA5"/>
          </a:solidFill>
          <a:ln/>
        </p:spPr>
      </p:sp>
      <p:sp>
        <p:nvSpPr>
          <p:cNvPr id="3" name="Text 1"/>
          <p:cNvSpPr/>
          <p:nvPr/>
        </p:nvSpPr>
        <p:spPr>
          <a:xfrm>
            <a:off x="731520" y="137160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Appendix</a:t>
            </a:r>
            <a:endParaRPr lang="en-US" sz="4400" dirty="0"/>
          </a:p>
        </p:txBody>
      </p:sp>
      <p:sp>
        <p:nvSpPr>
          <p:cNvPr id="4" name="Text 2"/>
          <p:cNvSpPr/>
          <p:nvPr/>
        </p:nvSpPr>
        <p:spPr>
          <a:xfrm>
            <a:off x="731520" y="2286000"/>
            <a:ext cx="7772400" cy="64008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Institutional Background, Global Convergence, and IFRS 15 Comparison</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37160"/>
            <a:ext cx="8229600" cy="50292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Who Makes the Rules?</a:t>
            </a:r>
            <a:endParaRPr lang="en-US" sz="2800" dirty="0"/>
          </a:p>
        </p:txBody>
      </p:sp>
      <p:sp>
        <p:nvSpPr>
          <p:cNvPr id="3" name="Text 1"/>
          <p:cNvSpPr/>
          <p:nvPr/>
        </p:nvSpPr>
        <p:spPr>
          <a:xfrm>
            <a:off x="548640" y="594360"/>
            <a:ext cx="8046720" cy="27432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The standard-setting ecosystem that produced — and tried to fix — the patchwork</a:t>
            </a:r>
            <a:endParaRPr lang="en-US" sz="1200" dirty="0"/>
          </a:p>
        </p:txBody>
      </p:sp>
      <p:sp>
        <p:nvSpPr>
          <p:cNvPr id="4" name="Shape 2"/>
          <p:cNvSpPr/>
          <p:nvPr/>
        </p:nvSpPr>
        <p:spPr>
          <a:xfrm>
            <a:off x="548640" y="1051560"/>
            <a:ext cx="3931920" cy="1234440"/>
          </a:xfrm>
          <a:prstGeom prst="rect">
            <a:avLst/>
          </a:prstGeom>
          <a:solidFill>
            <a:srgbClr val="B83232"/>
          </a:solidFill>
          <a:ln/>
        </p:spPr>
      </p:sp>
      <p:sp>
        <p:nvSpPr>
          <p:cNvPr id="5" name="Text 3"/>
          <p:cNvSpPr/>
          <p:nvPr/>
        </p:nvSpPr>
        <p:spPr>
          <a:xfrm>
            <a:off x="731520" y="1124712"/>
            <a:ext cx="118872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SEC</a:t>
            </a:r>
            <a:endParaRPr lang="en-US" sz="2200" dirty="0"/>
          </a:p>
        </p:txBody>
      </p:sp>
      <p:sp>
        <p:nvSpPr>
          <p:cNvPr id="6" name="Text 4"/>
          <p:cNvSpPr/>
          <p:nvPr/>
        </p:nvSpPr>
        <p:spPr>
          <a:xfrm>
            <a:off x="1920240" y="1124712"/>
            <a:ext cx="2377440" cy="41148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Securities and Exchange</a:t>
            </a:r>
            <a:endParaRPr lang="en-US" sz="950" dirty="0"/>
          </a:p>
          <a:p>
            <a:pPr indent="0" marL="0">
              <a:buNone/>
            </a:pPr>
            <a:r>
              <a:rPr lang="en-US" sz="950" dirty="0">
                <a:solidFill>
                  <a:srgbClr val="CADCFC"/>
                </a:solidFill>
                <a:latin typeface="Calibri" pitchFamily="34" charset="0"/>
                <a:ea typeface="Calibri" pitchFamily="34" charset="-122"/>
                <a:cs typeface="Calibri" pitchFamily="34" charset="-120"/>
              </a:rPr>
              <a:t>Commission</a:t>
            </a:r>
            <a:endParaRPr lang="en-US" sz="950" dirty="0"/>
          </a:p>
        </p:txBody>
      </p:sp>
      <p:sp>
        <p:nvSpPr>
          <p:cNvPr id="7" name="Text 5"/>
          <p:cNvSpPr/>
          <p:nvPr/>
        </p:nvSpPr>
        <p:spPr>
          <a:xfrm>
            <a:off x="731520" y="1600200"/>
            <a:ext cx="3566160" cy="594360"/>
          </a:xfrm>
          <a:prstGeom prst="rect">
            <a:avLst/>
          </a:prstGeom>
          <a:noFill/>
          <a:ln/>
        </p:spPr>
        <p:txBody>
          <a:bodyPr wrap="square" lIns="0" tIns="0" rIns="0" bIns="0" rtlCol="0" anchor="ctr"/>
          <a:lstStyle/>
          <a:p>
            <a:pPr indent="0" marL="0">
              <a:buNone/>
            </a:pPr>
            <a:r>
              <a:rPr lang="en-US" sz="1050" dirty="0">
                <a:solidFill>
                  <a:srgbClr val="D0D8E8"/>
                </a:solidFill>
                <a:latin typeface="Calibri" pitchFamily="34" charset="0"/>
                <a:ea typeface="Calibri" pitchFamily="34" charset="-122"/>
                <a:cs typeface="Calibri" pitchFamily="34" charset="-120"/>
              </a:rPr>
              <a:t>Statutory authority over financial reporting for public companies. Congress gave it the power. Delegated standard-setting to FASB but retains veto power. Issues Staff Accounting Bulletins (SABs) interpreting GAAP.</a:t>
            </a:r>
            <a:endParaRPr lang="en-US" sz="1050" dirty="0"/>
          </a:p>
        </p:txBody>
      </p:sp>
      <p:sp>
        <p:nvSpPr>
          <p:cNvPr id="8" name="Shape 6"/>
          <p:cNvSpPr/>
          <p:nvPr/>
        </p:nvSpPr>
        <p:spPr>
          <a:xfrm>
            <a:off x="4663440" y="1051560"/>
            <a:ext cx="3931920" cy="1234440"/>
          </a:xfrm>
          <a:prstGeom prst="rect">
            <a:avLst/>
          </a:prstGeom>
          <a:solidFill>
            <a:srgbClr val="2E6B50"/>
          </a:solidFill>
          <a:ln/>
        </p:spPr>
      </p:sp>
      <p:sp>
        <p:nvSpPr>
          <p:cNvPr id="9" name="Text 7"/>
          <p:cNvSpPr/>
          <p:nvPr/>
        </p:nvSpPr>
        <p:spPr>
          <a:xfrm>
            <a:off x="4846320" y="1124712"/>
            <a:ext cx="1188720" cy="41148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IASB</a:t>
            </a:r>
            <a:endParaRPr lang="en-US" sz="2200" dirty="0"/>
          </a:p>
        </p:txBody>
      </p:sp>
      <p:sp>
        <p:nvSpPr>
          <p:cNvPr id="10" name="Text 8"/>
          <p:cNvSpPr/>
          <p:nvPr/>
        </p:nvSpPr>
        <p:spPr>
          <a:xfrm>
            <a:off x="6035040" y="1124712"/>
            <a:ext cx="2377440" cy="41148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International Accounting</a:t>
            </a:r>
            <a:endParaRPr lang="en-US" sz="950" dirty="0"/>
          </a:p>
          <a:p>
            <a:pPr indent="0" marL="0">
              <a:buNone/>
            </a:pPr>
            <a:r>
              <a:rPr lang="en-US" sz="950" dirty="0">
                <a:solidFill>
                  <a:srgbClr val="CADCFC"/>
                </a:solidFill>
                <a:latin typeface="Calibri" pitchFamily="34" charset="0"/>
                <a:ea typeface="Calibri" pitchFamily="34" charset="-122"/>
                <a:cs typeface="Calibri" pitchFamily="34" charset="-120"/>
              </a:rPr>
              <a:t>Standards Board</a:t>
            </a:r>
            <a:endParaRPr lang="en-US" sz="950" dirty="0"/>
          </a:p>
        </p:txBody>
      </p:sp>
      <p:sp>
        <p:nvSpPr>
          <p:cNvPr id="11" name="Text 9"/>
          <p:cNvSpPr/>
          <p:nvPr/>
        </p:nvSpPr>
        <p:spPr>
          <a:xfrm>
            <a:off x="4846320" y="1600200"/>
            <a:ext cx="3566160" cy="594360"/>
          </a:xfrm>
          <a:prstGeom prst="rect">
            <a:avLst/>
          </a:prstGeom>
          <a:noFill/>
          <a:ln/>
        </p:spPr>
        <p:txBody>
          <a:bodyPr wrap="square" lIns="0" tIns="0" rIns="0" bIns="0" rtlCol="0" anchor="ctr"/>
          <a:lstStyle/>
          <a:p>
            <a:pPr indent="0" marL="0">
              <a:buNone/>
            </a:pPr>
            <a:r>
              <a:rPr lang="en-US" sz="1050" dirty="0">
                <a:solidFill>
                  <a:srgbClr val="D0D8E8"/>
                </a:solidFill>
                <a:latin typeface="Calibri" pitchFamily="34" charset="0"/>
                <a:ea typeface="Calibri" pitchFamily="34" charset="-122"/>
                <a:cs typeface="Calibri" pitchFamily="34" charset="-120"/>
              </a:rPr>
              <a:t>Sets IFRS for 140+ countries. Co-developed IFRS 15 with FASB via the Norwalk Agreement (2002). Operates independently of U.S. regulatory authority.</a:t>
            </a:r>
            <a:endParaRPr lang="en-US" sz="1050" dirty="0"/>
          </a:p>
        </p:txBody>
      </p:sp>
      <p:sp>
        <p:nvSpPr>
          <p:cNvPr id="12" name="Text 10"/>
          <p:cNvSpPr/>
          <p:nvPr/>
        </p:nvSpPr>
        <p:spPr>
          <a:xfrm>
            <a:off x="548640" y="2304288"/>
            <a:ext cx="3931920" cy="182880"/>
          </a:xfrm>
          <a:prstGeom prst="rect">
            <a:avLst/>
          </a:prstGeom>
          <a:noFill/>
          <a:ln/>
        </p:spPr>
        <p:txBody>
          <a:bodyPr wrap="square" lIns="0" tIns="0" rIns="0" bIns="0" rtlCol="0" anchor="ctr"/>
          <a:lstStyle/>
          <a:p>
            <a:pPr algn="ctr" indent="0" marL="0">
              <a:buNone/>
            </a:pPr>
            <a:r>
              <a:rPr lang="en-US" sz="850" dirty="0">
                <a:solidFill>
                  <a:srgbClr val="8888AA"/>
                </a:solidFill>
                <a:latin typeface="Calibri" pitchFamily="34" charset="0"/>
                <a:ea typeface="Calibri" pitchFamily="34" charset="-122"/>
                <a:cs typeface="Calibri" pitchFamily="34" charset="-120"/>
              </a:rPr>
              <a:t>▼  delegates to</a:t>
            </a:r>
            <a:endParaRPr lang="en-US" sz="850" dirty="0"/>
          </a:p>
        </p:txBody>
      </p:sp>
      <p:sp>
        <p:nvSpPr>
          <p:cNvPr id="13" name="Shape 11"/>
          <p:cNvSpPr/>
          <p:nvPr/>
        </p:nvSpPr>
        <p:spPr>
          <a:xfrm>
            <a:off x="548640" y="2514600"/>
            <a:ext cx="3931920" cy="1143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548640" y="2514600"/>
            <a:ext cx="54864" cy="1143000"/>
          </a:xfrm>
          <a:prstGeom prst="rect">
            <a:avLst/>
          </a:prstGeom>
          <a:solidFill>
            <a:srgbClr val="1E2761"/>
          </a:solidFill>
          <a:ln/>
        </p:spPr>
      </p:sp>
      <p:sp>
        <p:nvSpPr>
          <p:cNvPr id="15" name="Text 13"/>
          <p:cNvSpPr/>
          <p:nvPr/>
        </p:nvSpPr>
        <p:spPr>
          <a:xfrm>
            <a:off x="731520" y="2587752"/>
            <a:ext cx="1005840" cy="320040"/>
          </a:xfrm>
          <a:prstGeom prst="rect">
            <a:avLst/>
          </a:prstGeom>
          <a:noFill/>
          <a:ln/>
        </p:spPr>
        <p:txBody>
          <a:bodyPr wrap="square" lIns="0" tIns="0" rIns="0" bIns="0"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FASB</a:t>
            </a:r>
            <a:endParaRPr lang="en-US" sz="1800" dirty="0"/>
          </a:p>
        </p:txBody>
      </p:sp>
      <p:sp>
        <p:nvSpPr>
          <p:cNvPr id="16" name="Text 14"/>
          <p:cNvSpPr/>
          <p:nvPr/>
        </p:nvSpPr>
        <p:spPr>
          <a:xfrm>
            <a:off x="1737360" y="2587752"/>
            <a:ext cx="2560320" cy="320040"/>
          </a:xfrm>
          <a:prstGeom prst="rect">
            <a:avLst/>
          </a:prstGeom>
          <a:noFill/>
          <a:ln/>
        </p:spPr>
        <p:txBody>
          <a:bodyPr wrap="square" lIns="0" tIns="0" rIns="0" bIns="0" rtlCol="0" anchor="ctr"/>
          <a:lstStyle/>
          <a:p>
            <a:pPr indent="0" marL="0">
              <a:buNone/>
            </a:pPr>
            <a:r>
              <a:rPr lang="en-US" sz="900" dirty="0">
                <a:solidFill>
                  <a:srgbClr val="8888AA"/>
                </a:solidFill>
                <a:latin typeface="Calibri" pitchFamily="34" charset="0"/>
                <a:ea typeface="Calibri" pitchFamily="34" charset="-122"/>
                <a:cs typeface="Calibri" pitchFamily="34" charset="-120"/>
              </a:rPr>
              <a:t>Financial Accounting Standards Board</a:t>
            </a:r>
            <a:endParaRPr lang="en-US" sz="900" dirty="0"/>
          </a:p>
        </p:txBody>
      </p:sp>
      <p:sp>
        <p:nvSpPr>
          <p:cNvPr id="17" name="Text 15"/>
          <p:cNvSpPr/>
          <p:nvPr/>
        </p:nvSpPr>
        <p:spPr>
          <a:xfrm>
            <a:off x="731520" y="2926080"/>
            <a:ext cx="3566160" cy="640080"/>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Sets U.S. GAAP under SEC authority. Private-sector body. Issued ASC 606. The SEC can always overrule the FASB.</a:t>
            </a:r>
            <a:endParaRPr lang="en-US" sz="1000" dirty="0"/>
          </a:p>
        </p:txBody>
      </p:sp>
      <p:sp>
        <p:nvSpPr>
          <p:cNvPr id="18" name="Shape 16"/>
          <p:cNvSpPr/>
          <p:nvPr/>
        </p:nvSpPr>
        <p:spPr>
          <a:xfrm>
            <a:off x="4663440" y="2514600"/>
            <a:ext cx="3931920" cy="1143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2514600"/>
            <a:ext cx="54864" cy="1143000"/>
          </a:xfrm>
          <a:prstGeom prst="rect">
            <a:avLst/>
          </a:prstGeom>
          <a:solidFill>
            <a:srgbClr val="3A6EA5"/>
          </a:solidFill>
          <a:ln/>
        </p:spPr>
      </p:sp>
      <p:sp>
        <p:nvSpPr>
          <p:cNvPr id="20" name="Text 18"/>
          <p:cNvSpPr/>
          <p:nvPr/>
        </p:nvSpPr>
        <p:spPr>
          <a:xfrm>
            <a:off x="4846320" y="2587752"/>
            <a:ext cx="1005840" cy="320040"/>
          </a:xfrm>
          <a:prstGeom prst="rect">
            <a:avLst/>
          </a:prstGeom>
          <a:noFill/>
          <a:ln/>
        </p:spPr>
        <p:txBody>
          <a:bodyPr wrap="square" lIns="0" tIns="0" rIns="0" bIns="0"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AICPA</a:t>
            </a:r>
            <a:endParaRPr lang="en-US" sz="1800" dirty="0"/>
          </a:p>
        </p:txBody>
      </p:sp>
      <p:sp>
        <p:nvSpPr>
          <p:cNvPr id="21" name="Text 19"/>
          <p:cNvSpPr/>
          <p:nvPr/>
        </p:nvSpPr>
        <p:spPr>
          <a:xfrm>
            <a:off x="5852160" y="2587752"/>
            <a:ext cx="2560320" cy="320040"/>
          </a:xfrm>
          <a:prstGeom prst="rect">
            <a:avLst/>
          </a:prstGeom>
          <a:noFill/>
          <a:ln/>
        </p:spPr>
        <p:txBody>
          <a:bodyPr wrap="square" lIns="0" tIns="0" rIns="0" bIns="0" rtlCol="0" anchor="ctr"/>
          <a:lstStyle/>
          <a:p>
            <a:pPr indent="0" marL="0">
              <a:buNone/>
            </a:pPr>
            <a:r>
              <a:rPr lang="en-US" sz="900" dirty="0">
                <a:solidFill>
                  <a:srgbClr val="8888AA"/>
                </a:solidFill>
                <a:latin typeface="Calibri" pitchFamily="34" charset="0"/>
                <a:ea typeface="Calibri" pitchFamily="34" charset="-122"/>
                <a:cs typeface="Calibri" pitchFamily="34" charset="-120"/>
              </a:rPr>
              <a:t>American Institute of CPAs</a:t>
            </a:r>
            <a:endParaRPr lang="en-US" sz="900" dirty="0"/>
          </a:p>
        </p:txBody>
      </p:sp>
      <p:sp>
        <p:nvSpPr>
          <p:cNvPr id="22" name="Text 20"/>
          <p:cNvSpPr/>
          <p:nvPr/>
        </p:nvSpPr>
        <p:spPr>
          <a:xfrm>
            <a:off x="4846320" y="2926080"/>
            <a:ext cx="3566160" cy="640080"/>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Professional body for CPAs. Historically issued SOPs that became GAAP — SOP 97-2 (software), SOP 81-1 (construction), SOP 00-2 (film). Since 2009, standard-setting role absorbed by FASB.</a:t>
            </a:r>
            <a:endParaRPr lang="en-US" sz="1000" dirty="0"/>
          </a:p>
        </p:txBody>
      </p:sp>
      <p:sp>
        <p:nvSpPr>
          <p:cNvPr id="23" name="Shape 21"/>
          <p:cNvSpPr/>
          <p:nvPr/>
        </p:nvSpPr>
        <p:spPr>
          <a:xfrm>
            <a:off x="548640" y="3840480"/>
            <a:ext cx="39319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4" name="Shape 22"/>
          <p:cNvSpPr/>
          <p:nvPr/>
        </p:nvSpPr>
        <p:spPr>
          <a:xfrm>
            <a:off x="548640" y="3840480"/>
            <a:ext cx="54864" cy="1051560"/>
          </a:xfrm>
          <a:prstGeom prst="rect">
            <a:avLst/>
          </a:prstGeom>
          <a:solidFill>
            <a:srgbClr val="C68A00"/>
          </a:solidFill>
          <a:ln/>
        </p:spPr>
      </p:sp>
      <p:sp>
        <p:nvSpPr>
          <p:cNvPr id="25" name="Text 23"/>
          <p:cNvSpPr/>
          <p:nvPr/>
        </p:nvSpPr>
        <p:spPr>
          <a:xfrm>
            <a:off x="731520" y="3895344"/>
            <a:ext cx="1005840" cy="292608"/>
          </a:xfrm>
          <a:prstGeom prst="rect">
            <a:avLst/>
          </a:prstGeom>
          <a:noFill/>
          <a:ln/>
        </p:spPr>
        <p:txBody>
          <a:bodyPr wrap="square" lIns="0" tIns="0" rIns="0" bIns="0"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EITF</a:t>
            </a:r>
            <a:endParaRPr lang="en-US" sz="1800" dirty="0"/>
          </a:p>
        </p:txBody>
      </p:sp>
      <p:sp>
        <p:nvSpPr>
          <p:cNvPr id="26" name="Text 24"/>
          <p:cNvSpPr/>
          <p:nvPr/>
        </p:nvSpPr>
        <p:spPr>
          <a:xfrm>
            <a:off x="1737360" y="3895344"/>
            <a:ext cx="2560320" cy="292608"/>
          </a:xfrm>
          <a:prstGeom prst="rect">
            <a:avLst/>
          </a:prstGeom>
          <a:noFill/>
          <a:ln/>
        </p:spPr>
        <p:txBody>
          <a:bodyPr wrap="square" lIns="0" tIns="0" rIns="0" bIns="0" rtlCol="0" anchor="ctr"/>
          <a:lstStyle/>
          <a:p>
            <a:pPr indent="0" marL="0">
              <a:buNone/>
            </a:pPr>
            <a:r>
              <a:rPr lang="en-US" sz="900" dirty="0">
                <a:solidFill>
                  <a:srgbClr val="8888AA"/>
                </a:solidFill>
                <a:latin typeface="Calibri" pitchFamily="34" charset="0"/>
                <a:ea typeface="Calibri" pitchFamily="34" charset="-122"/>
                <a:cs typeface="Calibri" pitchFamily="34" charset="-120"/>
              </a:rPr>
              <a:t>Emerging Issues Task Force</a:t>
            </a:r>
            <a:endParaRPr lang="en-US" sz="900" dirty="0"/>
          </a:p>
        </p:txBody>
      </p:sp>
      <p:sp>
        <p:nvSpPr>
          <p:cNvPr id="27" name="Text 25"/>
          <p:cNvSpPr/>
          <p:nvPr/>
        </p:nvSpPr>
        <p:spPr>
          <a:xfrm>
            <a:off x="731520" y="4224528"/>
            <a:ext cx="3566160" cy="594360"/>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FASB subgroup for urgent issues. Produced EITF 99-19 (gross vs. net) and EITF 00-21 (multi-element). Consensus positions became authoritative GAAP.</a:t>
            </a:r>
            <a:endParaRPr lang="en-US" sz="1000" dirty="0"/>
          </a:p>
        </p:txBody>
      </p:sp>
      <p:sp>
        <p:nvSpPr>
          <p:cNvPr id="28" name="Shape 26"/>
          <p:cNvSpPr/>
          <p:nvPr/>
        </p:nvSpPr>
        <p:spPr>
          <a:xfrm>
            <a:off x="4663440" y="3840480"/>
            <a:ext cx="3931920" cy="10515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9" name="Shape 27"/>
          <p:cNvSpPr/>
          <p:nvPr/>
        </p:nvSpPr>
        <p:spPr>
          <a:xfrm>
            <a:off x="4663440" y="3840480"/>
            <a:ext cx="54864" cy="1051560"/>
          </a:xfrm>
          <a:prstGeom prst="rect">
            <a:avLst/>
          </a:prstGeom>
          <a:solidFill>
            <a:srgbClr val="5B4A8A"/>
          </a:solidFill>
          <a:ln/>
        </p:spPr>
      </p:sp>
      <p:sp>
        <p:nvSpPr>
          <p:cNvPr id="30" name="Text 28"/>
          <p:cNvSpPr/>
          <p:nvPr/>
        </p:nvSpPr>
        <p:spPr>
          <a:xfrm>
            <a:off x="4846320" y="3895344"/>
            <a:ext cx="1005840" cy="292608"/>
          </a:xfrm>
          <a:prstGeom prst="rect">
            <a:avLst/>
          </a:prstGeom>
          <a:noFill/>
          <a:ln/>
        </p:spPr>
        <p:txBody>
          <a:bodyPr wrap="square" lIns="0" tIns="0" rIns="0" bIns="0"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PCAOB</a:t>
            </a:r>
            <a:endParaRPr lang="en-US" sz="1800" dirty="0"/>
          </a:p>
        </p:txBody>
      </p:sp>
      <p:sp>
        <p:nvSpPr>
          <p:cNvPr id="31" name="Text 29"/>
          <p:cNvSpPr/>
          <p:nvPr/>
        </p:nvSpPr>
        <p:spPr>
          <a:xfrm>
            <a:off x="5852160" y="3895344"/>
            <a:ext cx="2560320" cy="292608"/>
          </a:xfrm>
          <a:prstGeom prst="rect">
            <a:avLst/>
          </a:prstGeom>
          <a:noFill/>
          <a:ln/>
        </p:spPr>
        <p:txBody>
          <a:bodyPr wrap="square" lIns="0" tIns="0" rIns="0" bIns="0" rtlCol="0" anchor="ctr"/>
          <a:lstStyle/>
          <a:p>
            <a:pPr indent="0" marL="0">
              <a:buNone/>
            </a:pPr>
            <a:r>
              <a:rPr lang="en-US" sz="900" dirty="0">
                <a:solidFill>
                  <a:srgbClr val="8888AA"/>
                </a:solidFill>
                <a:latin typeface="Calibri" pitchFamily="34" charset="0"/>
                <a:ea typeface="Calibri" pitchFamily="34" charset="-122"/>
                <a:cs typeface="Calibri" pitchFamily="34" charset="-120"/>
              </a:rPr>
              <a:t>Public Company Accounting</a:t>
            </a:r>
            <a:endParaRPr lang="en-US" sz="900" dirty="0"/>
          </a:p>
          <a:p>
            <a:pPr indent="0" marL="0">
              <a:buNone/>
            </a:pPr>
            <a:r>
              <a:rPr lang="en-US" sz="900" dirty="0">
                <a:solidFill>
                  <a:srgbClr val="8888AA"/>
                </a:solidFill>
                <a:latin typeface="Calibri" pitchFamily="34" charset="0"/>
                <a:ea typeface="Calibri" pitchFamily="34" charset="-122"/>
                <a:cs typeface="Calibri" pitchFamily="34" charset="-120"/>
              </a:rPr>
              <a:t>Oversight Board</a:t>
            </a:r>
            <a:endParaRPr lang="en-US" sz="900" dirty="0"/>
          </a:p>
        </p:txBody>
      </p:sp>
      <p:sp>
        <p:nvSpPr>
          <p:cNvPr id="32" name="Text 30"/>
          <p:cNvSpPr/>
          <p:nvPr/>
        </p:nvSpPr>
        <p:spPr>
          <a:xfrm>
            <a:off x="4846320" y="4224528"/>
            <a:ext cx="3566160" cy="594360"/>
          </a:xfrm>
          <a:prstGeom prst="rect">
            <a:avLst/>
          </a:prstGeom>
          <a:noFill/>
          <a:ln/>
        </p:spPr>
        <p:txBody>
          <a:bodyPr wrap="square" lIns="0" tIns="0" rIns="0" bIns="0" rtlCol="0" anchor="ctr"/>
          <a:lstStyle/>
          <a:p>
            <a:pPr indent="0" marL="0">
              <a:buNone/>
            </a:pPr>
            <a:r>
              <a:rPr lang="en-US" sz="1000" dirty="0">
                <a:solidFill>
                  <a:srgbClr val="4A4A6A"/>
                </a:solidFill>
                <a:latin typeface="Calibri" pitchFamily="34" charset="0"/>
                <a:ea typeface="Calibri" pitchFamily="34" charset="-122"/>
                <a:cs typeface="Calibri" pitchFamily="34" charset="-120"/>
              </a:rPr>
              <a:t>Created by Sarbanes-Oxley (2002). Oversees audits of public companies. Does not set GAAP, but its enforcement shapes how GAAP is applied.</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The Cost of Vague Standards</a:t>
            </a:r>
            <a:endParaRPr lang="en-US" sz="2800" dirty="0"/>
          </a:p>
        </p:txBody>
      </p:sp>
      <p:sp>
        <p:nvSpPr>
          <p:cNvPr id="3" name="Text 1"/>
          <p:cNvSpPr/>
          <p:nvPr/>
        </p:nvSpPr>
        <p:spPr>
          <a:xfrm>
            <a:off x="548640" y="731520"/>
            <a:ext cx="8046720" cy="320040"/>
          </a:xfrm>
          <a:prstGeom prst="rect">
            <a:avLst/>
          </a:prstGeom>
          <a:noFill/>
          <a:ln/>
        </p:spPr>
        <p:txBody>
          <a:bodyPr wrap="square" lIns="0" tIns="0" rIns="0" bIns="0" rtlCol="0" anchor="ctr"/>
          <a:lstStyle/>
          <a:p>
            <a:pPr indent="0" marL="0">
              <a:buNone/>
            </a:pPr>
            <a:r>
              <a:rPr lang="en-US" sz="1300" i="1" dirty="0">
                <a:solidFill>
                  <a:srgbClr val="4A4A6A"/>
                </a:solidFill>
                <a:latin typeface="Calibri" pitchFamily="34" charset="0"/>
                <a:ea typeface="Calibri" pitchFamily="34" charset="-122"/>
                <a:cs typeface="Calibri" pitchFamily="34" charset="-120"/>
              </a:rPr>
              <a:t>Ambiguous criteria don’t just enable fraud — they raise the cost of honest accounting.</a:t>
            </a:r>
            <a:endParaRPr lang="en-US" sz="1300" dirty="0"/>
          </a:p>
        </p:txBody>
      </p:sp>
      <p:sp>
        <p:nvSpPr>
          <p:cNvPr id="4" name="Shape 2"/>
          <p:cNvSpPr/>
          <p:nvPr/>
        </p:nvSpPr>
        <p:spPr>
          <a:xfrm>
            <a:off x="548640" y="1280160"/>
            <a:ext cx="804672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280160"/>
            <a:ext cx="73152" cy="1005840"/>
          </a:xfrm>
          <a:prstGeom prst="rect">
            <a:avLst/>
          </a:prstGeom>
          <a:solidFill>
            <a:srgbClr val="C68A00"/>
          </a:solidFill>
          <a:ln/>
        </p:spPr>
      </p:sp>
      <p:sp>
        <p:nvSpPr>
          <p:cNvPr id="6" name="Text 4"/>
          <p:cNvSpPr/>
          <p:nvPr/>
        </p:nvSpPr>
        <p:spPr>
          <a:xfrm>
            <a:off x="914400" y="1353312"/>
            <a:ext cx="7406640" cy="292608"/>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Every Engagement Becomes a Negotiation</a:t>
            </a:r>
            <a:endParaRPr lang="en-US" sz="1400" dirty="0"/>
          </a:p>
        </p:txBody>
      </p:sp>
      <p:sp>
        <p:nvSpPr>
          <p:cNvPr id="7" name="Text 5"/>
          <p:cNvSpPr/>
          <p:nvPr/>
        </p:nvSpPr>
        <p:spPr>
          <a:xfrm>
            <a:off x="914400" y="1645920"/>
            <a:ext cx="7406640" cy="548640"/>
          </a:xfrm>
          <a:prstGeom prst="rect">
            <a:avLst/>
          </a:prstGeom>
          <a:noFill/>
          <a:ln/>
        </p:spPr>
        <p:txBody>
          <a:bodyPr wrap="square" lIns="0" tIns="0" rIns="0" bIns="0" rtlCol="0" anchor="ctr"/>
          <a:lstStyle/>
          <a:p>
            <a:pPr indent="0" marL="0">
              <a:buNone/>
            </a:pPr>
            <a:r>
              <a:rPr lang="en-US" sz="1150" dirty="0">
                <a:solidFill>
                  <a:srgbClr val="4A4A6A"/>
                </a:solidFill>
                <a:latin typeface="Calibri" pitchFamily="34" charset="0"/>
                <a:ea typeface="Calibri" pitchFamily="34" charset="-122"/>
                <a:cs typeface="Calibri" pitchFamily="34" charset="-120"/>
              </a:rPr>
              <a:t>When the standard says “substantially complete” without defining it, the auditor and the client must argue about what it means — for every material revenue stream, every year. That takes time and money, and the outcome depends on who’s across the table.</a:t>
            </a:r>
            <a:endParaRPr lang="en-US" sz="1150" dirty="0"/>
          </a:p>
        </p:txBody>
      </p:sp>
      <p:sp>
        <p:nvSpPr>
          <p:cNvPr id="8" name="Shape 6"/>
          <p:cNvSpPr/>
          <p:nvPr/>
        </p:nvSpPr>
        <p:spPr>
          <a:xfrm>
            <a:off x="548640" y="2468880"/>
            <a:ext cx="804672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548640" y="2468880"/>
            <a:ext cx="73152" cy="1005840"/>
          </a:xfrm>
          <a:prstGeom prst="rect">
            <a:avLst/>
          </a:prstGeom>
          <a:solidFill>
            <a:srgbClr val="C68A00"/>
          </a:solidFill>
          <a:ln/>
        </p:spPr>
      </p:sp>
      <p:sp>
        <p:nvSpPr>
          <p:cNvPr id="10" name="Text 8"/>
          <p:cNvSpPr/>
          <p:nvPr/>
        </p:nvSpPr>
        <p:spPr>
          <a:xfrm>
            <a:off x="914400" y="2542032"/>
            <a:ext cx="7406640" cy="292608"/>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Inconsistency Across Firms and Industries</a:t>
            </a:r>
            <a:endParaRPr lang="en-US" sz="1400" dirty="0"/>
          </a:p>
        </p:txBody>
      </p:sp>
      <p:sp>
        <p:nvSpPr>
          <p:cNvPr id="11" name="Text 9"/>
          <p:cNvSpPr/>
          <p:nvPr/>
        </p:nvSpPr>
        <p:spPr>
          <a:xfrm>
            <a:off x="914400" y="2834640"/>
            <a:ext cx="7406640" cy="548640"/>
          </a:xfrm>
          <a:prstGeom prst="rect">
            <a:avLst/>
          </a:prstGeom>
          <a:noFill/>
          <a:ln/>
        </p:spPr>
        <p:txBody>
          <a:bodyPr wrap="square" lIns="0" tIns="0" rIns="0" bIns="0" rtlCol="0" anchor="ctr"/>
          <a:lstStyle/>
          <a:p>
            <a:pPr indent="0" marL="0">
              <a:buNone/>
            </a:pPr>
            <a:r>
              <a:rPr lang="en-US" sz="1150" dirty="0">
                <a:solidFill>
                  <a:srgbClr val="4A4A6A"/>
                </a:solidFill>
                <a:latin typeface="Calibri" pitchFamily="34" charset="0"/>
                <a:ea typeface="Calibri" pitchFamily="34" charset="-122"/>
                <a:cs typeface="Calibri" pitchFamily="34" charset="-120"/>
              </a:rPr>
              <a:t>Different audit firms developed different interpretations of the same vague criteria. A transaction that passed muster with one Big Four firm might be challenged by another. Dozens of industry-specific standards (software, construction, real estate, telecom) meant auditors needed specialized knowledge for each client.</a:t>
            </a:r>
            <a:endParaRPr lang="en-US" sz="1150" dirty="0"/>
          </a:p>
        </p:txBody>
      </p:sp>
      <p:sp>
        <p:nvSpPr>
          <p:cNvPr id="12" name="Shape 10"/>
          <p:cNvSpPr/>
          <p:nvPr/>
        </p:nvSpPr>
        <p:spPr>
          <a:xfrm>
            <a:off x="548640" y="3657600"/>
            <a:ext cx="804672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548640" y="3657600"/>
            <a:ext cx="73152" cy="1005840"/>
          </a:xfrm>
          <a:prstGeom prst="rect">
            <a:avLst/>
          </a:prstGeom>
          <a:solidFill>
            <a:srgbClr val="C68A00"/>
          </a:solidFill>
          <a:ln/>
        </p:spPr>
      </p:sp>
      <p:sp>
        <p:nvSpPr>
          <p:cNvPr id="14" name="Text 12"/>
          <p:cNvSpPr/>
          <p:nvPr/>
        </p:nvSpPr>
        <p:spPr>
          <a:xfrm>
            <a:off x="914400" y="3730752"/>
            <a:ext cx="7406640" cy="292608"/>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The FASB Feels This Pressure Directly</a:t>
            </a:r>
            <a:endParaRPr lang="en-US" sz="1400" dirty="0"/>
          </a:p>
        </p:txBody>
      </p:sp>
      <p:sp>
        <p:nvSpPr>
          <p:cNvPr id="15" name="Text 13"/>
          <p:cNvSpPr/>
          <p:nvPr/>
        </p:nvSpPr>
        <p:spPr>
          <a:xfrm>
            <a:off x="914400" y="4023360"/>
            <a:ext cx="7406640" cy="548640"/>
          </a:xfrm>
          <a:prstGeom prst="rect">
            <a:avLst/>
          </a:prstGeom>
          <a:noFill/>
          <a:ln/>
        </p:spPr>
        <p:txBody>
          <a:bodyPr wrap="square" lIns="0" tIns="0" rIns="0" bIns="0" rtlCol="0" anchor="ctr"/>
          <a:lstStyle/>
          <a:p>
            <a:pPr indent="0" marL="0">
              <a:buNone/>
            </a:pPr>
            <a:r>
              <a:rPr lang="en-US" sz="1150" dirty="0">
                <a:solidFill>
                  <a:srgbClr val="4A4A6A"/>
                </a:solidFill>
                <a:latin typeface="Calibri" pitchFamily="34" charset="0"/>
                <a:ea typeface="Calibri" pitchFamily="34" charset="-122"/>
                <a:cs typeface="Calibri" pitchFamily="34" charset="-120"/>
              </a:rPr>
              <a:t>Standard-setters hear from auditors, not just investors. When audit costs rise and outcomes vary, that’s a signal that the standards aren’t doing their job. Tighter, more structured guidance reduces negotiation, increases comparability, and lowers the cost of the audit itself.</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A Global Standard</a:t>
            </a:r>
            <a:endParaRPr lang="en-US" sz="2800" dirty="0"/>
          </a:p>
        </p:txBody>
      </p:sp>
      <p:sp>
        <p:nvSpPr>
          <p:cNvPr id="3" name="Text 1"/>
          <p:cNvSpPr/>
          <p:nvPr/>
        </p:nvSpPr>
        <p:spPr>
          <a:xfrm>
            <a:off x="548640" y="731520"/>
            <a:ext cx="8046720" cy="365760"/>
          </a:xfrm>
          <a:prstGeom prst="rect">
            <a:avLst/>
          </a:prstGeom>
          <a:noFill/>
          <a:ln/>
        </p:spPr>
        <p:txBody>
          <a:bodyPr wrap="square" lIns="0" tIns="0" rIns="0" bIns="0" rtlCol="0" anchor="ctr"/>
          <a:lstStyle/>
          <a:p>
            <a:pPr indent="0" marL="0">
              <a:buNone/>
            </a:pPr>
            <a:r>
              <a:rPr lang="en-US" sz="1300" dirty="0">
                <a:solidFill>
                  <a:srgbClr val="4A4A6A"/>
                </a:solidFill>
                <a:latin typeface="Calibri" pitchFamily="34" charset="0"/>
                <a:ea typeface="Calibri" pitchFamily="34" charset="-122"/>
                <a:cs typeface="Calibri" pitchFamily="34" charset="-120"/>
              </a:rPr>
              <a:t>ASC 606 was developed jointly by the FASB and the International Accounting Standards Board (IASB)</a:t>
            </a:r>
            <a:endParaRPr lang="en-US" sz="1300" dirty="0"/>
          </a:p>
        </p:txBody>
      </p:sp>
      <p:sp>
        <p:nvSpPr>
          <p:cNvPr id="4" name="Shape 2"/>
          <p:cNvSpPr/>
          <p:nvPr/>
        </p:nvSpPr>
        <p:spPr>
          <a:xfrm>
            <a:off x="548640" y="1280160"/>
            <a:ext cx="868680" cy="548640"/>
          </a:xfrm>
          <a:prstGeom prst="rect">
            <a:avLst/>
          </a:prstGeom>
          <a:solidFill>
            <a:srgbClr val="1E2761"/>
          </a:solidFill>
          <a:ln/>
        </p:spPr>
      </p:sp>
      <p:sp>
        <p:nvSpPr>
          <p:cNvPr id="5" name="Text 3"/>
          <p:cNvSpPr/>
          <p:nvPr/>
        </p:nvSpPr>
        <p:spPr>
          <a:xfrm>
            <a:off x="548640" y="1280160"/>
            <a:ext cx="868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2002</a:t>
            </a:r>
            <a:endParaRPr lang="en-US" sz="1400" dirty="0"/>
          </a:p>
        </p:txBody>
      </p:sp>
      <p:sp>
        <p:nvSpPr>
          <p:cNvPr id="6" name="Text 4"/>
          <p:cNvSpPr/>
          <p:nvPr/>
        </p:nvSpPr>
        <p:spPr>
          <a:xfrm>
            <a:off x="1600200" y="1261872"/>
            <a:ext cx="685800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The Norwalk Agreement</a:t>
            </a:r>
            <a:endParaRPr lang="en-US" sz="1400" dirty="0"/>
          </a:p>
        </p:txBody>
      </p:sp>
      <p:sp>
        <p:nvSpPr>
          <p:cNvPr id="7" name="Text 5"/>
          <p:cNvSpPr/>
          <p:nvPr/>
        </p:nvSpPr>
        <p:spPr>
          <a:xfrm>
            <a:off x="1600200" y="1527048"/>
            <a:ext cx="6858000" cy="347472"/>
          </a:xfrm>
          <a:prstGeom prst="rect">
            <a:avLst/>
          </a:prstGeom>
          <a:noFill/>
          <a:ln/>
        </p:spPr>
        <p:txBody>
          <a:bodyPr wrap="square" lIns="0" tIns="0" rIns="0" bIns="0" rtlCol="0" anchor="ctr"/>
          <a:lstStyle/>
          <a:p>
            <a:pPr indent="0" marL="0">
              <a:buNone/>
            </a:pPr>
            <a:r>
              <a:rPr lang="en-US" sz="1100" dirty="0">
                <a:solidFill>
                  <a:srgbClr val="4A4A6A"/>
                </a:solidFill>
                <a:latin typeface="Calibri" pitchFamily="34" charset="0"/>
                <a:ea typeface="Calibri" pitchFamily="34" charset="-122"/>
                <a:cs typeface="Calibri" pitchFamily="34" charset="-120"/>
              </a:rPr>
              <a:t>FASB and IASB pledge to make their standards “fully compatible as soon as is practicable.” Revenue recognition identified as a priority convergence project.</a:t>
            </a:r>
            <a:endParaRPr lang="en-US" sz="1100" dirty="0"/>
          </a:p>
        </p:txBody>
      </p:sp>
      <p:sp>
        <p:nvSpPr>
          <p:cNvPr id="8" name="Shape 6"/>
          <p:cNvSpPr/>
          <p:nvPr/>
        </p:nvSpPr>
        <p:spPr>
          <a:xfrm>
            <a:off x="982980" y="1828800"/>
            <a:ext cx="0" cy="164592"/>
          </a:xfrm>
          <a:prstGeom prst="line">
            <a:avLst/>
          </a:prstGeom>
          <a:noFill/>
          <a:ln w="19050">
            <a:solidFill>
              <a:srgbClr val="3A6EA5"/>
            </a:solidFill>
            <a:prstDash val="solid"/>
          </a:ln>
        </p:spPr>
      </p:sp>
      <p:sp>
        <p:nvSpPr>
          <p:cNvPr id="9" name="Shape 7"/>
          <p:cNvSpPr/>
          <p:nvPr/>
        </p:nvSpPr>
        <p:spPr>
          <a:xfrm>
            <a:off x="548640" y="1993392"/>
            <a:ext cx="868680" cy="548640"/>
          </a:xfrm>
          <a:prstGeom prst="rect">
            <a:avLst/>
          </a:prstGeom>
          <a:solidFill>
            <a:srgbClr val="1E2761"/>
          </a:solidFill>
          <a:ln/>
        </p:spPr>
      </p:sp>
      <p:sp>
        <p:nvSpPr>
          <p:cNvPr id="10" name="Text 8"/>
          <p:cNvSpPr/>
          <p:nvPr/>
        </p:nvSpPr>
        <p:spPr>
          <a:xfrm>
            <a:off x="548640" y="1993392"/>
            <a:ext cx="868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2010</a:t>
            </a:r>
            <a:endParaRPr lang="en-US" sz="1400" dirty="0"/>
          </a:p>
        </p:txBody>
      </p:sp>
      <p:sp>
        <p:nvSpPr>
          <p:cNvPr id="11" name="Text 9"/>
          <p:cNvSpPr/>
          <p:nvPr/>
        </p:nvSpPr>
        <p:spPr>
          <a:xfrm>
            <a:off x="1600200" y="1975104"/>
            <a:ext cx="685800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First Joint Exposure Draft</a:t>
            </a:r>
            <a:endParaRPr lang="en-US" sz="1400" dirty="0"/>
          </a:p>
        </p:txBody>
      </p:sp>
      <p:sp>
        <p:nvSpPr>
          <p:cNvPr id="12" name="Text 10"/>
          <p:cNvSpPr/>
          <p:nvPr/>
        </p:nvSpPr>
        <p:spPr>
          <a:xfrm>
            <a:off x="1600200" y="2240280"/>
            <a:ext cx="6858000" cy="347472"/>
          </a:xfrm>
          <a:prstGeom prst="rect">
            <a:avLst/>
          </a:prstGeom>
          <a:noFill/>
          <a:ln/>
        </p:spPr>
        <p:txBody>
          <a:bodyPr wrap="square" lIns="0" tIns="0" rIns="0" bIns="0" rtlCol="0" anchor="ctr"/>
          <a:lstStyle/>
          <a:p>
            <a:pPr indent="0" marL="0">
              <a:buNone/>
            </a:pPr>
            <a:r>
              <a:rPr lang="en-US" sz="1100" dirty="0">
                <a:solidFill>
                  <a:srgbClr val="4A4A6A"/>
                </a:solidFill>
                <a:latin typeface="Calibri" pitchFamily="34" charset="0"/>
                <a:ea typeface="Calibri" pitchFamily="34" charset="-122"/>
                <a:cs typeface="Calibri" pitchFamily="34" charset="-120"/>
              </a:rPr>
              <a:t>Boards publish a shared proposal: revenue recognized when control of goods or services transfers to the customer. Over 900 comment letters received.</a:t>
            </a:r>
            <a:endParaRPr lang="en-US" sz="1100" dirty="0"/>
          </a:p>
        </p:txBody>
      </p:sp>
      <p:sp>
        <p:nvSpPr>
          <p:cNvPr id="13" name="Shape 11"/>
          <p:cNvSpPr/>
          <p:nvPr/>
        </p:nvSpPr>
        <p:spPr>
          <a:xfrm>
            <a:off x="982980" y="2542032"/>
            <a:ext cx="0" cy="164592"/>
          </a:xfrm>
          <a:prstGeom prst="line">
            <a:avLst/>
          </a:prstGeom>
          <a:noFill/>
          <a:ln w="19050">
            <a:solidFill>
              <a:srgbClr val="3A6EA5"/>
            </a:solidFill>
            <a:prstDash val="solid"/>
          </a:ln>
        </p:spPr>
      </p:sp>
      <p:sp>
        <p:nvSpPr>
          <p:cNvPr id="14" name="Shape 12"/>
          <p:cNvSpPr/>
          <p:nvPr/>
        </p:nvSpPr>
        <p:spPr>
          <a:xfrm>
            <a:off x="548640" y="2706624"/>
            <a:ext cx="868680" cy="548640"/>
          </a:xfrm>
          <a:prstGeom prst="rect">
            <a:avLst/>
          </a:prstGeom>
          <a:solidFill>
            <a:srgbClr val="1E2761"/>
          </a:solidFill>
          <a:ln/>
        </p:spPr>
      </p:sp>
      <p:sp>
        <p:nvSpPr>
          <p:cNvPr id="15" name="Text 13"/>
          <p:cNvSpPr/>
          <p:nvPr/>
        </p:nvSpPr>
        <p:spPr>
          <a:xfrm>
            <a:off x="548640" y="2706624"/>
            <a:ext cx="868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2011</a:t>
            </a:r>
            <a:endParaRPr lang="en-US" sz="1400" dirty="0"/>
          </a:p>
        </p:txBody>
      </p:sp>
      <p:sp>
        <p:nvSpPr>
          <p:cNvPr id="16" name="Text 14"/>
          <p:cNvSpPr/>
          <p:nvPr/>
        </p:nvSpPr>
        <p:spPr>
          <a:xfrm>
            <a:off x="1600200" y="2688336"/>
            <a:ext cx="685800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Revised Exposure Draft</a:t>
            </a:r>
            <a:endParaRPr lang="en-US" sz="1400" dirty="0"/>
          </a:p>
        </p:txBody>
      </p:sp>
      <p:sp>
        <p:nvSpPr>
          <p:cNvPr id="17" name="Text 15"/>
          <p:cNvSpPr/>
          <p:nvPr/>
        </p:nvSpPr>
        <p:spPr>
          <a:xfrm>
            <a:off x="1600200" y="2953512"/>
            <a:ext cx="6858000" cy="347472"/>
          </a:xfrm>
          <a:prstGeom prst="rect">
            <a:avLst/>
          </a:prstGeom>
          <a:noFill/>
          <a:ln/>
        </p:spPr>
        <p:txBody>
          <a:bodyPr wrap="square" lIns="0" tIns="0" rIns="0" bIns="0" rtlCol="0" anchor="ctr"/>
          <a:lstStyle/>
          <a:p>
            <a:pPr indent="0" marL="0">
              <a:buNone/>
            </a:pPr>
            <a:r>
              <a:rPr lang="en-US" sz="1100" dirty="0">
                <a:solidFill>
                  <a:srgbClr val="4A4A6A"/>
                </a:solidFill>
                <a:latin typeface="Calibri" pitchFamily="34" charset="0"/>
                <a:ea typeface="Calibri" pitchFamily="34" charset="-122"/>
                <a:cs typeface="Calibri" pitchFamily="34" charset="-120"/>
              </a:rPr>
              <a:t>After extensive feedback, boards re-expose with refinements — especially on performance obligations, variable consideration, and licensing.</a:t>
            </a:r>
            <a:endParaRPr lang="en-US" sz="1100" dirty="0"/>
          </a:p>
        </p:txBody>
      </p:sp>
      <p:sp>
        <p:nvSpPr>
          <p:cNvPr id="18" name="Shape 16"/>
          <p:cNvSpPr/>
          <p:nvPr/>
        </p:nvSpPr>
        <p:spPr>
          <a:xfrm>
            <a:off x="982980" y="3255264"/>
            <a:ext cx="0" cy="164592"/>
          </a:xfrm>
          <a:prstGeom prst="line">
            <a:avLst/>
          </a:prstGeom>
          <a:noFill/>
          <a:ln w="19050">
            <a:solidFill>
              <a:srgbClr val="3A6EA5"/>
            </a:solidFill>
            <a:prstDash val="solid"/>
          </a:ln>
        </p:spPr>
      </p:sp>
      <p:sp>
        <p:nvSpPr>
          <p:cNvPr id="19" name="Shape 17"/>
          <p:cNvSpPr/>
          <p:nvPr/>
        </p:nvSpPr>
        <p:spPr>
          <a:xfrm>
            <a:off x="548640" y="3419856"/>
            <a:ext cx="868680" cy="548640"/>
          </a:xfrm>
          <a:prstGeom prst="rect">
            <a:avLst/>
          </a:prstGeom>
          <a:solidFill>
            <a:srgbClr val="1E2761"/>
          </a:solidFill>
          <a:ln/>
        </p:spPr>
      </p:sp>
      <p:sp>
        <p:nvSpPr>
          <p:cNvPr id="20" name="Text 18"/>
          <p:cNvSpPr/>
          <p:nvPr/>
        </p:nvSpPr>
        <p:spPr>
          <a:xfrm>
            <a:off x="548640" y="3419856"/>
            <a:ext cx="868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2014</a:t>
            </a:r>
            <a:endParaRPr lang="en-US" sz="1400" dirty="0"/>
          </a:p>
        </p:txBody>
      </p:sp>
      <p:sp>
        <p:nvSpPr>
          <p:cNvPr id="21" name="Text 19"/>
          <p:cNvSpPr/>
          <p:nvPr/>
        </p:nvSpPr>
        <p:spPr>
          <a:xfrm>
            <a:off x="1600200" y="3401568"/>
            <a:ext cx="685800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Final Standards Issued</a:t>
            </a:r>
            <a:endParaRPr lang="en-US" sz="1400" dirty="0"/>
          </a:p>
        </p:txBody>
      </p:sp>
      <p:sp>
        <p:nvSpPr>
          <p:cNvPr id="22" name="Text 20"/>
          <p:cNvSpPr/>
          <p:nvPr/>
        </p:nvSpPr>
        <p:spPr>
          <a:xfrm>
            <a:off x="1600200" y="3666744"/>
            <a:ext cx="6858000" cy="347472"/>
          </a:xfrm>
          <a:prstGeom prst="rect">
            <a:avLst/>
          </a:prstGeom>
          <a:noFill/>
          <a:ln/>
        </p:spPr>
        <p:txBody>
          <a:bodyPr wrap="square" lIns="0" tIns="0" rIns="0" bIns="0" rtlCol="0" anchor="ctr"/>
          <a:lstStyle/>
          <a:p>
            <a:pPr indent="0" marL="0">
              <a:buNone/>
            </a:pPr>
            <a:r>
              <a:rPr lang="en-US" sz="1100" dirty="0">
                <a:solidFill>
                  <a:srgbClr val="4A4A6A"/>
                </a:solidFill>
                <a:latin typeface="Calibri" pitchFamily="34" charset="0"/>
                <a:ea typeface="Calibri" pitchFamily="34" charset="-122"/>
                <a:cs typeface="Calibri" pitchFamily="34" charset="-120"/>
              </a:rPr>
              <a:t>ASC 606 (U.S. GAAP) and IFRS 15 (international) published simultaneously in May. The same five-step model applies worldwide.</a:t>
            </a:r>
            <a:endParaRPr lang="en-US" sz="1100" dirty="0"/>
          </a:p>
        </p:txBody>
      </p:sp>
      <p:sp>
        <p:nvSpPr>
          <p:cNvPr id="23" name="Shape 21"/>
          <p:cNvSpPr/>
          <p:nvPr/>
        </p:nvSpPr>
        <p:spPr>
          <a:xfrm>
            <a:off x="982980" y="3968496"/>
            <a:ext cx="0" cy="164592"/>
          </a:xfrm>
          <a:prstGeom prst="line">
            <a:avLst/>
          </a:prstGeom>
          <a:noFill/>
          <a:ln w="19050">
            <a:solidFill>
              <a:srgbClr val="3A6EA5"/>
            </a:solidFill>
            <a:prstDash val="solid"/>
          </a:ln>
        </p:spPr>
      </p:sp>
      <p:sp>
        <p:nvSpPr>
          <p:cNvPr id="24" name="Shape 22"/>
          <p:cNvSpPr/>
          <p:nvPr/>
        </p:nvSpPr>
        <p:spPr>
          <a:xfrm>
            <a:off x="548640" y="4133088"/>
            <a:ext cx="868680" cy="548640"/>
          </a:xfrm>
          <a:prstGeom prst="rect">
            <a:avLst/>
          </a:prstGeom>
          <a:solidFill>
            <a:srgbClr val="1E2761"/>
          </a:solidFill>
          <a:ln/>
        </p:spPr>
      </p:sp>
      <p:sp>
        <p:nvSpPr>
          <p:cNvPr id="25" name="Text 23"/>
          <p:cNvSpPr/>
          <p:nvPr/>
        </p:nvSpPr>
        <p:spPr>
          <a:xfrm>
            <a:off x="548640" y="4133088"/>
            <a:ext cx="8686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2018</a:t>
            </a:r>
            <a:endParaRPr lang="en-US" sz="1400" dirty="0"/>
          </a:p>
        </p:txBody>
      </p:sp>
      <p:sp>
        <p:nvSpPr>
          <p:cNvPr id="26" name="Text 24"/>
          <p:cNvSpPr/>
          <p:nvPr/>
        </p:nvSpPr>
        <p:spPr>
          <a:xfrm>
            <a:off x="1600200" y="4114800"/>
            <a:ext cx="685800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Effective Date</a:t>
            </a:r>
            <a:endParaRPr lang="en-US" sz="1400" dirty="0"/>
          </a:p>
        </p:txBody>
      </p:sp>
      <p:sp>
        <p:nvSpPr>
          <p:cNvPr id="27" name="Text 25"/>
          <p:cNvSpPr/>
          <p:nvPr/>
        </p:nvSpPr>
        <p:spPr>
          <a:xfrm>
            <a:off x="1600200" y="4379976"/>
            <a:ext cx="6858000" cy="347472"/>
          </a:xfrm>
          <a:prstGeom prst="rect">
            <a:avLst/>
          </a:prstGeom>
          <a:noFill/>
          <a:ln/>
        </p:spPr>
        <p:txBody>
          <a:bodyPr wrap="square" lIns="0" tIns="0" rIns="0" bIns="0" rtlCol="0" anchor="ctr"/>
          <a:lstStyle/>
          <a:p>
            <a:pPr indent="0" marL="0">
              <a:buNone/>
            </a:pPr>
            <a:r>
              <a:rPr lang="en-US" sz="1100" dirty="0">
                <a:solidFill>
                  <a:srgbClr val="4A4A6A"/>
                </a:solidFill>
                <a:latin typeface="Calibri" pitchFamily="34" charset="0"/>
                <a:ea typeface="Calibri" pitchFamily="34" charset="-122"/>
                <a:cs typeface="Calibri" pitchFamily="34" charset="-120"/>
              </a:rPr>
              <a:t>Mandatory for public companies. Replaces dozens of prior industry-specific rules under ASC 605 (U.S.) and IAS 11/IAS 18 (international).</a:t>
            </a:r>
            <a:endParaRPr lang="en-US" sz="1100" dirty="0"/>
          </a:p>
        </p:txBody>
      </p:sp>
      <p:sp>
        <p:nvSpPr>
          <p:cNvPr id="28" name="Text 26"/>
          <p:cNvSpPr/>
          <p:nvPr/>
        </p:nvSpPr>
        <p:spPr>
          <a:xfrm>
            <a:off x="548640" y="4663440"/>
            <a:ext cx="8046720" cy="320040"/>
          </a:xfrm>
          <a:prstGeom prst="rect">
            <a:avLst/>
          </a:prstGeom>
          <a:noFill/>
          <a:ln/>
        </p:spPr>
        <p:txBody>
          <a:bodyPr wrap="square" lIns="0" tIns="0" rIns="0" bIns="0" rtlCol="0" anchor="ctr"/>
          <a:lstStyle/>
          <a:p>
            <a:pPr indent="0" marL="0">
              <a:buNone/>
            </a:pPr>
            <a:r>
              <a:rPr lang="en-US" sz="1200" i="1" dirty="0">
                <a:solidFill>
                  <a:srgbClr val="3A6EA5"/>
                </a:solidFill>
                <a:latin typeface="Calibri" pitchFamily="34" charset="0"/>
                <a:ea typeface="Calibri" pitchFamily="34" charset="-122"/>
                <a:cs typeface="Calibri" pitchFamily="34" charset="-120"/>
              </a:rPr>
              <a:t>The standards are substantially converged — the same five-step model worldwide. Minor differences remain (e.g., “probable” means ~75% in U.S. GAAP vs. &gt;50% in IFRS).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ASC 606 vs. IFRS 15: Key Differences</a:t>
            </a:r>
            <a:endParaRPr lang="en-US" sz="2800" dirty="0"/>
          </a:p>
        </p:txBody>
      </p:sp>
      <p:sp>
        <p:nvSpPr>
          <p:cNvPr id="3" name="Text 1"/>
          <p:cNvSpPr/>
          <p:nvPr/>
        </p:nvSpPr>
        <p:spPr>
          <a:xfrm>
            <a:off x="548640" y="685800"/>
            <a:ext cx="8229600" cy="274320"/>
          </a:xfrm>
          <a:prstGeom prst="rect">
            <a:avLst/>
          </a:prstGeom>
          <a:noFill/>
          <a:ln/>
        </p:spPr>
        <p:txBody>
          <a:bodyPr wrap="square" lIns="0" tIns="0" rIns="0" bIns="0" rtlCol="0" anchor="ctr"/>
          <a:lstStyle/>
          <a:p>
            <a:pPr indent="0" marL="0">
              <a:buNone/>
            </a:pPr>
            <a:r>
              <a:rPr lang="en-US" sz="1200" i="1" dirty="0">
                <a:solidFill>
                  <a:srgbClr val="4A4A6A"/>
                </a:solidFill>
                <a:latin typeface="Calibri" pitchFamily="34" charset="0"/>
                <a:ea typeface="Calibri" pitchFamily="34" charset="-122"/>
                <a:cs typeface="Calibri" pitchFamily="34" charset="-120"/>
              </a:rPr>
              <a:t>Same five-step model, but important differences remain</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1645920"/>
                <a:gridCol w="3200400"/>
                <a:gridCol w="320040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Issue</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ASC 606 (U.S. GAAP)</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IFRS 15 (International)</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1E2761"/>
                    </a:solidFill>
                  </a:tcPr>
                </a:tc>
              </a:tr>
              <a:tr h="502920">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Collectibility threshold</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“Probable” = ~75–80% likely</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“Probable” = &gt;50% likely</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r>
              <a:tr h="594360">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Impairment reversals</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Not permitted. Once impaired, no reversal until goods/services transfer.</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Required when conditions improve. Earlier recognition of recoveries.</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r>
              <a:tr h="502920">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License renewals</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Cannot recognize revenue before renewal period begins.</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May recognize earlier if customer can benefit from the license.</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Interim disclosures</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More extensive (ASC 270).</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Fewer requirements (IAS 34).</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4F6FA"/>
                    </a:solidFill>
                  </a:tcPr>
                </a:tc>
              </a:tr>
              <a:tr h="502920">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Noncash consideration</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Measured at contract inception.</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No explicit measurement date specified.</a:t>
                      </a:r>
                      <a:endParaRPr lang="en-US" sz="1100" dirty="0">
                        <a:latin typeface="Calibri" charset="0"/>
                        <a:ea typeface="Calibri" charset="0"/>
                        <a:cs typeface="Calibri" charset="0"/>
                      </a:endParaRPr>
                    </a:p>
                  </a:txBody>
                  <a:tcPr marL="91440" marR="91440" marT="45720" marB="45720">
                    <a:lnL w="6350" cap="flat" cmpd="sng" algn="ctr">
                      <a:solidFill>
                        <a:srgbClr val="DDDDEE"/>
                      </a:solidFill>
                      <a:prstDash val="solid"/>
                      <a:round/>
                      <a:headEnd type="none" w="med" len="med"/>
                      <a:tailEnd type="none" w="med" len="med"/>
                    </a:lnL>
                    <a:lnR w="6350" cap="flat" cmpd="sng" algn="ctr">
                      <a:solidFill>
                        <a:srgbClr val="DDDDEE"/>
                      </a:solidFill>
                      <a:prstDash val="solid"/>
                      <a:round/>
                      <a:headEnd type="none" w="med" len="med"/>
                      <a:tailEnd type="none" w="med" len="med"/>
                    </a:lnR>
                    <a:lnT w="6350" cap="flat" cmpd="sng" algn="ctr">
                      <a:solidFill>
                        <a:srgbClr val="DDDDEE"/>
                      </a:solidFill>
                      <a:prstDash val="solid"/>
                      <a:round/>
                      <a:headEnd type="none" w="med" len="med"/>
                      <a:tailEnd type="none" w="med" len="med"/>
                    </a:lnT>
                    <a:lnB w="6350" cap="flat" cmpd="sng" algn="ctr">
                      <a:solidFill>
                        <a:srgbClr val="DDDD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617720"/>
            <a:ext cx="8046720" cy="320040"/>
          </a:xfrm>
          <a:prstGeom prst="rect">
            <a:avLst/>
          </a:prstGeom>
          <a:noFill/>
          <a:ln/>
        </p:spPr>
        <p:txBody>
          <a:bodyPr wrap="square" lIns="0" tIns="0" rIns="0" bIns="0" rtlCol="0" anchor="ctr"/>
          <a:lstStyle/>
          <a:p>
            <a:pPr indent="0" marL="0">
              <a:buNone/>
            </a:pPr>
            <a:r>
              <a:rPr lang="en-US" sz="1200" i="1" dirty="0">
                <a:solidFill>
                  <a:srgbClr val="3A6EA5"/>
                </a:solidFill>
                <a:latin typeface="Calibri" pitchFamily="34" charset="0"/>
                <a:ea typeface="Calibri" pitchFamily="34" charset="-122"/>
                <a:cs typeface="Calibri" pitchFamily="34" charset="-120"/>
              </a:rPr>
              <a:t>The core framework is converged. The differences reflect each board’s existing institutional commitments.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Why Not Fully Converged?</a:t>
            </a:r>
            <a:endParaRPr lang="en-US" sz="2800" dirty="0"/>
          </a:p>
        </p:txBody>
      </p:sp>
      <p:sp>
        <p:nvSpPr>
          <p:cNvPr id="3" name="Shape 1"/>
          <p:cNvSpPr/>
          <p:nvPr/>
        </p:nvSpPr>
        <p:spPr>
          <a:xfrm>
            <a:off x="548640" y="914400"/>
            <a:ext cx="8046720" cy="8229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548640" y="914400"/>
            <a:ext cx="73152" cy="822960"/>
          </a:xfrm>
          <a:prstGeom prst="rect">
            <a:avLst/>
          </a:prstGeom>
          <a:solidFill>
            <a:srgbClr val="3A6EA5"/>
          </a:solidFill>
          <a:ln/>
        </p:spPr>
      </p:sp>
      <p:sp>
        <p:nvSpPr>
          <p:cNvPr id="5" name="Text 3"/>
          <p:cNvSpPr/>
          <p:nvPr/>
        </p:nvSpPr>
        <p:spPr>
          <a:xfrm>
            <a:off x="914400" y="960120"/>
            <a:ext cx="740664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Different Meanings of the Same Words</a:t>
            </a:r>
            <a:endParaRPr lang="en-US" sz="1300" dirty="0"/>
          </a:p>
        </p:txBody>
      </p:sp>
      <p:sp>
        <p:nvSpPr>
          <p:cNvPr id="6" name="Text 4"/>
          <p:cNvSpPr/>
          <p:nvPr/>
        </p:nvSpPr>
        <p:spPr>
          <a:xfrm>
            <a:off x="914400" y="1216152"/>
            <a:ext cx="7406640" cy="475488"/>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“Probable” already had an established meaning in each framework — ~75–80% in U.S. GAAP, &gt;50% in IFRS. Neither board was willing to redefine a term that runs through hundreds of other standards just to align on revenue recognition.</a:t>
            </a:r>
            <a:endParaRPr lang="en-US" sz="1050" dirty="0"/>
          </a:p>
        </p:txBody>
      </p:sp>
      <p:sp>
        <p:nvSpPr>
          <p:cNvPr id="7" name="Shape 5"/>
          <p:cNvSpPr/>
          <p:nvPr/>
        </p:nvSpPr>
        <p:spPr>
          <a:xfrm>
            <a:off x="548640" y="1920240"/>
            <a:ext cx="8046720" cy="8229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8" name="Shape 6"/>
          <p:cNvSpPr/>
          <p:nvPr/>
        </p:nvSpPr>
        <p:spPr>
          <a:xfrm>
            <a:off x="548640" y="1920240"/>
            <a:ext cx="73152" cy="822960"/>
          </a:xfrm>
          <a:prstGeom prst="rect">
            <a:avLst/>
          </a:prstGeom>
          <a:solidFill>
            <a:srgbClr val="C68A00"/>
          </a:solidFill>
          <a:ln/>
        </p:spPr>
      </p:sp>
      <p:sp>
        <p:nvSpPr>
          <p:cNvPr id="9" name="Text 7"/>
          <p:cNvSpPr/>
          <p:nvPr/>
        </p:nvSpPr>
        <p:spPr>
          <a:xfrm>
            <a:off x="914400" y="1965960"/>
            <a:ext cx="740664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Rules vs. Principles: Different DNA</a:t>
            </a:r>
            <a:endParaRPr lang="en-US" sz="1300" dirty="0"/>
          </a:p>
        </p:txBody>
      </p:sp>
      <p:sp>
        <p:nvSpPr>
          <p:cNvPr id="10" name="Text 8"/>
          <p:cNvSpPr/>
          <p:nvPr/>
        </p:nvSpPr>
        <p:spPr>
          <a:xfrm>
            <a:off x="914400" y="2221992"/>
            <a:ext cx="7406640" cy="475488"/>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U.S. GAAP historically favored detailed, rules-based guidance; IFRS favored broader principles. Both boards compromised — ASC 606 became more principles-based, IFRS 15 more structured — but their starting points left marks. The FASB added specific prohibitions (no impairment reversals, no early license renewal recognition) that reflect the U.S. tradition of bright-line rules.</a:t>
            </a:r>
            <a:endParaRPr lang="en-US" sz="1050" dirty="0"/>
          </a:p>
        </p:txBody>
      </p:sp>
      <p:sp>
        <p:nvSpPr>
          <p:cNvPr id="11" name="Shape 9"/>
          <p:cNvSpPr/>
          <p:nvPr/>
        </p:nvSpPr>
        <p:spPr>
          <a:xfrm>
            <a:off x="548640" y="2926080"/>
            <a:ext cx="8046720" cy="8229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2" name="Shape 10"/>
          <p:cNvSpPr/>
          <p:nvPr/>
        </p:nvSpPr>
        <p:spPr>
          <a:xfrm>
            <a:off x="548640" y="2926080"/>
            <a:ext cx="73152" cy="822960"/>
          </a:xfrm>
          <a:prstGeom prst="rect">
            <a:avLst/>
          </a:prstGeom>
          <a:solidFill>
            <a:srgbClr val="2A7A4B"/>
          </a:solidFill>
          <a:ln/>
        </p:spPr>
      </p:sp>
      <p:sp>
        <p:nvSpPr>
          <p:cNvPr id="13" name="Text 11"/>
          <p:cNvSpPr/>
          <p:nvPr/>
        </p:nvSpPr>
        <p:spPr>
          <a:xfrm>
            <a:off x="914400" y="2971800"/>
            <a:ext cx="740664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Different Regulatory Environments</a:t>
            </a:r>
            <a:endParaRPr lang="en-US" sz="1300" dirty="0"/>
          </a:p>
        </p:txBody>
      </p:sp>
      <p:sp>
        <p:nvSpPr>
          <p:cNvPr id="14" name="Text 12"/>
          <p:cNvSpPr/>
          <p:nvPr/>
        </p:nvSpPr>
        <p:spPr>
          <a:xfrm>
            <a:off x="914400" y="3227832"/>
            <a:ext cx="7406640" cy="475488"/>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The FASB operates under SEC oversight with Congressional authority. The IASB’s standards are adopted voluntarily by over 140 jurisdictions, each with its own enforcement regime. A rule that works under one regulator may not work under another.</a:t>
            </a:r>
            <a:endParaRPr lang="en-US" sz="1050" dirty="0"/>
          </a:p>
        </p:txBody>
      </p:sp>
      <p:sp>
        <p:nvSpPr>
          <p:cNvPr id="15" name="Shape 13"/>
          <p:cNvSpPr/>
          <p:nvPr/>
        </p:nvSpPr>
        <p:spPr>
          <a:xfrm>
            <a:off x="548640" y="3931920"/>
            <a:ext cx="8046720" cy="8229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6" name="Shape 14"/>
          <p:cNvSpPr/>
          <p:nvPr/>
        </p:nvSpPr>
        <p:spPr>
          <a:xfrm>
            <a:off x="548640" y="3931920"/>
            <a:ext cx="73152" cy="822960"/>
          </a:xfrm>
          <a:prstGeom prst="rect">
            <a:avLst/>
          </a:prstGeom>
          <a:solidFill>
            <a:srgbClr val="B83232"/>
          </a:solidFill>
          <a:ln/>
        </p:spPr>
      </p:sp>
      <p:sp>
        <p:nvSpPr>
          <p:cNvPr id="17" name="Text 15"/>
          <p:cNvSpPr/>
          <p:nvPr/>
        </p:nvSpPr>
        <p:spPr>
          <a:xfrm>
            <a:off x="914400" y="3977640"/>
            <a:ext cx="7406640" cy="25603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Pre-Existing Standards Left Different Gaps</a:t>
            </a:r>
            <a:endParaRPr lang="en-US" sz="1300" dirty="0"/>
          </a:p>
        </p:txBody>
      </p:sp>
      <p:sp>
        <p:nvSpPr>
          <p:cNvPr id="18" name="Text 16"/>
          <p:cNvSpPr/>
          <p:nvPr/>
        </p:nvSpPr>
        <p:spPr>
          <a:xfrm>
            <a:off x="914400" y="4233672"/>
            <a:ext cx="7406640" cy="475488"/>
          </a:xfrm>
          <a:prstGeom prst="rect">
            <a:avLst/>
          </a:prstGeom>
          <a:noFill/>
          <a:ln/>
        </p:spPr>
        <p:txBody>
          <a:bodyPr wrap="square" lIns="0" tIns="0" rIns="0" bIns="0" rtlCol="0" anchor="ctr"/>
          <a:lstStyle/>
          <a:p>
            <a:pPr indent="0" marL="0">
              <a:buNone/>
            </a:pPr>
            <a:r>
              <a:rPr lang="en-US" sz="1050" dirty="0">
                <a:solidFill>
                  <a:srgbClr val="4A4A6A"/>
                </a:solidFill>
                <a:latin typeface="Calibri" pitchFamily="34" charset="0"/>
                <a:ea typeface="Calibri" pitchFamily="34" charset="-122"/>
                <a:cs typeface="Calibri" pitchFamily="34" charset="-120"/>
              </a:rPr>
              <a:t>U.S. GAAP had dozens of industry-specific revenue standards (software, construction, real estate, telecom). IFRS had just two broad standards (IAS 11 and IAS 18). The transition path from each starting point naturally led to different compromises.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Recognition: From Conventions to Standards</dc:title>
  <dc:subject>PptxGenJS Presentation</dc:subject>
  <dc:creator>Rick Antle</dc:creator>
  <cp:lastModifiedBy>Rick Antle</cp:lastModifiedBy>
  <cp:revision>1</cp:revision>
  <dcterms:created xsi:type="dcterms:W3CDTF">2026-03-09T18:29:20Z</dcterms:created>
  <dcterms:modified xsi:type="dcterms:W3CDTF">2026-03-09T18:29:20Z</dcterms:modified>
</cp:coreProperties>
</file>