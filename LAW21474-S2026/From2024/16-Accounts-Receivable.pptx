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88" r:id="rId5"/>
    <p:sldId id="289" r:id="rId6"/>
    <p:sldId id="290" r:id="rId7"/>
    <p:sldId id="259" r:id="rId8"/>
    <p:sldId id="286" r:id="rId9"/>
    <p:sldId id="294" r:id="rId10"/>
    <p:sldId id="287" r:id="rId11"/>
    <p:sldId id="260" r:id="rId12"/>
    <p:sldId id="291" r:id="rId13"/>
    <p:sldId id="262" r:id="rId14"/>
    <p:sldId id="292" r:id="rId15"/>
    <p:sldId id="263" r:id="rId16"/>
    <p:sldId id="293" r:id="rId17"/>
    <p:sldId id="295" r:id="rId18"/>
    <p:sldId id="296" r:id="rId19"/>
    <p:sldId id="297" r:id="rId20"/>
    <p:sldId id="283" r:id="rId21"/>
    <p:sldId id="272" r:id="rId22"/>
    <p:sldId id="298" r:id="rId23"/>
    <p:sldId id="299" r:id="rId24"/>
    <p:sldId id="307" r:id="rId25"/>
    <p:sldId id="308" r:id="rId26"/>
    <p:sldId id="264" r:id="rId27"/>
    <p:sldId id="265" r:id="rId28"/>
    <p:sldId id="300" r:id="rId29"/>
    <p:sldId id="301" r:id="rId30"/>
    <p:sldId id="261" r:id="rId31"/>
    <p:sldId id="302" r:id="rId32"/>
    <p:sldId id="303" r:id="rId33"/>
    <p:sldId id="304" r:id="rId34"/>
    <p:sldId id="305" r:id="rId35"/>
    <p:sldId id="306" r:id="rId36"/>
    <p:sldId id="279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48F02C-C395-4F52-A427-B2E44C4B0CE9}" v="8" dt="2024-03-12T19:05:14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9"/>
    <p:restoredTop sz="94410"/>
  </p:normalViewPr>
  <p:slideViewPr>
    <p:cSldViewPr>
      <p:cViewPr varScale="1">
        <p:scale>
          <a:sx n="104" d="100"/>
          <a:sy n="104" d="100"/>
        </p:scale>
        <p:origin x="1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CC48F02C-C395-4F52-A427-B2E44C4B0CE9}"/>
    <pc:docChg chg="modSld">
      <pc:chgData name="Antle, Rick" userId="c2afbbd2-30e4-4c8e-8af5-81913178ace3" providerId="ADAL" clId="{CC48F02C-C395-4F52-A427-B2E44C4B0CE9}" dt="2024-03-12T21:26:41.661" v="10" actId="20577"/>
      <pc:docMkLst>
        <pc:docMk/>
      </pc:docMkLst>
      <pc:sldChg chg="modSp mod">
        <pc:chgData name="Antle, Rick" userId="c2afbbd2-30e4-4c8e-8af5-81913178ace3" providerId="ADAL" clId="{CC48F02C-C395-4F52-A427-B2E44C4B0CE9}" dt="2024-03-12T21:26:41.661" v="10" actId="20577"/>
        <pc:sldMkLst>
          <pc:docMk/>
          <pc:sldMk cId="2464952412" sldId="256"/>
        </pc:sldMkLst>
        <pc:spChg chg="mod">
          <ac:chgData name="Antle, Rick" userId="c2afbbd2-30e4-4c8e-8af5-81913178ace3" providerId="ADAL" clId="{CC48F02C-C395-4F52-A427-B2E44C4B0CE9}" dt="2024-03-12T21:26:41.661" v="10" actId="20577"/>
          <ac:spMkLst>
            <pc:docMk/>
            <pc:sldMk cId="2464952412" sldId="256"/>
            <ac:spMk id="2" creationId="{00000000-0000-0000-0000-000000000000}"/>
          </ac:spMkLst>
        </pc:spChg>
      </pc:sldChg>
      <pc:sldChg chg="modAnim">
        <pc:chgData name="Antle, Rick" userId="c2afbbd2-30e4-4c8e-8af5-81913178ace3" providerId="ADAL" clId="{CC48F02C-C395-4F52-A427-B2E44C4B0CE9}" dt="2024-03-12T19:00:19.399" v="5"/>
        <pc:sldMkLst>
          <pc:docMk/>
          <pc:sldMk cId="3611277159" sldId="257"/>
        </pc:sldMkLst>
      </pc:sldChg>
      <pc:sldChg chg="modAnim">
        <pc:chgData name="Antle, Rick" userId="c2afbbd2-30e4-4c8e-8af5-81913178ace3" providerId="ADAL" clId="{CC48F02C-C395-4F52-A427-B2E44C4B0CE9}" dt="2024-03-12T19:05:14.081" v="7"/>
        <pc:sldMkLst>
          <pc:docMk/>
          <pc:sldMk cId="970329228" sldId="258"/>
        </pc:sldMkLst>
      </pc:sldChg>
    </pc:docChg>
  </pc:docChgLst>
  <pc:docChgLst>
    <pc:chgData name="Antle, Rick" userId="c2afbbd2-30e4-4c8e-8af5-81913178ace3" providerId="ADAL" clId="{E4F85114-E007-447D-A47F-BD8F561CC3C2}"/>
    <pc:docChg chg="undo custSel addSld modSld sldOrd">
      <pc:chgData name="Antle, Rick" userId="c2afbbd2-30e4-4c8e-8af5-81913178ace3" providerId="ADAL" clId="{E4F85114-E007-447D-A47F-BD8F561CC3C2}" dt="2022-10-20T15:33:25.963" v="391" actId="478"/>
      <pc:docMkLst>
        <pc:docMk/>
      </pc:docMkLst>
      <pc:sldChg chg="modSp mod">
        <pc:chgData name="Antle, Rick" userId="c2afbbd2-30e4-4c8e-8af5-81913178ace3" providerId="ADAL" clId="{E4F85114-E007-447D-A47F-BD8F561CC3C2}" dt="2022-10-19T17:46:42.701" v="3" actId="20577"/>
        <pc:sldMkLst>
          <pc:docMk/>
          <pc:sldMk cId="2464952412" sldId="256"/>
        </pc:sldMkLst>
        <pc:spChg chg="mod">
          <ac:chgData name="Antle, Rick" userId="c2afbbd2-30e4-4c8e-8af5-81913178ace3" providerId="ADAL" clId="{E4F85114-E007-447D-A47F-BD8F561CC3C2}" dt="2022-10-19T17:46:25.610" v="2" actId="20577"/>
          <ac:spMkLst>
            <pc:docMk/>
            <pc:sldMk cId="2464952412" sldId="256"/>
            <ac:spMk id="2" creationId="{00000000-0000-0000-0000-000000000000}"/>
          </ac:spMkLst>
        </pc:spChg>
        <pc:spChg chg="mod">
          <ac:chgData name="Antle, Rick" userId="c2afbbd2-30e4-4c8e-8af5-81913178ace3" providerId="ADAL" clId="{E4F85114-E007-447D-A47F-BD8F561CC3C2}" dt="2022-10-19T17:46:42.701" v="3" actId="20577"/>
          <ac:spMkLst>
            <pc:docMk/>
            <pc:sldMk cId="2464952412" sldId="256"/>
            <ac:spMk id="3" creationId="{00000000-0000-0000-0000-000000000000}"/>
          </ac:spMkLst>
        </pc:spChg>
      </pc:sldChg>
      <pc:sldChg chg="mod modShow">
        <pc:chgData name="Antle, Rick" userId="c2afbbd2-30e4-4c8e-8af5-81913178ace3" providerId="ADAL" clId="{E4F85114-E007-447D-A47F-BD8F561CC3C2}" dt="2022-10-19T19:09:58.448" v="346" actId="729"/>
        <pc:sldMkLst>
          <pc:docMk/>
          <pc:sldMk cId="3748816112" sldId="261"/>
        </pc:sldMkLst>
      </pc:sldChg>
      <pc:sldChg chg="addSp delSp modSp mod ord delAnim modAnim">
        <pc:chgData name="Antle, Rick" userId="c2afbbd2-30e4-4c8e-8af5-81913178ace3" providerId="ADAL" clId="{E4F85114-E007-447D-A47F-BD8F561CC3C2}" dt="2022-10-19T19:07:27.310" v="321" actId="14100"/>
        <pc:sldMkLst>
          <pc:docMk/>
          <pc:sldMk cId="3378278871" sldId="264"/>
        </pc:sldMkLst>
        <pc:spChg chg="add mod">
          <ac:chgData name="Antle, Rick" userId="c2afbbd2-30e4-4c8e-8af5-81913178ace3" providerId="ADAL" clId="{E4F85114-E007-447D-A47F-BD8F561CC3C2}" dt="2022-10-19T18:11:19.361" v="96" actId="14100"/>
          <ac:spMkLst>
            <pc:docMk/>
            <pc:sldMk cId="3378278871" sldId="264"/>
            <ac:spMk id="2" creationId="{16345BB2-2F4D-52A5-6770-898BE6105CDB}"/>
          </ac:spMkLst>
        </pc:spChg>
        <pc:spChg chg="add del mod">
          <ac:chgData name="Antle, Rick" userId="c2afbbd2-30e4-4c8e-8af5-81913178ace3" providerId="ADAL" clId="{E4F85114-E007-447D-A47F-BD8F561CC3C2}" dt="2022-10-19T19:06:49.215" v="318" actId="478"/>
          <ac:spMkLst>
            <pc:docMk/>
            <pc:sldMk cId="3378278871" sldId="264"/>
            <ac:spMk id="4" creationId="{C1F45CAB-145D-E1B7-AE36-F2DDF8D68876}"/>
          </ac:spMkLst>
        </pc:spChg>
        <pc:spChg chg="add del mod">
          <ac:chgData name="Antle, Rick" userId="c2afbbd2-30e4-4c8e-8af5-81913178ace3" providerId="ADAL" clId="{E4F85114-E007-447D-A47F-BD8F561CC3C2}" dt="2022-10-19T19:03:59.990" v="310"/>
          <ac:spMkLst>
            <pc:docMk/>
            <pc:sldMk cId="3378278871" sldId="264"/>
            <ac:spMk id="5" creationId="{04C44E01-62AA-8ECE-FCA2-19CA3781C19B}"/>
          </ac:spMkLst>
        </pc:spChg>
        <pc:spChg chg="add mod">
          <ac:chgData name="Antle, Rick" userId="c2afbbd2-30e4-4c8e-8af5-81913178ace3" providerId="ADAL" clId="{E4F85114-E007-447D-A47F-BD8F561CC3C2}" dt="2022-10-19T19:04:32.562" v="312" actId="1076"/>
          <ac:spMkLst>
            <pc:docMk/>
            <pc:sldMk cId="3378278871" sldId="264"/>
            <ac:spMk id="6" creationId="{2C208E20-9F5A-B2D8-91E1-449AB065736E}"/>
          </ac:spMkLst>
        </pc:spChg>
        <pc:cxnChg chg="add mod">
          <ac:chgData name="Antle, Rick" userId="c2afbbd2-30e4-4c8e-8af5-81913178ace3" providerId="ADAL" clId="{E4F85114-E007-447D-A47F-BD8F561CC3C2}" dt="2022-10-19T19:07:27.310" v="321" actId="14100"/>
          <ac:cxnSpMkLst>
            <pc:docMk/>
            <pc:sldMk cId="3378278871" sldId="264"/>
            <ac:cxnSpMk id="7" creationId="{EB36C306-55CC-1288-41D6-E4A905B11913}"/>
          </ac:cxnSpMkLst>
        </pc:cxnChg>
      </pc:sldChg>
      <pc:sldChg chg="addSp modSp mod ord modAnim">
        <pc:chgData name="Antle, Rick" userId="c2afbbd2-30e4-4c8e-8af5-81913178ace3" providerId="ADAL" clId="{E4F85114-E007-447D-A47F-BD8F561CC3C2}" dt="2022-10-19T19:06:42.325" v="317"/>
        <pc:sldMkLst>
          <pc:docMk/>
          <pc:sldMk cId="2761325676" sldId="265"/>
        </pc:sldMkLst>
        <pc:spChg chg="add mod">
          <ac:chgData name="Antle, Rick" userId="c2afbbd2-30e4-4c8e-8af5-81913178ace3" providerId="ADAL" clId="{E4F85114-E007-447D-A47F-BD8F561CC3C2}" dt="2022-10-19T18:12:33.860" v="105" actId="14100"/>
          <ac:spMkLst>
            <pc:docMk/>
            <pc:sldMk cId="2761325676" sldId="265"/>
            <ac:spMk id="2" creationId="{1653EE9D-0EDC-DFDB-CE1A-8C4F52874B0A}"/>
          </ac:spMkLst>
        </pc:spChg>
      </pc:sldChg>
      <pc:sldChg chg="delSp mod delAnim">
        <pc:chgData name="Antle, Rick" userId="c2afbbd2-30e4-4c8e-8af5-81913178ace3" providerId="ADAL" clId="{E4F85114-E007-447D-A47F-BD8F561CC3C2}" dt="2022-10-20T15:33:25.963" v="391" actId="478"/>
        <pc:sldMkLst>
          <pc:docMk/>
          <pc:sldMk cId="3793214866" sldId="272"/>
        </pc:sldMkLst>
        <pc:spChg chg="del">
          <ac:chgData name="Antle, Rick" userId="c2afbbd2-30e4-4c8e-8af5-81913178ace3" providerId="ADAL" clId="{E4F85114-E007-447D-A47F-BD8F561CC3C2}" dt="2022-10-20T15:33:22.531" v="390" actId="478"/>
          <ac:spMkLst>
            <pc:docMk/>
            <pc:sldMk cId="3793214866" sldId="272"/>
            <ac:spMk id="8" creationId="{00000000-0000-0000-0000-000000000000}"/>
          </ac:spMkLst>
        </pc:spChg>
        <pc:spChg chg="del">
          <ac:chgData name="Antle, Rick" userId="c2afbbd2-30e4-4c8e-8af5-81913178ace3" providerId="ADAL" clId="{E4F85114-E007-447D-A47F-BD8F561CC3C2}" dt="2022-10-20T15:33:25.963" v="391" actId="478"/>
          <ac:spMkLst>
            <pc:docMk/>
            <pc:sldMk cId="3793214866" sldId="272"/>
            <ac:spMk id="9" creationId="{00000000-0000-0000-0000-000000000000}"/>
          </ac:spMkLst>
        </pc:spChg>
      </pc:sldChg>
      <pc:sldChg chg="addSp modSp mod ord modAnim">
        <pc:chgData name="Antle, Rick" userId="c2afbbd2-30e4-4c8e-8af5-81913178ace3" providerId="ADAL" clId="{E4F85114-E007-447D-A47F-BD8F561CC3C2}" dt="2022-10-19T18:51:44.257" v="283" actId="6549"/>
        <pc:sldMkLst>
          <pc:docMk/>
          <pc:sldMk cId="2812382986" sldId="283"/>
        </pc:sldMkLst>
        <pc:spChg chg="add mod">
          <ac:chgData name="Antle, Rick" userId="c2afbbd2-30e4-4c8e-8af5-81913178ace3" providerId="ADAL" clId="{E4F85114-E007-447D-A47F-BD8F561CC3C2}" dt="2022-10-19T18:51:44.257" v="283" actId="6549"/>
          <ac:spMkLst>
            <pc:docMk/>
            <pc:sldMk cId="2812382986" sldId="283"/>
            <ac:spMk id="3" creationId="{9EC87339-93B0-5259-DE5A-C1FE1A39B6D3}"/>
          </ac:spMkLst>
        </pc:spChg>
        <pc:spChg chg="mod">
          <ac:chgData name="Antle, Rick" userId="c2afbbd2-30e4-4c8e-8af5-81913178ace3" providerId="ADAL" clId="{E4F85114-E007-447D-A47F-BD8F561CC3C2}" dt="2022-10-19T18:50:28.826" v="270" actId="1076"/>
          <ac:spMkLst>
            <pc:docMk/>
            <pc:sldMk cId="2812382986" sldId="283"/>
            <ac:spMk id="4" creationId="{165345A5-785E-42F7-871A-B1A2F552D2B4}"/>
          </ac:spMkLst>
        </pc:spChg>
      </pc:sldChg>
      <pc:sldChg chg="addSp modSp mod modAnim">
        <pc:chgData name="Antle, Rick" userId="c2afbbd2-30e4-4c8e-8af5-81913178ace3" providerId="ADAL" clId="{E4F85114-E007-447D-A47F-BD8F561CC3C2}" dt="2022-10-19T18:59:02.887" v="297"/>
        <pc:sldMkLst>
          <pc:docMk/>
          <pc:sldMk cId="1847285455" sldId="298"/>
        </pc:sldMkLst>
        <pc:spChg chg="add mod">
          <ac:chgData name="Antle, Rick" userId="c2afbbd2-30e4-4c8e-8af5-81913178ace3" providerId="ADAL" clId="{E4F85114-E007-447D-A47F-BD8F561CC3C2}" dt="2022-10-19T18:00:51.060" v="7" actId="1582"/>
          <ac:spMkLst>
            <pc:docMk/>
            <pc:sldMk cId="1847285455" sldId="298"/>
            <ac:spMk id="2" creationId="{25DCF10A-D429-596A-7669-F60A6287C583}"/>
          </ac:spMkLst>
        </pc:spChg>
        <pc:spChg chg="add mod">
          <ac:chgData name="Antle, Rick" userId="c2afbbd2-30e4-4c8e-8af5-81913178ace3" providerId="ADAL" clId="{E4F85114-E007-447D-A47F-BD8F561CC3C2}" dt="2022-10-19T18:57:55.002" v="288" actId="14100"/>
          <ac:spMkLst>
            <pc:docMk/>
            <pc:sldMk cId="1847285455" sldId="298"/>
            <ac:spMk id="4" creationId="{B6CCBDF7-2A8B-9720-6803-34C10E152D19}"/>
          </ac:spMkLst>
        </pc:spChg>
        <pc:cxnChg chg="add mod">
          <ac:chgData name="Antle, Rick" userId="c2afbbd2-30e4-4c8e-8af5-81913178ace3" providerId="ADAL" clId="{E4F85114-E007-447D-A47F-BD8F561CC3C2}" dt="2022-10-19T18:58:29.620" v="293" actId="1076"/>
          <ac:cxnSpMkLst>
            <pc:docMk/>
            <pc:sldMk cId="1847285455" sldId="298"/>
            <ac:cxnSpMk id="6" creationId="{24C14C27-149B-2696-E0C9-6349ACC5329E}"/>
          </ac:cxnSpMkLst>
        </pc:cxnChg>
      </pc:sldChg>
      <pc:sldChg chg="addSp modSp mod ord modAnim">
        <pc:chgData name="Antle, Rick" userId="c2afbbd2-30e4-4c8e-8af5-81913178ace3" providerId="ADAL" clId="{E4F85114-E007-447D-A47F-BD8F561CC3C2}" dt="2022-10-19T18:57:14.641" v="287"/>
        <pc:sldMkLst>
          <pc:docMk/>
          <pc:sldMk cId="3183211658" sldId="299"/>
        </pc:sldMkLst>
        <pc:spChg chg="add mod">
          <ac:chgData name="Antle, Rick" userId="c2afbbd2-30e4-4c8e-8af5-81913178ace3" providerId="ADAL" clId="{E4F85114-E007-447D-A47F-BD8F561CC3C2}" dt="2022-10-19T18:05:26.179" v="43" actId="1035"/>
          <ac:spMkLst>
            <pc:docMk/>
            <pc:sldMk cId="3183211658" sldId="299"/>
            <ac:spMk id="2" creationId="{484859B9-E78C-4036-48D0-3C0D7E790E36}"/>
          </ac:spMkLst>
        </pc:spChg>
      </pc:sldChg>
      <pc:sldChg chg="addSp modSp mod modAnim">
        <pc:chgData name="Antle, Rick" userId="c2afbbd2-30e4-4c8e-8af5-81913178ace3" providerId="ADAL" clId="{E4F85114-E007-447D-A47F-BD8F561CC3C2}" dt="2022-10-19T19:09:32.693" v="345" actId="14100"/>
        <pc:sldMkLst>
          <pc:docMk/>
          <pc:sldMk cId="440582337" sldId="300"/>
        </pc:sldMkLst>
        <pc:cxnChg chg="add mod">
          <ac:chgData name="Antle, Rick" userId="c2afbbd2-30e4-4c8e-8af5-81913178ace3" providerId="ADAL" clId="{E4F85114-E007-447D-A47F-BD8F561CC3C2}" dt="2022-10-19T19:08:26.443" v="323" actId="1076"/>
          <ac:cxnSpMkLst>
            <pc:docMk/>
            <pc:sldMk cId="440582337" sldId="300"/>
            <ac:cxnSpMk id="2" creationId="{39C9FA2E-6ECF-D370-FEBB-0286D4F41028}"/>
          </ac:cxnSpMkLst>
        </pc:cxnChg>
        <pc:cxnChg chg="add mod">
          <ac:chgData name="Antle, Rick" userId="c2afbbd2-30e4-4c8e-8af5-81913178ace3" providerId="ADAL" clId="{E4F85114-E007-447D-A47F-BD8F561CC3C2}" dt="2022-10-19T19:08:41.526" v="326" actId="14100"/>
          <ac:cxnSpMkLst>
            <pc:docMk/>
            <pc:sldMk cId="440582337" sldId="300"/>
            <ac:cxnSpMk id="4" creationId="{857EA72D-B82C-9768-6D61-FB89997B1BAF}"/>
          </ac:cxnSpMkLst>
        </pc:cxnChg>
        <pc:cxnChg chg="add mod">
          <ac:chgData name="Antle, Rick" userId="c2afbbd2-30e4-4c8e-8af5-81913178ace3" providerId="ADAL" clId="{E4F85114-E007-447D-A47F-BD8F561CC3C2}" dt="2022-10-19T19:08:56.651" v="339" actId="14100"/>
          <ac:cxnSpMkLst>
            <pc:docMk/>
            <pc:sldMk cId="440582337" sldId="300"/>
            <ac:cxnSpMk id="6" creationId="{1F19E4D1-E506-445B-8FBE-8AE533D77CC7}"/>
          </ac:cxnSpMkLst>
        </pc:cxnChg>
        <pc:cxnChg chg="add mod">
          <ac:chgData name="Antle, Rick" userId="c2afbbd2-30e4-4c8e-8af5-81913178ace3" providerId="ADAL" clId="{E4F85114-E007-447D-A47F-BD8F561CC3C2}" dt="2022-10-19T19:09:18.691" v="342" actId="14100"/>
          <ac:cxnSpMkLst>
            <pc:docMk/>
            <pc:sldMk cId="440582337" sldId="300"/>
            <ac:cxnSpMk id="8" creationId="{507418CB-3867-A04F-E464-EDC51D76607B}"/>
          </ac:cxnSpMkLst>
        </pc:cxnChg>
        <pc:cxnChg chg="add mod">
          <ac:chgData name="Antle, Rick" userId="c2afbbd2-30e4-4c8e-8af5-81913178ace3" providerId="ADAL" clId="{E4F85114-E007-447D-A47F-BD8F561CC3C2}" dt="2022-10-19T19:09:32.693" v="345" actId="14100"/>
          <ac:cxnSpMkLst>
            <pc:docMk/>
            <pc:sldMk cId="440582337" sldId="300"/>
            <ac:cxnSpMk id="10" creationId="{D9092ACE-B94A-4C15-B637-8C46F9F185A6}"/>
          </ac:cxnSpMkLst>
        </pc:cxnChg>
      </pc:sldChg>
      <pc:sldChg chg="addSp modSp mod modAnim">
        <pc:chgData name="Antle, Rick" userId="c2afbbd2-30e4-4c8e-8af5-81913178ace3" providerId="ADAL" clId="{E4F85114-E007-447D-A47F-BD8F561CC3C2}" dt="2022-10-19T18:08:00.504" v="92"/>
        <pc:sldMkLst>
          <pc:docMk/>
          <pc:sldMk cId="1151446148" sldId="301"/>
        </pc:sldMkLst>
        <pc:cxnChg chg="add mod">
          <ac:chgData name="Antle, Rick" userId="c2afbbd2-30e4-4c8e-8af5-81913178ace3" providerId="ADAL" clId="{E4F85114-E007-447D-A47F-BD8F561CC3C2}" dt="2022-10-19T18:06:36.904" v="47" actId="14100"/>
          <ac:cxnSpMkLst>
            <pc:docMk/>
            <pc:sldMk cId="1151446148" sldId="301"/>
            <ac:cxnSpMk id="4" creationId="{F34925EE-538E-F37A-F037-58DA16059EBE}"/>
          </ac:cxnSpMkLst>
        </pc:cxnChg>
        <pc:cxnChg chg="add mod">
          <ac:chgData name="Antle, Rick" userId="c2afbbd2-30e4-4c8e-8af5-81913178ace3" providerId="ADAL" clId="{E4F85114-E007-447D-A47F-BD8F561CC3C2}" dt="2022-10-19T18:07:14.583" v="88" actId="14100"/>
          <ac:cxnSpMkLst>
            <pc:docMk/>
            <pc:sldMk cId="1151446148" sldId="301"/>
            <ac:cxnSpMk id="6" creationId="{713F478E-90E8-726E-09E7-689B3E38B476}"/>
          </ac:cxnSpMkLst>
        </pc:cxnChg>
        <pc:cxnChg chg="add mod">
          <ac:chgData name="Antle, Rick" userId="c2afbbd2-30e4-4c8e-8af5-81913178ace3" providerId="ADAL" clId="{E4F85114-E007-447D-A47F-BD8F561CC3C2}" dt="2022-10-19T18:07:03.066" v="73" actId="14100"/>
          <ac:cxnSpMkLst>
            <pc:docMk/>
            <pc:sldMk cId="1151446148" sldId="301"/>
            <ac:cxnSpMk id="7" creationId="{32B143AA-94D0-D708-BC10-C8AD9E904D2C}"/>
          </ac:cxnSpMkLst>
        </pc:cxnChg>
      </pc:sldChg>
      <pc:sldChg chg="mod modShow">
        <pc:chgData name="Antle, Rick" userId="c2afbbd2-30e4-4c8e-8af5-81913178ace3" providerId="ADAL" clId="{E4F85114-E007-447D-A47F-BD8F561CC3C2}" dt="2022-10-19T19:10:03.186" v="347" actId="729"/>
        <pc:sldMkLst>
          <pc:docMk/>
          <pc:sldMk cId="291863934" sldId="302"/>
        </pc:sldMkLst>
      </pc:sldChg>
      <pc:sldChg chg="mod modShow">
        <pc:chgData name="Antle, Rick" userId="c2afbbd2-30e4-4c8e-8af5-81913178ace3" providerId="ADAL" clId="{E4F85114-E007-447D-A47F-BD8F561CC3C2}" dt="2022-10-19T19:10:18.963" v="348" actId="729"/>
        <pc:sldMkLst>
          <pc:docMk/>
          <pc:sldMk cId="3301867029" sldId="303"/>
        </pc:sldMkLst>
      </pc:sldChg>
      <pc:sldChg chg="addSp modSp new mod modAnim">
        <pc:chgData name="Antle, Rick" userId="c2afbbd2-30e4-4c8e-8af5-81913178ace3" providerId="ADAL" clId="{E4F85114-E007-447D-A47F-BD8F561CC3C2}" dt="2022-10-19T18:43:56.411" v="118" actId="14100"/>
        <pc:sldMkLst>
          <pc:docMk/>
          <pc:sldMk cId="431018040" sldId="304"/>
        </pc:sldMkLst>
        <pc:spChg chg="add mod">
          <ac:chgData name="Antle, Rick" userId="c2afbbd2-30e4-4c8e-8af5-81913178ace3" providerId="ADAL" clId="{E4F85114-E007-447D-A47F-BD8F561CC3C2}" dt="2022-10-19T18:43:17.405" v="113" actId="1076"/>
          <ac:spMkLst>
            <pc:docMk/>
            <pc:sldMk cId="431018040" sldId="304"/>
            <ac:spMk id="4" creationId="{7FAA5D41-2853-85DB-910F-987161C6A173}"/>
          </ac:spMkLst>
        </pc:spChg>
        <pc:spChg chg="add mod">
          <ac:chgData name="Antle, Rick" userId="c2afbbd2-30e4-4c8e-8af5-81913178ace3" providerId="ADAL" clId="{E4F85114-E007-447D-A47F-BD8F561CC3C2}" dt="2022-10-19T18:43:56.411" v="118" actId="14100"/>
          <ac:spMkLst>
            <pc:docMk/>
            <pc:sldMk cId="431018040" sldId="304"/>
            <ac:spMk id="5" creationId="{6BCC7A2C-29C9-DBA0-4CBA-5E1CA3EDC5C3}"/>
          </ac:spMkLst>
        </pc:spChg>
        <pc:picChg chg="add">
          <ac:chgData name="Antle, Rick" userId="c2afbbd2-30e4-4c8e-8af5-81913178ace3" providerId="ADAL" clId="{E4F85114-E007-447D-A47F-BD8F561CC3C2}" dt="2022-10-19T18:20:14.995" v="107" actId="22"/>
          <ac:picMkLst>
            <pc:docMk/>
            <pc:sldMk cId="431018040" sldId="304"/>
            <ac:picMk id="3" creationId="{A23DDA68-CF22-2FA8-8776-D57CA54D43CF}"/>
          </ac:picMkLst>
        </pc:picChg>
      </pc:sldChg>
      <pc:sldChg chg="addSp modSp new mod modAnim">
        <pc:chgData name="Antle, Rick" userId="c2afbbd2-30e4-4c8e-8af5-81913178ace3" providerId="ADAL" clId="{E4F85114-E007-447D-A47F-BD8F561CC3C2}" dt="2022-10-19T19:10:46.503" v="351" actId="14100"/>
        <pc:sldMkLst>
          <pc:docMk/>
          <pc:sldMk cId="880165494" sldId="305"/>
        </pc:sldMkLst>
        <pc:spChg chg="add mod">
          <ac:chgData name="Antle, Rick" userId="c2afbbd2-30e4-4c8e-8af5-81913178ace3" providerId="ADAL" clId="{E4F85114-E007-447D-A47F-BD8F561CC3C2}" dt="2022-10-19T19:10:46.503" v="351" actId="14100"/>
          <ac:spMkLst>
            <pc:docMk/>
            <pc:sldMk cId="880165494" sldId="305"/>
            <ac:spMk id="4" creationId="{10190528-D87C-A87D-A32B-3814E93EE307}"/>
          </ac:spMkLst>
        </pc:spChg>
        <pc:picChg chg="add">
          <ac:chgData name="Antle, Rick" userId="c2afbbd2-30e4-4c8e-8af5-81913178ace3" providerId="ADAL" clId="{E4F85114-E007-447D-A47F-BD8F561CC3C2}" dt="2022-10-19T18:40:58.230" v="109" actId="22"/>
          <ac:picMkLst>
            <pc:docMk/>
            <pc:sldMk cId="880165494" sldId="305"/>
            <ac:picMk id="3" creationId="{E8FCED7D-FDEC-C9C2-2A08-588BB65CEDC3}"/>
          </ac:picMkLst>
        </pc:picChg>
      </pc:sldChg>
      <pc:sldChg chg="addSp modSp new mod modAnim">
        <pc:chgData name="Antle, Rick" userId="c2afbbd2-30e4-4c8e-8af5-81913178ace3" providerId="ADAL" clId="{E4F85114-E007-447D-A47F-BD8F561CC3C2}" dt="2022-10-19T19:12:54.367" v="389" actId="20577"/>
        <pc:sldMkLst>
          <pc:docMk/>
          <pc:sldMk cId="3433768270" sldId="306"/>
        </pc:sldMkLst>
        <pc:spChg chg="add mod">
          <ac:chgData name="Antle, Rick" userId="c2afbbd2-30e4-4c8e-8af5-81913178ace3" providerId="ADAL" clId="{E4F85114-E007-447D-A47F-BD8F561CC3C2}" dt="2022-10-19T19:12:54.367" v="389" actId="20577"/>
          <ac:spMkLst>
            <pc:docMk/>
            <pc:sldMk cId="3433768270" sldId="306"/>
            <ac:spMk id="7" creationId="{92FD8F9E-66C0-EA00-B63D-3A59F6D3F422}"/>
          </ac:spMkLst>
        </pc:spChg>
        <pc:picChg chg="add">
          <ac:chgData name="Antle, Rick" userId="c2afbbd2-30e4-4c8e-8af5-81913178ace3" providerId="ADAL" clId="{E4F85114-E007-447D-A47F-BD8F561CC3C2}" dt="2022-10-19T18:42:32.178" v="111" actId="22"/>
          <ac:picMkLst>
            <pc:docMk/>
            <pc:sldMk cId="3433768270" sldId="306"/>
            <ac:picMk id="3" creationId="{8F1F7E1C-FF61-71A0-F0D5-5C67FC8BD575}"/>
          </ac:picMkLst>
        </pc:picChg>
        <pc:cxnChg chg="add mod">
          <ac:chgData name="Antle, Rick" userId="c2afbbd2-30e4-4c8e-8af5-81913178ace3" providerId="ADAL" clId="{E4F85114-E007-447D-A47F-BD8F561CC3C2}" dt="2022-10-19T19:12:11.568" v="355" actId="14100"/>
          <ac:cxnSpMkLst>
            <pc:docMk/>
            <pc:sldMk cId="3433768270" sldId="306"/>
            <ac:cxnSpMk id="4" creationId="{84506300-EA89-F7A6-D092-E7C9F5BC8609}"/>
          </ac:cxnSpMkLst>
        </pc:cxnChg>
      </pc:sldChg>
      <pc:sldChg chg="addSp modSp new mod modAnim">
        <pc:chgData name="Antle, Rick" userId="c2afbbd2-30e4-4c8e-8af5-81913178ace3" providerId="ADAL" clId="{E4F85114-E007-447D-A47F-BD8F561CC3C2}" dt="2022-10-19T19:00:08.082" v="300"/>
        <pc:sldMkLst>
          <pc:docMk/>
          <pc:sldMk cId="3091515751" sldId="307"/>
        </pc:sldMkLst>
        <pc:spChg chg="add mod">
          <ac:chgData name="Antle, Rick" userId="c2afbbd2-30e4-4c8e-8af5-81913178ace3" providerId="ADAL" clId="{E4F85114-E007-447D-A47F-BD8F561CC3C2}" dt="2022-10-19T19:00:08.082" v="300"/>
          <ac:spMkLst>
            <pc:docMk/>
            <pc:sldMk cId="3091515751" sldId="307"/>
            <ac:spMk id="5" creationId="{733F48E9-866C-5839-88E7-F61643B2C777}"/>
          </ac:spMkLst>
        </pc:spChg>
        <pc:picChg chg="add">
          <ac:chgData name="Antle, Rick" userId="c2afbbd2-30e4-4c8e-8af5-81913178ace3" providerId="ADAL" clId="{E4F85114-E007-447D-A47F-BD8F561CC3C2}" dt="2022-10-19T18:56:41.040" v="285" actId="22"/>
          <ac:picMkLst>
            <pc:docMk/>
            <pc:sldMk cId="3091515751" sldId="307"/>
            <ac:picMk id="3" creationId="{6DF25710-6C82-26F5-74EA-0CBCD73812B5}"/>
          </ac:picMkLst>
        </pc:picChg>
        <pc:cxnChg chg="add mod">
          <ac:chgData name="Antle, Rick" userId="c2afbbd2-30e4-4c8e-8af5-81913178ace3" providerId="ADAL" clId="{E4F85114-E007-447D-A47F-BD8F561CC3C2}" dt="2022-10-19T18:59:46.881" v="299" actId="1076"/>
          <ac:cxnSpMkLst>
            <pc:docMk/>
            <pc:sldMk cId="3091515751" sldId="307"/>
            <ac:cxnSpMk id="4" creationId="{551F086C-989D-4D93-5DA8-BEC55ADEF983}"/>
          </ac:cxnSpMkLst>
        </pc:cxnChg>
      </pc:sldChg>
      <pc:sldChg chg="addSp modSp new mod modAnim">
        <pc:chgData name="Antle, Rick" userId="c2afbbd2-30e4-4c8e-8af5-81913178ace3" providerId="ADAL" clId="{E4F85114-E007-447D-A47F-BD8F561CC3C2}" dt="2022-10-19T19:01:43.977" v="306"/>
        <pc:sldMkLst>
          <pc:docMk/>
          <pc:sldMk cId="186170779" sldId="308"/>
        </pc:sldMkLst>
        <pc:spChg chg="add mod">
          <ac:chgData name="Antle, Rick" userId="c2afbbd2-30e4-4c8e-8af5-81913178ace3" providerId="ADAL" clId="{E4F85114-E007-447D-A47F-BD8F561CC3C2}" dt="2022-10-19T19:01:38.684" v="305" actId="14100"/>
          <ac:spMkLst>
            <pc:docMk/>
            <pc:sldMk cId="186170779" sldId="308"/>
            <ac:spMk id="4" creationId="{61AC7480-CEEF-5D1E-9D96-BE59142CEFA8}"/>
          </ac:spMkLst>
        </pc:spChg>
        <pc:picChg chg="add">
          <ac:chgData name="Antle, Rick" userId="c2afbbd2-30e4-4c8e-8af5-81913178ace3" providerId="ADAL" clId="{E4F85114-E007-447D-A47F-BD8F561CC3C2}" dt="2022-10-19T19:01:07.401" v="302" actId="22"/>
          <ac:picMkLst>
            <pc:docMk/>
            <pc:sldMk cId="186170779" sldId="308"/>
            <ac:picMk id="3" creationId="{59B4B235-F6BF-4AE9-65E1-94F91CFA04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9" t="19004" r="69128" b="17884"/>
          <a:stretch/>
        </p:blipFill>
        <p:spPr bwMode="auto">
          <a:xfrm>
            <a:off x="213360" y="4196080"/>
            <a:ext cx="741680" cy="721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LAW 21474</a:t>
            </a:r>
            <a:br>
              <a:rPr lang="en-US" dirty="0"/>
            </a:br>
            <a:r>
              <a:rPr lang="en-US" dirty="0"/>
              <a:t>Financial Accounting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16: Accounts Receivable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 Goals of Accounting for Accounts Receivable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76" y="1330138"/>
            <a:ext cx="7929283" cy="30861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Keep track of who owes what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Recognize the creation of the AR asset in the proper period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000" dirty="0"/>
              <a:t>This is the balance sheet equivalent of  revenue recognition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Have balance sheet reflect economic value of accounts receivable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Match bad debts against revenues in the proper period (have the income statement reflect economic reality of the transactions)</a:t>
            </a:r>
          </a:p>
        </p:txBody>
      </p:sp>
    </p:spTree>
    <p:extLst>
      <p:ext uri="{BB962C8B-B14F-4D97-AF65-F5344CB8AC3E}">
        <p14:creationId xmlns:p14="http://schemas.microsoft.com/office/powerpoint/2010/main" val="361127715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uiExpand="1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GAAP Works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Record accounts at amounts owed in </a:t>
            </a:r>
            <a:r>
              <a:rPr lang="en-US" b="1" dirty="0"/>
              <a:t>Accounts Receivable</a:t>
            </a:r>
          </a:p>
          <a:p>
            <a:r>
              <a:rPr lang="en-US" dirty="0"/>
              <a:t>Set up a contra-asset: </a:t>
            </a:r>
            <a:r>
              <a:rPr lang="en-US" b="1" dirty="0"/>
              <a:t>Allowance for doubtful accounts</a:t>
            </a:r>
          </a:p>
          <a:p>
            <a:pPr lvl="1"/>
            <a:r>
              <a:rPr lang="en-US" dirty="0"/>
              <a:t>Write-offs reduce </a:t>
            </a:r>
            <a:r>
              <a:rPr lang="en-US" b="1" dirty="0"/>
              <a:t>Accounts Receivable </a:t>
            </a:r>
            <a:r>
              <a:rPr lang="en-US" dirty="0"/>
              <a:t>and the </a:t>
            </a:r>
            <a:r>
              <a:rPr lang="en-US" b="1" dirty="0"/>
              <a:t>Allowance for Doubtful Accounts</a:t>
            </a:r>
          </a:p>
          <a:p>
            <a:r>
              <a:rPr lang="en-US" dirty="0"/>
              <a:t>Estimated bad debts are treated as an expense: </a:t>
            </a:r>
            <a:r>
              <a:rPr lang="en-US" b="1" dirty="0"/>
              <a:t>Bad Debts Expense</a:t>
            </a:r>
          </a:p>
        </p:txBody>
      </p:sp>
    </p:spTree>
    <p:extLst>
      <p:ext uri="{BB962C8B-B14F-4D97-AF65-F5344CB8AC3E}">
        <p14:creationId xmlns:p14="http://schemas.microsoft.com/office/powerpoint/2010/main" val="970329228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389234" y="1523150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418341" y="1523150"/>
            <a:ext cx="3330399" cy="2416340"/>
            <a:chOff x="1315095" y="1071372"/>
            <a:chExt cx="3330399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315095" y="1071372"/>
              <a:ext cx="3330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Doubtful Accounts</a:t>
              </a:r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of Contra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1811571" y="2499821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6083541" y="249945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Bad Debts Expense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65414C-DDBC-40BD-9506-70E84E0A8897}"/>
              </a:ext>
            </a:extLst>
          </p:cNvPr>
          <p:cNvSpPr txBox="1"/>
          <p:nvPr/>
        </p:nvSpPr>
        <p:spPr>
          <a:xfrm>
            <a:off x="996656" y="3547896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Ending Balance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E293F0-095E-4601-A69F-A302F73FBE09}"/>
              </a:ext>
            </a:extLst>
          </p:cNvPr>
          <p:cNvSpPr txBox="1"/>
          <p:nvPr/>
        </p:nvSpPr>
        <p:spPr>
          <a:xfrm>
            <a:off x="6137904" y="3536338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Ending Balance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4D8C7-BA2A-455A-B0DC-8662458B451E}"/>
              </a:ext>
            </a:extLst>
          </p:cNvPr>
          <p:cNvSpPr txBox="1"/>
          <p:nvPr/>
        </p:nvSpPr>
        <p:spPr>
          <a:xfrm>
            <a:off x="739001" y="1969399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Beginning Balance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E1A50-12F9-4F11-A834-5D941B0DAD8E}"/>
              </a:ext>
            </a:extLst>
          </p:cNvPr>
          <p:cNvSpPr txBox="1"/>
          <p:nvPr/>
        </p:nvSpPr>
        <p:spPr>
          <a:xfrm>
            <a:off x="1340012" y="3204475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Obtained in business acquisitions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FD71C-A9E5-4882-8399-91ED2988717D}"/>
              </a:ext>
            </a:extLst>
          </p:cNvPr>
          <p:cNvSpPr txBox="1"/>
          <p:nvPr/>
        </p:nvSpPr>
        <p:spPr>
          <a:xfrm>
            <a:off x="2872919" y="3197990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 dirty="0"/>
              <a:t>Sold in business dispositions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2E71E-3FE8-44A8-B5DA-DA50F04D2D6B}"/>
              </a:ext>
            </a:extLst>
          </p:cNvPr>
          <p:cNvSpPr txBox="1"/>
          <p:nvPr/>
        </p:nvSpPr>
        <p:spPr>
          <a:xfrm>
            <a:off x="4692203" y="3204475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 dirty="0"/>
              <a:t>Sold in business dispositions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33400-7F9D-4740-AAD5-9A921BCD041F}"/>
              </a:ext>
            </a:extLst>
          </p:cNvPr>
          <p:cNvSpPr txBox="1"/>
          <p:nvPr/>
        </p:nvSpPr>
        <p:spPr>
          <a:xfrm>
            <a:off x="6137904" y="3165765"/>
            <a:ext cx="1520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Obtained in business acquisitions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1742C7-AEEC-4DF7-A9A1-B5E347E0BB43}"/>
              </a:ext>
            </a:extLst>
          </p:cNvPr>
          <p:cNvSpPr txBox="1"/>
          <p:nvPr/>
        </p:nvSpPr>
        <p:spPr>
          <a:xfrm>
            <a:off x="6212960" y="1969399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Beginning Balance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422EAC-71CD-4304-AF9D-51AE183BB7E5}"/>
              </a:ext>
            </a:extLst>
          </p:cNvPr>
          <p:cNvSpPr txBox="1"/>
          <p:nvPr/>
        </p:nvSpPr>
        <p:spPr>
          <a:xfrm>
            <a:off x="2938849" y="2369509"/>
            <a:ext cx="1673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Collections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1792F48-DE9D-4AA4-9893-E78D6C47FAED}"/>
              </a:ext>
            </a:extLst>
          </p:cNvPr>
          <p:cNvGrpSpPr/>
          <p:nvPr/>
        </p:nvGrpSpPr>
        <p:grpSpPr>
          <a:xfrm>
            <a:off x="2860769" y="2742810"/>
            <a:ext cx="3193914" cy="461665"/>
            <a:chOff x="2860769" y="2742810"/>
            <a:chExt cx="3193914" cy="461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807B03-2E67-4E3C-BC61-CB5D14AB6D09}"/>
                </a:ext>
              </a:extLst>
            </p:cNvPr>
            <p:cNvSpPr txBox="1"/>
            <p:nvPr/>
          </p:nvSpPr>
          <p:spPr>
            <a:xfrm>
              <a:off x="2860769" y="2742810"/>
              <a:ext cx="15207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Write-offs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0DA6D8-96A4-4F4A-A109-D4642476A544}"/>
                </a:ext>
              </a:extLst>
            </p:cNvPr>
            <p:cNvSpPr txBox="1"/>
            <p:nvPr/>
          </p:nvSpPr>
          <p:spPr>
            <a:xfrm>
              <a:off x="4533926" y="2742810"/>
              <a:ext cx="15207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Write-offs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31CBC27-CE90-4636-A858-BBA640876DD3}"/>
                </a:ext>
              </a:extLst>
            </p:cNvPr>
            <p:cNvCxnSpPr>
              <a:cxnSpLocks/>
            </p:cNvCxnSpPr>
            <p:nvPr/>
          </p:nvCxnSpPr>
          <p:spPr>
            <a:xfrm>
              <a:off x="4237290" y="2986614"/>
              <a:ext cx="37471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321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/>
      <p:bldP spid="41" grpId="0"/>
      <p:bldP spid="3" grpId="0"/>
      <p:bldP spid="6" grpId="0"/>
      <p:bldP spid="8" grpId="0"/>
      <p:bldP spid="9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5A07-9752-4488-A364-8529E79A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Sheet Presentation</a:t>
            </a:r>
          </a:p>
        </p:txBody>
      </p:sp>
      <p:graphicFrame>
        <p:nvGraphicFramePr>
          <p:cNvPr id="4" name="Table 48">
            <a:extLst>
              <a:ext uri="{FF2B5EF4-FFF2-40B4-BE49-F238E27FC236}">
                <a16:creationId xmlns:a16="http://schemas.microsoft.com/office/drawing/2014/main" id="{D2379B18-50B0-4F05-BB9B-FB17EF5A962B}"/>
              </a:ext>
            </a:extLst>
          </p:cNvPr>
          <p:cNvGraphicFramePr>
            <a:graphicFrameLocks noGrp="1"/>
          </p:cNvGraphicFramePr>
          <p:nvPr/>
        </p:nvGraphicFramePr>
        <p:xfrm>
          <a:off x="293914" y="1418713"/>
          <a:ext cx="8582049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479">
                  <a:extLst>
                    <a:ext uri="{9D8B030D-6E8A-4147-A177-3AD203B41FA5}">
                      <a16:colId xmlns:a16="http://schemas.microsoft.com/office/drawing/2014/main" val="2842612377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4244871786"/>
                    </a:ext>
                  </a:extLst>
                </a:gridCol>
                <a:gridCol w="1993470">
                  <a:extLst>
                    <a:ext uri="{9D8B030D-6E8A-4147-A177-3AD203B41FA5}">
                      <a16:colId xmlns:a16="http://schemas.microsoft.com/office/drawing/2014/main" val="2340523134"/>
                    </a:ext>
                  </a:extLst>
                </a:gridCol>
              </a:tblGrid>
              <a:tr h="29782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Ending Balance Sheet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Beginning Balance Sheet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612782"/>
                  </a:ext>
                </a:extLst>
              </a:tr>
              <a:tr h="297820">
                <a:tc>
                  <a:txBody>
                    <a:bodyPr/>
                    <a:lstStyle/>
                    <a:p>
                      <a:r>
                        <a:rPr lang="en-US" sz="2400" dirty="0"/>
                        <a:t>Accounts Receivable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5722347"/>
                  </a:ext>
                </a:extLst>
              </a:tr>
              <a:tr h="297820">
                <a:tc>
                  <a:txBody>
                    <a:bodyPr/>
                    <a:lstStyle/>
                    <a:p>
                      <a:r>
                        <a:rPr lang="en-US" sz="2400" dirty="0"/>
                        <a:t>Allowance for Doubtful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(2)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(3)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881033"/>
                  </a:ext>
                </a:extLst>
              </a:tr>
              <a:tr h="271294">
                <a:tc rowSpan="2">
                  <a:txBody>
                    <a:bodyPr/>
                    <a:lstStyle/>
                    <a:p>
                      <a:r>
                        <a:rPr lang="en-US" sz="2400" b="1" dirty="0"/>
                        <a:t>Accounts Receivable,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98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87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3063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3848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4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1" y="171450"/>
          <a:ext cx="8229601" cy="4272945"/>
        </p:xfrm>
        <a:graphic>
          <a:graphicData uri="http://schemas.openxmlformats.org/drawingml/2006/table">
            <a:tbl>
              <a:tblPr/>
              <a:tblGrid>
                <a:gridCol w="525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09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MGM Mirage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</a:rPr>
                        <a:t> -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Balance Sheet (000s)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December 31, 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2004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2003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ASSETS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Current assets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Cash and cash equivalents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435,128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279,606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Accounts receivable,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204,151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139,475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Inventories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70,333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65,189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Income tax receivable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9,901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Deferred income taxes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28,928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49,286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Prepaid expenses and other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81,662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89,641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Assets held for sale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226,082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Total current assets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820,202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859,180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Property and equipment,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8,914,142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8,681,339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Other assets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Investments in unconsolidated affiliates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842,640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756,012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Goodwill and other intangible assets,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233,335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267,668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Deposits and other assets, net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304,710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247,070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Total other assets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1,380,685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1,270,750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7943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11,115,029</a:t>
                      </a: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10,811,269</a:t>
                      </a: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A541A3FC-0179-4F04-A631-B9A8CD78C616}"/>
              </a:ext>
            </a:extLst>
          </p:cNvPr>
          <p:cNvSpPr/>
          <p:nvPr/>
        </p:nvSpPr>
        <p:spPr>
          <a:xfrm>
            <a:off x="465363" y="85724"/>
            <a:ext cx="1216479" cy="5878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BA5437-8207-490D-AF32-377997B2F964}"/>
              </a:ext>
            </a:extLst>
          </p:cNvPr>
          <p:cNvSpPr/>
          <p:nvPr/>
        </p:nvSpPr>
        <p:spPr>
          <a:xfrm>
            <a:off x="6022520" y="379639"/>
            <a:ext cx="2582637" cy="7592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56EA1F-8496-49D5-B74F-02415080D6CE}"/>
              </a:ext>
            </a:extLst>
          </p:cNvPr>
          <p:cNvCxnSpPr>
            <a:cxnSpLocks/>
          </p:cNvCxnSpPr>
          <p:nvPr/>
        </p:nvCxnSpPr>
        <p:spPr>
          <a:xfrm>
            <a:off x="685800" y="1265464"/>
            <a:ext cx="1314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629B38-E660-43CD-A99F-44C8380FF274}"/>
              </a:ext>
            </a:extLst>
          </p:cNvPr>
          <p:cNvCxnSpPr>
            <a:cxnSpLocks/>
          </p:cNvCxnSpPr>
          <p:nvPr/>
        </p:nvCxnSpPr>
        <p:spPr>
          <a:xfrm>
            <a:off x="685800" y="1662793"/>
            <a:ext cx="2212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B520E07-1D0C-4766-A34E-FE9734B5AFBA}"/>
              </a:ext>
            </a:extLst>
          </p:cNvPr>
          <p:cNvSpPr/>
          <p:nvPr/>
        </p:nvSpPr>
        <p:spPr>
          <a:xfrm>
            <a:off x="2520043" y="1347107"/>
            <a:ext cx="443593" cy="4531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848FDD-8790-4F69-9FFE-EA4A558D4E29}"/>
              </a:ext>
            </a:extLst>
          </p:cNvPr>
          <p:cNvCxnSpPr>
            <a:cxnSpLocks/>
          </p:cNvCxnSpPr>
          <p:nvPr/>
        </p:nvCxnSpPr>
        <p:spPr>
          <a:xfrm>
            <a:off x="6626681" y="1662793"/>
            <a:ext cx="2212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Two basic approaches to accounting for bad debts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35736"/>
            <a:ext cx="8229600" cy="339447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% of sales method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Does matching very well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Balance sheet valuation of A/R might not be perfectly accurate</a:t>
            </a:r>
          </a:p>
          <a:p>
            <a:pPr>
              <a:lnSpc>
                <a:spcPct val="90000"/>
              </a:lnSpc>
            </a:pPr>
            <a:r>
              <a:rPr lang="en-US" dirty="0"/>
              <a:t>Analysis of outstanding receivables, e.g. aging method individual account analysis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Driven by analysis of the balance sheet (</a:t>
            </a:r>
            <a:r>
              <a:rPr lang="en-US" dirty="0" err="1"/>
              <a:t>i.e</a:t>
            </a:r>
            <a:r>
              <a:rPr lang="en-US" dirty="0"/>
              <a:t>, the balance in A/R), good balance sheet valuation results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not match well</a:t>
            </a:r>
          </a:p>
        </p:txBody>
      </p:sp>
    </p:spTree>
    <p:extLst>
      <p:ext uri="{BB962C8B-B14F-4D97-AF65-F5344CB8AC3E}">
        <p14:creationId xmlns:p14="http://schemas.microsoft.com/office/powerpoint/2010/main" val="232677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438456" y="1153818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467563" y="1153818"/>
            <a:ext cx="3330399" cy="2416340"/>
            <a:chOff x="1315095" y="1071372"/>
            <a:chExt cx="3330399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315095" y="1071372"/>
              <a:ext cx="3330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Doubtful Accounts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FF4FF5-886F-4F67-A983-EBBCF35E9E3D}"/>
              </a:ext>
            </a:extLst>
          </p:cNvPr>
          <p:cNvCxnSpPr>
            <a:cxnSpLocks/>
          </p:cNvCxnSpPr>
          <p:nvPr/>
        </p:nvCxnSpPr>
        <p:spPr>
          <a:xfrm>
            <a:off x="996003" y="2360951"/>
            <a:ext cx="86479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22BBF-69DC-4AF8-9382-244499237748}"/>
              </a:ext>
            </a:extLst>
          </p:cNvPr>
          <p:cNvCxnSpPr>
            <a:cxnSpLocks/>
          </p:cNvCxnSpPr>
          <p:nvPr/>
        </p:nvCxnSpPr>
        <p:spPr>
          <a:xfrm flipH="1">
            <a:off x="7059526" y="2443397"/>
            <a:ext cx="93688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% of Sales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76305" y="2130118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7996410" y="1943301"/>
            <a:ext cx="946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Bad</a:t>
            </a:r>
          </a:p>
          <a:p>
            <a:r>
              <a:rPr lang="en-US" sz="2400" b="1" dirty="0"/>
              <a:t>Debts</a:t>
            </a:r>
          </a:p>
          <a:p>
            <a:r>
              <a:rPr lang="en-US" sz="2400" b="1" dirty="0"/>
              <a:t>Exp.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65414C-DDBC-40BD-9506-70E84E0A8897}"/>
              </a:ext>
            </a:extLst>
          </p:cNvPr>
          <p:cNvSpPr txBox="1"/>
          <p:nvPr/>
        </p:nvSpPr>
        <p:spPr>
          <a:xfrm>
            <a:off x="1105236" y="3165379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Ending BS AR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E293F0-095E-4601-A69F-A302F73FBE09}"/>
              </a:ext>
            </a:extLst>
          </p:cNvPr>
          <p:cNvSpPr txBox="1"/>
          <p:nvPr/>
        </p:nvSpPr>
        <p:spPr>
          <a:xfrm>
            <a:off x="6085897" y="3181145"/>
            <a:ext cx="2067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Ending BS ADA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DC5DE9-1031-451E-8AF9-F5DEBB551BE2}"/>
              </a:ext>
            </a:extLst>
          </p:cNvPr>
          <p:cNvSpPr txBox="1"/>
          <p:nvPr/>
        </p:nvSpPr>
        <p:spPr>
          <a:xfrm>
            <a:off x="6689799" y="574110"/>
            <a:ext cx="2383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Estimate this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607D2C6-9747-43A0-B4E7-12162F1FBA71}"/>
              </a:ext>
            </a:extLst>
          </p:cNvPr>
          <p:cNvSpPr/>
          <p:nvPr/>
        </p:nvSpPr>
        <p:spPr>
          <a:xfrm>
            <a:off x="6941984" y="1742089"/>
            <a:ext cx="2000520" cy="1568669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3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38" grpId="0"/>
      <p:bldP spid="38" grpId="1"/>
      <p:bldP spid="39" grpId="0"/>
      <p:bldP spid="41" grpId="0"/>
      <p:bldP spid="42" grpId="0"/>
      <p:bldP spid="42" grpId="1"/>
      <p:bldP spid="45" grpId="0" animBg="1"/>
      <p:bldP spid="4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% Sales Method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Use historical data to estimate the relation between sales and bad debts.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DECDB4D-A3E6-455F-8AD9-D3792DA60FDB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100343"/>
          <a:ext cx="6096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31348022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6659436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240856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92305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Eventually collected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%uncollected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74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16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924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083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1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999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1FB2A8-E5D3-4920-8C08-A7154624854B}"/>
              </a:ext>
            </a:extLst>
          </p:cNvPr>
          <p:cNvSpPr txBox="1"/>
          <p:nvPr/>
        </p:nvSpPr>
        <p:spPr>
          <a:xfrm>
            <a:off x="7649633" y="3331634"/>
            <a:ext cx="133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Average: 8%</a:t>
            </a:r>
          </a:p>
        </p:txBody>
      </p:sp>
    </p:spTree>
    <p:extLst>
      <p:ext uri="{BB962C8B-B14F-4D97-AF65-F5344CB8AC3E}">
        <p14:creationId xmlns:p14="http://schemas.microsoft.com/office/powerpoint/2010/main" val="180823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 autoUpdateAnimBg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438456" y="1153818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467563" y="1153818"/>
            <a:ext cx="3330399" cy="2416340"/>
            <a:chOff x="1315095" y="1071372"/>
            <a:chExt cx="3330399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315095" y="1071372"/>
              <a:ext cx="3330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Doubtful Accounts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FF4FF5-886F-4F67-A983-EBBCF35E9E3D}"/>
              </a:ext>
            </a:extLst>
          </p:cNvPr>
          <p:cNvCxnSpPr>
            <a:cxnSpLocks/>
          </p:cNvCxnSpPr>
          <p:nvPr/>
        </p:nvCxnSpPr>
        <p:spPr>
          <a:xfrm>
            <a:off x="996003" y="2360951"/>
            <a:ext cx="86479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22BBF-69DC-4AF8-9382-244499237748}"/>
              </a:ext>
            </a:extLst>
          </p:cNvPr>
          <p:cNvCxnSpPr>
            <a:cxnSpLocks/>
          </p:cNvCxnSpPr>
          <p:nvPr/>
        </p:nvCxnSpPr>
        <p:spPr>
          <a:xfrm flipH="1">
            <a:off x="7059526" y="2443397"/>
            <a:ext cx="93688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Analysis of  Outstanding Accounts Receivable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76305" y="2130118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7996410" y="1943301"/>
            <a:ext cx="946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Bad</a:t>
            </a:r>
          </a:p>
          <a:p>
            <a:r>
              <a:rPr lang="en-US" sz="2400" b="1" dirty="0"/>
              <a:t>Debts</a:t>
            </a:r>
          </a:p>
          <a:p>
            <a:r>
              <a:rPr lang="en-US" sz="2400" b="1" dirty="0"/>
              <a:t>Exp.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65414C-DDBC-40BD-9506-70E84E0A8897}"/>
              </a:ext>
            </a:extLst>
          </p:cNvPr>
          <p:cNvSpPr txBox="1"/>
          <p:nvPr/>
        </p:nvSpPr>
        <p:spPr>
          <a:xfrm>
            <a:off x="1105236" y="3165379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Ending BS AR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E293F0-095E-4601-A69F-A302F73FBE09}"/>
              </a:ext>
            </a:extLst>
          </p:cNvPr>
          <p:cNvSpPr txBox="1"/>
          <p:nvPr/>
        </p:nvSpPr>
        <p:spPr>
          <a:xfrm>
            <a:off x="6085897" y="3181145"/>
            <a:ext cx="2067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Ending BS ADA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35BD1D-4B70-4233-80CE-1585D2CF45D2}"/>
              </a:ext>
            </a:extLst>
          </p:cNvPr>
          <p:cNvSpPr/>
          <p:nvPr/>
        </p:nvSpPr>
        <p:spPr>
          <a:xfrm>
            <a:off x="6132763" y="2679126"/>
            <a:ext cx="2000520" cy="1568669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B03220-8FE1-428A-8583-F879A5D3B129}"/>
              </a:ext>
            </a:extLst>
          </p:cNvPr>
          <p:cNvSpPr txBox="1"/>
          <p:nvPr/>
        </p:nvSpPr>
        <p:spPr>
          <a:xfrm>
            <a:off x="3922950" y="4010993"/>
            <a:ext cx="2383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Estimate this</a:t>
            </a:r>
          </a:p>
        </p:txBody>
      </p:sp>
    </p:spTree>
    <p:extLst>
      <p:ext uri="{BB962C8B-B14F-4D97-AF65-F5344CB8AC3E}">
        <p14:creationId xmlns:p14="http://schemas.microsoft.com/office/powerpoint/2010/main" val="386849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38" grpId="0"/>
      <p:bldP spid="39" grpId="0"/>
      <p:bldP spid="41" grpId="0"/>
      <p:bldP spid="29" grpId="0" animBg="1"/>
      <p:bldP spid="29" grpId="1" animBg="1"/>
      <p:bldP spid="30" grpId="0"/>
      <p:bldP spid="3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Aging of Receivables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Tabulate receivables by how long they have remained uncollected.</a:t>
            </a:r>
          </a:p>
          <a:p>
            <a:pPr>
              <a:lnSpc>
                <a:spcPct val="90000"/>
              </a:lnSpc>
            </a:pPr>
            <a:r>
              <a:rPr lang="en-US" dirty="0"/>
              <a:t>The older they are, the more likely they will be uncollectible</a:t>
            </a:r>
          </a:p>
          <a:p>
            <a:pPr>
              <a:lnSpc>
                <a:spcPct val="90000"/>
              </a:lnSpc>
            </a:pPr>
            <a:r>
              <a:rPr lang="en-US" dirty="0"/>
              <a:t>An example: suppose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0 to 30 days, 0.5% uncollectible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30 to 60 days, 2% uncollectible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more than 60 days, 100% uncollectible</a:t>
            </a:r>
          </a:p>
        </p:txBody>
      </p:sp>
    </p:spTree>
    <p:extLst>
      <p:ext uri="{BB962C8B-B14F-4D97-AF65-F5344CB8AC3E}">
        <p14:creationId xmlns:p14="http://schemas.microsoft.com/office/powerpoint/2010/main" val="334649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D01E-33AF-4F8C-B1D5-011B3D33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47FC59-CADA-42E3-8B1C-0B8228713C1E}"/>
              </a:ext>
            </a:extLst>
          </p:cNvPr>
          <p:cNvGraphicFramePr>
            <a:graphicFrameLocks noGrp="1"/>
          </p:cNvGraphicFramePr>
          <p:nvPr/>
        </p:nvGraphicFramePr>
        <p:xfrm>
          <a:off x="1368358" y="1333311"/>
          <a:ext cx="6342434" cy="222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71217">
                  <a:extLst>
                    <a:ext uri="{9D8B030D-6E8A-4147-A177-3AD203B41FA5}">
                      <a16:colId xmlns:a16="http://schemas.microsoft.com/office/drawing/2014/main" val="3394579890"/>
                    </a:ext>
                  </a:extLst>
                </a:gridCol>
                <a:gridCol w="3171217">
                  <a:extLst>
                    <a:ext uri="{9D8B030D-6E8A-4147-A177-3AD203B41FA5}">
                      <a16:colId xmlns:a16="http://schemas.microsoft.com/office/drawing/2014/main" val="3072638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40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3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Write-offs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56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Estimated bad debts = </a:t>
                      </a:r>
                      <a:r>
                        <a:rPr lang="en-US" b="1" dirty="0"/>
                        <a:t>8%</a:t>
                      </a:r>
                      <a:r>
                        <a:rPr lang="en-US" dirty="0"/>
                        <a:t>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56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Beginning AR and 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41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Estimated ending ADA = </a:t>
                      </a:r>
                      <a:r>
                        <a:rPr lang="en-US" b="1" dirty="0"/>
                        <a:t>$8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572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89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Journal Entries - %Sales Method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06500"/>
            <a:ext cx="8763000" cy="3543300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buFont typeface="+mj-lt"/>
              <a:buAutoNum type="alphaLcParenR"/>
            </a:pPr>
            <a:r>
              <a:rPr lang="en-US" dirty="0"/>
              <a:t>Accounts Receivable 			100</a:t>
            </a:r>
            <a:br>
              <a:rPr lang="en-US" dirty="0"/>
            </a:br>
            <a:r>
              <a:rPr lang="en-US" dirty="0"/>
              <a:t>	Sales Revenue	            			100</a:t>
            </a:r>
          </a:p>
          <a:p>
            <a:pPr marL="609600" indent="-609600">
              <a:buFont typeface="+mj-lt"/>
              <a:buAutoNum type="alphaLcParenR"/>
            </a:pPr>
            <a:r>
              <a:rPr lang="en-US" b="1" dirty="0"/>
              <a:t>Bad debt Expense				8</a:t>
            </a:r>
            <a:br>
              <a:rPr lang="en-US" b="1" dirty="0"/>
            </a:br>
            <a:r>
              <a:rPr lang="en-US" b="1" dirty="0"/>
              <a:t>	Allowance for </a:t>
            </a:r>
            <a:r>
              <a:rPr lang="en-US" b="1" dirty="0" err="1"/>
              <a:t>Uncollectibles</a:t>
            </a:r>
            <a:r>
              <a:rPr lang="en-US" b="1" dirty="0"/>
              <a:t>			8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Cash						60</a:t>
            </a:r>
            <a:br>
              <a:rPr lang="en-US" dirty="0"/>
            </a:br>
            <a:r>
              <a:rPr lang="en-US" dirty="0"/>
              <a:t>	Accts Receivable					60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Allowance for </a:t>
            </a:r>
            <a:r>
              <a:rPr lang="en-US" dirty="0" err="1"/>
              <a:t>Uncollectibles</a:t>
            </a:r>
            <a:r>
              <a:rPr lang="en-US" dirty="0"/>
              <a:t>		3</a:t>
            </a:r>
            <a:br>
              <a:rPr lang="en-US" dirty="0"/>
            </a:br>
            <a:r>
              <a:rPr lang="en-US" dirty="0"/>
              <a:t>	Accts Receivable					3</a:t>
            </a:r>
          </a:p>
          <a:p>
            <a:pPr marL="609600" indent="-609600">
              <a:buFontTx/>
              <a:buAutoNum type="alphaL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93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438456" y="1153818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643254" y="1153818"/>
            <a:ext cx="2944054" cy="2416340"/>
            <a:chOff x="1490786" y="1071372"/>
            <a:chExt cx="2944054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490786" y="1071372"/>
              <a:ext cx="2897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</a:t>
              </a:r>
              <a:r>
                <a:rPr lang="en-US" b="1" dirty="0" err="1"/>
                <a:t>Uncollectibles</a:t>
              </a:r>
              <a:endParaRPr lang="en-US" b="1" dirty="0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FF4FF5-886F-4F67-A983-EBBCF35E9E3D}"/>
              </a:ext>
            </a:extLst>
          </p:cNvPr>
          <p:cNvCxnSpPr>
            <a:cxnSpLocks/>
          </p:cNvCxnSpPr>
          <p:nvPr/>
        </p:nvCxnSpPr>
        <p:spPr>
          <a:xfrm>
            <a:off x="996003" y="2360951"/>
            <a:ext cx="86479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22BBF-69DC-4AF8-9382-244499237748}"/>
              </a:ext>
            </a:extLst>
          </p:cNvPr>
          <p:cNvCxnSpPr>
            <a:cxnSpLocks/>
          </p:cNvCxnSpPr>
          <p:nvPr/>
        </p:nvCxnSpPr>
        <p:spPr>
          <a:xfrm flipH="1">
            <a:off x="7059526" y="2443397"/>
            <a:ext cx="93688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% of Sales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76305" y="2130118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7996410" y="1943301"/>
            <a:ext cx="946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Bad</a:t>
            </a:r>
          </a:p>
          <a:p>
            <a:r>
              <a:rPr lang="en-US" sz="2400" b="1" dirty="0"/>
              <a:t>Debts</a:t>
            </a:r>
          </a:p>
          <a:p>
            <a:r>
              <a:rPr lang="en-US" sz="2400" b="1" dirty="0"/>
              <a:t>Exp.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B586D-7FD1-4231-8F9E-CAA22C760E77}"/>
              </a:ext>
            </a:extLst>
          </p:cNvPr>
          <p:cNvSpPr txBox="1"/>
          <p:nvPr/>
        </p:nvSpPr>
        <p:spPr>
          <a:xfrm>
            <a:off x="2192867" y="167216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95A5E-3D6F-495A-8776-2F449C891D09}"/>
              </a:ext>
            </a:extLst>
          </p:cNvPr>
          <p:cNvSpPr txBox="1"/>
          <p:nvPr/>
        </p:nvSpPr>
        <p:spPr>
          <a:xfrm>
            <a:off x="2027767" y="2176285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E8A32-2586-4FFE-AFE2-BBD6EFE71458}"/>
              </a:ext>
            </a:extLst>
          </p:cNvPr>
          <p:cNvSpPr txBox="1"/>
          <p:nvPr/>
        </p:nvSpPr>
        <p:spPr>
          <a:xfrm>
            <a:off x="6547410" y="222072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3936C-0B93-45F2-8A9E-90766F6EF728}"/>
              </a:ext>
            </a:extLst>
          </p:cNvPr>
          <p:cNvSpPr txBox="1"/>
          <p:nvPr/>
        </p:nvSpPr>
        <p:spPr>
          <a:xfrm>
            <a:off x="3321610" y="258689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FC3E1-F356-4B51-82F1-016F3D9DEDF0}"/>
              </a:ext>
            </a:extLst>
          </p:cNvPr>
          <p:cNvSpPr txBox="1"/>
          <p:nvPr/>
        </p:nvSpPr>
        <p:spPr>
          <a:xfrm>
            <a:off x="5370543" y="258689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203C0-9EC8-4018-A430-2CDAB0839BAB}"/>
              </a:ext>
            </a:extLst>
          </p:cNvPr>
          <p:cNvSpPr txBox="1"/>
          <p:nvPr/>
        </p:nvSpPr>
        <p:spPr>
          <a:xfrm>
            <a:off x="3258110" y="217628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9724F-26AC-4B29-A1F8-DF1C31B6D47A}"/>
              </a:ext>
            </a:extLst>
          </p:cNvPr>
          <p:cNvSpPr txBox="1"/>
          <p:nvPr/>
        </p:nvSpPr>
        <p:spPr>
          <a:xfrm>
            <a:off x="2081243" y="314363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E438D-C8E9-405D-80D2-014EF52905CF}"/>
              </a:ext>
            </a:extLst>
          </p:cNvPr>
          <p:cNvSpPr txBox="1"/>
          <p:nvPr/>
        </p:nvSpPr>
        <p:spPr>
          <a:xfrm>
            <a:off x="6547410" y="314363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E04C185-E2D7-4433-AD3D-A2C31CB735A0}"/>
              </a:ext>
            </a:extLst>
          </p:cNvPr>
          <p:cNvSpPr/>
          <p:nvPr/>
        </p:nvSpPr>
        <p:spPr>
          <a:xfrm>
            <a:off x="6941984" y="1742089"/>
            <a:ext cx="2000520" cy="1568669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7D81E0-4B2D-4B6D-BD89-76C1CB84EDAB}"/>
              </a:ext>
            </a:extLst>
          </p:cNvPr>
          <p:cNvSpPr txBox="1"/>
          <p:nvPr/>
        </p:nvSpPr>
        <p:spPr>
          <a:xfrm>
            <a:off x="7705650" y="1206079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Sales*8%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8016E-3AEC-4C66-8C4F-7682F57F5D98}"/>
              </a:ext>
            </a:extLst>
          </p:cNvPr>
          <p:cNvSpPr txBox="1"/>
          <p:nvPr/>
        </p:nvSpPr>
        <p:spPr>
          <a:xfrm>
            <a:off x="6547410" y="159373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1953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" grpId="0"/>
      <p:bldP spid="6" grpId="0"/>
      <p:bldP spid="8" grpId="0"/>
      <p:bldP spid="10" grpId="0"/>
      <p:bldP spid="11" grpId="0"/>
      <p:bldP spid="13" grpId="0"/>
      <p:bldP spid="26" grpId="0"/>
      <p:bldP spid="32" grpId="0" animBg="1"/>
      <p:bldP spid="32" grpId="1" animBg="1"/>
      <p:bldP spid="34" grpId="0"/>
      <p:bldP spid="3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% Sales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233" y="1028700"/>
            <a:ext cx="8771467" cy="35433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dirty="0"/>
              <a:t>Balance sheet: Accounts Receivable, net </a:t>
            </a:r>
            <a:r>
              <a:rPr lang="en-US" b="1" dirty="0"/>
              <a:t>$32</a:t>
            </a:r>
          </a:p>
          <a:p>
            <a:pPr marL="609600" indent="-609600">
              <a:buFontTx/>
              <a:buNone/>
            </a:pPr>
            <a:r>
              <a:rPr lang="en-US" dirty="0"/>
              <a:t>Income statement: Bad Debts Expense </a:t>
            </a:r>
            <a:r>
              <a:rPr lang="en-US" b="1" dirty="0"/>
              <a:t>$8</a:t>
            </a:r>
          </a:p>
          <a:p>
            <a:pPr marL="609600" indent="-609600">
              <a:buFontTx/>
              <a:buNone/>
            </a:pPr>
            <a:r>
              <a:rPr lang="en-US" dirty="0"/>
              <a:t>Cash flow statement:</a:t>
            </a:r>
          </a:p>
          <a:p>
            <a:pPr marL="609600" indent="-609600">
              <a:buFontTx/>
              <a:buNone/>
            </a:pPr>
            <a:r>
              <a:rPr lang="en-US" dirty="0"/>
              <a:t>	Direct method: Collections from customers </a:t>
            </a:r>
            <a:r>
              <a:rPr lang="en-US" b="1" dirty="0"/>
              <a:t>$60</a:t>
            </a:r>
          </a:p>
          <a:p>
            <a:pPr marL="609600" indent="-609600">
              <a:buFontTx/>
              <a:buNone/>
            </a:pPr>
            <a:r>
              <a:rPr lang="en-US" dirty="0"/>
              <a:t>	Indirect method: </a:t>
            </a:r>
            <a:r>
              <a:rPr lang="en-US" dirty="0" err="1"/>
              <a:t>ChAR</a:t>
            </a:r>
            <a:r>
              <a:rPr lang="en-US" dirty="0"/>
              <a:t> due to ops </a:t>
            </a:r>
            <a:r>
              <a:rPr lang="en-US" b="1" dirty="0"/>
              <a:t>$32</a:t>
            </a:r>
          </a:p>
          <a:p>
            <a:pPr marL="609600" indent="-609600" algn="ctr">
              <a:buFontTx/>
              <a:buNone/>
            </a:pPr>
            <a:r>
              <a:rPr lang="en-US" sz="2400" dirty="0"/>
              <a:t>(or BD Expense </a:t>
            </a:r>
            <a:r>
              <a:rPr lang="en-US" sz="2400" b="1" dirty="0"/>
              <a:t>$8</a:t>
            </a:r>
            <a:r>
              <a:rPr lang="en-US" sz="2400" dirty="0"/>
              <a:t> and </a:t>
            </a:r>
            <a:r>
              <a:rPr lang="en-US" sz="2400" dirty="0" err="1"/>
              <a:t>ChAR</a:t>
            </a:r>
            <a:r>
              <a:rPr lang="en-US" sz="2400" dirty="0"/>
              <a:t> due to ops </a:t>
            </a:r>
            <a:r>
              <a:rPr lang="en-US" sz="2400" b="1" dirty="0"/>
              <a:t>$40</a:t>
            </a:r>
            <a:r>
              <a:rPr lang="en-US" sz="2400" dirty="0"/>
              <a:t>)</a:t>
            </a:r>
          </a:p>
          <a:p>
            <a:pPr marL="609600" indent="-60960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57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Journal Entries - Aging Method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>
            <a:normAutofit fontScale="92500" lnSpcReduction="10000"/>
          </a:bodyPr>
          <a:lstStyle/>
          <a:p>
            <a:pPr marL="609600" indent="-609600">
              <a:buFont typeface="+mj-lt"/>
              <a:buAutoNum type="alphaLcParenR"/>
            </a:pPr>
            <a:r>
              <a:rPr lang="en-US" dirty="0"/>
              <a:t>Accounts Receivable 		100</a:t>
            </a:r>
            <a:br>
              <a:rPr lang="en-US" dirty="0"/>
            </a:br>
            <a:r>
              <a:rPr lang="en-US" dirty="0"/>
              <a:t>	Sales Revenue	             		100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Cash					60</a:t>
            </a:r>
            <a:br>
              <a:rPr lang="en-US" dirty="0"/>
            </a:br>
            <a:r>
              <a:rPr lang="en-US" dirty="0"/>
              <a:t>	Accts Receivable				60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Allowance for </a:t>
            </a:r>
            <a:r>
              <a:rPr lang="en-US" dirty="0" err="1"/>
              <a:t>Uncollectibles</a:t>
            </a:r>
            <a:r>
              <a:rPr lang="en-US" dirty="0"/>
              <a:t>	3</a:t>
            </a:r>
            <a:br>
              <a:rPr lang="en-US" dirty="0"/>
            </a:br>
            <a:r>
              <a:rPr lang="en-US" dirty="0"/>
              <a:t>	Accts Receivable				3</a:t>
            </a:r>
          </a:p>
          <a:p>
            <a:pPr marL="609600" indent="-609600">
              <a:buFont typeface="+mj-lt"/>
              <a:buAutoNum type="alphaLcParenR"/>
            </a:pPr>
            <a:r>
              <a:rPr lang="en-US" b="1" dirty="0"/>
              <a:t>Do T accounts before we do this</a:t>
            </a:r>
          </a:p>
          <a:p>
            <a:pPr marL="609600" indent="-609600">
              <a:buFontTx/>
              <a:buAutoNum type="alphaL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4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E5B52BC-2064-439C-970A-002C002D01D8}"/>
              </a:ext>
            </a:extLst>
          </p:cNvPr>
          <p:cNvGrpSpPr/>
          <p:nvPr/>
        </p:nvGrpSpPr>
        <p:grpSpPr>
          <a:xfrm>
            <a:off x="1438456" y="1153818"/>
            <a:ext cx="2926080" cy="2416340"/>
            <a:chOff x="1508760" y="1071372"/>
            <a:chExt cx="2926080" cy="241634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BBCEFC-DBFE-433B-8745-3CB73412FB69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597837D-7773-4754-AD5D-C35F842CED66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8803743-66E9-430B-8FED-38B7657B845D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A8385E01-55D9-4BCB-84B4-10655F478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1006521-6930-442C-B564-AEABB8F14F36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74D04F2-5969-4B3C-844F-754633EE5ABA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FD49C1-5EA8-4E04-B7F6-A5BAFA7119DD}"/>
                </a:ext>
              </a:extLst>
            </p:cNvPr>
            <p:cNvSpPr txBox="1"/>
            <p:nvPr/>
          </p:nvSpPr>
          <p:spPr>
            <a:xfrm>
              <a:off x="1931097" y="1071372"/>
              <a:ext cx="213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Accounts Receivable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6AC9E-2B90-4E71-8BD7-58859CF2A15B}"/>
              </a:ext>
            </a:extLst>
          </p:cNvPr>
          <p:cNvGrpSpPr/>
          <p:nvPr/>
        </p:nvGrpSpPr>
        <p:grpSpPr>
          <a:xfrm>
            <a:off x="4661228" y="1153818"/>
            <a:ext cx="2926080" cy="2416340"/>
            <a:chOff x="1508760" y="1071372"/>
            <a:chExt cx="2926080" cy="24163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1B3484A-B33D-4834-BC71-79F0393ECAB6}"/>
                </a:ext>
              </a:extLst>
            </p:cNvPr>
            <p:cNvGrpSpPr/>
            <p:nvPr/>
          </p:nvGrpSpPr>
          <p:grpSpPr>
            <a:xfrm>
              <a:off x="1508760" y="1440704"/>
              <a:ext cx="2926080" cy="2047008"/>
              <a:chOff x="1508760" y="1440704"/>
              <a:chExt cx="2926080" cy="204700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DF067C5-D509-4BF1-86A1-28E3052A2B54}"/>
                  </a:ext>
                </a:extLst>
              </p:cNvPr>
              <p:cNvGrpSpPr/>
              <p:nvPr/>
            </p:nvGrpSpPr>
            <p:grpSpPr>
              <a:xfrm>
                <a:off x="1508760" y="1440704"/>
                <a:ext cx="2926080" cy="2027021"/>
                <a:chOff x="2775429" y="1440704"/>
                <a:chExt cx="2926080" cy="202702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C7C19BC-0F4F-47EA-AABB-54A9B7136C2C}"/>
                    </a:ext>
                  </a:extLst>
                </p:cNvPr>
                <p:cNvCxnSpPr/>
                <p:nvPr/>
              </p:nvCxnSpPr>
              <p:spPr>
                <a:xfrm>
                  <a:off x="2775429" y="1440704"/>
                  <a:ext cx="29260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271DDE-DC3E-492A-B935-2139A4B5E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6964" y="1440704"/>
                  <a:ext cx="0" cy="2027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B175503-BDC8-4FA7-B70A-592320A9CF41}"/>
                  </a:ext>
                </a:extLst>
              </p:cNvPr>
              <p:cNvCxnSpPr/>
              <p:nvPr/>
            </p:nvCxnSpPr>
            <p:spPr>
              <a:xfrm>
                <a:off x="1588957" y="3147934"/>
                <a:ext cx="2735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6A4445-C449-4571-B6AE-1A1E22B6B3CF}"/>
                  </a:ext>
                </a:extLst>
              </p:cNvPr>
              <p:cNvCxnSpPr/>
              <p:nvPr/>
            </p:nvCxnSpPr>
            <p:spPr>
              <a:xfrm>
                <a:off x="1588957" y="3487712"/>
                <a:ext cx="2735705" cy="0"/>
              </a:xfrm>
              <a:prstGeom prst="line">
                <a:avLst/>
              </a:prstGeom>
              <a:ln w="25400" cmpd="dbl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16E2E-1A20-4989-AC50-CDF2C5773CD4}"/>
                </a:ext>
              </a:extLst>
            </p:cNvPr>
            <p:cNvSpPr txBox="1"/>
            <p:nvPr/>
          </p:nvSpPr>
          <p:spPr>
            <a:xfrm>
              <a:off x="1508760" y="1071372"/>
              <a:ext cx="2897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Allowance for </a:t>
              </a:r>
              <a:r>
                <a:rPr lang="en-US" b="1" dirty="0" err="1"/>
                <a:t>Uncollectibles</a:t>
              </a:r>
              <a:endParaRPr lang="en-US" b="1" dirty="0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FF4FF5-886F-4F67-A983-EBBCF35E9E3D}"/>
              </a:ext>
            </a:extLst>
          </p:cNvPr>
          <p:cNvCxnSpPr>
            <a:cxnSpLocks/>
          </p:cNvCxnSpPr>
          <p:nvPr/>
        </p:nvCxnSpPr>
        <p:spPr>
          <a:xfrm>
            <a:off x="996003" y="2360951"/>
            <a:ext cx="86479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22BBF-69DC-4AF8-9382-244499237748}"/>
              </a:ext>
            </a:extLst>
          </p:cNvPr>
          <p:cNvCxnSpPr>
            <a:cxnSpLocks/>
          </p:cNvCxnSpPr>
          <p:nvPr/>
        </p:nvCxnSpPr>
        <p:spPr>
          <a:xfrm flipH="1">
            <a:off x="7059526" y="2443397"/>
            <a:ext cx="93688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34">
            <a:extLst>
              <a:ext uri="{FF2B5EF4-FFF2-40B4-BE49-F238E27FC236}">
                <a16:creationId xmlns:a16="http://schemas.microsoft.com/office/drawing/2014/main" id="{361E2396-D8F1-4B77-9BC3-12216C28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Account Analysis: Aging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C258E-879E-48E1-8982-201287A7CFC8}"/>
              </a:ext>
            </a:extLst>
          </p:cNvPr>
          <p:cNvSpPr txBox="1"/>
          <p:nvPr/>
        </p:nvSpPr>
        <p:spPr>
          <a:xfrm>
            <a:off x="76305" y="2130118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1A7806-8603-4743-AB44-F2B30330B1F7}"/>
              </a:ext>
            </a:extLst>
          </p:cNvPr>
          <p:cNvSpPr txBox="1"/>
          <p:nvPr/>
        </p:nvSpPr>
        <p:spPr>
          <a:xfrm>
            <a:off x="7996410" y="1943301"/>
            <a:ext cx="946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Bad</a:t>
            </a:r>
          </a:p>
          <a:p>
            <a:r>
              <a:rPr lang="en-US" sz="2400" b="1" dirty="0"/>
              <a:t>Debts</a:t>
            </a:r>
          </a:p>
          <a:p>
            <a:r>
              <a:rPr lang="en-US" sz="2400" b="1" dirty="0"/>
              <a:t>Exp.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B586D-7FD1-4231-8F9E-CAA22C760E77}"/>
              </a:ext>
            </a:extLst>
          </p:cNvPr>
          <p:cNvSpPr txBox="1"/>
          <p:nvPr/>
        </p:nvSpPr>
        <p:spPr>
          <a:xfrm>
            <a:off x="2192867" y="167216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95A5E-3D6F-495A-8776-2F449C891D09}"/>
              </a:ext>
            </a:extLst>
          </p:cNvPr>
          <p:cNvSpPr txBox="1"/>
          <p:nvPr/>
        </p:nvSpPr>
        <p:spPr>
          <a:xfrm>
            <a:off x="2027767" y="2176285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E8A32-2586-4FFE-AFE2-BBD6EFE71458}"/>
              </a:ext>
            </a:extLst>
          </p:cNvPr>
          <p:cNvSpPr txBox="1"/>
          <p:nvPr/>
        </p:nvSpPr>
        <p:spPr>
          <a:xfrm>
            <a:off x="6547410" y="222072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3936C-0B93-45F2-8A9E-90766F6EF728}"/>
              </a:ext>
            </a:extLst>
          </p:cNvPr>
          <p:cNvSpPr txBox="1"/>
          <p:nvPr/>
        </p:nvSpPr>
        <p:spPr>
          <a:xfrm>
            <a:off x="3321610" y="258689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FC3E1-F356-4B51-82F1-016F3D9DEDF0}"/>
              </a:ext>
            </a:extLst>
          </p:cNvPr>
          <p:cNvSpPr txBox="1"/>
          <p:nvPr/>
        </p:nvSpPr>
        <p:spPr>
          <a:xfrm>
            <a:off x="5370543" y="26132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203C0-9EC8-4018-A430-2CDAB0839BAB}"/>
              </a:ext>
            </a:extLst>
          </p:cNvPr>
          <p:cNvSpPr txBox="1"/>
          <p:nvPr/>
        </p:nvSpPr>
        <p:spPr>
          <a:xfrm>
            <a:off x="3258110" y="217628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9724F-26AC-4B29-A1F8-DF1C31B6D47A}"/>
              </a:ext>
            </a:extLst>
          </p:cNvPr>
          <p:cNvSpPr txBox="1"/>
          <p:nvPr/>
        </p:nvSpPr>
        <p:spPr>
          <a:xfrm>
            <a:off x="2081243" y="314363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E438D-C8E9-405D-80D2-014EF52905CF}"/>
              </a:ext>
            </a:extLst>
          </p:cNvPr>
          <p:cNvSpPr txBox="1"/>
          <p:nvPr/>
        </p:nvSpPr>
        <p:spPr>
          <a:xfrm>
            <a:off x="6547410" y="314363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BC75B-9D29-4061-8F38-0E553EB7A683}"/>
              </a:ext>
            </a:extLst>
          </p:cNvPr>
          <p:cNvSpPr txBox="1"/>
          <p:nvPr/>
        </p:nvSpPr>
        <p:spPr>
          <a:xfrm>
            <a:off x="6607387" y="159373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9DEE500-9494-40E4-87A1-D184612F1C26}"/>
              </a:ext>
            </a:extLst>
          </p:cNvPr>
          <p:cNvSpPr/>
          <p:nvPr/>
        </p:nvSpPr>
        <p:spPr>
          <a:xfrm>
            <a:off x="1192607" y="2682393"/>
            <a:ext cx="2000520" cy="1568669"/>
          </a:xfrm>
          <a:prstGeom prst="ellipse">
            <a:avLst/>
          </a:prstGeom>
          <a:noFill/>
          <a:ln w="1016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92825F-9428-40F9-A5B7-164CD4604DA2}"/>
              </a:ext>
            </a:extLst>
          </p:cNvPr>
          <p:cNvSpPr/>
          <p:nvPr/>
        </p:nvSpPr>
        <p:spPr>
          <a:xfrm>
            <a:off x="5800167" y="2682393"/>
            <a:ext cx="2000520" cy="1568669"/>
          </a:xfrm>
          <a:prstGeom prst="ellipse">
            <a:avLst/>
          </a:prstGeom>
          <a:noFill/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03468C-E220-480B-B70D-1CEC46BB3F2C}"/>
              </a:ext>
            </a:extLst>
          </p:cNvPr>
          <p:cNvCxnSpPr>
            <a:cxnSpLocks/>
          </p:cNvCxnSpPr>
          <p:nvPr/>
        </p:nvCxnSpPr>
        <p:spPr>
          <a:xfrm>
            <a:off x="3321364" y="3453318"/>
            <a:ext cx="238933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68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" grpId="0"/>
      <p:bldP spid="6" grpId="0"/>
      <p:bldP spid="8" grpId="0"/>
      <p:bldP spid="10" grpId="0"/>
      <p:bldP spid="11" grpId="0"/>
      <p:bldP spid="13" grpId="0"/>
      <p:bldP spid="26" grpId="0"/>
      <p:bldP spid="33" grpId="0" animBg="1"/>
      <p:bldP spid="33" grpId="1" animBg="1"/>
      <p:bldP spid="34" grpId="0" animBg="1"/>
      <p:bldP spid="3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Journal Entries - Aging Method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C405A7-DDD9-434D-855F-2948B919D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00150"/>
            <a:ext cx="8229600" cy="3394075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buFont typeface="+mj-lt"/>
              <a:buAutoNum type="alphaLcParenR"/>
            </a:pPr>
            <a:r>
              <a:rPr lang="en-US" dirty="0"/>
              <a:t>Accounts Receivable 		100</a:t>
            </a:r>
            <a:br>
              <a:rPr lang="en-US" dirty="0"/>
            </a:br>
            <a:r>
              <a:rPr lang="en-US" dirty="0"/>
              <a:t>	Sales Revenue	             		100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Cash					  60</a:t>
            </a:r>
            <a:br>
              <a:rPr lang="en-US" dirty="0"/>
            </a:br>
            <a:r>
              <a:rPr lang="en-US" dirty="0"/>
              <a:t>	Accts Receivable				  60</a:t>
            </a:r>
          </a:p>
          <a:p>
            <a:pPr marL="609600" indent="-609600">
              <a:buFont typeface="+mj-lt"/>
              <a:buAutoNum type="alphaLcParenR"/>
            </a:pPr>
            <a:r>
              <a:rPr lang="en-US" dirty="0"/>
              <a:t>Allowance for </a:t>
            </a:r>
            <a:r>
              <a:rPr lang="en-US" dirty="0" err="1"/>
              <a:t>Uncollectibles</a:t>
            </a:r>
            <a:r>
              <a:rPr lang="en-US" dirty="0"/>
              <a:t>	     3</a:t>
            </a:r>
            <a:br>
              <a:rPr lang="en-US" dirty="0"/>
            </a:br>
            <a:r>
              <a:rPr lang="en-US" dirty="0"/>
              <a:t>	Accts Receivable				     3</a:t>
            </a:r>
          </a:p>
          <a:p>
            <a:pPr marL="609600" indent="-609600">
              <a:buFont typeface="+mj-lt"/>
              <a:buAutoNum type="alphaLcParenR"/>
            </a:pPr>
            <a:r>
              <a:rPr lang="en-US" b="1" dirty="0"/>
              <a:t>Bad debt Expense			  11</a:t>
            </a:r>
            <a:br>
              <a:rPr lang="en-US" b="1" dirty="0"/>
            </a:br>
            <a:r>
              <a:rPr lang="en-US" b="1" dirty="0"/>
              <a:t>	Allowance for </a:t>
            </a:r>
            <a:r>
              <a:rPr lang="en-US" b="1" dirty="0" err="1"/>
              <a:t>Uncollectibles</a:t>
            </a:r>
            <a:r>
              <a:rPr lang="en-US" b="1" dirty="0"/>
              <a:t>		  11</a:t>
            </a:r>
          </a:p>
          <a:p>
            <a:pPr marL="609600" indent="-609600">
              <a:buFontTx/>
              <a:buAutoNum type="alphaL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233" y="1028700"/>
            <a:ext cx="8771467" cy="35433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dirty="0"/>
              <a:t>Balance sheet: Accounts Receivable, net </a:t>
            </a:r>
            <a:r>
              <a:rPr lang="en-US" b="1" dirty="0"/>
              <a:t>$29</a:t>
            </a:r>
          </a:p>
          <a:p>
            <a:pPr marL="609600" indent="-609600">
              <a:buFontTx/>
              <a:buNone/>
            </a:pPr>
            <a:r>
              <a:rPr lang="en-US" dirty="0"/>
              <a:t>Income statement: Bad Debts Expense </a:t>
            </a:r>
            <a:r>
              <a:rPr lang="en-US" b="1" dirty="0"/>
              <a:t>$11</a:t>
            </a:r>
          </a:p>
          <a:p>
            <a:pPr marL="609600" indent="-609600">
              <a:buFontTx/>
              <a:buNone/>
            </a:pPr>
            <a:r>
              <a:rPr lang="en-US" dirty="0"/>
              <a:t>Cash flow statement:</a:t>
            </a:r>
          </a:p>
          <a:p>
            <a:pPr marL="609600" indent="-609600">
              <a:buFontTx/>
              <a:buNone/>
            </a:pPr>
            <a:r>
              <a:rPr lang="en-US" dirty="0"/>
              <a:t>	Direct method: Collections from customers </a:t>
            </a:r>
            <a:r>
              <a:rPr lang="en-US" b="1" dirty="0"/>
              <a:t>$60</a:t>
            </a:r>
          </a:p>
          <a:p>
            <a:pPr marL="609600" indent="-609600">
              <a:buFontTx/>
              <a:buNone/>
            </a:pPr>
            <a:r>
              <a:rPr lang="en-US" dirty="0"/>
              <a:t>	Indirect method: </a:t>
            </a:r>
            <a:r>
              <a:rPr lang="en-US" dirty="0" err="1"/>
              <a:t>ChAR</a:t>
            </a:r>
            <a:r>
              <a:rPr lang="en-US" dirty="0"/>
              <a:t> due to ops </a:t>
            </a:r>
            <a:r>
              <a:rPr lang="en-US" b="1" dirty="0"/>
              <a:t>$29</a:t>
            </a:r>
          </a:p>
          <a:p>
            <a:pPr marL="609600" indent="-609600" algn="ctr">
              <a:buFontTx/>
              <a:buNone/>
            </a:pPr>
            <a:r>
              <a:rPr lang="en-US" sz="2400" dirty="0"/>
              <a:t>(or BD Expense </a:t>
            </a:r>
            <a:r>
              <a:rPr lang="en-US" sz="2400" b="1" dirty="0"/>
              <a:t>$11</a:t>
            </a:r>
            <a:r>
              <a:rPr lang="en-US" sz="2400" dirty="0"/>
              <a:t> and </a:t>
            </a:r>
            <a:r>
              <a:rPr lang="en-US" sz="2400" dirty="0" err="1"/>
              <a:t>ChAR</a:t>
            </a:r>
            <a:r>
              <a:rPr lang="en-US" sz="2400" dirty="0"/>
              <a:t> due to ops </a:t>
            </a:r>
            <a:r>
              <a:rPr lang="en-US" sz="2400" b="1" dirty="0"/>
              <a:t>$40</a:t>
            </a:r>
            <a:r>
              <a:rPr lang="en-US" sz="2400" dirty="0"/>
              <a:t>)</a:t>
            </a:r>
          </a:p>
          <a:p>
            <a:pPr marL="609600" indent="-60960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5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E36-C2E7-4EE5-A61D-ABFA0A6A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Yale’s Accounts Receivable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45A5-785E-42F7-871A-B1A2F552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20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1FE912-6159-465B-8281-C2019766F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154368"/>
            <a:ext cx="5334000" cy="38652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F6D9EEA-EF85-4F19-836C-DAA418B82FC0}"/>
              </a:ext>
            </a:extLst>
          </p:cNvPr>
          <p:cNvSpPr/>
          <p:nvPr/>
        </p:nvSpPr>
        <p:spPr>
          <a:xfrm>
            <a:off x="762000" y="4248150"/>
            <a:ext cx="990600" cy="792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A90278-1451-440D-B5E4-891C87460FD9}"/>
              </a:ext>
            </a:extLst>
          </p:cNvPr>
          <p:cNvSpPr/>
          <p:nvPr/>
        </p:nvSpPr>
        <p:spPr>
          <a:xfrm>
            <a:off x="1892966" y="2676027"/>
            <a:ext cx="1764633" cy="27672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0F9C65-0D3C-4C93-974E-7F72E3C2116C}"/>
              </a:ext>
            </a:extLst>
          </p:cNvPr>
          <p:cNvSpPr/>
          <p:nvPr/>
        </p:nvSpPr>
        <p:spPr>
          <a:xfrm>
            <a:off x="5410200" y="2720139"/>
            <a:ext cx="609600" cy="2286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CB2755-63AD-483D-865A-06767308A9F7}"/>
              </a:ext>
            </a:extLst>
          </p:cNvPr>
          <p:cNvSpPr/>
          <p:nvPr/>
        </p:nvSpPr>
        <p:spPr>
          <a:xfrm>
            <a:off x="2045366" y="2828427"/>
            <a:ext cx="1764633" cy="27672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FBAE12-CE55-41F7-8DF5-A314CE49D94C}"/>
              </a:ext>
            </a:extLst>
          </p:cNvPr>
          <p:cNvSpPr/>
          <p:nvPr/>
        </p:nvSpPr>
        <p:spPr>
          <a:xfrm>
            <a:off x="5410200" y="2876550"/>
            <a:ext cx="609600" cy="2286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818FC3-8278-449E-A48B-A699DD45EAB0}"/>
              </a:ext>
            </a:extLst>
          </p:cNvPr>
          <p:cNvSpPr/>
          <p:nvPr/>
        </p:nvSpPr>
        <p:spPr>
          <a:xfrm>
            <a:off x="1876911" y="2539665"/>
            <a:ext cx="1764633" cy="27672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142BAA-B682-40E8-AAF8-E63A7D543A26}"/>
              </a:ext>
            </a:extLst>
          </p:cNvPr>
          <p:cNvSpPr/>
          <p:nvPr/>
        </p:nvSpPr>
        <p:spPr>
          <a:xfrm>
            <a:off x="5394145" y="2583777"/>
            <a:ext cx="609600" cy="2286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FA2099-8870-4812-8122-A6A4CBF22353}"/>
              </a:ext>
            </a:extLst>
          </p:cNvPr>
          <p:cNvSpPr/>
          <p:nvPr/>
        </p:nvSpPr>
        <p:spPr>
          <a:xfrm>
            <a:off x="5410200" y="3000873"/>
            <a:ext cx="609600" cy="2286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87339-93B0-5259-DE5A-C1FE1A39B6D3}"/>
              </a:ext>
            </a:extLst>
          </p:cNvPr>
          <p:cNvSpPr txBox="1"/>
          <p:nvPr/>
        </p:nvSpPr>
        <p:spPr>
          <a:xfrm>
            <a:off x="7239000" y="2419350"/>
            <a:ext cx="18762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have a </a:t>
            </a:r>
          </a:p>
          <a:p>
            <a:r>
              <a:rPr lang="en-US" dirty="0"/>
              <a:t>contra to show at </a:t>
            </a:r>
          </a:p>
          <a:p>
            <a:r>
              <a:rPr lang="en-US" dirty="0"/>
              <a:t>present value if </a:t>
            </a:r>
          </a:p>
          <a:p>
            <a:r>
              <a:rPr lang="en-US" dirty="0"/>
              <a:t>time to collect is</a:t>
            </a:r>
          </a:p>
          <a:p>
            <a:r>
              <a:rPr lang="en-US" dirty="0"/>
              <a:t>long.</a:t>
            </a:r>
          </a:p>
        </p:txBody>
      </p:sp>
    </p:spTree>
    <p:extLst>
      <p:ext uri="{BB962C8B-B14F-4D97-AF65-F5344CB8AC3E}">
        <p14:creationId xmlns:p14="http://schemas.microsoft.com/office/powerpoint/2010/main" val="281238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4514850"/>
            <a:ext cx="25146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3305" y="81280"/>
          <a:ext cx="7391399" cy="5137905"/>
        </p:xfrm>
        <a:graphic>
          <a:graphicData uri="http://schemas.openxmlformats.org/drawingml/2006/table">
            <a:tbl>
              <a:tblPr/>
              <a:tblGrid>
                <a:gridCol w="4006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85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MGM Mirage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Income Statement (000s)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Helvetica" charset="0"/>
                          <a:ea typeface="Times New Roman" charset="0"/>
                          <a:cs typeface="Helvetica" charset="0"/>
                        </a:rPr>
                        <a:t>Year Ended December 31,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2004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2003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2002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Revenues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Casino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2,223,965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2,037,514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2,012,840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Rooms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911,259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833,272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796,861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Food and beverage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841,147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757,278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706,153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Entertainment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270,799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255,995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251,488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Retail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184,438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180,935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170,537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Other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240,880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210,772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215,600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4,672,488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4,275,766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4,153,479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Less: Promotional allowances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(434,384)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(413,023)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(396,551)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4,238,104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3,862,743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3,756,928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Expenses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Casino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1,106,142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1,040,948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1,007,968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Rooms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247,387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234,693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211,401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Food and beverage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482,417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436,754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393,166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Entertainment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192,390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183,012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181,403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Retail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118,413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115,123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108,325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Other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146,146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130,698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114,431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Provision for doubtful accounts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(3,629)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12,570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27,675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General and administrative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612,615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583,599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560,909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Corporate expense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77,910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61,541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43,856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Preopening and start-up expenses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10,276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29,266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14,141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Restructuring costs (credit)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5,625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6,597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(17,021)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Property transactions, net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8,665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(18,941)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14,712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Depreciation and amortization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402,545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400,766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381,785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3,406,902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3,216,626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3,042,751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Income from unconsolidated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affil’s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119,658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53,612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32,361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384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Operating income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950,860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699,729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746,538</a:t>
                      </a:r>
                      <a:endParaRPr lang="en-US" sz="10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61105">
                <a:tc gridSpan="4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NOTE: this</a:t>
                      </a:r>
                      <a:r>
                        <a:rPr lang="en-US" sz="1000" baseline="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 income statement does not stop here – there are other items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Times New Roman" charset="0"/>
                        </a:rPr>
                        <a:t>  </a:t>
                      </a:r>
                      <a:endParaRPr lang="en-US" sz="10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40330" marR="4033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931718" y="3169227"/>
            <a:ext cx="5486400" cy="342900"/>
          </a:xfrm>
          <a:prstGeom prst="ellipse">
            <a:avLst/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1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13719-0931-4EAC-8C9D-D8B67F46C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32" y="48052"/>
            <a:ext cx="6782937" cy="500645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DCF10A-D429-596A-7669-F60A6287C583}"/>
              </a:ext>
            </a:extLst>
          </p:cNvPr>
          <p:cNvSpPr/>
          <p:nvPr/>
        </p:nvSpPr>
        <p:spPr>
          <a:xfrm>
            <a:off x="1295400" y="3486150"/>
            <a:ext cx="678180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CCBDF7-2A8B-9720-6803-34C10E152D19}"/>
              </a:ext>
            </a:extLst>
          </p:cNvPr>
          <p:cNvSpPr/>
          <p:nvPr/>
        </p:nvSpPr>
        <p:spPr>
          <a:xfrm>
            <a:off x="5867400" y="209550"/>
            <a:ext cx="2057400" cy="685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C14C27-149B-2696-E0C9-6349ACC5329E}"/>
              </a:ext>
            </a:extLst>
          </p:cNvPr>
          <p:cNvCxnSpPr/>
          <p:nvPr/>
        </p:nvCxnSpPr>
        <p:spPr>
          <a:xfrm>
            <a:off x="1447800" y="514350"/>
            <a:ext cx="198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28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13719-0931-4EAC-8C9D-D8B67F46C3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558" b="20814"/>
          <a:stretch/>
        </p:blipFill>
        <p:spPr>
          <a:xfrm>
            <a:off x="99230" y="1310185"/>
            <a:ext cx="8761296" cy="126924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4859B9-E78C-4036-48D0-3C0D7E790E36}"/>
              </a:ext>
            </a:extLst>
          </p:cNvPr>
          <p:cNvSpPr/>
          <p:nvPr/>
        </p:nvSpPr>
        <p:spPr>
          <a:xfrm>
            <a:off x="8064500" y="2171700"/>
            <a:ext cx="609600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0.00247 L -0.12778 -0.004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25710-6C82-26F5-74EA-0CBCD738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67" y="0"/>
            <a:ext cx="5529866" cy="51435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1F086C-989D-4D93-5DA8-BEC55ADEF983}"/>
              </a:ext>
            </a:extLst>
          </p:cNvPr>
          <p:cNvCxnSpPr/>
          <p:nvPr/>
        </p:nvCxnSpPr>
        <p:spPr>
          <a:xfrm>
            <a:off x="1981200" y="361950"/>
            <a:ext cx="198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3F48E9-866C-5839-88E7-F61643B2C777}"/>
              </a:ext>
            </a:extLst>
          </p:cNvPr>
          <p:cNvSpPr/>
          <p:nvPr/>
        </p:nvSpPr>
        <p:spPr>
          <a:xfrm>
            <a:off x="1295400" y="3486150"/>
            <a:ext cx="678180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1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4B235-F6BF-4AE9-65E1-94F91CFA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09" y="1709617"/>
            <a:ext cx="8459381" cy="172426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AC7480-CEEF-5D1E-9D96-BE59142CEFA8}"/>
              </a:ext>
            </a:extLst>
          </p:cNvPr>
          <p:cNvSpPr/>
          <p:nvPr/>
        </p:nvSpPr>
        <p:spPr>
          <a:xfrm>
            <a:off x="304800" y="2952750"/>
            <a:ext cx="8534400" cy="457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63C74-E764-4242-92DE-7E79798C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80" y="174469"/>
            <a:ext cx="7090013" cy="471267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345BB2-2F4D-52A5-6770-898BE6105CDB}"/>
              </a:ext>
            </a:extLst>
          </p:cNvPr>
          <p:cNvSpPr/>
          <p:nvPr/>
        </p:nvSpPr>
        <p:spPr>
          <a:xfrm>
            <a:off x="1143000" y="209550"/>
            <a:ext cx="708660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208E20-9F5A-B2D8-91E1-449AB065736E}"/>
              </a:ext>
            </a:extLst>
          </p:cNvPr>
          <p:cNvSpPr/>
          <p:nvPr/>
        </p:nvSpPr>
        <p:spPr>
          <a:xfrm>
            <a:off x="1143000" y="1428750"/>
            <a:ext cx="7086600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36C306-55CC-1288-41D6-E4A905B11913}"/>
              </a:ext>
            </a:extLst>
          </p:cNvPr>
          <p:cNvCxnSpPr>
            <a:cxnSpLocks/>
          </p:cNvCxnSpPr>
          <p:nvPr/>
        </p:nvCxnSpPr>
        <p:spPr>
          <a:xfrm>
            <a:off x="1447800" y="2952750"/>
            <a:ext cx="655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27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63C74-E764-4242-92DE-7E79798C2A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66" b="40931"/>
          <a:stretch/>
        </p:blipFill>
        <p:spPr>
          <a:xfrm>
            <a:off x="0" y="1801505"/>
            <a:ext cx="9095262" cy="129994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53EE9D-0EDC-DFDB-CE1A-8C4F52874B0A}"/>
              </a:ext>
            </a:extLst>
          </p:cNvPr>
          <p:cNvSpPr/>
          <p:nvPr/>
        </p:nvSpPr>
        <p:spPr>
          <a:xfrm>
            <a:off x="228600" y="2876550"/>
            <a:ext cx="8610600" cy="228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397E3-0C87-4448-B56A-915D6B2B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48" y="762568"/>
            <a:ext cx="7090707" cy="370025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C9FA2E-6ECF-D370-FEBB-0286D4F41028}"/>
              </a:ext>
            </a:extLst>
          </p:cNvPr>
          <p:cNvCxnSpPr>
            <a:cxnSpLocks/>
          </p:cNvCxnSpPr>
          <p:nvPr/>
        </p:nvCxnSpPr>
        <p:spPr>
          <a:xfrm>
            <a:off x="1905000" y="3181350"/>
            <a:ext cx="579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7EA72D-B82C-9768-6D61-FB89997B1BAF}"/>
              </a:ext>
            </a:extLst>
          </p:cNvPr>
          <p:cNvCxnSpPr>
            <a:cxnSpLocks/>
          </p:cNvCxnSpPr>
          <p:nvPr/>
        </p:nvCxnSpPr>
        <p:spPr>
          <a:xfrm>
            <a:off x="1524000" y="3486150"/>
            <a:ext cx="601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19E4D1-E506-445B-8FBE-8AE533D77CC7}"/>
              </a:ext>
            </a:extLst>
          </p:cNvPr>
          <p:cNvCxnSpPr>
            <a:cxnSpLocks/>
          </p:cNvCxnSpPr>
          <p:nvPr/>
        </p:nvCxnSpPr>
        <p:spPr>
          <a:xfrm>
            <a:off x="1524000" y="3790950"/>
            <a:ext cx="6019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7418CB-3867-A04F-E464-EDC51D76607B}"/>
              </a:ext>
            </a:extLst>
          </p:cNvPr>
          <p:cNvCxnSpPr>
            <a:cxnSpLocks/>
          </p:cNvCxnSpPr>
          <p:nvPr/>
        </p:nvCxnSpPr>
        <p:spPr>
          <a:xfrm>
            <a:off x="1524000" y="4095750"/>
            <a:ext cx="6324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092ACE-B94A-4C15-B637-8C46F9F185A6}"/>
              </a:ext>
            </a:extLst>
          </p:cNvPr>
          <p:cNvCxnSpPr>
            <a:cxnSpLocks/>
          </p:cNvCxnSpPr>
          <p:nvPr/>
        </p:nvCxnSpPr>
        <p:spPr>
          <a:xfrm>
            <a:off x="1524000" y="4400550"/>
            <a:ext cx="3352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58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A62DE-EFE3-4DE1-BC11-0118D94A5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9" y="639739"/>
            <a:ext cx="7801643" cy="386402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925EE-538E-F37A-F037-58DA16059EBE}"/>
              </a:ext>
            </a:extLst>
          </p:cNvPr>
          <p:cNvCxnSpPr>
            <a:cxnSpLocks/>
          </p:cNvCxnSpPr>
          <p:nvPr/>
        </p:nvCxnSpPr>
        <p:spPr>
          <a:xfrm>
            <a:off x="1676400" y="2114550"/>
            <a:ext cx="579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3F478E-90E8-726E-09E7-689B3E38B476}"/>
              </a:ext>
            </a:extLst>
          </p:cNvPr>
          <p:cNvCxnSpPr>
            <a:cxnSpLocks/>
          </p:cNvCxnSpPr>
          <p:nvPr/>
        </p:nvCxnSpPr>
        <p:spPr>
          <a:xfrm>
            <a:off x="1663700" y="2419350"/>
            <a:ext cx="6108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B143AA-94D0-D708-BC10-C8AD9E904D2C}"/>
              </a:ext>
            </a:extLst>
          </p:cNvPr>
          <p:cNvCxnSpPr>
            <a:cxnSpLocks/>
          </p:cNvCxnSpPr>
          <p:nvPr/>
        </p:nvCxnSpPr>
        <p:spPr>
          <a:xfrm>
            <a:off x="1625600" y="2730500"/>
            <a:ext cx="561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4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C08-8977-454D-B915-16C62CED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8" y="153538"/>
            <a:ext cx="8092824" cy="483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16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C08-8977-454D-B915-16C62CED2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97" b="44974"/>
          <a:stretch/>
        </p:blipFill>
        <p:spPr>
          <a:xfrm>
            <a:off x="5339" y="1289713"/>
            <a:ext cx="9133322" cy="161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C08-8977-454D-B915-16C62CED2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333"/>
          <a:stretch/>
        </p:blipFill>
        <p:spPr>
          <a:xfrm>
            <a:off x="112594" y="1529341"/>
            <a:ext cx="8939283" cy="14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67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3DDA68-CF22-2FA8-8776-D57CA54D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601" y="0"/>
            <a:ext cx="5910798" cy="51435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AA5D41-2853-85DB-910F-987161C6A173}"/>
              </a:ext>
            </a:extLst>
          </p:cNvPr>
          <p:cNvSpPr/>
          <p:nvPr/>
        </p:nvSpPr>
        <p:spPr>
          <a:xfrm>
            <a:off x="1143000" y="133350"/>
            <a:ext cx="708660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CC7A2C-29C9-DBA0-4CBA-5E1CA3EDC5C3}"/>
              </a:ext>
            </a:extLst>
          </p:cNvPr>
          <p:cNvSpPr/>
          <p:nvPr/>
        </p:nvSpPr>
        <p:spPr>
          <a:xfrm>
            <a:off x="1676400" y="3562350"/>
            <a:ext cx="632460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CED7D-FDEC-C9C2-2A08-588BB65C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52" y="1800117"/>
            <a:ext cx="8573696" cy="154326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190528-D87C-A87D-A32B-3814E93EE307}"/>
              </a:ext>
            </a:extLst>
          </p:cNvPr>
          <p:cNvSpPr/>
          <p:nvPr/>
        </p:nvSpPr>
        <p:spPr>
          <a:xfrm>
            <a:off x="304800" y="3028950"/>
            <a:ext cx="861060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6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F7E1C-FF61-71A0-F0D5-5C67FC8B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56" y="0"/>
            <a:ext cx="7306287" cy="51435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506300-EA89-F7A6-D092-E7C9F5BC8609}"/>
              </a:ext>
            </a:extLst>
          </p:cNvPr>
          <p:cNvCxnSpPr>
            <a:cxnSpLocks/>
          </p:cNvCxnSpPr>
          <p:nvPr/>
        </p:nvCxnSpPr>
        <p:spPr>
          <a:xfrm>
            <a:off x="1143000" y="3181350"/>
            <a:ext cx="685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FD8F9E-66C0-EA00-B63D-3A59F6D3F422}"/>
              </a:ext>
            </a:extLst>
          </p:cNvPr>
          <p:cNvSpPr txBox="1"/>
          <p:nvPr/>
        </p:nvSpPr>
        <p:spPr>
          <a:xfrm>
            <a:off x="8077200" y="2800350"/>
            <a:ext cx="1081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story</a:t>
            </a:r>
          </a:p>
          <a:p>
            <a:r>
              <a:rPr lang="en-US" dirty="0"/>
              <a:t>as MGM Mirage</a:t>
            </a:r>
          </a:p>
        </p:txBody>
      </p:sp>
    </p:spTree>
    <p:extLst>
      <p:ext uri="{BB962C8B-B14F-4D97-AF65-F5344CB8AC3E}">
        <p14:creationId xmlns:p14="http://schemas.microsoft.com/office/powerpoint/2010/main" val="343376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Marketable Securities</a:t>
            </a:r>
          </a:p>
        </p:txBody>
      </p:sp>
    </p:spTree>
    <p:extLst>
      <p:ext uri="{BB962C8B-B14F-4D97-AF65-F5344CB8AC3E}">
        <p14:creationId xmlns:p14="http://schemas.microsoft.com/office/powerpoint/2010/main" val="302539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65711B2-FDA0-8046-B5E0-291BD3C412D5}" vid="{7A5AA0EC-EDB4-4442-8A83-BD53A6AC89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4126</TotalTime>
  <Words>1139</Words>
  <Application>Microsoft Office PowerPoint</Application>
  <PresentationFormat>On-screen Show (16:9)</PresentationFormat>
  <Paragraphs>374</Paragraphs>
  <Slides>36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Courier New</vt:lpstr>
      <vt:lpstr>Helvetica</vt:lpstr>
      <vt:lpstr>Times New Roman</vt:lpstr>
      <vt:lpstr>Office Theme</vt:lpstr>
      <vt:lpstr>LAW 21474 Financial Accounting</vt:lpstr>
      <vt:lpstr>Four Goals of Accounting for Accounts Receivable</vt:lpstr>
      <vt:lpstr>How GAAP Works</vt:lpstr>
      <vt:lpstr>Use of Contra Account</vt:lpstr>
      <vt:lpstr>Balance Sheet Presentation</vt:lpstr>
      <vt:lpstr>PowerPoint Presentation</vt:lpstr>
      <vt:lpstr>Two basic approaches to accounting for bad debts</vt:lpstr>
      <vt:lpstr>% of Sales</vt:lpstr>
      <vt:lpstr>% Sales Method</vt:lpstr>
      <vt:lpstr>Analysis of  Outstanding Accounts Receivable</vt:lpstr>
      <vt:lpstr>Aging of Receivables</vt:lpstr>
      <vt:lpstr>Example</vt:lpstr>
      <vt:lpstr>Journal Entries - %Sales Method</vt:lpstr>
      <vt:lpstr>% of Sales</vt:lpstr>
      <vt:lpstr>% Sales</vt:lpstr>
      <vt:lpstr>Journal Entries - Aging Method</vt:lpstr>
      <vt:lpstr>Account Analysis: Aging</vt:lpstr>
      <vt:lpstr>Journal Entries - Aging Method</vt:lpstr>
      <vt:lpstr>Aging</vt:lpstr>
      <vt:lpstr>Yale’s Accounts Receivable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21474 Financial Accounting</dc:title>
  <dc:creator>Rick Antle</dc:creator>
  <cp:lastModifiedBy>Antle, Rick</cp:lastModifiedBy>
  <cp:revision>12</cp:revision>
  <dcterms:created xsi:type="dcterms:W3CDTF">2018-03-05T04:34:36Z</dcterms:created>
  <dcterms:modified xsi:type="dcterms:W3CDTF">2024-03-12T21:26:44Z</dcterms:modified>
</cp:coreProperties>
</file>