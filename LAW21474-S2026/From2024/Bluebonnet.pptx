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57" r:id="rId4"/>
    <p:sldId id="263" r:id="rId5"/>
    <p:sldId id="258" r:id="rId6"/>
    <p:sldId id="264" r:id="rId7"/>
    <p:sldId id="259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24ECC2-206F-42B8-8699-53560E6B4BA3}" v="2" dt="2025-03-12T18:48:08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4660"/>
  </p:normalViewPr>
  <p:slideViewPr>
    <p:cSldViewPr snapToGrid="0">
      <p:cViewPr varScale="1">
        <p:scale>
          <a:sx n="63" d="100"/>
          <a:sy n="63" d="100"/>
        </p:scale>
        <p:origin x="346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3024ECC2-206F-42B8-8699-53560E6B4BA3}"/>
    <pc:docChg chg="custSel addSld delSld modSld sldOrd">
      <pc:chgData name="Antle, Rick" userId="c2afbbd2-30e4-4c8e-8af5-81913178ace3" providerId="ADAL" clId="{3024ECC2-206F-42B8-8699-53560E6B4BA3}" dt="2025-03-12T18:50:29.953" v="376" actId="20577"/>
      <pc:docMkLst>
        <pc:docMk/>
      </pc:docMkLst>
      <pc:sldChg chg="modSp mod">
        <pc:chgData name="Antle, Rick" userId="c2afbbd2-30e4-4c8e-8af5-81913178ace3" providerId="ADAL" clId="{3024ECC2-206F-42B8-8699-53560E6B4BA3}" dt="2025-03-12T18:50:29.953" v="376" actId="20577"/>
        <pc:sldMkLst>
          <pc:docMk/>
          <pc:sldMk cId="497236781" sldId="256"/>
        </pc:sldMkLst>
        <pc:spChg chg="mod">
          <ac:chgData name="Antle, Rick" userId="c2afbbd2-30e4-4c8e-8af5-81913178ace3" providerId="ADAL" clId="{3024ECC2-206F-42B8-8699-53560E6B4BA3}" dt="2025-03-12T18:50:29.953" v="376" actId="20577"/>
          <ac:spMkLst>
            <pc:docMk/>
            <pc:sldMk cId="497236781" sldId="256"/>
            <ac:spMk id="3" creationId="{3EA9CE67-B198-9F85-99CC-EB0ED16FF7AE}"/>
          </ac:spMkLst>
        </pc:spChg>
      </pc:sldChg>
      <pc:sldChg chg="addSp modSp mod">
        <pc:chgData name="Antle, Rick" userId="c2afbbd2-30e4-4c8e-8af5-81913178ace3" providerId="ADAL" clId="{3024ECC2-206F-42B8-8699-53560E6B4BA3}" dt="2025-03-12T18:48:22.790" v="354" actId="1076"/>
        <pc:sldMkLst>
          <pc:docMk/>
          <pc:sldMk cId="1041827481" sldId="260"/>
        </pc:sldMkLst>
        <pc:spChg chg="mod">
          <ac:chgData name="Antle, Rick" userId="c2afbbd2-30e4-4c8e-8af5-81913178ace3" providerId="ADAL" clId="{3024ECC2-206F-42B8-8699-53560E6B4BA3}" dt="2025-03-12T18:47:42.832" v="314" actId="20577"/>
          <ac:spMkLst>
            <pc:docMk/>
            <pc:sldMk cId="1041827481" sldId="260"/>
            <ac:spMk id="2" creationId="{3C4EEF44-FD67-729F-EA7D-93567263E0AF}"/>
          </ac:spMkLst>
        </pc:spChg>
        <pc:spChg chg="add mod">
          <ac:chgData name="Antle, Rick" userId="c2afbbd2-30e4-4c8e-8af5-81913178ace3" providerId="ADAL" clId="{3024ECC2-206F-42B8-8699-53560E6B4BA3}" dt="2025-03-12T18:48:22.790" v="354" actId="1076"/>
          <ac:spMkLst>
            <pc:docMk/>
            <pc:sldMk cId="1041827481" sldId="260"/>
            <ac:spMk id="5" creationId="{4CCB4D01-DD7D-8E94-9412-4C90B4F89025}"/>
          </ac:spMkLst>
        </pc:spChg>
      </pc:sldChg>
      <pc:sldChg chg="modSp mod ord">
        <pc:chgData name="Antle, Rick" userId="c2afbbd2-30e4-4c8e-8af5-81913178ace3" providerId="ADAL" clId="{3024ECC2-206F-42B8-8699-53560E6B4BA3}" dt="2025-03-12T18:44:13.753" v="136"/>
        <pc:sldMkLst>
          <pc:docMk/>
          <pc:sldMk cId="2184499325" sldId="264"/>
        </pc:sldMkLst>
        <pc:spChg chg="mod">
          <ac:chgData name="Antle, Rick" userId="c2afbbd2-30e4-4c8e-8af5-81913178ace3" providerId="ADAL" clId="{3024ECC2-206F-42B8-8699-53560E6B4BA3}" dt="2025-03-12T18:43:30.225" v="134" actId="6549"/>
          <ac:spMkLst>
            <pc:docMk/>
            <pc:sldMk cId="2184499325" sldId="264"/>
            <ac:spMk id="3" creationId="{00FA83C9-4570-F091-95FE-47CC9CD541E0}"/>
          </ac:spMkLst>
        </pc:spChg>
      </pc:sldChg>
      <pc:sldChg chg="modSp add mod">
        <pc:chgData name="Antle, Rick" userId="c2afbbd2-30e4-4c8e-8af5-81913178ace3" providerId="ADAL" clId="{3024ECC2-206F-42B8-8699-53560E6B4BA3}" dt="2025-03-12T18:46:27.014" v="189" actId="20577"/>
        <pc:sldMkLst>
          <pc:docMk/>
          <pc:sldMk cId="438617899" sldId="265"/>
        </pc:sldMkLst>
        <pc:spChg chg="mod">
          <ac:chgData name="Antle, Rick" userId="c2afbbd2-30e4-4c8e-8af5-81913178ace3" providerId="ADAL" clId="{3024ECC2-206F-42B8-8699-53560E6B4BA3}" dt="2025-03-12T18:46:27.014" v="189" actId="20577"/>
          <ac:spMkLst>
            <pc:docMk/>
            <pc:sldMk cId="438617899" sldId="265"/>
            <ac:spMk id="3" creationId="{EF0A9DD6-3D62-A03A-1646-CF6AAD2738FF}"/>
          </ac:spMkLst>
        </pc:spChg>
      </pc:sldChg>
      <pc:sldChg chg="addSp modSp new del mod">
        <pc:chgData name="Antle, Rick" userId="c2afbbd2-30e4-4c8e-8af5-81913178ace3" providerId="ADAL" clId="{3024ECC2-206F-42B8-8699-53560E6B4BA3}" dt="2025-03-12T18:40:44.176" v="5" actId="47"/>
        <pc:sldMkLst>
          <pc:docMk/>
          <pc:sldMk cId="1049748064" sldId="265"/>
        </pc:sldMkLst>
        <pc:picChg chg="add mod">
          <ac:chgData name="Antle, Rick" userId="c2afbbd2-30e4-4c8e-8af5-81913178ace3" providerId="ADAL" clId="{3024ECC2-206F-42B8-8699-53560E6B4BA3}" dt="2025-03-12T18:40:11.417" v="4" actId="688"/>
          <ac:picMkLst>
            <pc:docMk/>
            <pc:sldMk cId="1049748064" sldId="265"/>
            <ac:picMk id="4" creationId="{45562197-DE45-7DE9-37F5-1F0B6A7A92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87CCB-FA1B-4E6B-9048-3634FA4D3970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4AC8-476B-421D-ACF7-9272A3E53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5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49375" y="1143000"/>
            <a:ext cx="4159250" cy="2339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3535023"/>
            <a:ext cx="5486400" cy="5150190"/>
          </a:xfrm>
        </p:spPr>
        <p:txBody>
          <a:bodyPr/>
          <a:lstStyle/>
          <a:p>
            <a:r>
              <a:rPr lang="en-US" sz="1800" dirty="0"/>
              <a:t>At any point in time, we can construct a </a:t>
            </a:r>
            <a:r>
              <a:rPr lang="en-US" sz="1800" b="1" dirty="0"/>
              <a:t>balance sheet </a:t>
            </a:r>
            <a:r>
              <a:rPr lang="en-US" sz="1800" dirty="0"/>
              <a:t>that shows SOM Corp’s </a:t>
            </a:r>
            <a:r>
              <a:rPr lang="en-US" sz="1800" b="1" dirty="0"/>
              <a:t>financial resources and obligations at that point in time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We expect to do this periodically.</a:t>
            </a:r>
          </a:p>
          <a:p>
            <a:endParaRPr lang="en-US" sz="1800" dirty="0"/>
          </a:p>
          <a:p>
            <a:r>
              <a:rPr lang="en-US" sz="1800" dirty="0"/>
              <a:t>Flow statements tell us about why the SOM Corp’s financial position changes over time.</a:t>
            </a:r>
          </a:p>
          <a:p>
            <a:endParaRPr lang="en-US" sz="1800" dirty="0"/>
          </a:p>
          <a:p>
            <a:r>
              <a:rPr lang="en-US" sz="1800" b="1" dirty="0"/>
              <a:t>Income statement </a:t>
            </a:r>
            <a:r>
              <a:rPr lang="en-US" sz="1800" dirty="0"/>
              <a:t>– value produced and consumed by the SOM Corp’s operations not due to contributions from or distributions to its owners.</a:t>
            </a:r>
          </a:p>
          <a:p>
            <a:endParaRPr lang="en-US" sz="1800" dirty="0"/>
          </a:p>
          <a:p>
            <a:r>
              <a:rPr lang="en-US" sz="1800" b="1" dirty="0"/>
              <a:t>Cash flow statement </a:t>
            </a:r>
            <a:r>
              <a:rPr lang="en-US" sz="1800" dirty="0"/>
              <a:t>– cash that flowed in and out of the SOM Corp.</a:t>
            </a:r>
          </a:p>
          <a:p>
            <a:endParaRPr lang="en-US" sz="1800" dirty="0"/>
          </a:p>
          <a:p>
            <a:r>
              <a:rPr lang="en-US" sz="1800" b="1" dirty="0"/>
              <a:t>Statement of changes in owners’ equity </a:t>
            </a:r>
            <a:r>
              <a:rPr lang="en-US" sz="1800" dirty="0"/>
              <a:t>– value flows to and from the SOM Corp’s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A14517-574A-430B-B7FF-0AFA0D1D24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6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A8F62-3165-EAEC-665B-8A95F07A7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A6C9F-3FEC-BD3E-CA6F-C33CE4BAD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FF1FA-423C-B0A1-54DB-5337DA8E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133B6-ACC3-23D7-85F7-E72F5069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003A2-53C9-D876-C0D7-D781677D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0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BB93-8814-D1F7-BC39-DE1D5F60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24914-C077-827D-ECAF-F610D96CA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1BD7-4D96-D839-7392-05CFADE7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9CE22-6FB7-713E-7932-1266D491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02130-F3E1-019B-E3D2-6B90DDB3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511A-4FAF-141B-20D9-446AA8A6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CB9FB-5338-0DA6-125A-1D1CD0633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8B1B-1BD1-E87E-2A7D-9099F69B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B7996-C096-BC03-E5DF-7CF5930B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8787-786D-8734-9AC2-97AA21D6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BF11-7C5D-0819-7EF3-E3BCFCDC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F5BEB-38B6-5C96-C78C-D05600A4E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73CD8-FDD9-E09B-64CB-BE5C96147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584D0-D0C4-56BE-D687-E64F348D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CA325-DC4C-11AC-0648-4494E362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EB236-633B-A3CF-9DBC-91187266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4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6F5A-A6B0-609A-0AD8-7E583C97C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75CD3-2699-BB55-FCDB-953622AC7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E5310-6F77-2326-D94F-5B5956E1C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8BFEB-4595-B91E-6B01-7D94DE42D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1E199-2ADA-36A9-E0EC-CCA2395B5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A4311-2750-44B8-3A28-6837378A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83667-3679-07F0-F826-9A9FC8E4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57F238-8C69-3BFB-7271-9D854706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6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8CC5-1B85-9C17-C8C8-C4BC95BD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AF20A-A27A-2C43-AC5B-5AA8230A3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5A15F-75ED-D107-5F2F-67201469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A2E10-8E8D-6280-F88B-1846D9F1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2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F1710-893C-BE1B-1EA1-78ECFFC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59299-06A7-DFAA-3C94-0CC6D2DB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DB12D-D333-CFFB-A4FB-EC0EF970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2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888C-AE1C-5814-81C2-AA4099D2F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703C-9E28-713C-5E0C-4342CE63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918B2-AE15-8622-4EA8-9FCC62BC2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A8C91-835E-1E03-541A-CC683FC6E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D77EA-2C8B-BC0C-BFC1-4D2BCD36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73B69-A1F9-3731-55E3-5E3C0EF0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4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6356-F61E-5A0C-F747-967C9DDEA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41E4D-33EA-F242-42E2-3654F40A8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F1E01-0CE5-547D-8F5E-E23B804DC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97529-0BE2-7203-F4FB-ACF9CE9E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EA1E6-2B15-2134-9FC1-61BC1F3F0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7DCD7-675B-74CD-820B-04DC83E8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4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8E32-CCEA-2CB3-7C85-E2DFFBA7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82698-E071-4AB4-48C4-3E1012229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9848D-2FB1-620F-F7AB-6989D636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EFB0-E6E7-4CD2-8B36-1AA25EE08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26E17-A7C8-98A6-A697-057FF0A8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7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EA254A-DD48-0F48-098B-BFEC572DF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335DF-DCDF-C75B-9EBA-5BC1BF491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F5A1B-2BD9-2839-07CA-04C3B9A0E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2543E-45B4-9D3F-E386-52E098C4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A8C11-C4D0-02D6-86FE-95CE714C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F78B42-F4D8-4BFD-96FF-F20AC730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996A5-6065-444B-8AD4-12C668AB4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502AD-0D6F-F405-0A72-747AD272C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A8A72-3EE2-431E-B0A7-9CE61AFF047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17AD-F91A-494F-DFEB-8B897E12B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271F1-9BEE-5774-1F86-C7FF5BD22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FE807-C74D-4C1C-AFF9-FF5674375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7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9ADD-DC0F-6CC0-E3DD-5A8DAA335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Bluebonnet Savings &amp; Loan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9CE67-B198-9F85-99CC-EB0ED16FF7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world of confusion</a:t>
            </a:r>
          </a:p>
        </p:txBody>
      </p:sp>
    </p:spTree>
    <p:extLst>
      <p:ext uri="{BB962C8B-B14F-4D97-AF65-F5344CB8AC3E}">
        <p14:creationId xmlns:p14="http://schemas.microsoft.com/office/powerpoint/2010/main" val="49723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C477A4-D1F5-ED6B-048F-55B3580D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114" y="237764"/>
            <a:ext cx="5308013" cy="633687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2F7447-CA40-E61F-499F-99A3E2E5ED6F}"/>
              </a:ext>
            </a:extLst>
          </p:cNvPr>
          <p:cNvSpPr/>
          <p:nvPr/>
        </p:nvSpPr>
        <p:spPr>
          <a:xfrm>
            <a:off x="3139921" y="1163855"/>
            <a:ext cx="5654842" cy="950494"/>
          </a:xfrm>
          <a:prstGeom prst="roundRect">
            <a:avLst/>
          </a:prstGeom>
          <a:noFill/>
          <a:ln w="857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44CEA2-B00C-6DA9-AFBD-B1429559D9D3}"/>
              </a:ext>
            </a:extLst>
          </p:cNvPr>
          <p:cNvSpPr/>
          <p:nvPr/>
        </p:nvSpPr>
        <p:spPr>
          <a:xfrm>
            <a:off x="3109441" y="2535455"/>
            <a:ext cx="5654842" cy="950494"/>
          </a:xfrm>
          <a:prstGeom prst="roundRect">
            <a:avLst/>
          </a:prstGeom>
          <a:noFill/>
          <a:ln w="857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A5AD82-FA9A-E998-009D-34BE5BF757FD}"/>
              </a:ext>
            </a:extLst>
          </p:cNvPr>
          <p:cNvSpPr/>
          <p:nvPr/>
        </p:nvSpPr>
        <p:spPr>
          <a:xfrm>
            <a:off x="3072865" y="4083839"/>
            <a:ext cx="5654842" cy="950494"/>
          </a:xfrm>
          <a:prstGeom prst="roundRect">
            <a:avLst/>
          </a:prstGeom>
          <a:noFill/>
          <a:ln w="857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AC239-56D2-7D45-E4D3-AD89FE27BA00}"/>
              </a:ext>
            </a:extLst>
          </p:cNvPr>
          <p:cNvSpPr txBox="1"/>
          <p:nvPr/>
        </p:nvSpPr>
        <p:spPr>
          <a:xfrm>
            <a:off x="8327136" y="170688"/>
            <a:ext cx="3831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is going on here?</a:t>
            </a:r>
          </a:p>
        </p:txBody>
      </p:sp>
    </p:spTree>
    <p:extLst>
      <p:ext uri="{BB962C8B-B14F-4D97-AF65-F5344CB8AC3E}">
        <p14:creationId xmlns:p14="http://schemas.microsoft.com/office/powerpoint/2010/main" val="368531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A643-E605-8601-248A-A5F09750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Confusion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E7679-8FEF-EFA5-9B68-7E363FB0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479" y="1993391"/>
            <a:ext cx="7296879" cy="3192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CB2E60-6A03-AF0B-3A74-DC1B1D9F6209}"/>
              </a:ext>
            </a:extLst>
          </p:cNvPr>
          <p:cNvSpPr txBox="1"/>
          <p:nvPr/>
        </p:nvSpPr>
        <p:spPr>
          <a:xfrm>
            <a:off x="8814816" y="2535936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period</a:t>
            </a:r>
          </a:p>
        </p:txBody>
      </p:sp>
    </p:spTree>
    <p:extLst>
      <p:ext uri="{BB962C8B-B14F-4D97-AF65-F5344CB8AC3E}">
        <p14:creationId xmlns:p14="http://schemas.microsoft.com/office/powerpoint/2010/main" val="254942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50" indent="-380981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25" indent="-304784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493" indent="-304784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062" indent="-304784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632" indent="-30478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202" indent="-30478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772" indent="-30478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341" indent="-30478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/>
              <a:pPr/>
              <a:t>4</a:t>
            </a:fld>
            <a:endParaRPr lang="en-US" sz="1867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15235" y="3154679"/>
            <a:ext cx="10771223" cy="523875"/>
            <a:chOff x="203" y="1558"/>
            <a:chExt cx="4789" cy="330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45"/>
              <a:ext cx="4368" cy="217"/>
              <a:chOff x="624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1209041" y="1748157"/>
            <a:ext cx="2789546" cy="58477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4983905" y="1748157"/>
            <a:ext cx="2789546" cy="58477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8748609" y="1748157"/>
            <a:ext cx="2789546" cy="58477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2159596" y="244769"/>
            <a:ext cx="8463280" cy="8683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For-profit Entity</a:t>
            </a:r>
          </a:p>
        </p:txBody>
      </p:sp>
      <p:sp>
        <p:nvSpPr>
          <p:cNvPr id="26" name="Text Box 45">
            <a:extLst>
              <a:ext uri="{FF2B5EF4-FFF2-40B4-BE49-F238E27FC236}">
                <a16:creationId xmlns:a16="http://schemas.microsoft.com/office/drawing/2014/main" id="{9FCB46BF-B218-4D8A-BE22-C5F5697D8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743" y="5444542"/>
            <a:ext cx="3409138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2429764" y="2452115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6311827" y="246037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10161523" y="237083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093" y="4845161"/>
            <a:ext cx="328324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919" y="4245779"/>
            <a:ext cx="2857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24" name="Text Box 45">
            <a:extLst>
              <a:ext uri="{FF2B5EF4-FFF2-40B4-BE49-F238E27FC236}">
                <a16:creationId xmlns:a16="http://schemas.microsoft.com/office/drawing/2014/main" id="{57E822CA-44A5-4805-82CE-37EA52229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5447110"/>
            <a:ext cx="3409138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7" y="4837179"/>
            <a:ext cx="328324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956" y="4227251"/>
            <a:ext cx="2857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2487922" y="3844213"/>
            <a:ext cx="3882047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6391237" y="3844213"/>
            <a:ext cx="3882047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F52B72-A0E4-D38A-C237-36585A8B7E8F}"/>
              </a:ext>
            </a:extLst>
          </p:cNvPr>
          <p:cNvCxnSpPr>
            <a:cxnSpLocks/>
          </p:cNvCxnSpPr>
          <p:nvPr/>
        </p:nvCxnSpPr>
        <p:spPr>
          <a:xfrm>
            <a:off x="5378116" y="1155032"/>
            <a:ext cx="0" cy="534202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8AB88F-FC54-424C-01D5-7421E4E010BB}"/>
              </a:ext>
            </a:extLst>
          </p:cNvPr>
          <p:cNvCxnSpPr>
            <a:cxnSpLocks/>
          </p:cNvCxnSpPr>
          <p:nvPr/>
        </p:nvCxnSpPr>
        <p:spPr>
          <a:xfrm>
            <a:off x="9175924" y="1100168"/>
            <a:ext cx="0" cy="534202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36FC75-A4A2-6BB3-EA67-DBA94636982C}"/>
              </a:ext>
            </a:extLst>
          </p:cNvPr>
          <p:cNvSpPr txBox="1"/>
          <p:nvPr/>
        </p:nvSpPr>
        <p:spPr>
          <a:xfrm>
            <a:off x="6146533" y="815741"/>
            <a:ext cx="2567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this is the period</a:t>
            </a:r>
          </a:p>
          <a:p>
            <a:r>
              <a:rPr lang="en-US" dirty="0"/>
              <a:t>of at issue?</a:t>
            </a:r>
          </a:p>
        </p:txBody>
      </p:sp>
    </p:spTree>
    <p:extLst>
      <p:ext uri="{BB962C8B-B14F-4D97-AF65-F5344CB8AC3E}">
        <p14:creationId xmlns:p14="http://schemas.microsoft.com/office/powerpoint/2010/main" val="77128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5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4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6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 animBg="1"/>
      <p:bldP spid="7185" grpId="0" animBg="1"/>
      <p:bldP spid="7183" grpId="0" animBg="1"/>
      <p:bldP spid="26" grpId="0"/>
      <p:bldP spid="3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/>
      <p:bldP spid="5" grpId="0" animBg="1"/>
      <p:bldP spid="28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46EB-294F-C204-80F1-AC244ECCA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Rates of Return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BCB16-9E67-5C30-EF69-289AD4657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2826668" y="2133736"/>
            <a:ext cx="6170241" cy="414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8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1D31-26FE-CB8E-B73D-AE51EB7F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you start with $2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3C9-4570-F091-95FE-47CC9CD54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Period 1: Lose $1</a:t>
            </a:r>
          </a:p>
          <a:p>
            <a:pPr lvl="1"/>
            <a:r>
              <a:rPr lang="en-US" dirty="0"/>
              <a:t>-1/2 = 50% loss</a:t>
            </a:r>
          </a:p>
          <a:p>
            <a:r>
              <a:rPr lang="en-US" dirty="0"/>
              <a:t>Period 2: Earn $1</a:t>
            </a:r>
          </a:p>
          <a:p>
            <a:pPr lvl="1"/>
            <a:r>
              <a:rPr lang="en-US" dirty="0"/>
              <a:t>1/1 = 100% gain</a:t>
            </a:r>
          </a:p>
          <a:p>
            <a:r>
              <a:rPr lang="en-US" dirty="0"/>
              <a:t>Average return: (-50%+100%)/2 = 25%</a:t>
            </a:r>
          </a:p>
        </p:txBody>
      </p:sp>
    </p:spTree>
    <p:extLst>
      <p:ext uri="{BB962C8B-B14F-4D97-AF65-F5344CB8AC3E}">
        <p14:creationId xmlns:p14="http://schemas.microsoft.com/office/powerpoint/2010/main" val="218449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6618-B9DC-A284-FE4A-0CA4524ED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Rates of return are tricky…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37018-636F-98A4-F498-06F284646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33"/>
          <a:stretch/>
        </p:blipFill>
        <p:spPr>
          <a:xfrm rot="-60000">
            <a:off x="1256221" y="2633472"/>
            <a:ext cx="9050290" cy="2097024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F687E09-D07F-2777-4C7E-12427F17472C}"/>
              </a:ext>
            </a:extLst>
          </p:cNvPr>
          <p:cNvSpPr/>
          <p:nvPr/>
        </p:nvSpPr>
        <p:spPr>
          <a:xfrm>
            <a:off x="2516044" y="2113227"/>
            <a:ext cx="7182852" cy="625642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79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BA8B-31CB-0089-E215-4A11836B1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953F-8978-4FBD-85B2-8EA14413A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you start with $2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9DD6-3D62-A03A-1646-CF6AAD273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Period 1: Lose $1</a:t>
            </a:r>
          </a:p>
          <a:p>
            <a:r>
              <a:rPr lang="en-US" dirty="0"/>
              <a:t>Period 2: Earn $1</a:t>
            </a:r>
          </a:p>
          <a:p>
            <a:r>
              <a:rPr lang="en-US" dirty="0"/>
              <a:t>Roman’s average return: (-$1+$1)/[($2 + $1)/2] = 0%</a:t>
            </a:r>
          </a:p>
        </p:txBody>
      </p:sp>
    </p:spTree>
    <p:extLst>
      <p:ext uri="{BB962C8B-B14F-4D97-AF65-F5344CB8AC3E}">
        <p14:creationId xmlns:p14="http://schemas.microsoft.com/office/powerpoint/2010/main" val="438617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EEF44-FD67-729F-EA7D-93567263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I’m surprised at Roman’s answer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12144-08C2-5930-CA82-F8EE08177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99"/>
          <a:stretch/>
        </p:blipFill>
        <p:spPr>
          <a:xfrm>
            <a:off x="908061" y="2880985"/>
            <a:ext cx="10816302" cy="14625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B4D01-DD7D-8E94-9412-4C90B4F89025}"/>
              </a:ext>
            </a:extLst>
          </p:cNvPr>
          <p:cNvSpPr txBox="1"/>
          <p:nvPr/>
        </p:nvSpPr>
        <p:spPr>
          <a:xfrm>
            <a:off x="6003597" y="4780547"/>
            <a:ext cx="406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does “access to earnings” mean?</a:t>
            </a:r>
          </a:p>
        </p:txBody>
      </p:sp>
    </p:spTree>
    <p:extLst>
      <p:ext uri="{BB962C8B-B14F-4D97-AF65-F5344CB8AC3E}">
        <p14:creationId xmlns:p14="http://schemas.microsoft.com/office/powerpoint/2010/main" val="104182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1E07-7364-3257-2981-8DB216EC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pretty uncomfortable 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E92F4-AB35-B291-6652-7624F01C5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024" y="1955020"/>
            <a:ext cx="4391638" cy="1219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61CAB7-D230-E59B-D83C-71474CE18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019" y="3178206"/>
            <a:ext cx="5115639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7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273</Words>
  <Application>Microsoft Office PowerPoint</Application>
  <PresentationFormat>Widescreen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Avenir Next LT Pro</vt:lpstr>
      <vt:lpstr>Office Theme</vt:lpstr>
      <vt:lpstr>Bluebonnet Savings &amp; Loan</vt:lpstr>
      <vt:lpstr>PowerPoint Presentation</vt:lpstr>
      <vt:lpstr>Background Confusion</vt:lpstr>
      <vt:lpstr>For-profit Entity</vt:lpstr>
      <vt:lpstr>Rates of Return</vt:lpstr>
      <vt:lpstr>Suppose you start with $2</vt:lpstr>
      <vt:lpstr>Rates of return are tricky…</vt:lpstr>
      <vt:lpstr>Suppose you start with $2</vt:lpstr>
      <vt:lpstr>I’m surprised at Roman’s answer</vt:lpstr>
      <vt:lpstr>This is pretty uncomfortable 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Antle, Rick</dc:creator>
  <cp:lastModifiedBy>Antle, Rick</cp:lastModifiedBy>
  <cp:revision>1</cp:revision>
  <dcterms:created xsi:type="dcterms:W3CDTF">2025-03-12T17:19:36Z</dcterms:created>
  <dcterms:modified xsi:type="dcterms:W3CDTF">2025-03-12T18:50:35Z</dcterms:modified>
</cp:coreProperties>
</file>